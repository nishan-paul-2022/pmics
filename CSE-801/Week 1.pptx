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52"/>
  </p:notesMasterIdLst>
  <p:sldIdLst>
    <p:sldId id="960" r:id="rId2"/>
    <p:sldId id="1218" r:id="rId3"/>
    <p:sldId id="1219" r:id="rId4"/>
    <p:sldId id="1217" r:id="rId5"/>
    <p:sldId id="1025" r:id="rId6"/>
    <p:sldId id="1040" r:id="rId7"/>
    <p:sldId id="1029" r:id="rId8"/>
    <p:sldId id="1028" r:id="rId9"/>
    <p:sldId id="1208" r:id="rId10"/>
    <p:sldId id="1209" r:id="rId11"/>
    <p:sldId id="1216" r:id="rId12"/>
    <p:sldId id="1212" r:id="rId13"/>
    <p:sldId id="1030" r:id="rId14"/>
    <p:sldId id="1009" r:id="rId15"/>
    <p:sldId id="1010" r:id="rId16"/>
    <p:sldId id="1041" r:id="rId17"/>
    <p:sldId id="1167" r:id="rId18"/>
    <p:sldId id="1168" r:id="rId19"/>
    <p:sldId id="1169" r:id="rId20"/>
    <p:sldId id="1170" r:id="rId21"/>
    <p:sldId id="1068" r:id="rId22"/>
    <p:sldId id="1069" r:id="rId23"/>
    <p:sldId id="1070" r:id="rId24"/>
    <p:sldId id="1072" r:id="rId25"/>
    <p:sldId id="1073" r:id="rId26"/>
    <p:sldId id="1074" r:id="rId27"/>
    <p:sldId id="1075" r:id="rId28"/>
    <p:sldId id="1076" r:id="rId29"/>
    <p:sldId id="1077" r:id="rId30"/>
    <p:sldId id="1078" r:id="rId31"/>
    <p:sldId id="1079" r:id="rId32"/>
    <p:sldId id="1080" r:id="rId33"/>
    <p:sldId id="1081" r:id="rId34"/>
    <p:sldId id="1083" r:id="rId35"/>
    <p:sldId id="1084" r:id="rId36"/>
    <p:sldId id="1085" r:id="rId37"/>
    <p:sldId id="1086" r:id="rId38"/>
    <p:sldId id="1008" r:id="rId39"/>
    <p:sldId id="1007" r:id="rId40"/>
    <p:sldId id="1087" r:id="rId41"/>
    <p:sldId id="1088" r:id="rId42"/>
    <p:sldId id="1089" r:id="rId43"/>
    <p:sldId id="1095" r:id="rId44"/>
    <p:sldId id="1093" r:id="rId45"/>
    <p:sldId id="1214" r:id="rId46"/>
    <p:sldId id="1097" r:id="rId47"/>
    <p:sldId id="1100" r:id="rId48"/>
    <p:sldId id="1098" r:id="rId49"/>
    <p:sldId id="1099" r:id="rId50"/>
    <p:sldId id="1160" r:id="rId5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96" userDrawn="1">
          <p15:clr>
            <a:srgbClr val="A4A3A4"/>
          </p15:clr>
        </p15:guide>
        <p15:guide id="2"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A8"/>
    <a:srgbClr val="3C6CDF"/>
    <a:srgbClr val="9CDFF9"/>
    <a:srgbClr val="B8C2C9"/>
    <a:srgbClr val="D6DCE0"/>
    <a:srgbClr val="0000A3"/>
    <a:srgbClr val="010086"/>
    <a:srgbClr val="01008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25533"/>
    <p:restoredTop sz="94206" autoAdjust="0"/>
  </p:normalViewPr>
  <p:slideViewPr>
    <p:cSldViewPr snapToGrid="0" snapToObjects="1">
      <p:cViewPr>
        <p:scale>
          <a:sx n="77" d="100"/>
          <a:sy n="77" d="100"/>
        </p:scale>
        <p:origin x="72" y="-318"/>
      </p:cViewPr>
      <p:guideLst>
        <p:guide orient="horz" pos="96"/>
        <p:guide/>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theme" Target="theme/theme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slide" Target="slides/slide40.xml"/><Relationship Id="rId54"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tableStyles" Target="tableStyles.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8/30/2023</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7.2 (January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Updated slide content for 2020 link technologies and applications</a:t>
            </a:r>
          </a:p>
          <a:p>
            <a:pPr marL="171450" indent="-171450">
              <a:buFont typeface="Arial" panose="020B0604020202020204" pitchFamily="34" charset="0"/>
              <a:buChar char="•"/>
            </a:pPr>
            <a:r>
              <a:rPr lang="en-US" dirty="0"/>
              <a:t>Add more animation throughout</a:t>
            </a:r>
          </a:p>
          <a:p>
            <a:pPr marL="171450" indent="-171450">
              <a:buFont typeface="Arial" panose="020B0604020202020204" pitchFamily="34" charset="0"/>
              <a:buChar char="•"/>
            </a:pPr>
            <a:r>
              <a:rPr lang="en-US" dirty="0"/>
              <a:t>New Master slide </a:t>
            </a:r>
          </a:p>
          <a:p>
            <a:pPr marL="0" indent="0">
              <a:buFont typeface="Arial" panose="020B0604020202020204" pitchFamily="34" charset="0"/>
              <a:buNone/>
            </a:pPr>
            <a:r>
              <a:rPr lang="en-US" dirty="0"/>
              <a:t>Feb. 2020 (8.0)</a:t>
            </a:r>
          </a:p>
          <a:p>
            <a:pPr marL="171450" indent="-171450">
              <a:buFont typeface="Arial" panose="020B0604020202020204" pitchFamily="34" charset="0"/>
              <a:buChar char="•"/>
            </a:pPr>
            <a:r>
              <a:rPr lang="en-US" dirty="0"/>
              <a:t>a few updates suggest by Catherine Rosenberg (thanks!)</a:t>
            </a:r>
          </a:p>
          <a:p>
            <a:pPr marL="171450" indent="-171450">
              <a:buFont typeface="Arial" panose="020B0604020202020204" pitchFamily="34" charset="0"/>
              <a:buChar char="•"/>
            </a:pPr>
            <a:r>
              <a:rPr lang="en-US" dirty="0"/>
              <a:t>titles in a lighter font</a:t>
            </a:r>
          </a:p>
          <a:p>
            <a:pPr marL="0" indent="0">
              <a:buFontTx/>
              <a:buNone/>
            </a:pPr>
            <a:r>
              <a:rPr lang="en-US" dirty="0"/>
              <a:t>Sept 2020 (8.1)</a:t>
            </a:r>
          </a:p>
          <a:p>
            <a:pPr marL="171450" indent="-171450">
              <a:buFont typeface="Arial" panose="020B0604020202020204" pitchFamily="34" charset="0"/>
              <a:buChar char="•"/>
            </a:pPr>
            <a:r>
              <a:rPr lang="en-US" dirty="0"/>
              <a:t>Added ~7 new slides, in particular: data center slide; routing versus forwarding; security line of defense; several on encapsulation and layers (this section is a lot better now).  Other relative minor changes throughout</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520012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947826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171214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632161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a:t>
            </a:fld>
            <a:endParaRPr lang="en-US" dirty="0"/>
          </a:p>
        </p:txBody>
      </p:sp>
    </p:spTree>
    <p:extLst>
      <p:ext uri="{BB962C8B-B14F-4D97-AF65-F5344CB8AC3E}">
        <p14:creationId xmlns:p14="http://schemas.microsoft.com/office/powerpoint/2010/main" val="372653119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3344380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138429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4754000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70171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121076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846930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3477835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06029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239949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16</a:t>
            </a:fld>
            <a:endParaRPr lang="en-US"/>
          </a:p>
        </p:txBody>
      </p:sp>
    </p:spTree>
    <p:extLst>
      <p:ext uri="{BB962C8B-B14F-4D97-AF65-F5344CB8AC3E}">
        <p14:creationId xmlns:p14="http://schemas.microsoft.com/office/powerpoint/2010/main" val="413287835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756175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6903900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398617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403253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818076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689834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828204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33657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5024479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9874748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3862216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268127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370877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009308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650180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310176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3914662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864944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79019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426899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37923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158018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222509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223189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t>
            </a:r>
            <a:r>
              <a:rPr lang="en-US" baseline="0" dirty="0"/>
              <a:t> poor content providers – like in real-estate, location is everything.  servers want to be close to clients.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24857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why minutes (recall earlier delay versus arrival rate curve from Chapter 1)</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9854387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400934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316457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239555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929289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17020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2839413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shortest job first: decreased average delay!</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572997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3108032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atin typeface="+mj-lt"/>
              </a:defRPr>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2.png"/><Relationship Id="rId18" Type="http://schemas.openxmlformats.org/officeDocument/2006/relationships/image" Target="../media/image17.png"/><Relationship Id="rId3" Type="http://schemas.openxmlformats.org/officeDocument/2006/relationships/image" Target="../media/image2.png"/><Relationship Id="rId21" Type="http://schemas.openxmlformats.org/officeDocument/2006/relationships/image" Target="../media/image20.png"/><Relationship Id="rId7" Type="http://schemas.openxmlformats.org/officeDocument/2006/relationships/image" Target="../media/image6.png"/><Relationship Id="rId12" Type="http://schemas.openxmlformats.org/officeDocument/2006/relationships/image" Target="../media/image11.png"/><Relationship Id="rId17" Type="http://schemas.openxmlformats.org/officeDocument/2006/relationships/image" Target="../media/image16.png"/><Relationship Id="rId2" Type="http://schemas.openxmlformats.org/officeDocument/2006/relationships/notesSlide" Target="../notesSlides/notesSlide2.xml"/><Relationship Id="rId16" Type="http://schemas.openxmlformats.org/officeDocument/2006/relationships/image" Target="../media/image15.png"/><Relationship Id="rId20"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5" Type="http://schemas.openxmlformats.org/officeDocument/2006/relationships/image" Target="../media/image14.png"/><Relationship Id="rId23" Type="http://schemas.openxmlformats.org/officeDocument/2006/relationships/image" Target="../media/image22.png"/><Relationship Id="rId10" Type="http://schemas.openxmlformats.org/officeDocument/2006/relationships/image" Target="../media/image9.png"/><Relationship Id="rId19" Type="http://schemas.openxmlformats.org/officeDocument/2006/relationships/image" Target="../media/image18.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3.png"/><Relationship Id="rId22" Type="http://schemas.openxmlformats.org/officeDocument/2006/relationships/image" Target="../media/image21.png"/></Relationships>
</file>

<file path=ppt/slides/_rels/slide3.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21.png"/><Relationship Id="rId18" Type="http://schemas.openxmlformats.org/officeDocument/2006/relationships/image" Target="../media/image5.png"/><Relationship Id="rId3" Type="http://schemas.openxmlformats.org/officeDocument/2006/relationships/image" Target="../media/image6.png"/><Relationship Id="rId21" Type="http://schemas.openxmlformats.org/officeDocument/2006/relationships/image" Target="../media/image18.png"/><Relationship Id="rId7" Type="http://schemas.openxmlformats.org/officeDocument/2006/relationships/image" Target="../media/image12.png"/><Relationship Id="rId12" Type="http://schemas.openxmlformats.org/officeDocument/2006/relationships/image" Target="../media/image19.png"/><Relationship Id="rId17" Type="http://schemas.openxmlformats.org/officeDocument/2006/relationships/image" Target="../media/image8.png"/><Relationship Id="rId2" Type="http://schemas.openxmlformats.org/officeDocument/2006/relationships/notesSlide" Target="../notesSlides/notesSlide3.xml"/><Relationship Id="rId16" Type="http://schemas.openxmlformats.org/officeDocument/2006/relationships/image" Target="../media/image7.png"/><Relationship Id="rId20" Type="http://schemas.openxmlformats.org/officeDocument/2006/relationships/image" Target="../media/image13.png"/><Relationship Id="rId1" Type="http://schemas.openxmlformats.org/officeDocument/2006/relationships/slideLayout" Target="../slideLayouts/slideLayout3.xml"/><Relationship Id="rId6" Type="http://schemas.openxmlformats.org/officeDocument/2006/relationships/image" Target="../media/image11.png"/><Relationship Id="rId11" Type="http://schemas.openxmlformats.org/officeDocument/2006/relationships/image" Target="../media/image17.png"/><Relationship Id="rId5" Type="http://schemas.openxmlformats.org/officeDocument/2006/relationships/image" Target="../media/image10.png"/><Relationship Id="rId15" Type="http://schemas.openxmlformats.org/officeDocument/2006/relationships/image" Target="../media/image4.png"/><Relationship Id="rId23" Type="http://schemas.openxmlformats.org/officeDocument/2006/relationships/image" Target="../media/image20.png"/><Relationship Id="rId10" Type="http://schemas.openxmlformats.org/officeDocument/2006/relationships/image" Target="../media/image16.png"/><Relationship Id="rId19" Type="http://schemas.openxmlformats.org/officeDocument/2006/relationships/image" Target="../media/image2.png"/><Relationship Id="rId4" Type="http://schemas.openxmlformats.org/officeDocument/2006/relationships/image" Target="../media/image9.png"/><Relationship Id="rId9" Type="http://schemas.openxmlformats.org/officeDocument/2006/relationships/image" Target="../media/image15.png"/><Relationship Id="rId14" Type="http://schemas.openxmlformats.org/officeDocument/2006/relationships/image" Target="../media/image22.png"/><Relationship Id="rId22" Type="http://schemas.openxmlformats.org/officeDocument/2006/relationships/image" Target="../media/image3.png"/></Relationships>
</file>

<file path=ppt/slides/_rels/slide4.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21.png"/><Relationship Id="rId18" Type="http://schemas.openxmlformats.org/officeDocument/2006/relationships/image" Target="../media/image5.png"/><Relationship Id="rId3" Type="http://schemas.openxmlformats.org/officeDocument/2006/relationships/image" Target="../media/image6.png"/><Relationship Id="rId21" Type="http://schemas.openxmlformats.org/officeDocument/2006/relationships/image" Target="../media/image18.png"/><Relationship Id="rId7" Type="http://schemas.openxmlformats.org/officeDocument/2006/relationships/image" Target="../media/image12.png"/><Relationship Id="rId12" Type="http://schemas.openxmlformats.org/officeDocument/2006/relationships/image" Target="../media/image19.png"/><Relationship Id="rId17" Type="http://schemas.openxmlformats.org/officeDocument/2006/relationships/image" Target="../media/image8.png"/><Relationship Id="rId2" Type="http://schemas.openxmlformats.org/officeDocument/2006/relationships/notesSlide" Target="../notesSlides/notesSlide4.xml"/><Relationship Id="rId16" Type="http://schemas.openxmlformats.org/officeDocument/2006/relationships/image" Target="../media/image7.png"/><Relationship Id="rId20" Type="http://schemas.openxmlformats.org/officeDocument/2006/relationships/image" Target="../media/image13.png"/><Relationship Id="rId1" Type="http://schemas.openxmlformats.org/officeDocument/2006/relationships/slideLayout" Target="../slideLayouts/slideLayout3.xml"/><Relationship Id="rId6" Type="http://schemas.openxmlformats.org/officeDocument/2006/relationships/image" Target="../media/image11.png"/><Relationship Id="rId11" Type="http://schemas.openxmlformats.org/officeDocument/2006/relationships/image" Target="../media/image17.png"/><Relationship Id="rId5" Type="http://schemas.openxmlformats.org/officeDocument/2006/relationships/image" Target="../media/image10.png"/><Relationship Id="rId15" Type="http://schemas.openxmlformats.org/officeDocument/2006/relationships/image" Target="../media/image4.png"/><Relationship Id="rId23" Type="http://schemas.openxmlformats.org/officeDocument/2006/relationships/image" Target="../media/image20.png"/><Relationship Id="rId10" Type="http://schemas.openxmlformats.org/officeDocument/2006/relationships/image" Target="../media/image16.png"/><Relationship Id="rId19" Type="http://schemas.openxmlformats.org/officeDocument/2006/relationships/image" Target="../media/image2.png"/><Relationship Id="rId4" Type="http://schemas.openxmlformats.org/officeDocument/2006/relationships/image" Target="../media/image9.png"/><Relationship Id="rId9" Type="http://schemas.openxmlformats.org/officeDocument/2006/relationships/image" Target="../media/image15.png"/><Relationship Id="rId14" Type="http://schemas.openxmlformats.org/officeDocument/2006/relationships/image" Target="../media/image22.png"/><Relationship Id="rId22" Type="http://schemas.openxmlformats.org/officeDocument/2006/relationships/image" Target="../media/image3.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2.xml"/><Relationship Id="rId1" Type="http://schemas.openxmlformats.org/officeDocument/2006/relationships/slideLayout" Target="../slideLayouts/slideLayout4.xml"/><Relationship Id="rId4" Type="http://schemas.openxmlformats.org/officeDocument/2006/relationships/image" Target="../media/image23.pn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5.xml"/><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6.xml"/><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7.xml"/><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34.xml"/><Relationship Id="rId1" Type="http://schemas.openxmlformats.org/officeDocument/2006/relationships/slideLayout" Target="../slideLayouts/slideLayout4.xml"/><Relationship Id="rId4" Type="http://schemas.openxmlformats.org/officeDocument/2006/relationships/image" Target="../media/image25.png"/></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36.xml"/><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notesSlide" Target="../notesSlides/notesSlide39.xml"/><Relationship Id="rId1" Type="http://schemas.openxmlformats.org/officeDocument/2006/relationships/slideLayout" Target="../slideLayouts/slideLayout2.xml"/><Relationship Id="rId4" Type="http://schemas.openxmlformats.org/officeDocument/2006/relationships/image" Target="../media/image27.png"/></Relationships>
</file>

<file path=ppt/slides/_rels/slide4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0.xml"/><Relationship Id="rId1" Type="http://schemas.openxmlformats.org/officeDocument/2006/relationships/slideLayout" Target="../slideLayouts/slideLayout4.xml"/><Relationship Id="rId4" Type="http://schemas.openxmlformats.org/officeDocument/2006/relationships/image" Target="../media/image28.png"/></Relationships>
</file>

<file path=ppt/slides/_rels/slide41.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41.xml"/><Relationship Id="rId1" Type="http://schemas.openxmlformats.org/officeDocument/2006/relationships/slideLayout" Target="../slideLayouts/slideLayout4.xml"/><Relationship Id="rId4" Type="http://schemas.openxmlformats.org/officeDocument/2006/relationships/image" Target="../media/image30.png"/></Relationships>
</file>

<file path=ppt/slides/_rels/slide42.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42.xml"/><Relationship Id="rId1" Type="http://schemas.openxmlformats.org/officeDocument/2006/relationships/slideLayout" Target="../slideLayouts/slideLayout4.xml"/><Relationship Id="rId5" Type="http://schemas.openxmlformats.org/officeDocument/2006/relationships/image" Target="../media/image33.png"/><Relationship Id="rId4" Type="http://schemas.openxmlformats.org/officeDocument/2006/relationships/image" Target="../media/image32.png"/></Relationships>
</file>

<file path=ppt/slides/_rels/slide43.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43.xml"/><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44.xml"/><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5.xml"/><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8.xml"/><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9.xml"/><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CCC80C3A-FA40-BD44-901E-27B4E4B22B51}"/>
              </a:ext>
            </a:extLst>
          </p:cNvPr>
          <p:cNvSpPr>
            <a:spLocks noGrp="1"/>
          </p:cNvSpPr>
          <p:nvPr>
            <p:ph type="sldNum" sz="quarter" idx="4"/>
          </p:nvPr>
        </p:nvSpPr>
        <p:spPr/>
        <p:txBody>
          <a:bodyPr/>
          <a:lstStyle/>
          <a:p>
            <a:r>
              <a:rPr lang="en-US" dirty="0"/>
              <a:t>Introduction: 1-</a:t>
            </a:r>
            <a:fld id="{C4204591-24BD-A542-B9D5-F8D8A88D2FEE}" type="slidenum">
              <a:rPr lang="en-US" smtClean="0"/>
              <a:pPr/>
              <a:t>1</a:t>
            </a:fld>
            <a:endParaRPr lang="en-US" dirty="0"/>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614363" y="732851"/>
            <a:ext cx="7066115" cy="571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Internet Architecture</a:t>
            </a:r>
          </a:p>
          <a:p>
            <a:pPr eaLnBrk="1" hangingPunct="1">
              <a:lnSpc>
                <a:spcPct val="85000"/>
              </a:lnSpc>
            </a:pPr>
            <a:r>
              <a:rPr lang="en-US" altLang="en-US" sz="5400" b="1" dirty="0">
                <a:solidFill>
                  <a:srgbClr val="000099"/>
                </a:solidFill>
                <a:latin typeface="+mj-lt"/>
              </a:rPr>
              <a:t>TCP/IP Protocol Suite</a:t>
            </a:r>
          </a:p>
          <a:p>
            <a:pPr eaLnBrk="1" hangingPunct="1">
              <a:lnSpc>
                <a:spcPct val="85000"/>
              </a:lnSpc>
            </a:pPr>
            <a:r>
              <a:rPr lang="en-US" altLang="en-US" sz="5400" b="1" dirty="0">
                <a:solidFill>
                  <a:srgbClr val="000099"/>
                </a:solidFill>
                <a:latin typeface="+mj-lt"/>
              </a:rPr>
              <a:t>IPC - Concept of Socket </a:t>
            </a:r>
          </a:p>
          <a:p>
            <a:pPr eaLnBrk="1" hangingPunct="1">
              <a:lnSpc>
                <a:spcPct val="85000"/>
              </a:lnSpc>
            </a:pPr>
            <a:r>
              <a:rPr lang="en-US" altLang="en-US" sz="5400" b="1" dirty="0">
                <a:solidFill>
                  <a:srgbClr val="000099"/>
                </a:solidFill>
                <a:latin typeface="+mj-lt"/>
              </a:rPr>
              <a:t>HTTP 1.1, 2 and 3 </a:t>
            </a:r>
          </a:p>
          <a:p>
            <a:pPr eaLnBrk="1" hangingPunct="1">
              <a:lnSpc>
                <a:spcPct val="85000"/>
              </a:lnSpc>
            </a:pPr>
            <a:r>
              <a:rPr lang="en-US" altLang="en-US" sz="5400" b="1" dirty="0">
                <a:solidFill>
                  <a:srgbClr val="000099"/>
                </a:solidFill>
                <a:latin typeface="+mj-lt"/>
              </a:rPr>
              <a:t>Cookies</a:t>
            </a:r>
          </a:p>
          <a:p>
            <a:pPr eaLnBrk="1" hangingPunct="1">
              <a:lnSpc>
                <a:spcPct val="85000"/>
              </a:lnSpc>
            </a:pPr>
            <a:r>
              <a:rPr lang="en-US" altLang="en-US" sz="5400" b="1" dirty="0">
                <a:solidFill>
                  <a:srgbClr val="000099"/>
                </a:solidFill>
                <a:latin typeface="+mj-lt"/>
              </a:rPr>
              <a:t>Web Caching</a:t>
            </a:r>
          </a:p>
          <a:p>
            <a:pPr eaLnBrk="1" hangingPunct="1">
              <a:lnSpc>
                <a:spcPct val="85000"/>
              </a:lnSpc>
            </a:pPr>
            <a:endParaRPr lang="en-US" altLang="en-US" sz="5400" b="1" dirty="0">
              <a:solidFill>
                <a:srgbClr val="000099"/>
              </a:solidFill>
              <a:latin typeface="+mj-lt"/>
            </a:endParaRPr>
          </a:p>
        </p:txBody>
      </p:sp>
      <p:sp>
        <p:nvSpPr>
          <p:cNvPr id="9" name="Rectangle 8">
            <a:extLst>
              <a:ext uri="{FF2B5EF4-FFF2-40B4-BE49-F238E27FC236}">
                <a16:creationId xmlns:a16="http://schemas.microsoft.com/office/drawing/2014/main" id="{DF486BED-0E6D-424B-9246-93E87D8EC12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pic>
        <p:nvPicPr>
          <p:cNvPr id="10" name="Picture 9" descr="A picture containing outdoor, water, bridge, building&#10;&#10;Description automatically generated">
            <a:extLst>
              <a:ext uri="{FF2B5EF4-FFF2-40B4-BE49-F238E27FC236}">
                <a16:creationId xmlns:a16="http://schemas.microsoft.com/office/drawing/2014/main" id="{8FF33017-B1D4-1D43-9BC0-3EC96B262BA1}"/>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altLang="ja-JP" sz="5400" b="0" dirty="0"/>
              <a:t>A closer look at Internet structure</a:t>
            </a:r>
            <a:endParaRPr lang="en-US" sz="5400" b="0" dirty="0"/>
          </a:p>
        </p:txBody>
      </p:sp>
      <p:grpSp>
        <p:nvGrpSpPr>
          <p:cNvPr id="801" name="Group 800">
            <a:extLst>
              <a:ext uri="{FF2B5EF4-FFF2-40B4-BE49-F238E27FC236}">
                <a16:creationId xmlns:a16="http://schemas.microsoft.com/office/drawing/2014/main" id="{120F2BC7-BB63-8D47-A127-7655CBFA7174}"/>
              </a:ext>
            </a:extLst>
          </p:cNvPr>
          <p:cNvGrpSpPr/>
          <p:nvPr/>
        </p:nvGrpSpPr>
        <p:grpSpPr>
          <a:xfrm>
            <a:off x="7205350" y="1488461"/>
            <a:ext cx="4525460" cy="4859961"/>
            <a:chOff x="7268561" y="1458365"/>
            <a:chExt cx="4525460" cy="4859961"/>
          </a:xfrm>
        </p:grpSpPr>
        <p:sp>
          <p:nvSpPr>
            <p:cNvPr id="371" name="Freeform 370">
              <a:extLst>
                <a:ext uri="{FF2B5EF4-FFF2-40B4-BE49-F238E27FC236}">
                  <a16:creationId xmlns:a16="http://schemas.microsoft.com/office/drawing/2014/main" id="{21662630-62BB-AE4A-A779-AEACD21E6D7C}"/>
                </a:ext>
              </a:extLst>
            </p:cNvPr>
            <p:cNvSpPr/>
            <p:nvPr/>
          </p:nvSpPr>
          <p:spPr>
            <a:xfrm>
              <a:off x="9048399" y="3035682"/>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337287" y="1795939"/>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68561" y="3259155"/>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75612" y="4653038"/>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742485" y="1458365"/>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94046" y="4161826"/>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70119" y="5749679"/>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85357" y="3149444"/>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900911" y="3897954"/>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834382" y="3164075"/>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604024" y="1751946"/>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90412" y="1821099"/>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342279" y="3647812"/>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829373" y="3417823"/>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80978" y="4647841"/>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126229" y="4198152"/>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25" name="Group 1024">
            <a:extLst>
              <a:ext uri="{FF2B5EF4-FFF2-40B4-BE49-F238E27FC236}">
                <a16:creationId xmlns:a16="http://schemas.microsoft.com/office/drawing/2014/main" id="{B7334F8A-78E8-5447-8C7B-A897E1246B5B}"/>
              </a:ext>
            </a:extLst>
          </p:cNvPr>
          <p:cNvGrpSpPr/>
          <p:nvPr/>
        </p:nvGrpSpPr>
        <p:grpSpPr>
          <a:xfrm>
            <a:off x="7562238" y="2127325"/>
            <a:ext cx="3578867" cy="3640283"/>
            <a:chOff x="7562238" y="2127325"/>
            <a:chExt cx="3578867" cy="3640283"/>
          </a:xfrm>
        </p:grpSpPr>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grpSp>
        <p:nvGrpSpPr>
          <p:cNvPr id="1024" name="Group 1023">
            <a:extLst>
              <a:ext uri="{FF2B5EF4-FFF2-40B4-BE49-F238E27FC236}">
                <a16:creationId xmlns:a16="http://schemas.microsoft.com/office/drawing/2014/main" id="{11D2D3D5-CF37-8945-8D0A-CBA0214240EA}"/>
              </a:ext>
            </a:extLst>
          </p:cNvPr>
          <p:cNvGrpSpPr/>
          <p:nvPr/>
        </p:nvGrpSpPr>
        <p:grpSpPr>
          <a:xfrm>
            <a:off x="7613882" y="2107963"/>
            <a:ext cx="3540395" cy="3733733"/>
            <a:chOff x="7619038" y="2102861"/>
            <a:chExt cx="3540395" cy="3733733"/>
          </a:xfrm>
        </p:grpSpPr>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13016" y="2695257"/>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5854" y="2304274"/>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9038" y="385679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5766" y="551913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8714" y="4984881"/>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54521" y="5333935"/>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81775" y="4962318"/>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6676" y="5189331"/>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44983" y="2807207"/>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5226" y="3960892"/>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9241" y="3596263"/>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5765" y="3491036"/>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53880" y="2197190"/>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32370" y="2608265"/>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8981" y="2102861"/>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103944" y="3951522"/>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5282" y="2656463"/>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502294" y="3388930"/>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6710" y="3994661"/>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80415" y="3987223"/>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53049" y="4770584"/>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31138" y="4364023"/>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 name="Rectangle 8">
            <a:extLst>
              <a:ext uri="{FF2B5EF4-FFF2-40B4-BE49-F238E27FC236}">
                <a16:creationId xmlns:a16="http://schemas.microsoft.com/office/drawing/2014/main" id="{04483029-0B46-154F-9CA3-FEA06875B8DB}"/>
              </a:ext>
            </a:extLst>
          </p:cNvPr>
          <p:cNvSpPr/>
          <p:nvPr/>
        </p:nvSpPr>
        <p:spPr>
          <a:xfrm>
            <a:off x="7149670" y="17196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97" name="Group 796">
            <a:extLst>
              <a:ext uri="{FF2B5EF4-FFF2-40B4-BE49-F238E27FC236}">
                <a16:creationId xmlns:a16="http://schemas.microsoft.com/office/drawing/2014/main" id="{D383E01F-FA6F-5647-A6B1-D5444F12E4E2}"/>
              </a:ext>
            </a:extLst>
          </p:cNvPr>
          <p:cNvGrpSpPr/>
          <p:nvPr/>
        </p:nvGrpSpPr>
        <p:grpSpPr>
          <a:xfrm>
            <a:off x="7439074" y="1859725"/>
            <a:ext cx="4144321" cy="4300892"/>
            <a:chOff x="7432700" y="1830405"/>
            <a:chExt cx="4144321" cy="4300892"/>
          </a:xfrm>
        </p:grpSpPr>
        <p:grpSp>
          <p:nvGrpSpPr>
            <p:cNvPr id="787" name="Group 786">
              <a:extLst>
                <a:ext uri="{FF2B5EF4-FFF2-40B4-BE49-F238E27FC236}">
                  <a16:creationId xmlns:a16="http://schemas.microsoft.com/office/drawing/2014/main" id="{C944F5F4-7AD1-AE48-9769-ABE2F95B5A26}"/>
                </a:ext>
              </a:extLst>
            </p:cNvPr>
            <p:cNvGrpSpPr/>
            <p:nvPr/>
          </p:nvGrpSpPr>
          <p:grpSpPr>
            <a:xfrm>
              <a:off x="7432700" y="1830405"/>
              <a:ext cx="1909777" cy="938011"/>
              <a:chOff x="7432700" y="1830405"/>
              <a:chExt cx="1909777" cy="938011"/>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43850" y="183040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5" name="Group 784">
                <a:extLst>
                  <a:ext uri="{FF2B5EF4-FFF2-40B4-BE49-F238E27FC236}">
                    <a16:creationId xmlns:a16="http://schemas.microsoft.com/office/drawing/2014/main" id="{91E02B81-5B35-4545-A954-B7E923AB7286}"/>
                  </a:ext>
                </a:extLst>
              </p:cNvPr>
              <p:cNvGrpSpPr/>
              <p:nvPr/>
            </p:nvGrpSpPr>
            <p:grpSpPr>
              <a:xfrm>
                <a:off x="7432700" y="232729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1407" y="229040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2">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3165" y="202980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3" name="Group 792">
              <a:extLst>
                <a:ext uri="{FF2B5EF4-FFF2-40B4-BE49-F238E27FC236}">
                  <a16:creationId xmlns:a16="http://schemas.microsoft.com/office/drawing/2014/main" id="{93351559-0D4C-F04C-928E-5CDA57B5EB47}"/>
                </a:ext>
              </a:extLst>
            </p:cNvPr>
            <p:cNvGrpSpPr/>
            <p:nvPr/>
          </p:nvGrpSpPr>
          <p:grpSpPr>
            <a:xfrm>
              <a:off x="7487144" y="329610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58573" y="339916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96" name="Group 795">
              <a:extLst>
                <a:ext uri="{FF2B5EF4-FFF2-40B4-BE49-F238E27FC236}">
                  <a16:creationId xmlns:a16="http://schemas.microsoft.com/office/drawing/2014/main" id="{2287FB5D-0F91-9741-8D3A-0A38C2D4142B}"/>
                </a:ext>
              </a:extLst>
            </p:cNvPr>
            <p:cNvGrpSpPr/>
            <p:nvPr/>
          </p:nvGrpSpPr>
          <p:grpSpPr>
            <a:xfrm>
              <a:off x="7767607" y="4870841"/>
              <a:ext cx="2692126" cy="1260456"/>
              <a:chOff x="7767607" y="4870841"/>
              <a:chExt cx="2692126" cy="1260456"/>
            </a:xfrm>
          </p:grpSpPr>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2541" y="524463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794" name="Group 793">
                <a:extLst>
                  <a:ext uri="{FF2B5EF4-FFF2-40B4-BE49-F238E27FC236}">
                    <a16:creationId xmlns:a16="http://schemas.microsoft.com/office/drawing/2014/main" id="{418A016B-3865-5C4A-BF54-A4D433F011BA}"/>
                  </a:ext>
                </a:extLst>
              </p:cNvPr>
              <p:cNvGrpSpPr/>
              <p:nvPr/>
            </p:nvGrpSpPr>
            <p:grpSpPr>
              <a:xfrm>
                <a:off x="7767607" y="4870841"/>
                <a:ext cx="2080029" cy="1260456"/>
                <a:chOff x="7767607" y="4870841"/>
                <a:chExt cx="2080029" cy="1260456"/>
              </a:xfrm>
            </p:grpSpPr>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74481" y="487084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195307" y="582348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67607" y="525174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47535" y="547533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45760" y="549681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28372" y="576581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10011503" y="5607068"/>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grpSp>
      <p:grpSp>
        <p:nvGrpSpPr>
          <p:cNvPr id="8" name="Group 7">
            <a:extLst>
              <a:ext uri="{FF2B5EF4-FFF2-40B4-BE49-F238E27FC236}">
                <a16:creationId xmlns:a16="http://schemas.microsoft.com/office/drawing/2014/main" id="{FCEA6D79-FD00-1148-A95A-8E46A45625BA}"/>
              </a:ext>
            </a:extLst>
          </p:cNvPr>
          <p:cNvGrpSpPr/>
          <p:nvPr/>
        </p:nvGrpSpPr>
        <p:grpSpPr>
          <a:xfrm>
            <a:off x="7332141" y="1814171"/>
            <a:ext cx="4398669" cy="4440468"/>
            <a:chOff x="7295123" y="1843082"/>
            <a:chExt cx="4398669" cy="4440468"/>
          </a:xfrm>
        </p:grpSpPr>
        <p:sp>
          <p:nvSpPr>
            <p:cNvPr id="614" name="Oval 613">
              <a:extLst>
                <a:ext uri="{FF2B5EF4-FFF2-40B4-BE49-F238E27FC236}">
                  <a16:creationId xmlns:a16="http://schemas.microsoft.com/office/drawing/2014/main" id="{6D8354C1-1210-1940-9F91-B4758D5841DC}"/>
                </a:ext>
              </a:extLst>
            </p:cNvPr>
            <p:cNvSpPr/>
            <p:nvPr/>
          </p:nvSpPr>
          <p:spPr>
            <a:xfrm>
              <a:off x="7866885" y="3450880"/>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1" name="Oval 630">
              <a:extLst>
                <a:ext uri="{FF2B5EF4-FFF2-40B4-BE49-F238E27FC236}">
                  <a16:creationId xmlns:a16="http://schemas.microsoft.com/office/drawing/2014/main" id="{E3958303-11B7-AC47-B40B-E7F34DA98B87}"/>
                </a:ext>
              </a:extLst>
            </p:cNvPr>
            <p:cNvSpPr/>
            <p:nvPr/>
          </p:nvSpPr>
          <p:spPr>
            <a:xfrm>
              <a:off x="7675465" y="3247424"/>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2" name="Oval 631">
              <a:extLst>
                <a:ext uri="{FF2B5EF4-FFF2-40B4-BE49-F238E27FC236}">
                  <a16:creationId xmlns:a16="http://schemas.microsoft.com/office/drawing/2014/main" id="{E52B2236-5BAD-4448-BEE0-0CD0D214FDEF}"/>
                </a:ext>
              </a:extLst>
            </p:cNvPr>
            <p:cNvSpPr/>
            <p:nvPr/>
          </p:nvSpPr>
          <p:spPr>
            <a:xfrm>
              <a:off x="7295123" y="3349484"/>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94D09F97-D3D9-764B-B75B-ED7B4816D5B9}"/>
                </a:ext>
              </a:extLst>
            </p:cNvPr>
            <p:cNvGrpSpPr/>
            <p:nvPr/>
          </p:nvGrpSpPr>
          <p:grpSpPr>
            <a:xfrm>
              <a:off x="7384850" y="1843082"/>
              <a:ext cx="4308942" cy="4440468"/>
              <a:chOff x="7384850" y="1843082"/>
              <a:chExt cx="4308942" cy="4440468"/>
            </a:xfrm>
          </p:grpSpPr>
          <p:sp>
            <p:nvSpPr>
              <p:cNvPr id="609" name="Oval 608">
                <a:extLst>
                  <a:ext uri="{FF2B5EF4-FFF2-40B4-BE49-F238E27FC236}">
                    <a16:creationId xmlns:a16="http://schemas.microsoft.com/office/drawing/2014/main" id="{8000236D-4FCB-8E42-8443-B60A47AB111C}"/>
                  </a:ext>
                </a:extLst>
              </p:cNvPr>
              <p:cNvSpPr/>
              <p:nvPr/>
            </p:nvSpPr>
            <p:spPr>
              <a:xfrm>
                <a:off x="9026135" y="577348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0" name="Oval 609">
                <a:extLst>
                  <a:ext uri="{FF2B5EF4-FFF2-40B4-BE49-F238E27FC236}">
                    <a16:creationId xmlns:a16="http://schemas.microsoft.com/office/drawing/2014/main" id="{D2A0E321-E076-5E4B-B83B-757AFB1A4CEA}"/>
                  </a:ext>
                </a:extLst>
              </p:cNvPr>
              <p:cNvSpPr/>
              <p:nvPr/>
            </p:nvSpPr>
            <p:spPr>
              <a:xfrm>
                <a:off x="8465833" y="5458029"/>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1" name="Oval 610">
                <a:extLst>
                  <a:ext uri="{FF2B5EF4-FFF2-40B4-BE49-F238E27FC236}">
                    <a16:creationId xmlns:a16="http://schemas.microsoft.com/office/drawing/2014/main" id="{25D6BB58-705A-994A-A4C0-4597BD3E586E}"/>
                  </a:ext>
                </a:extLst>
              </p:cNvPr>
              <p:cNvSpPr/>
              <p:nvPr/>
            </p:nvSpPr>
            <p:spPr>
              <a:xfrm>
                <a:off x="7992829" y="5385020"/>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2" name="Oval 611">
                <a:extLst>
                  <a:ext uri="{FF2B5EF4-FFF2-40B4-BE49-F238E27FC236}">
                    <a16:creationId xmlns:a16="http://schemas.microsoft.com/office/drawing/2014/main" id="{626C6AB3-E95B-4E45-912D-03BD50D0AB9E}"/>
                  </a:ext>
                </a:extLst>
              </p:cNvPr>
              <p:cNvSpPr/>
              <p:nvPr/>
            </p:nvSpPr>
            <p:spPr>
              <a:xfrm>
                <a:off x="7652236" y="518975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3" name="Oval 612">
                <a:extLst>
                  <a:ext uri="{FF2B5EF4-FFF2-40B4-BE49-F238E27FC236}">
                    <a16:creationId xmlns:a16="http://schemas.microsoft.com/office/drawing/2014/main" id="{651092E3-127F-B747-AC6B-A506BBC80C9F}"/>
                  </a:ext>
                </a:extLst>
              </p:cNvPr>
              <p:cNvSpPr/>
              <p:nvPr/>
            </p:nvSpPr>
            <p:spPr>
              <a:xfrm>
                <a:off x="11017339" y="3399436"/>
                <a:ext cx="612311" cy="510076"/>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3" name="Oval 632">
                <a:extLst>
                  <a:ext uri="{FF2B5EF4-FFF2-40B4-BE49-F238E27FC236}">
                    <a16:creationId xmlns:a16="http://schemas.microsoft.com/office/drawing/2014/main" id="{C302BF23-8204-FB46-A78D-495CB59FC0FB}"/>
                  </a:ext>
                </a:extLst>
              </p:cNvPr>
              <p:cNvSpPr/>
              <p:nvPr/>
            </p:nvSpPr>
            <p:spPr>
              <a:xfrm>
                <a:off x="8605132" y="1925480"/>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4" name="Oval 633">
                <a:extLst>
                  <a:ext uri="{FF2B5EF4-FFF2-40B4-BE49-F238E27FC236}">
                    <a16:creationId xmlns:a16="http://schemas.microsoft.com/office/drawing/2014/main" id="{ED9D1CE7-97E7-BE42-9A9E-DFF564EF6FD2}"/>
                  </a:ext>
                </a:extLst>
              </p:cNvPr>
              <p:cNvSpPr/>
              <p:nvPr/>
            </p:nvSpPr>
            <p:spPr>
              <a:xfrm>
                <a:off x="7384850" y="2332725"/>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43306" y="184308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6" name="Oval 635">
                <a:extLst>
                  <a:ext uri="{FF2B5EF4-FFF2-40B4-BE49-F238E27FC236}">
                    <a16:creationId xmlns:a16="http://schemas.microsoft.com/office/drawing/2014/main" id="{33196CF4-E8B7-C748-AEBE-BE1C069588D5}"/>
                  </a:ext>
                </a:extLst>
              </p:cNvPr>
              <p:cNvSpPr/>
              <p:nvPr/>
            </p:nvSpPr>
            <p:spPr>
              <a:xfrm>
                <a:off x="11081481" y="4188998"/>
                <a:ext cx="612311" cy="510076"/>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7" name="Oval 636">
                <a:extLst>
                  <a:ext uri="{FF2B5EF4-FFF2-40B4-BE49-F238E27FC236}">
                    <a16:creationId xmlns:a16="http://schemas.microsoft.com/office/drawing/2014/main" id="{B8AA2F12-9606-F944-8D71-78704F4F02AC}"/>
                  </a:ext>
                </a:extLst>
              </p:cNvPr>
              <p:cNvSpPr/>
              <p:nvPr/>
            </p:nvSpPr>
            <p:spPr>
              <a:xfrm>
                <a:off x="7866885" y="4808926"/>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786432" y="558368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9" name="Oval 638">
                <a:extLst>
                  <a:ext uri="{FF2B5EF4-FFF2-40B4-BE49-F238E27FC236}">
                    <a16:creationId xmlns:a16="http://schemas.microsoft.com/office/drawing/2014/main" id="{DF73A1CD-668E-B544-868D-FCFA8CE79DB9}"/>
                  </a:ext>
                </a:extLst>
              </p:cNvPr>
              <p:cNvSpPr/>
              <p:nvPr/>
            </p:nvSpPr>
            <p:spPr>
              <a:xfrm>
                <a:off x="10048818" y="5198326"/>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40" name="Content Placeholder 2">
            <a:extLst>
              <a:ext uri="{FF2B5EF4-FFF2-40B4-BE49-F238E27FC236}">
                <a16:creationId xmlns:a16="http://schemas.microsoft.com/office/drawing/2014/main" id="{CAE1DAE5-E210-1642-9C4E-115EA6D0718E}"/>
              </a:ext>
            </a:extLst>
          </p:cNvPr>
          <p:cNvSpPr>
            <a:spLocks noGrp="1"/>
          </p:cNvSpPr>
          <p:nvPr>
            <p:ph sz="half" idx="1"/>
          </p:nvPr>
        </p:nvSpPr>
        <p:spPr>
          <a:xfrm>
            <a:off x="838199" y="1825625"/>
            <a:ext cx="5692665" cy="4617464"/>
          </a:xfrm>
        </p:spPr>
        <p:txBody>
          <a:bodyPr>
            <a:normAutofit/>
          </a:bodyPr>
          <a:lstStyle/>
          <a:p>
            <a:pPr marL="0" indent="0">
              <a:buSzPct val="75000"/>
              <a:buNone/>
            </a:pPr>
            <a:r>
              <a:rPr lang="en-US" altLang="en-US" sz="3200" dirty="0">
                <a:solidFill>
                  <a:srgbClr val="CC0000"/>
                </a:solidFill>
                <a:latin typeface="Calibri" panose="020F0502020204030204" pitchFamily="34" charset="0"/>
                <a:ea typeface="ＭＳ Ｐゴシック" panose="020B0600070205080204" pitchFamily="34" charset="-128"/>
                <a:cs typeface="Calibri" panose="020F0502020204030204" pitchFamily="34" charset="0"/>
              </a:rPr>
              <a:t>Network edge:</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hosts: clients and servers</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servers often in data centers</a:t>
            </a:r>
          </a:p>
          <a:p>
            <a:pPr marL="174625" indent="0">
              <a:buSzPct val="75000"/>
              <a:buNone/>
            </a:pPr>
            <a:endParaRPr lang="en-US" altLang="en-US" dirty="0"/>
          </a:p>
          <a:p>
            <a:endParaRPr lang="en-US" dirty="0"/>
          </a:p>
        </p:txBody>
      </p:sp>
      <p:sp>
        <p:nvSpPr>
          <p:cNvPr id="571" name="Slide Number Placeholder 5">
            <a:extLst>
              <a:ext uri="{FF2B5EF4-FFF2-40B4-BE49-F238E27FC236}">
                <a16:creationId xmlns:a16="http://schemas.microsoft.com/office/drawing/2014/main" id="{708DEF7C-B0F7-A64F-8A70-6995BEA8D4E5}"/>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2</a:t>
            </a:fld>
            <a:endParaRPr lang="en-US" dirty="0"/>
          </a:p>
        </p:txBody>
      </p:sp>
    </p:spTree>
    <p:extLst>
      <p:ext uri="{BB962C8B-B14F-4D97-AF65-F5344CB8AC3E}">
        <p14:creationId xmlns:p14="http://schemas.microsoft.com/office/powerpoint/2010/main" val="39915900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640">
                                            <p:txEl>
                                              <p:pRg st="0" end="0"/>
                                            </p:txEl>
                                          </p:spTgt>
                                        </p:tgtEl>
                                        <p:attrNameLst>
                                          <p:attrName>style.visibility</p:attrName>
                                        </p:attrNameLst>
                                      </p:cBhvr>
                                      <p:to>
                                        <p:strVal val="visible"/>
                                      </p:to>
                                    </p:set>
                                    <p:animEffect transition="in" filter="dissolve">
                                      <p:cBhvr>
                                        <p:cTn id="13" dur="500"/>
                                        <p:tgtEl>
                                          <p:spTgt spid="640">
                                            <p:txEl>
                                              <p:pRg st="0" end="0"/>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640">
                                            <p:txEl>
                                              <p:pRg st="1" end="1"/>
                                            </p:txEl>
                                          </p:spTgt>
                                        </p:tgtEl>
                                        <p:attrNameLst>
                                          <p:attrName>style.visibility</p:attrName>
                                        </p:attrNameLst>
                                      </p:cBhvr>
                                      <p:to>
                                        <p:strVal val="visible"/>
                                      </p:to>
                                    </p:set>
                                    <p:animEffect transition="in" filter="dissolve">
                                      <p:cBhvr>
                                        <p:cTn id="16" dur="500"/>
                                        <p:tgtEl>
                                          <p:spTgt spid="640">
                                            <p:txEl>
                                              <p:pRg st="1" end="1"/>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640">
                                            <p:txEl>
                                              <p:pRg st="2" end="2"/>
                                            </p:txEl>
                                          </p:spTgt>
                                        </p:tgtEl>
                                        <p:attrNameLst>
                                          <p:attrName>style.visibility</p:attrName>
                                        </p:attrNameLst>
                                      </p:cBhvr>
                                      <p:to>
                                        <p:strVal val="visible"/>
                                      </p:to>
                                    </p:set>
                                    <p:animEffect transition="in" filter="dissolve">
                                      <p:cBhvr>
                                        <p:cTn id="19" dur="500"/>
                                        <p:tgtEl>
                                          <p:spTgt spid="64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640"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altLang="ja-JP" sz="5400" b="0" dirty="0"/>
              <a:t>A closer look at Internet structure</a:t>
            </a:r>
            <a:endParaRPr lang="en-US" sz="5400" b="0" dirty="0"/>
          </a:p>
        </p:txBody>
      </p:sp>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00635" y="2169432"/>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42166" y="2718967"/>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69542" y="2169432"/>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62103" y="2127325"/>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681994" y="2718967"/>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69223" y="2268313"/>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378705" y="4113379"/>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44554" y="4047456"/>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09572" y="1917025"/>
            <a:ext cx="136841" cy="32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9064" flipH="1">
            <a:off x="7464781" y="260509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9678" y="245030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27011" y="245565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73752" y="244416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6562" y="244384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80579" y="247266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605588" y="259690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90512" y="247423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605977" y="260524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601109" y="267154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70154" y="267705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64976" y="268350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65171" y="266996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65366" y="260902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74909" y="267311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64701" y="266807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flipH="1">
            <a:off x="8831667" y="239228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99539" y="211695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10375" y="360520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605388" y="348929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6754" y="349330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7403" y="348470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603345" y="348446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83026" y="350604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602706" y="359907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9539" y="350722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602962" y="360532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9769" y="365496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10617" y="365909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10503" y="366393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10631" y="365379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10758" y="360815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7016" y="365614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7042" y="365237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flipH="1">
            <a:off x="7991996" y="3567143"/>
            <a:ext cx="359261" cy="342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flipH="1">
            <a:off x="8145217" y="3599942"/>
            <a:ext cx="169400" cy="156753"/>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903199" y="338501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216586" y="6040274"/>
            <a:ext cx="253501" cy="12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9300597" y="5923494"/>
            <a:ext cx="204043" cy="15705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310647" y="5927534"/>
            <a:ext cx="185412" cy="142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9337747" y="5918861"/>
            <a:ext cx="172878" cy="29225"/>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9298791" y="5918624"/>
            <a:ext cx="47990" cy="121650"/>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9457666" y="5940364"/>
            <a:ext cx="51716" cy="14042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9298226" y="6034096"/>
            <a:ext cx="189702" cy="47401"/>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9463425" y="5941552"/>
            <a:ext cx="48442" cy="141014"/>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9298452" y="6040392"/>
            <a:ext cx="168700" cy="46807"/>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9295629" y="6090407"/>
            <a:ext cx="57249" cy="27799"/>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9393642" y="6094565"/>
            <a:ext cx="69332" cy="61063"/>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9216699" y="6099436"/>
            <a:ext cx="177394" cy="55717"/>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9216812" y="6089219"/>
            <a:ext cx="1920" cy="11286"/>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9216925" y="6043244"/>
            <a:ext cx="82430" cy="46688"/>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9222458" y="6091595"/>
            <a:ext cx="168248" cy="53578"/>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9390480" y="6087793"/>
            <a:ext cx="68654" cy="5547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550087" y="5949454"/>
            <a:ext cx="260920" cy="99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9636557" y="5853324"/>
            <a:ext cx="210015" cy="129281"/>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646901" y="5856649"/>
            <a:ext cx="190838" cy="117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9674794" y="5849510"/>
            <a:ext cx="177937" cy="24057"/>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9634698" y="5849315"/>
            <a:ext cx="49395" cy="100139"/>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9798223" y="5867211"/>
            <a:ext cx="53230" cy="11559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9634116" y="5944369"/>
            <a:ext cx="195254" cy="3901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9804150" y="5868189"/>
            <a:ext cx="49860" cy="116079"/>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9634349" y="5949552"/>
            <a:ext cx="173637" cy="38530"/>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9631443" y="5990722"/>
            <a:ext cx="58925" cy="22883"/>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9732325" y="5994145"/>
            <a:ext cx="71361" cy="50265"/>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9550204" y="5998154"/>
            <a:ext cx="182586" cy="45864"/>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9550320" y="5989744"/>
            <a:ext cx="1976" cy="9290"/>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9550436" y="5951899"/>
            <a:ext cx="84843" cy="38432"/>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9556131" y="5991700"/>
            <a:ext cx="173172" cy="44104"/>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9729071" y="5988571"/>
            <a:ext cx="70663" cy="4566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10017877" y="5636388"/>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 name="Rectangle 8">
            <a:extLst>
              <a:ext uri="{FF2B5EF4-FFF2-40B4-BE49-F238E27FC236}">
                <a16:creationId xmlns:a16="http://schemas.microsoft.com/office/drawing/2014/main" id="{04483029-0B46-154F-9CA3-FEA06875B8DB}"/>
              </a:ext>
            </a:extLst>
          </p:cNvPr>
          <p:cNvSpPr/>
          <p:nvPr/>
        </p:nvSpPr>
        <p:spPr>
          <a:xfrm>
            <a:off x="6471025" y="145155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0" name="Group 19">
            <a:extLst>
              <a:ext uri="{FF2B5EF4-FFF2-40B4-BE49-F238E27FC236}">
                <a16:creationId xmlns:a16="http://schemas.microsoft.com/office/drawing/2014/main" id="{A912210B-AFA0-C747-B0D5-6E0D32FFEF07}"/>
              </a:ext>
            </a:extLst>
          </p:cNvPr>
          <p:cNvGrpSpPr/>
          <p:nvPr/>
        </p:nvGrpSpPr>
        <p:grpSpPr>
          <a:xfrm>
            <a:off x="7439074" y="1859725"/>
            <a:ext cx="4144321" cy="4127477"/>
            <a:chOff x="7439074" y="1859725"/>
            <a:chExt cx="4144321" cy="4127477"/>
          </a:xfrm>
        </p:grpSpPr>
        <p:grpSp>
          <p:nvGrpSpPr>
            <p:cNvPr id="15" name="Group 14">
              <a:extLst>
                <a:ext uri="{FF2B5EF4-FFF2-40B4-BE49-F238E27FC236}">
                  <a16:creationId xmlns:a16="http://schemas.microsoft.com/office/drawing/2014/main" id="{5DBD1858-2E40-9545-88AD-AAD37777C13D}"/>
                </a:ext>
              </a:extLst>
            </p:cNvPr>
            <p:cNvGrpSpPr/>
            <p:nvPr/>
          </p:nvGrpSpPr>
          <p:grpSpPr>
            <a:xfrm>
              <a:off x="7439074" y="1859725"/>
              <a:ext cx="1802647" cy="1120859"/>
              <a:chOff x="7439074" y="1859725"/>
              <a:chExt cx="1802647" cy="1120859"/>
            </a:xfrm>
          </p:grpSpPr>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750224" y="1859725"/>
                <a:ext cx="415925" cy="88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439074" y="235661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637781" y="231972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711019" y="205912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 name="Group 11">
              <a:extLst>
                <a:ext uri="{FF2B5EF4-FFF2-40B4-BE49-F238E27FC236}">
                  <a16:creationId xmlns:a16="http://schemas.microsoft.com/office/drawing/2014/main" id="{4C0639A7-533B-6644-A560-40B5151A7BE4}"/>
                </a:ext>
              </a:extLst>
            </p:cNvPr>
            <p:cNvGrpSpPr/>
            <p:nvPr/>
          </p:nvGrpSpPr>
          <p:grpSpPr>
            <a:xfrm>
              <a:off x="7493518" y="3325424"/>
              <a:ext cx="911538" cy="843226"/>
              <a:chOff x="7493518" y="3325424"/>
              <a:chExt cx="911538" cy="843226"/>
            </a:xfrm>
          </p:grpSpPr>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 name="Group 10">
                <a:extLst>
                  <a:ext uri="{FF2B5EF4-FFF2-40B4-BE49-F238E27FC236}">
                    <a16:creationId xmlns:a16="http://schemas.microsoft.com/office/drawing/2014/main" id="{0FFCC6D2-A029-1E45-9C4D-1FF4453F0EB7}"/>
                  </a:ext>
                </a:extLst>
              </p:cNvPr>
              <p:cNvGrpSpPr/>
              <p:nvPr/>
            </p:nvGrpSpPr>
            <p:grpSpPr>
              <a:xfrm>
                <a:off x="7493518" y="3325424"/>
                <a:ext cx="911538" cy="816238"/>
                <a:chOff x="7493518" y="3325424"/>
                <a:chExt cx="911538" cy="816238"/>
              </a:xfrm>
            </p:grpSpPr>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47778" y="3829970"/>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57253" y="4041107"/>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493518" y="341914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803435" y="33254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6" name="Group 15">
              <a:extLst>
                <a:ext uri="{FF2B5EF4-FFF2-40B4-BE49-F238E27FC236}">
                  <a16:creationId xmlns:a16="http://schemas.microsoft.com/office/drawing/2014/main" id="{E43A22F9-CEFC-E64E-9231-138462077C83}"/>
                </a:ext>
              </a:extLst>
            </p:cNvPr>
            <p:cNvGrpSpPr/>
            <p:nvPr/>
          </p:nvGrpSpPr>
          <p:grpSpPr>
            <a:xfrm>
              <a:off x="10884085" y="3428485"/>
              <a:ext cx="604586" cy="405973"/>
              <a:chOff x="10884085" y="3428485"/>
              <a:chExt cx="604586" cy="405973"/>
            </a:xfrm>
          </p:grpSpPr>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64947" y="342848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10" name="Group 9">
              <a:extLst>
                <a:ext uri="{FF2B5EF4-FFF2-40B4-BE49-F238E27FC236}">
                  <a16:creationId xmlns:a16="http://schemas.microsoft.com/office/drawing/2014/main" id="{F94C1D3C-A4C3-8F43-933A-1DDD15B3AD09}"/>
                </a:ext>
              </a:extLst>
            </p:cNvPr>
            <p:cNvGrpSpPr/>
            <p:nvPr/>
          </p:nvGrpSpPr>
          <p:grpSpPr>
            <a:xfrm>
              <a:off x="7975881" y="4741266"/>
              <a:ext cx="2318709" cy="1245936"/>
              <a:chOff x="7948367" y="4775686"/>
              <a:chExt cx="2318709" cy="1245936"/>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789609" y="5251739"/>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59425" y="5036562"/>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C4C54689-4DDC-6D45-8526-2BC60244FA39}"/>
                  </a:ext>
                </a:extLst>
              </p:cNvPr>
              <p:cNvGrpSpPr/>
              <p:nvPr/>
            </p:nvGrpSpPr>
            <p:grpSpPr>
              <a:xfrm>
                <a:off x="7948367" y="4775686"/>
                <a:ext cx="2318709" cy="1245936"/>
                <a:chOff x="7948367" y="4775686"/>
                <a:chExt cx="2318709" cy="1245936"/>
              </a:xfrm>
            </p:grpSpPr>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09926" y="5405286"/>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32959" y="4838517"/>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50066" y="4838517"/>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21744" y="5108876"/>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48367" y="5290470"/>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73817" y="5282252"/>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488731" y="5307931"/>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488731" y="5258048"/>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885545" y="5583471"/>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201681" y="5852809"/>
                  <a:ext cx="307702" cy="16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534746" y="5795138"/>
                  <a:ext cx="316707" cy="138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 name="Group 16">
              <a:extLst>
                <a:ext uri="{FF2B5EF4-FFF2-40B4-BE49-F238E27FC236}">
                  <a16:creationId xmlns:a16="http://schemas.microsoft.com/office/drawing/2014/main" id="{9A6A6CC5-7ABD-A145-ADF0-F2AD445BC11E}"/>
                </a:ext>
              </a:extLst>
            </p:cNvPr>
            <p:cNvGrpSpPr/>
            <p:nvPr/>
          </p:nvGrpSpPr>
          <p:grpSpPr>
            <a:xfrm>
              <a:off x="10925982" y="4188911"/>
              <a:ext cx="657413" cy="451816"/>
              <a:chOff x="10925982" y="4188911"/>
              <a:chExt cx="657413" cy="451816"/>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93556" y="418891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7" name="Group 6">
            <a:extLst>
              <a:ext uri="{FF2B5EF4-FFF2-40B4-BE49-F238E27FC236}">
                <a16:creationId xmlns:a16="http://schemas.microsoft.com/office/drawing/2014/main" id="{94D09F97-D3D9-764B-B75B-ED7B4816D5B9}"/>
              </a:ext>
            </a:extLst>
          </p:cNvPr>
          <p:cNvGrpSpPr/>
          <p:nvPr/>
        </p:nvGrpSpPr>
        <p:grpSpPr>
          <a:xfrm>
            <a:off x="7380480" y="1798646"/>
            <a:ext cx="4322981" cy="3874447"/>
            <a:chOff x="11448552" y="1676017"/>
            <a:chExt cx="4322981" cy="3874447"/>
          </a:xfrm>
        </p:grpSpPr>
        <p:sp>
          <p:nvSpPr>
            <p:cNvPr id="609" name="Oval 608">
              <a:extLst>
                <a:ext uri="{FF2B5EF4-FFF2-40B4-BE49-F238E27FC236}">
                  <a16:creationId xmlns:a16="http://schemas.microsoft.com/office/drawing/2014/main" id="{8000236D-4FCB-8E42-8443-B60A47AB111C}"/>
                </a:ext>
              </a:extLst>
            </p:cNvPr>
            <p:cNvSpPr/>
            <p:nvPr/>
          </p:nvSpPr>
          <p:spPr>
            <a:xfrm>
              <a:off x="11548524" y="3627656"/>
              <a:ext cx="1007401" cy="448210"/>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0" name="Oval 609">
              <a:extLst>
                <a:ext uri="{FF2B5EF4-FFF2-40B4-BE49-F238E27FC236}">
                  <a16:creationId xmlns:a16="http://schemas.microsoft.com/office/drawing/2014/main" id="{D2A0E321-E076-5E4B-B83B-757AFB1A4CEA}"/>
                </a:ext>
              </a:extLst>
            </p:cNvPr>
            <p:cNvSpPr/>
            <p:nvPr/>
          </p:nvSpPr>
          <p:spPr>
            <a:xfrm rot="1622536">
              <a:off x="12634901" y="5270789"/>
              <a:ext cx="887739" cy="161724"/>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3" name="Oval 612">
              <a:extLst>
                <a:ext uri="{FF2B5EF4-FFF2-40B4-BE49-F238E27FC236}">
                  <a16:creationId xmlns:a16="http://schemas.microsoft.com/office/drawing/2014/main" id="{651092E3-127F-B747-AC6B-A506BBC80C9F}"/>
                </a:ext>
              </a:extLst>
            </p:cNvPr>
            <p:cNvSpPr/>
            <p:nvPr/>
          </p:nvSpPr>
          <p:spPr>
            <a:xfrm>
              <a:off x="12775958" y="1847944"/>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3" name="Oval 632">
              <a:extLst>
                <a:ext uri="{FF2B5EF4-FFF2-40B4-BE49-F238E27FC236}">
                  <a16:creationId xmlns:a16="http://schemas.microsoft.com/office/drawing/2014/main" id="{C302BF23-8204-FB46-A78D-495CB59FC0FB}"/>
                </a:ext>
              </a:extLst>
            </p:cNvPr>
            <p:cNvSpPr/>
            <p:nvPr/>
          </p:nvSpPr>
          <p:spPr>
            <a:xfrm>
              <a:off x="12669374" y="4563454"/>
              <a:ext cx="1698836"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12239699" y="4881027"/>
              <a:ext cx="660040" cy="553827"/>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6" name="Oval 635">
              <a:extLst>
                <a:ext uri="{FF2B5EF4-FFF2-40B4-BE49-F238E27FC236}">
                  <a16:creationId xmlns:a16="http://schemas.microsoft.com/office/drawing/2014/main" id="{33196CF4-E8B7-C748-AEBE-BE1C069588D5}"/>
                </a:ext>
              </a:extLst>
            </p:cNvPr>
            <p:cNvSpPr/>
            <p:nvPr/>
          </p:nvSpPr>
          <p:spPr>
            <a:xfrm>
              <a:off x="12638017" y="2106713"/>
              <a:ext cx="503074" cy="24332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7" name="Oval 636">
              <a:extLst>
                <a:ext uri="{FF2B5EF4-FFF2-40B4-BE49-F238E27FC236}">
                  <a16:creationId xmlns:a16="http://schemas.microsoft.com/office/drawing/2014/main" id="{B8AA2F12-9606-F944-8D71-78704F4F02AC}"/>
                </a:ext>
              </a:extLst>
            </p:cNvPr>
            <p:cNvSpPr/>
            <p:nvPr/>
          </p:nvSpPr>
          <p:spPr>
            <a:xfrm>
              <a:off x="13837524" y="5040395"/>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rot="2528345">
              <a:off x="12297976" y="2504847"/>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9" name="Oval 638">
              <a:extLst>
                <a:ext uri="{FF2B5EF4-FFF2-40B4-BE49-F238E27FC236}">
                  <a16:creationId xmlns:a16="http://schemas.microsoft.com/office/drawing/2014/main" id="{DF73A1CD-668E-B544-868D-FCFA8CE79DB9}"/>
                </a:ext>
              </a:extLst>
            </p:cNvPr>
            <p:cNvSpPr/>
            <p:nvPr/>
          </p:nvSpPr>
          <p:spPr>
            <a:xfrm>
              <a:off x="11972286" y="1972003"/>
              <a:ext cx="612303" cy="754264"/>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1" name="Oval 570">
              <a:extLst>
                <a:ext uri="{FF2B5EF4-FFF2-40B4-BE49-F238E27FC236}">
                  <a16:creationId xmlns:a16="http://schemas.microsoft.com/office/drawing/2014/main" id="{500940CE-3A4B-8544-8F75-20D608AFFFB0}"/>
                </a:ext>
              </a:extLst>
            </p:cNvPr>
            <p:cNvSpPr/>
            <p:nvPr/>
          </p:nvSpPr>
          <p:spPr>
            <a:xfrm>
              <a:off x="11792971" y="1676017"/>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2" name="Oval 571">
              <a:extLst>
                <a:ext uri="{FF2B5EF4-FFF2-40B4-BE49-F238E27FC236}">
                  <a16:creationId xmlns:a16="http://schemas.microsoft.com/office/drawing/2014/main" id="{E74C110B-4F40-B84E-93CB-C30BF30DDED9}"/>
                </a:ext>
              </a:extLst>
            </p:cNvPr>
            <p:cNvSpPr/>
            <p:nvPr/>
          </p:nvSpPr>
          <p:spPr>
            <a:xfrm>
              <a:off x="11448552" y="2167072"/>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5" name="Oval 574">
              <a:extLst>
                <a:ext uri="{FF2B5EF4-FFF2-40B4-BE49-F238E27FC236}">
                  <a16:creationId xmlns:a16="http://schemas.microsoft.com/office/drawing/2014/main" id="{2CC4CBCD-9D3E-664B-9A59-A12E27F46392}"/>
                </a:ext>
              </a:extLst>
            </p:cNvPr>
            <p:cNvSpPr/>
            <p:nvPr/>
          </p:nvSpPr>
          <p:spPr>
            <a:xfrm>
              <a:off x="11807613" y="3089587"/>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Oval 575">
              <a:extLst>
                <a:ext uri="{FF2B5EF4-FFF2-40B4-BE49-F238E27FC236}">
                  <a16:creationId xmlns:a16="http://schemas.microsoft.com/office/drawing/2014/main" id="{F26C818D-F631-C04E-9F69-A6D978B05150}"/>
                </a:ext>
              </a:extLst>
            </p:cNvPr>
            <p:cNvSpPr/>
            <p:nvPr/>
          </p:nvSpPr>
          <p:spPr>
            <a:xfrm>
              <a:off x="11461856" y="3203435"/>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0" name="Oval 639">
              <a:extLst>
                <a:ext uri="{FF2B5EF4-FFF2-40B4-BE49-F238E27FC236}">
                  <a16:creationId xmlns:a16="http://schemas.microsoft.com/office/drawing/2014/main" id="{67287325-A3CF-3F47-9A8A-8C7EE2AD7C46}"/>
                </a:ext>
              </a:extLst>
            </p:cNvPr>
            <p:cNvSpPr/>
            <p:nvPr/>
          </p:nvSpPr>
          <p:spPr>
            <a:xfrm>
              <a:off x="14880961" y="3246013"/>
              <a:ext cx="81304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1" name="Oval 640">
              <a:extLst>
                <a:ext uri="{FF2B5EF4-FFF2-40B4-BE49-F238E27FC236}">
                  <a16:creationId xmlns:a16="http://schemas.microsoft.com/office/drawing/2014/main" id="{0F5FBC8A-7824-B94D-A922-EFEF1B35EA37}"/>
                </a:ext>
              </a:extLst>
            </p:cNvPr>
            <p:cNvSpPr/>
            <p:nvPr/>
          </p:nvSpPr>
          <p:spPr>
            <a:xfrm>
              <a:off x="14958490" y="4026029"/>
              <a:ext cx="81304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42" name="Content Placeholder 2">
            <a:extLst>
              <a:ext uri="{FF2B5EF4-FFF2-40B4-BE49-F238E27FC236}">
                <a16:creationId xmlns:a16="http://schemas.microsoft.com/office/drawing/2014/main" id="{42E83185-879F-5940-902F-C059E5776B03}"/>
              </a:ext>
            </a:extLst>
          </p:cNvPr>
          <p:cNvSpPr>
            <a:spLocks noGrp="1"/>
          </p:cNvSpPr>
          <p:nvPr>
            <p:ph sz="half" idx="1"/>
          </p:nvPr>
        </p:nvSpPr>
        <p:spPr>
          <a:xfrm>
            <a:off x="838199" y="1825625"/>
            <a:ext cx="5692665" cy="4617464"/>
          </a:xfrm>
        </p:spPr>
        <p:txBody>
          <a:bodyPr>
            <a:normAutofit/>
          </a:bodyPr>
          <a:lstStyle/>
          <a:p>
            <a:pPr marL="0" indent="0">
              <a:buSzPct val="75000"/>
              <a:buNone/>
            </a:pPr>
            <a:r>
              <a:rPr lang="en-US" altLang="en-US" sz="3200" dirty="0">
                <a:solidFill>
                  <a:srgbClr val="CC0000"/>
                </a:solidFill>
                <a:latin typeface="Calibri" panose="020F0502020204030204" pitchFamily="34" charset="0"/>
                <a:ea typeface="ＭＳ Ｐゴシック" panose="020B0600070205080204" pitchFamily="34" charset="-128"/>
                <a:cs typeface="Calibri" panose="020F0502020204030204" pitchFamily="34" charset="0"/>
              </a:rPr>
              <a:t>Network edge:</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hosts: clients and servers</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servers often in data centers</a:t>
            </a:r>
          </a:p>
          <a:p>
            <a:pPr marL="11113" indent="0">
              <a:spcBef>
                <a:spcPts val="2200"/>
              </a:spcBef>
              <a:buSzPct val="75000"/>
              <a:buNone/>
            </a:pPr>
            <a:r>
              <a:rPr lang="en-US" altLang="en-US" sz="3200" dirty="0">
                <a:solidFill>
                  <a:srgbClr val="CC0000"/>
                </a:solidFill>
                <a:latin typeface="Calibri" panose="020F0502020204030204" pitchFamily="34" charset="0"/>
                <a:cs typeface="Calibri" panose="020F0502020204030204" pitchFamily="34" charset="0"/>
              </a:rPr>
              <a:t>Access networks, physical media:</a:t>
            </a:r>
          </a:p>
          <a:p>
            <a:pPr marL="290513" indent="-176213">
              <a:buSzPct val="100000"/>
            </a:pPr>
            <a:r>
              <a:rPr lang="en-US" altLang="en-US" dirty="0">
                <a:latin typeface="Calibri" panose="020F0502020204030204" pitchFamily="34" charset="0"/>
                <a:cs typeface="Calibri" panose="020F0502020204030204" pitchFamily="34" charset="0"/>
              </a:rPr>
              <a:t>wired, wireless communication links</a:t>
            </a:r>
            <a:r>
              <a:rPr lang="en-US" altLang="en-US" dirty="0">
                <a:solidFill>
                  <a:srgbClr val="FF0000"/>
                </a:solidFill>
                <a:latin typeface="Calibri" panose="020F0502020204030204" pitchFamily="34" charset="0"/>
                <a:cs typeface="Calibri" panose="020F0502020204030204" pitchFamily="34" charset="0"/>
              </a:rPr>
              <a:t> </a:t>
            </a:r>
          </a:p>
          <a:p>
            <a:pPr marL="174625" indent="0">
              <a:buSzPct val="75000"/>
              <a:buNone/>
            </a:pPr>
            <a:endParaRPr lang="en-US" altLang="en-US" dirty="0"/>
          </a:p>
          <a:p>
            <a:endParaRPr lang="en-US" dirty="0"/>
          </a:p>
        </p:txBody>
      </p:sp>
      <p:sp>
        <p:nvSpPr>
          <p:cNvPr id="35" name="Rectangle 34">
            <a:extLst>
              <a:ext uri="{FF2B5EF4-FFF2-40B4-BE49-F238E27FC236}">
                <a16:creationId xmlns:a16="http://schemas.microsoft.com/office/drawing/2014/main" id="{CED6763B-8C95-A249-B406-399CD97D3BBA}"/>
              </a:ext>
            </a:extLst>
          </p:cNvPr>
          <p:cNvSpPr/>
          <p:nvPr/>
        </p:nvSpPr>
        <p:spPr>
          <a:xfrm>
            <a:off x="683172" y="1681655"/>
            <a:ext cx="5787853" cy="1703362"/>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6" name="Slide Number Placeholder 5">
            <a:extLst>
              <a:ext uri="{FF2B5EF4-FFF2-40B4-BE49-F238E27FC236}">
                <a16:creationId xmlns:a16="http://schemas.microsoft.com/office/drawing/2014/main" id="{A788B1F4-B4B8-854F-BF10-4760630704CA}"/>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3</a:t>
            </a:fld>
            <a:endParaRPr lang="en-US" dirty="0"/>
          </a:p>
        </p:txBody>
      </p:sp>
    </p:spTree>
    <p:extLst>
      <p:ext uri="{BB962C8B-B14F-4D97-AF65-F5344CB8AC3E}">
        <p14:creationId xmlns:p14="http://schemas.microsoft.com/office/powerpoint/2010/main" val="97405077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fontScale="90000"/>
          </a:bodyPr>
          <a:lstStyle/>
          <a:p>
            <a:r>
              <a:rPr lang="en-US" altLang="ja-JP" sz="6000" b="0" dirty="0"/>
              <a:t>A closer look at Internet structure</a:t>
            </a:r>
            <a:endParaRPr lang="en-US" sz="6000" b="0" dirty="0"/>
          </a:p>
        </p:txBody>
      </p:sp>
      <p:sp>
        <p:nvSpPr>
          <p:cNvPr id="3" name="Content Placeholder 2">
            <a:extLst>
              <a:ext uri="{FF2B5EF4-FFF2-40B4-BE49-F238E27FC236}">
                <a16:creationId xmlns:a16="http://schemas.microsoft.com/office/drawing/2014/main" id="{66DAEE93-D7C7-5A4A-AB8B-951DDF4E15F0}"/>
              </a:ext>
            </a:extLst>
          </p:cNvPr>
          <p:cNvSpPr>
            <a:spLocks noGrp="1"/>
          </p:cNvSpPr>
          <p:nvPr>
            <p:ph sz="half" idx="1"/>
          </p:nvPr>
        </p:nvSpPr>
        <p:spPr>
          <a:xfrm>
            <a:off x="838199" y="1825625"/>
            <a:ext cx="5692665" cy="4617464"/>
          </a:xfrm>
        </p:spPr>
        <p:txBody>
          <a:bodyPr>
            <a:normAutofit/>
          </a:bodyPr>
          <a:lstStyle/>
          <a:p>
            <a:pPr marL="0" indent="0">
              <a:buSzPct val="75000"/>
              <a:buNone/>
            </a:pPr>
            <a:r>
              <a:rPr lang="en-US" altLang="en-US" sz="3200" dirty="0">
                <a:solidFill>
                  <a:srgbClr val="CC0000"/>
                </a:solidFill>
                <a:latin typeface="Calibri" panose="020F0502020204030204" pitchFamily="34" charset="0"/>
                <a:ea typeface="ＭＳ Ｐゴシック" panose="020B0600070205080204" pitchFamily="34" charset="-128"/>
                <a:cs typeface="Calibri" panose="020F0502020204030204" pitchFamily="34" charset="0"/>
              </a:rPr>
              <a:t>Network edge:</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hosts: clients and servers</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servers often in data centers</a:t>
            </a:r>
          </a:p>
          <a:p>
            <a:pPr marL="11113" indent="0">
              <a:spcBef>
                <a:spcPts val="2200"/>
              </a:spcBef>
              <a:buSzPct val="75000"/>
              <a:buNone/>
            </a:pPr>
            <a:r>
              <a:rPr lang="en-US" altLang="en-US" sz="3200" dirty="0">
                <a:solidFill>
                  <a:srgbClr val="CC0000"/>
                </a:solidFill>
                <a:latin typeface="Calibri" panose="020F0502020204030204" pitchFamily="34" charset="0"/>
                <a:cs typeface="Calibri" panose="020F0502020204030204" pitchFamily="34" charset="0"/>
              </a:rPr>
              <a:t>Access networks, physical media:</a:t>
            </a:r>
          </a:p>
          <a:p>
            <a:pPr marL="290513" indent="-176213">
              <a:buSzPct val="100000"/>
            </a:pPr>
            <a:r>
              <a:rPr lang="en-US" altLang="en-US" dirty="0">
                <a:latin typeface="Calibri" panose="020F0502020204030204" pitchFamily="34" charset="0"/>
                <a:cs typeface="Calibri" panose="020F0502020204030204" pitchFamily="34" charset="0"/>
              </a:rPr>
              <a:t>wired, wireless communication links</a:t>
            </a:r>
            <a:r>
              <a:rPr lang="en-US" altLang="en-US" dirty="0">
                <a:solidFill>
                  <a:srgbClr val="FF0000"/>
                </a:solidFill>
                <a:latin typeface="Calibri" panose="020F0502020204030204" pitchFamily="34" charset="0"/>
                <a:cs typeface="Calibri" panose="020F0502020204030204" pitchFamily="34" charset="0"/>
              </a:rPr>
              <a:t> </a:t>
            </a:r>
          </a:p>
          <a:p>
            <a:pPr marL="9525" indent="0">
              <a:spcBef>
                <a:spcPts val="2200"/>
              </a:spcBef>
              <a:buSzPct val="75000"/>
              <a:buNone/>
            </a:pPr>
            <a:r>
              <a:rPr lang="en-US" altLang="en-US" sz="3200" dirty="0">
                <a:solidFill>
                  <a:srgbClr val="CC0000"/>
                </a:solidFill>
                <a:latin typeface="Calibri" panose="020F0502020204030204" pitchFamily="34" charset="0"/>
                <a:cs typeface="Calibri" panose="020F0502020204030204" pitchFamily="34" charset="0"/>
              </a:rPr>
              <a:t>Network core: </a:t>
            </a:r>
          </a:p>
          <a:p>
            <a:pPr marL="342900" lvl="1" indent="-207963">
              <a:lnSpc>
                <a:spcPct val="85000"/>
              </a:lnSpc>
              <a:spcBef>
                <a:spcPct val="15000"/>
              </a:spcBef>
              <a:buClr>
                <a:srgbClr val="000099"/>
              </a:buClr>
              <a:buSzPct val="95000"/>
              <a:buFont typeface="Wingdings" pitchFamily="2" charset="2"/>
              <a:buChar char="§"/>
            </a:pPr>
            <a:r>
              <a:rPr lang="en-US" altLang="en-US" sz="2800" dirty="0">
                <a:latin typeface="Calibri" panose="020F0502020204030204" pitchFamily="34" charset="0"/>
                <a:cs typeface="Calibri" panose="020F0502020204030204" pitchFamily="34" charset="0"/>
              </a:rPr>
              <a:t>interconnected routers</a:t>
            </a:r>
          </a:p>
          <a:p>
            <a:pPr marL="342900" lvl="1" indent="-207963">
              <a:lnSpc>
                <a:spcPct val="85000"/>
              </a:lnSpc>
              <a:spcBef>
                <a:spcPct val="15000"/>
              </a:spcBef>
              <a:buClr>
                <a:srgbClr val="000099"/>
              </a:buClr>
              <a:buSzPct val="95000"/>
              <a:buFont typeface="Wingdings" pitchFamily="2" charset="2"/>
              <a:buChar char="§"/>
            </a:pPr>
            <a:r>
              <a:rPr lang="en-US" altLang="en-US" sz="2800" dirty="0">
                <a:latin typeface="Calibri" panose="020F0502020204030204" pitchFamily="34" charset="0"/>
                <a:cs typeface="Calibri" panose="020F0502020204030204" pitchFamily="34" charset="0"/>
              </a:rPr>
              <a:t>network of networks</a:t>
            </a:r>
          </a:p>
          <a:p>
            <a:pPr marL="174625" indent="0">
              <a:buSzPct val="75000"/>
              <a:buNone/>
            </a:pPr>
            <a:endParaRPr lang="en-US" altLang="en-US" dirty="0"/>
          </a:p>
          <a:p>
            <a:endParaRPr lang="en-US" dirty="0"/>
          </a:p>
        </p:txBody>
      </p:sp>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00635" y="2169432"/>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42166" y="2718967"/>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69542" y="2169432"/>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62103" y="2127325"/>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681994" y="2718967"/>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69223" y="2268313"/>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378705" y="4113379"/>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44554" y="4047456"/>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09572" y="1917025"/>
            <a:ext cx="136841" cy="32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9064" flipH="1">
            <a:off x="7464781" y="260509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9678" y="245030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27011" y="245565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73752" y="244416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6562" y="244384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80579" y="247266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605588" y="259690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90512" y="247423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605977" y="260524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601109" y="267154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70154" y="267705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64976" y="268350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65171" y="266996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65366" y="260902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74909" y="267311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64701" y="266807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flipH="1">
            <a:off x="8831667" y="239228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99539" y="211695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10375" y="360520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605388" y="348929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6754" y="349330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7403" y="348470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603345" y="348446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83026" y="350604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602706" y="359907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9539" y="350722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602962" y="360532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9769" y="365496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10617" y="365909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10503" y="366393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10631" y="365379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10758" y="360815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7016" y="365614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7042" y="365237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flipH="1">
            <a:off x="7991996" y="3567143"/>
            <a:ext cx="359261" cy="342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flipH="1">
            <a:off x="8145217" y="3599942"/>
            <a:ext cx="169400" cy="156753"/>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903199" y="338501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216586" y="6040274"/>
            <a:ext cx="253501" cy="12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9300597" y="5923494"/>
            <a:ext cx="204043" cy="15705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310647" y="5927534"/>
            <a:ext cx="185412" cy="142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9337747" y="5918861"/>
            <a:ext cx="172878" cy="29225"/>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9298791" y="5918624"/>
            <a:ext cx="47990" cy="121650"/>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9457666" y="5940364"/>
            <a:ext cx="51716" cy="14042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9298226" y="6034096"/>
            <a:ext cx="189702" cy="47401"/>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9463425" y="5941552"/>
            <a:ext cx="48442" cy="141014"/>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9298452" y="6040392"/>
            <a:ext cx="168700" cy="46807"/>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9295629" y="6090407"/>
            <a:ext cx="57249" cy="27799"/>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9393642" y="6094565"/>
            <a:ext cx="69332" cy="61063"/>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9216699" y="6099436"/>
            <a:ext cx="177394" cy="55717"/>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9216812" y="6089219"/>
            <a:ext cx="1920" cy="11286"/>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9216925" y="6043244"/>
            <a:ext cx="82430" cy="46688"/>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9222458" y="6091595"/>
            <a:ext cx="168248" cy="53578"/>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9390480" y="6087793"/>
            <a:ext cx="68654" cy="5547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550087" y="5949454"/>
            <a:ext cx="260920" cy="99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9636557" y="5853324"/>
            <a:ext cx="210015" cy="129281"/>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646901" y="5856649"/>
            <a:ext cx="190838" cy="117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9674794" y="5849510"/>
            <a:ext cx="177937" cy="24057"/>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9634698" y="5849315"/>
            <a:ext cx="49395" cy="100139"/>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9798223" y="5867211"/>
            <a:ext cx="53230" cy="11559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9634116" y="5944369"/>
            <a:ext cx="195254" cy="3901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9804150" y="5868189"/>
            <a:ext cx="49860" cy="116079"/>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9634349" y="5949552"/>
            <a:ext cx="173637" cy="38530"/>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9631443" y="5990722"/>
            <a:ext cx="58925" cy="22883"/>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9732325" y="5994145"/>
            <a:ext cx="71361" cy="50265"/>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9550204" y="5998154"/>
            <a:ext cx="182586" cy="45864"/>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9550320" y="5989744"/>
            <a:ext cx="1976" cy="9290"/>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9550436" y="5951899"/>
            <a:ext cx="84843" cy="38432"/>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9556131" y="5991700"/>
            <a:ext cx="173172" cy="44104"/>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9729071" y="5988571"/>
            <a:ext cx="70663" cy="4566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10017877" y="5636388"/>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A912210B-AFA0-C747-B0D5-6E0D32FFEF07}"/>
              </a:ext>
            </a:extLst>
          </p:cNvPr>
          <p:cNvGrpSpPr/>
          <p:nvPr/>
        </p:nvGrpSpPr>
        <p:grpSpPr>
          <a:xfrm>
            <a:off x="7439074" y="1859725"/>
            <a:ext cx="4144321" cy="4127477"/>
            <a:chOff x="7439074" y="1859725"/>
            <a:chExt cx="4144321" cy="4127477"/>
          </a:xfrm>
        </p:grpSpPr>
        <p:grpSp>
          <p:nvGrpSpPr>
            <p:cNvPr id="15" name="Group 14">
              <a:extLst>
                <a:ext uri="{FF2B5EF4-FFF2-40B4-BE49-F238E27FC236}">
                  <a16:creationId xmlns:a16="http://schemas.microsoft.com/office/drawing/2014/main" id="{5DBD1858-2E40-9545-88AD-AAD37777C13D}"/>
                </a:ext>
              </a:extLst>
            </p:cNvPr>
            <p:cNvGrpSpPr/>
            <p:nvPr/>
          </p:nvGrpSpPr>
          <p:grpSpPr>
            <a:xfrm>
              <a:off x="7439074" y="1859725"/>
              <a:ext cx="1802647" cy="1120859"/>
              <a:chOff x="7439074" y="1859725"/>
              <a:chExt cx="1802647" cy="1120859"/>
            </a:xfrm>
          </p:grpSpPr>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750224" y="1859725"/>
                <a:ext cx="415925" cy="88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439074" y="235661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637781" y="231972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711019" y="205912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 name="Group 11">
              <a:extLst>
                <a:ext uri="{FF2B5EF4-FFF2-40B4-BE49-F238E27FC236}">
                  <a16:creationId xmlns:a16="http://schemas.microsoft.com/office/drawing/2014/main" id="{4C0639A7-533B-6644-A560-40B5151A7BE4}"/>
                </a:ext>
              </a:extLst>
            </p:cNvPr>
            <p:cNvGrpSpPr/>
            <p:nvPr/>
          </p:nvGrpSpPr>
          <p:grpSpPr>
            <a:xfrm>
              <a:off x="7493518" y="3325424"/>
              <a:ext cx="911538" cy="843226"/>
              <a:chOff x="7493518" y="3325424"/>
              <a:chExt cx="911538" cy="843226"/>
            </a:xfrm>
          </p:grpSpPr>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 name="Group 10">
                <a:extLst>
                  <a:ext uri="{FF2B5EF4-FFF2-40B4-BE49-F238E27FC236}">
                    <a16:creationId xmlns:a16="http://schemas.microsoft.com/office/drawing/2014/main" id="{0FFCC6D2-A029-1E45-9C4D-1FF4453F0EB7}"/>
                  </a:ext>
                </a:extLst>
              </p:cNvPr>
              <p:cNvGrpSpPr/>
              <p:nvPr/>
            </p:nvGrpSpPr>
            <p:grpSpPr>
              <a:xfrm>
                <a:off x="7493518" y="3325424"/>
                <a:ext cx="911538" cy="816238"/>
                <a:chOff x="7493518" y="3325424"/>
                <a:chExt cx="911538" cy="816238"/>
              </a:xfrm>
            </p:grpSpPr>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47778" y="3829970"/>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57253" y="4041107"/>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493518" y="341914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803435" y="33254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6" name="Group 15">
              <a:extLst>
                <a:ext uri="{FF2B5EF4-FFF2-40B4-BE49-F238E27FC236}">
                  <a16:creationId xmlns:a16="http://schemas.microsoft.com/office/drawing/2014/main" id="{E43A22F9-CEFC-E64E-9231-138462077C83}"/>
                </a:ext>
              </a:extLst>
            </p:cNvPr>
            <p:cNvGrpSpPr/>
            <p:nvPr/>
          </p:nvGrpSpPr>
          <p:grpSpPr>
            <a:xfrm>
              <a:off x="10884085" y="3428485"/>
              <a:ext cx="604586" cy="405973"/>
              <a:chOff x="10884085" y="3428485"/>
              <a:chExt cx="604586" cy="405973"/>
            </a:xfrm>
          </p:grpSpPr>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64947" y="342848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10" name="Group 9">
              <a:extLst>
                <a:ext uri="{FF2B5EF4-FFF2-40B4-BE49-F238E27FC236}">
                  <a16:creationId xmlns:a16="http://schemas.microsoft.com/office/drawing/2014/main" id="{F94C1D3C-A4C3-8F43-933A-1DDD15B3AD09}"/>
                </a:ext>
              </a:extLst>
            </p:cNvPr>
            <p:cNvGrpSpPr/>
            <p:nvPr/>
          </p:nvGrpSpPr>
          <p:grpSpPr>
            <a:xfrm>
              <a:off x="7975881" y="4741266"/>
              <a:ext cx="2318709" cy="1245936"/>
              <a:chOff x="7948367" y="4775686"/>
              <a:chExt cx="2318709" cy="1245936"/>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789609" y="5251739"/>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59425" y="5036562"/>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C4C54689-4DDC-6D45-8526-2BC60244FA39}"/>
                  </a:ext>
                </a:extLst>
              </p:cNvPr>
              <p:cNvGrpSpPr/>
              <p:nvPr/>
            </p:nvGrpSpPr>
            <p:grpSpPr>
              <a:xfrm>
                <a:off x="7948367" y="4775686"/>
                <a:ext cx="2318709" cy="1245936"/>
                <a:chOff x="7948367" y="4775686"/>
                <a:chExt cx="2318709" cy="1245936"/>
              </a:xfrm>
            </p:grpSpPr>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09926" y="5405286"/>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32959" y="4838517"/>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50066" y="4838517"/>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21744" y="5108876"/>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48367" y="5290470"/>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73817" y="5282252"/>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488731" y="5307931"/>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488731" y="5258048"/>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885545" y="5583471"/>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201681" y="5852809"/>
                  <a:ext cx="307702" cy="16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534746" y="5795138"/>
                  <a:ext cx="316707" cy="138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 name="Group 16">
              <a:extLst>
                <a:ext uri="{FF2B5EF4-FFF2-40B4-BE49-F238E27FC236}">
                  <a16:creationId xmlns:a16="http://schemas.microsoft.com/office/drawing/2014/main" id="{9A6A6CC5-7ABD-A145-ADF0-F2AD445BC11E}"/>
                </a:ext>
              </a:extLst>
            </p:cNvPr>
            <p:cNvGrpSpPr/>
            <p:nvPr/>
          </p:nvGrpSpPr>
          <p:grpSpPr>
            <a:xfrm>
              <a:off x="10925982" y="4188911"/>
              <a:ext cx="657413" cy="451816"/>
              <a:chOff x="10925982" y="4188911"/>
              <a:chExt cx="657413" cy="451816"/>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93556" y="418891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7" name="Group 6">
            <a:extLst>
              <a:ext uri="{FF2B5EF4-FFF2-40B4-BE49-F238E27FC236}">
                <a16:creationId xmlns:a16="http://schemas.microsoft.com/office/drawing/2014/main" id="{94D09F97-D3D9-764B-B75B-ED7B4816D5B9}"/>
              </a:ext>
            </a:extLst>
          </p:cNvPr>
          <p:cNvGrpSpPr/>
          <p:nvPr/>
        </p:nvGrpSpPr>
        <p:grpSpPr>
          <a:xfrm>
            <a:off x="8694912" y="1702617"/>
            <a:ext cx="2658888" cy="2831440"/>
            <a:chOff x="17449127" y="2067553"/>
            <a:chExt cx="2658888" cy="2831440"/>
          </a:xfrm>
        </p:grpSpPr>
        <p:sp>
          <p:nvSpPr>
            <p:cNvPr id="640" name="Oval 639">
              <a:extLst>
                <a:ext uri="{FF2B5EF4-FFF2-40B4-BE49-F238E27FC236}">
                  <a16:creationId xmlns:a16="http://schemas.microsoft.com/office/drawing/2014/main" id="{67287325-A3CF-3F47-9A8A-8C7EE2AD7C46}"/>
                </a:ext>
              </a:extLst>
            </p:cNvPr>
            <p:cNvSpPr/>
            <p:nvPr/>
          </p:nvSpPr>
          <p:spPr>
            <a:xfrm>
              <a:off x="18054808" y="2067553"/>
              <a:ext cx="2053207" cy="1399514"/>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1" name="Oval 610">
              <a:extLst>
                <a:ext uri="{FF2B5EF4-FFF2-40B4-BE49-F238E27FC236}">
                  <a16:creationId xmlns:a16="http://schemas.microsoft.com/office/drawing/2014/main" id="{D09BD5F5-1EE1-7744-94DF-5BEAED02584D}"/>
                </a:ext>
              </a:extLst>
            </p:cNvPr>
            <p:cNvSpPr/>
            <p:nvPr/>
          </p:nvSpPr>
          <p:spPr>
            <a:xfrm>
              <a:off x="17449127" y="3391110"/>
              <a:ext cx="2173774" cy="1507883"/>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6" name="Rectangle 495">
            <a:extLst>
              <a:ext uri="{FF2B5EF4-FFF2-40B4-BE49-F238E27FC236}">
                <a16:creationId xmlns:a16="http://schemas.microsoft.com/office/drawing/2014/main" id="{E9B89C25-995B-4D4B-BEAF-83AAF26ACE92}"/>
              </a:ext>
            </a:extLst>
          </p:cNvPr>
          <p:cNvSpPr/>
          <p:nvPr/>
        </p:nvSpPr>
        <p:spPr>
          <a:xfrm>
            <a:off x="807652" y="1884278"/>
            <a:ext cx="5787853" cy="2921876"/>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Freeform 4">
            <a:extLst>
              <a:ext uri="{FF2B5EF4-FFF2-40B4-BE49-F238E27FC236}">
                <a16:creationId xmlns:a16="http://schemas.microsoft.com/office/drawing/2014/main" id="{22D8BA93-CE35-C54A-BCA8-174D5BBE10D2}"/>
              </a:ext>
            </a:extLst>
          </p:cNvPr>
          <p:cNvSpPr/>
          <p:nvPr/>
        </p:nvSpPr>
        <p:spPr>
          <a:xfrm>
            <a:off x="7157545" y="1523999"/>
            <a:ext cx="4550979" cy="4897821"/>
          </a:xfrm>
          <a:custGeom>
            <a:avLst/>
            <a:gdLst>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713187 w 4656083"/>
              <a:gd name="connsiteY6" fmla="*/ 3100551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132083 w 4656083"/>
              <a:gd name="connsiteY7" fmla="*/ 3090041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132083 w 4656083"/>
              <a:gd name="connsiteY7" fmla="*/ 3090041 h 4939862"/>
              <a:gd name="connsiteX8" fmla="*/ 3605049 w 4656083"/>
              <a:gd name="connsiteY8" fmla="*/ 2869324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92166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438400 w 4656083"/>
              <a:gd name="connsiteY4" fmla="*/ 1471447 h 4939862"/>
              <a:gd name="connsiteX5" fmla="*/ 1692166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438400 w 4656083"/>
              <a:gd name="connsiteY4" fmla="*/ 1471447 h 4939862"/>
              <a:gd name="connsiteX5" fmla="*/ 1692166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126410 w 4656369"/>
              <a:gd name="connsiteY0" fmla="*/ 234571 h 4953715"/>
              <a:gd name="connsiteX1" fmla="*/ 286 w 4656369"/>
              <a:gd name="connsiteY1" fmla="*/ 13853 h 4953715"/>
              <a:gd name="connsiteX2" fmla="*/ 94879 w 4656369"/>
              <a:gd name="connsiteY2" fmla="*/ 24363 h 4953715"/>
              <a:gd name="connsiteX3" fmla="*/ 2375624 w 4656369"/>
              <a:gd name="connsiteY3" fmla="*/ 55894 h 4953715"/>
              <a:gd name="connsiteX4" fmla="*/ 2438686 w 4656369"/>
              <a:gd name="connsiteY4" fmla="*/ 1485300 h 4953715"/>
              <a:gd name="connsiteX5" fmla="*/ 1692452 w 4656369"/>
              <a:gd name="connsiteY5" fmla="*/ 1937246 h 4953715"/>
              <a:gd name="connsiteX6" fmla="*/ 1555817 w 4656369"/>
              <a:gd name="connsiteY6" fmla="*/ 2483783 h 4953715"/>
              <a:gd name="connsiteX7" fmla="*/ 3132369 w 4656369"/>
              <a:gd name="connsiteY7" fmla="*/ 3103894 h 4953715"/>
              <a:gd name="connsiteX8" fmla="*/ 3605335 w 4656369"/>
              <a:gd name="connsiteY8" fmla="*/ 2883177 h 4953715"/>
              <a:gd name="connsiteX9" fmla="*/ 3805031 w 4656369"/>
              <a:gd name="connsiteY9" fmla="*/ 2609907 h 4953715"/>
              <a:gd name="connsiteX10" fmla="*/ 3826052 w 4656369"/>
              <a:gd name="connsiteY10" fmla="*/ 2273577 h 4953715"/>
              <a:gd name="connsiteX11" fmla="*/ 3784011 w 4656369"/>
              <a:gd name="connsiteY11" fmla="*/ 2073880 h 4953715"/>
              <a:gd name="connsiteX12" fmla="*/ 3689417 w 4656369"/>
              <a:gd name="connsiteY12" fmla="*/ 1895204 h 4953715"/>
              <a:gd name="connsiteX13" fmla="*/ 3447679 w 4656369"/>
              <a:gd name="connsiteY13" fmla="*/ 1737549 h 4953715"/>
              <a:gd name="connsiteX14" fmla="*/ 4498714 w 4656369"/>
              <a:gd name="connsiteY14" fmla="*/ 1600915 h 4953715"/>
              <a:gd name="connsiteX15" fmla="*/ 4656369 w 4656369"/>
              <a:gd name="connsiteY15" fmla="*/ 2935728 h 4953715"/>
              <a:gd name="connsiteX16" fmla="*/ 4509224 w 4656369"/>
              <a:gd name="connsiteY16" fmla="*/ 4575342 h 4953715"/>
              <a:gd name="connsiteX17" fmla="*/ 3500231 w 4656369"/>
              <a:gd name="connsiteY17" fmla="*/ 4953715 h 4953715"/>
              <a:gd name="connsiteX18" fmla="*/ 105390 w 4656369"/>
              <a:gd name="connsiteY18" fmla="*/ 4911673 h 4953715"/>
              <a:gd name="connsiteX19" fmla="*/ 126410 w 4656369"/>
              <a:gd name="connsiteY19" fmla="*/ 234571 h 4953715"/>
              <a:gd name="connsiteX0" fmla="*/ 190699 w 4720658"/>
              <a:gd name="connsiteY0" fmla="*/ 417353 h 5136497"/>
              <a:gd name="connsiteX1" fmla="*/ 159168 w 4720658"/>
              <a:gd name="connsiteY1" fmla="*/ 207145 h 5136497"/>
              <a:gd name="connsiteX2" fmla="*/ 2439913 w 4720658"/>
              <a:gd name="connsiteY2" fmla="*/ 238676 h 5136497"/>
              <a:gd name="connsiteX3" fmla="*/ 2502975 w 4720658"/>
              <a:gd name="connsiteY3" fmla="*/ 1668082 h 5136497"/>
              <a:gd name="connsiteX4" fmla="*/ 1756741 w 4720658"/>
              <a:gd name="connsiteY4" fmla="*/ 2120028 h 5136497"/>
              <a:gd name="connsiteX5" fmla="*/ 1620106 w 4720658"/>
              <a:gd name="connsiteY5" fmla="*/ 2666565 h 5136497"/>
              <a:gd name="connsiteX6" fmla="*/ 3196658 w 4720658"/>
              <a:gd name="connsiteY6" fmla="*/ 3286676 h 5136497"/>
              <a:gd name="connsiteX7" fmla="*/ 3669624 w 4720658"/>
              <a:gd name="connsiteY7" fmla="*/ 3065959 h 5136497"/>
              <a:gd name="connsiteX8" fmla="*/ 3869320 w 4720658"/>
              <a:gd name="connsiteY8" fmla="*/ 2792689 h 5136497"/>
              <a:gd name="connsiteX9" fmla="*/ 3890341 w 4720658"/>
              <a:gd name="connsiteY9" fmla="*/ 2456359 h 5136497"/>
              <a:gd name="connsiteX10" fmla="*/ 3848300 w 4720658"/>
              <a:gd name="connsiteY10" fmla="*/ 2256662 h 5136497"/>
              <a:gd name="connsiteX11" fmla="*/ 3753706 w 4720658"/>
              <a:gd name="connsiteY11" fmla="*/ 2077986 h 5136497"/>
              <a:gd name="connsiteX12" fmla="*/ 3511968 w 4720658"/>
              <a:gd name="connsiteY12" fmla="*/ 1920331 h 5136497"/>
              <a:gd name="connsiteX13" fmla="*/ 4563003 w 4720658"/>
              <a:gd name="connsiteY13" fmla="*/ 1783697 h 5136497"/>
              <a:gd name="connsiteX14" fmla="*/ 4720658 w 4720658"/>
              <a:gd name="connsiteY14" fmla="*/ 3118510 h 5136497"/>
              <a:gd name="connsiteX15" fmla="*/ 4573513 w 4720658"/>
              <a:gd name="connsiteY15" fmla="*/ 4758124 h 5136497"/>
              <a:gd name="connsiteX16" fmla="*/ 3564520 w 4720658"/>
              <a:gd name="connsiteY16" fmla="*/ 5136497 h 5136497"/>
              <a:gd name="connsiteX17" fmla="*/ 169679 w 4720658"/>
              <a:gd name="connsiteY17" fmla="*/ 5094455 h 5136497"/>
              <a:gd name="connsiteX18" fmla="*/ 190699 w 4720658"/>
              <a:gd name="connsiteY18" fmla="*/ 417353 h 5136497"/>
              <a:gd name="connsiteX0" fmla="*/ 21020 w 4550979"/>
              <a:gd name="connsiteY0" fmla="*/ 476180 h 5195324"/>
              <a:gd name="connsiteX1" fmla="*/ 2270234 w 4550979"/>
              <a:gd name="connsiteY1" fmla="*/ 297503 h 5195324"/>
              <a:gd name="connsiteX2" fmla="*/ 2333296 w 4550979"/>
              <a:gd name="connsiteY2" fmla="*/ 1726909 h 5195324"/>
              <a:gd name="connsiteX3" fmla="*/ 1587062 w 4550979"/>
              <a:gd name="connsiteY3" fmla="*/ 2178855 h 5195324"/>
              <a:gd name="connsiteX4" fmla="*/ 1450427 w 4550979"/>
              <a:gd name="connsiteY4" fmla="*/ 2725392 h 5195324"/>
              <a:gd name="connsiteX5" fmla="*/ 3026979 w 4550979"/>
              <a:gd name="connsiteY5" fmla="*/ 3345503 h 5195324"/>
              <a:gd name="connsiteX6" fmla="*/ 3499945 w 4550979"/>
              <a:gd name="connsiteY6" fmla="*/ 3124786 h 5195324"/>
              <a:gd name="connsiteX7" fmla="*/ 3699641 w 4550979"/>
              <a:gd name="connsiteY7" fmla="*/ 2851516 h 5195324"/>
              <a:gd name="connsiteX8" fmla="*/ 3720662 w 4550979"/>
              <a:gd name="connsiteY8" fmla="*/ 2515186 h 5195324"/>
              <a:gd name="connsiteX9" fmla="*/ 3678621 w 4550979"/>
              <a:gd name="connsiteY9" fmla="*/ 2315489 h 5195324"/>
              <a:gd name="connsiteX10" fmla="*/ 3584027 w 4550979"/>
              <a:gd name="connsiteY10" fmla="*/ 2136813 h 5195324"/>
              <a:gd name="connsiteX11" fmla="*/ 3342289 w 4550979"/>
              <a:gd name="connsiteY11" fmla="*/ 1979158 h 5195324"/>
              <a:gd name="connsiteX12" fmla="*/ 4393324 w 4550979"/>
              <a:gd name="connsiteY12" fmla="*/ 1842524 h 5195324"/>
              <a:gd name="connsiteX13" fmla="*/ 4550979 w 4550979"/>
              <a:gd name="connsiteY13" fmla="*/ 3177337 h 5195324"/>
              <a:gd name="connsiteX14" fmla="*/ 4403834 w 4550979"/>
              <a:gd name="connsiteY14" fmla="*/ 4816951 h 5195324"/>
              <a:gd name="connsiteX15" fmla="*/ 3394841 w 4550979"/>
              <a:gd name="connsiteY15" fmla="*/ 5195324 h 5195324"/>
              <a:gd name="connsiteX16" fmla="*/ 0 w 4550979"/>
              <a:gd name="connsiteY16" fmla="*/ 5153282 h 5195324"/>
              <a:gd name="connsiteX17" fmla="*/ 21020 w 4550979"/>
              <a:gd name="connsiteY17" fmla="*/ 476180 h 5195324"/>
              <a:gd name="connsiteX0" fmla="*/ 21020 w 4550979"/>
              <a:gd name="connsiteY0" fmla="*/ 258442 h 4977586"/>
              <a:gd name="connsiteX1" fmla="*/ 2270234 w 4550979"/>
              <a:gd name="connsiteY1" fmla="*/ 79765 h 4977586"/>
              <a:gd name="connsiteX2" fmla="*/ 2333296 w 4550979"/>
              <a:gd name="connsiteY2" fmla="*/ 1509171 h 4977586"/>
              <a:gd name="connsiteX3" fmla="*/ 1587062 w 4550979"/>
              <a:gd name="connsiteY3" fmla="*/ 1961117 h 4977586"/>
              <a:gd name="connsiteX4" fmla="*/ 1450427 w 4550979"/>
              <a:gd name="connsiteY4" fmla="*/ 2507654 h 4977586"/>
              <a:gd name="connsiteX5" fmla="*/ 3026979 w 4550979"/>
              <a:gd name="connsiteY5" fmla="*/ 3127765 h 4977586"/>
              <a:gd name="connsiteX6" fmla="*/ 3499945 w 4550979"/>
              <a:gd name="connsiteY6" fmla="*/ 2907048 h 4977586"/>
              <a:gd name="connsiteX7" fmla="*/ 3699641 w 4550979"/>
              <a:gd name="connsiteY7" fmla="*/ 2633778 h 4977586"/>
              <a:gd name="connsiteX8" fmla="*/ 3720662 w 4550979"/>
              <a:gd name="connsiteY8" fmla="*/ 2297448 h 4977586"/>
              <a:gd name="connsiteX9" fmla="*/ 3678621 w 4550979"/>
              <a:gd name="connsiteY9" fmla="*/ 2097751 h 4977586"/>
              <a:gd name="connsiteX10" fmla="*/ 3584027 w 4550979"/>
              <a:gd name="connsiteY10" fmla="*/ 1919075 h 4977586"/>
              <a:gd name="connsiteX11" fmla="*/ 3342289 w 4550979"/>
              <a:gd name="connsiteY11" fmla="*/ 1761420 h 4977586"/>
              <a:gd name="connsiteX12" fmla="*/ 4393324 w 4550979"/>
              <a:gd name="connsiteY12" fmla="*/ 1624786 h 4977586"/>
              <a:gd name="connsiteX13" fmla="*/ 4550979 w 4550979"/>
              <a:gd name="connsiteY13" fmla="*/ 2959599 h 4977586"/>
              <a:gd name="connsiteX14" fmla="*/ 4403834 w 4550979"/>
              <a:gd name="connsiteY14" fmla="*/ 4599213 h 4977586"/>
              <a:gd name="connsiteX15" fmla="*/ 3394841 w 4550979"/>
              <a:gd name="connsiteY15" fmla="*/ 4977586 h 4977586"/>
              <a:gd name="connsiteX16" fmla="*/ 0 w 4550979"/>
              <a:gd name="connsiteY16" fmla="*/ 4935544 h 4977586"/>
              <a:gd name="connsiteX17" fmla="*/ 21020 w 4550979"/>
              <a:gd name="connsiteY17" fmla="*/ 258442 h 4977586"/>
              <a:gd name="connsiteX0" fmla="*/ 21020 w 4550979"/>
              <a:gd name="connsiteY0" fmla="*/ 178677 h 4897821"/>
              <a:gd name="connsiteX1" fmla="*/ 2270234 w 4550979"/>
              <a:gd name="connsiteY1" fmla="*/ 0 h 4897821"/>
              <a:gd name="connsiteX2" fmla="*/ 2333296 w 4550979"/>
              <a:gd name="connsiteY2" fmla="*/ 1429406 h 4897821"/>
              <a:gd name="connsiteX3" fmla="*/ 1587062 w 4550979"/>
              <a:gd name="connsiteY3" fmla="*/ 1881352 h 4897821"/>
              <a:gd name="connsiteX4" fmla="*/ 1450427 w 4550979"/>
              <a:gd name="connsiteY4" fmla="*/ 2427889 h 4897821"/>
              <a:gd name="connsiteX5" fmla="*/ 3026979 w 4550979"/>
              <a:gd name="connsiteY5" fmla="*/ 3048000 h 4897821"/>
              <a:gd name="connsiteX6" fmla="*/ 3499945 w 4550979"/>
              <a:gd name="connsiteY6" fmla="*/ 2827283 h 4897821"/>
              <a:gd name="connsiteX7" fmla="*/ 3699641 w 4550979"/>
              <a:gd name="connsiteY7" fmla="*/ 2554013 h 4897821"/>
              <a:gd name="connsiteX8" fmla="*/ 3720662 w 4550979"/>
              <a:gd name="connsiteY8" fmla="*/ 2217683 h 4897821"/>
              <a:gd name="connsiteX9" fmla="*/ 3678621 w 4550979"/>
              <a:gd name="connsiteY9" fmla="*/ 2017986 h 4897821"/>
              <a:gd name="connsiteX10" fmla="*/ 3584027 w 4550979"/>
              <a:gd name="connsiteY10" fmla="*/ 1839310 h 4897821"/>
              <a:gd name="connsiteX11" fmla="*/ 3342289 w 4550979"/>
              <a:gd name="connsiteY11" fmla="*/ 1681655 h 4897821"/>
              <a:gd name="connsiteX12" fmla="*/ 4393324 w 4550979"/>
              <a:gd name="connsiteY12" fmla="*/ 1545021 h 4897821"/>
              <a:gd name="connsiteX13" fmla="*/ 4550979 w 4550979"/>
              <a:gd name="connsiteY13" fmla="*/ 2879834 h 4897821"/>
              <a:gd name="connsiteX14" fmla="*/ 4403834 w 4550979"/>
              <a:gd name="connsiteY14" fmla="*/ 4519448 h 4897821"/>
              <a:gd name="connsiteX15" fmla="*/ 3394841 w 4550979"/>
              <a:gd name="connsiteY15" fmla="*/ 4897821 h 4897821"/>
              <a:gd name="connsiteX16" fmla="*/ 0 w 4550979"/>
              <a:gd name="connsiteY16" fmla="*/ 4855779 h 4897821"/>
              <a:gd name="connsiteX17" fmla="*/ 21020 w 4550979"/>
              <a:gd name="connsiteY17" fmla="*/ 178677 h 489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50979" h="4897821">
                <a:moveTo>
                  <a:pt x="21020" y="178677"/>
                </a:moveTo>
                <a:cubicBezTo>
                  <a:pt x="1030013" y="42043"/>
                  <a:pt x="1453930" y="54304"/>
                  <a:pt x="2270234" y="0"/>
                </a:cubicBezTo>
                <a:cubicBezTo>
                  <a:pt x="2291255" y="476469"/>
                  <a:pt x="1902372" y="963447"/>
                  <a:pt x="2333296" y="1429406"/>
                </a:cubicBezTo>
                <a:lnTo>
                  <a:pt x="1587062" y="1881352"/>
                </a:lnTo>
                <a:lnTo>
                  <a:pt x="1450427" y="2427889"/>
                </a:lnTo>
                <a:cubicBezTo>
                  <a:pt x="1681655" y="2998951"/>
                  <a:pt x="2312276" y="3139089"/>
                  <a:pt x="3026979" y="3048000"/>
                </a:cubicBezTo>
                <a:lnTo>
                  <a:pt x="3499945" y="2827283"/>
                </a:lnTo>
                <a:lnTo>
                  <a:pt x="3699641" y="2554013"/>
                </a:lnTo>
                <a:lnTo>
                  <a:pt x="3720662" y="2217683"/>
                </a:lnTo>
                <a:lnTo>
                  <a:pt x="3678621" y="2017986"/>
                </a:lnTo>
                <a:lnTo>
                  <a:pt x="3584027" y="1839310"/>
                </a:lnTo>
                <a:lnTo>
                  <a:pt x="3342289" y="1681655"/>
                </a:lnTo>
                <a:lnTo>
                  <a:pt x="4393324" y="1545021"/>
                </a:lnTo>
                <a:lnTo>
                  <a:pt x="4550979" y="2879834"/>
                </a:lnTo>
                <a:lnTo>
                  <a:pt x="4403834" y="4519448"/>
                </a:lnTo>
                <a:lnTo>
                  <a:pt x="3394841" y="4897821"/>
                </a:lnTo>
                <a:lnTo>
                  <a:pt x="0" y="4855779"/>
                </a:lnTo>
                <a:cubicBezTo>
                  <a:pt x="7007" y="3296745"/>
                  <a:pt x="14013" y="1737711"/>
                  <a:pt x="21020" y="178677"/>
                </a:cubicBezTo>
                <a:close/>
              </a:path>
            </a:pathLst>
          </a:custGeom>
          <a:solidFill>
            <a:schemeClr val="bg1">
              <a:alpha val="7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4" name="Slide Number Placeholder 5">
            <a:extLst>
              <a:ext uri="{FF2B5EF4-FFF2-40B4-BE49-F238E27FC236}">
                <a16:creationId xmlns:a16="http://schemas.microsoft.com/office/drawing/2014/main" id="{9DD86218-2819-DB49-BA50-5AE1BB15CB08}"/>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4</a:t>
            </a:fld>
            <a:endParaRPr lang="en-US" dirty="0"/>
          </a:p>
        </p:txBody>
      </p:sp>
    </p:spTree>
    <p:extLst>
      <p:ext uri="{BB962C8B-B14F-4D97-AF65-F5344CB8AC3E}">
        <p14:creationId xmlns:p14="http://schemas.microsoft.com/office/powerpoint/2010/main" val="420859379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Protocol </a:t>
            </a:r>
            <a:r>
              <a:rPr lang="en-US" altLang="en-US" dirty="0">
                <a:ea typeface="ＭＳ Ｐゴシック" panose="020B0600070205080204" pitchFamily="34" charset="-128"/>
              </a:rPr>
              <a:t>“l</a:t>
            </a:r>
            <a:r>
              <a:rPr lang="en-US" altLang="ja-JP" sz="4400" dirty="0">
                <a:ea typeface="ＭＳ Ｐゴシック" panose="020B0600070205080204" pitchFamily="34" charset="-128"/>
              </a:rPr>
              <a:t>ayers</a:t>
            </a:r>
            <a:r>
              <a:rPr lang="en-US" altLang="ja-JP" dirty="0">
                <a:ea typeface="ＭＳ Ｐゴシック" panose="020B0600070205080204" pitchFamily="34" charset="-128"/>
              </a:rPr>
              <a:t>”</a:t>
            </a:r>
            <a:r>
              <a:rPr lang="en-US" altLang="ja-JP" sz="4400" dirty="0">
                <a:ea typeface="ＭＳ Ｐゴシック" panose="020B0600070205080204" pitchFamily="34" charset="-128"/>
              </a:rPr>
              <a:t> and reference </a:t>
            </a:r>
            <a:r>
              <a:rPr lang="en-US" altLang="ja-JP" dirty="0">
                <a:ea typeface="ＭＳ Ｐゴシック" panose="020B0600070205080204" pitchFamily="34" charset="-128"/>
              </a:rPr>
              <a:t>m</a:t>
            </a:r>
            <a:r>
              <a:rPr lang="en-US" altLang="ja-JP" sz="4400" dirty="0">
                <a:ea typeface="ＭＳ Ｐゴシック" panose="020B0600070205080204" pitchFamily="34" charset="-128"/>
              </a:rPr>
              <a:t>odels</a:t>
            </a:r>
            <a:endParaRPr lang="en-US" altLang="en-US" sz="4400" dirty="0">
              <a:ea typeface="ＭＳ Ｐゴシック" panose="020B0600070205080204" pitchFamily="34" charset="-128"/>
            </a:endParaRPr>
          </a:p>
        </p:txBody>
      </p:sp>
      <p:sp>
        <p:nvSpPr>
          <p:cNvPr id="45" name="Rectangle 3">
            <a:extLst>
              <a:ext uri="{FF2B5EF4-FFF2-40B4-BE49-F238E27FC236}">
                <a16:creationId xmlns:a16="http://schemas.microsoft.com/office/drawing/2014/main" id="{B003BE48-58DC-5A4B-9250-A838A7C7044A}"/>
              </a:ext>
            </a:extLst>
          </p:cNvPr>
          <p:cNvSpPr txBox="1">
            <a:spLocks noChangeArrowheads="1"/>
          </p:cNvSpPr>
          <p:nvPr/>
        </p:nvSpPr>
        <p:spPr>
          <a:xfrm>
            <a:off x="800566" y="1575775"/>
            <a:ext cx="4807161" cy="50498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r>
              <a:rPr kumimoji="0" lang="en-US" altLang="en-US" sz="3600" b="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Networks are complex,</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r>
              <a:rPr kumimoji="0" lang="en-US" altLang="en-US" sz="3600" b="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with many “</a:t>
            </a:r>
            <a:r>
              <a:rPr kumimoji="0" lang="en-US" altLang="ja-JP" sz="3600" b="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pieces”: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hosts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links of various media</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applications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hardware, software</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endParaRPr kumimoji="0" lang="en-US" altLang="ja-JP"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Slide Number Placeholder 5">
            <a:extLst>
              <a:ext uri="{FF2B5EF4-FFF2-40B4-BE49-F238E27FC236}">
                <a16:creationId xmlns:a16="http://schemas.microsoft.com/office/drawing/2014/main" id="{6A309F33-D0A0-8D42-AC5B-CD3063143204}"/>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5</a:t>
            </a:fld>
            <a:endParaRPr lang="en-US" dirty="0"/>
          </a:p>
        </p:txBody>
      </p:sp>
    </p:spTree>
    <p:extLst>
      <p:ext uri="{BB962C8B-B14F-4D97-AF65-F5344CB8AC3E}">
        <p14:creationId xmlns:p14="http://schemas.microsoft.com/office/powerpoint/2010/main" val="40615703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ISO/OSI reference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odel</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6</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665343" y="1341922"/>
            <a:ext cx="6765452" cy="51308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en-US" sz="3200" dirty="0">
                <a:ea typeface="ＭＳ Ｐゴシック" panose="020B0600070205080204" pitchFamily="34" charset="-128"/>
              </a:rPr>
              <a:t>Two layers not found in  Internet protocol stack!</a:t>
            </a:r>
          </a:p>
          <a:p>
            <a:pPr marL="287338" indent="-287338"/>
            <a:r>
              <a:rPr lang="en-US" altLang="en-US" i="1" dirty="0">
                <a:solidFill>
                  <a:srgbClr val="C00000"/>
                </a:solidFill>
                <a:ea typeface="ＭＳ Ｐゴシック" panose="020B0600070205080204" pitchFamily="34" charset="-128"/>
              </a:rPr>
              <a:t>presentation:</a:t>
            </a:r>
            <a:r>
              <a:rPr lang="en-US" altLang="en-US" dirty="0">
                <a:solidFill>
                  <a:srgbClr val="C00000"/>
                </a:solidFill>
                <a:ea typeface="ＭＳ Ｐゴシック" panose="020B0600070205080204" pitchFamily="34" charset="-128"/>
              </a:rPr>
              <a:t> </a:t>
            </a:r>
            <a:r>
              <a:rPr lang="en-US" altLang="en-US" dirty="0">
                <a:ea typeface="ＭＳ Ｐゴシック" panose="020B0600070205080204" pitchFamily="34" charset="-128"/>
              </a:rPr>
              <a:t>allow applications to interpret meaning of data, e.g., encryption, compression, machine-specific conventions</a:t>
            </a:r>
          </a:p>
          <a:p>
            <a:pPr marL="287338" indent="-287338"/>
            <a:r>
              <a:rPr lang="en-US" altLang="en-US" i="1" dirty="0">
                <a:solidFill>
                  <a:srgbClr val="C00000"/>
                </a:solidFill>
                <a:ea typeface="ＭＳ Ｐゴシック" panose="020B0600070205080204" pitchFamily="34" charset="-128"/>
              </a:rPr>
              <a:t>session:</a:t>
            </a:r>
            <a:r>
              <a:rPr lang="en-US" altLang="en-US" dirty="0">
                <a:solidFill>
                  <a:srgbClr val="C00000"/>
                </a:solidFill>
                <a:ea typeface="ＭＳ Ｐゴシック" panose="020B0600070205080204" pitchFamily="34" charset="-128"/>
              </a:rPr>
              <a:t> </a:t>
            </a:r>
            <a:r>
              <a:rPr lang="en-US" altLang="en-US" dirty="0">
                <a:ea typeface="ＭＳ Ｐゴシック" panose="020B0600070205080204" pitchFamily="34" charset="-128"/>
              </a:rPr>
              <a:t>synchronization, checkpointing, recovery of data exchange</a:t>
            </a:r>
          </a:p>
          <a:p>
            <a:pPr marL="287338" indent="-287338"/>
            <a:r>
              <a:rPr lang="en-US" altLang="en-US" dirty="0">
                <a:ea typeface="ＭＳ Ｐゴシック" panose="020B0600070205080204" pitchFamily="34" charset="-128"/>
              </a:rPr>
              <a:t>Internet stack “</a:t>
            </a:r>
            <a:r>
              <a:rPr lang="en-US" altLang="ja-JP" dirty="0">
                <a:ea typeface="ＭＳ Ｐゴシック" panose="020B0600070205080204" pitchFamily="34" charset="-128"/>
              </a:rPr>
              <a:t>missing” these layers!</a:t>
            </a:r>
          </a:p>
          <a:p>
            <a:pPr marL="682625" lvl="1" indent="-225425"/>
            <a:r>
              <a:rPr lang="en-US" altLang="en-US" sz="2800" dirty="0">
                <a:ea typeface="Arial" panose="020B0604020202020204" pitchFamily="34" charset="0"/>
              </a:rPr>
              <a:t>these services, </a:t>
            </a:r>
            <a:r>
              <a:rPr lang="en-US" altLang="en-US" sz="2800" i="1" dirty="0">
                <a:ea typeface="Arial" panose="020B0604020202020204" pitchFamily="34" charset="0"/>
              </a:rPr>
              <a:t>if needed,</a:t>
            </a:r>
            <a:r>
              <a:rPr lang="en-US" altLang="en-US" sz="2800" dirty="0">
                <a:ea typeface="Arial" panose="020B0604020202020204" pitchFamily="34" charset="0"/>
              </a:rPr>
              <a:t> must be implemented in application</a:t>
            </a:r>
          </a:p>
          <a:p>
            <a:pPr marL="682625" lvl="1" indent="-225425"/>
            <a:r>
              <a:rPr lang="en-US" altLang="en-US" sz="2800" dirty="0">
                <a:ea typeface="Arial" panose="020B0604020202020204" pitchFamily="34" charset="0"/>
              </a:rPr>
              <a:t>needed?</a:t>
            </a:r>
            <a:endParaRPr lang="en-US" altLang="en-US" sz="2800" dirty="0">
              <a:ea typeface="ＭＳ Ｐゴシック" panose="020B0600070205080204" pitchFamily="34" charset="-128"/>
            </a:endParaRPr>
          </a:p>
        </p:txBody>
      </p:sp>
      <p:sp>
        <p:nvSpPr>
          <p:cNvPr id="7" name="Rectangle 2">
            <a:extLst>
              <a:ext uri="{FF2B5EF4-FFF2-40B4-BE49-F238E27FC236}">
                <a16:creationId xmlns:a16="http://schemas.microsoft.com/office/drawing/2014/main" id="{B3919DE3-1C67-444E-9B68-661747C794B6}"/>
              </a:ext>
            </a:extLst>
          </p:cNvPr>
          <p:cNvSpPr>
            <a:spLocks noChangeArrowheads="1"/>
          </p:cNvSpPr>
          <p:nvPr/>
        </p:nvSpPr>
        <p:spPr bwMode="auto">
          <a:xfrm>
            <a:off x="8622241" y="1413668"/>
            <a:ext cx="1892300" cy="3530600"/>
          </a:xfrm>
          <a:prstGeom prst="rect">
            <a:avLst/>
          </a:prstGeom>
          <a:solidFill>
            <a:srgbClr val="000099"/>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Times New Roman" panose="02020603050405020304" pitchFamily="18" charset="0"/>
            </a:endParaRPr>
          </a:p>
        </p:txBody>
      </p:sp>
      <p:sp>
        <p:nvSpPr>
          <p:cNvPr id="8" name="Rectangle 6">
            <a:extLst>
              <a:ext uri="{FF2B5EF4-FFF2-40B4-BE49-F238E27FC236}">
                <a16:creationId xmlns:a16="http://schemas.microsoft.com/office/drawing/2014/main" id="{439FC83A-3010-6E44-80DA-A0B478A25DE4}"/>
              </a:ext>
            </a:extLst>
          </p:cNvPr>
          <p:cNvSpPr>
            <a:spLocks noChangeArrowheads="1"/>
          </p:cNvSpPr>
          <p:nvPr/>
        </p:nvSpPr>
        <p:spPr bwMode="auto">
          <a:xfrm>
            <a:off x="8507941" y="1550193"/>
            <a:ext cx="1892300" cy="3586163"/>
          </a:xfrm>
          <a:prstGeom prst="rect">
            <a:avLst/>
          </a:prstGeom>
          <a:solidFill>
            <a:schemeClr val="bg1"/>
          </a:solidFill>
          <a:ln w="381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Times New Roman" panose="02020603050405020304" pitchFamily="18" charset="0"/>
            </a:endParaRPr>
          </a:p>
        </p:txBody>
      </p:sp>
      <p:sp>
        <p:nvSpPr>
          <p:cNvPr id="9" name="Text Box 7">
            <a:extLst>
              <a:ext uri="{FF2B5EF4-FFF2-40B4-BE49-F238E27FC236}">
                <a16:creationId xmlns:a16="http://schemas.microsoft.com/office/drawing/2014/main" id="{02AF1634-8914-FF4A-8ACB-58E0BABFE65B}"/>
              </a:ext>
            </a:extLst>
          </p:cNvPr>
          <p:cNvSpPr txBox="1">
            <a:spLocks noChangeArrowheads="1"/>
          </p:cNvSpPr>
          <p:nvPr/>
        </p:nvSpPr>
        <p:spPr bwMode="auto">
          <a:xfrm>
            <a:off x="8465079" y="1721643"/>
            <a:ext cx="1982787" cy="341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70000"/>
              </a:lnSpc>
            </a:pPr>
            <a:r>
              <a:rPr lang="en-US" altLang="en-US" dirty="0"/>
              <a:t>application</a:t>
            </a:r>
          </a:p>
          <a:p>
            <a:pPr algn="ctr">
              <a:lnSpc>
                <a:spcPct val="70000"/>
              </a:lnSpc>
            </a:pPr>
            <a:endParaRPr lang="en-US" altLang="en-US" dirty="0"/>
          </a:p>
          <a:p>
            <a:pPr algn="ctr">
              <a:lnSpc>
                <a:spcPct val="70000"/>
              </a:lnSpc>
            </a:pPr>
            <a:r>
              <a:rPr lang="en-US" altLang="en-US" dirty="0"/>
              <a:t>presentation</a:t>
            </a:r>
          </a:p>
          <a:p>
            <a:pPr algn="ctr">
              <a:lnSpc>
                <a:spcPct val="70000"/>
              </a:lnSpc>
            </a:pPr>
            <a:endParaRPr lang="en-US" altLang="en-US" dirty="0"/>
          </a:p>
          <a:p>
            <a:pPr algn="ctr">
              <a:lnSpc>
                <a:spcPct val="70000"/>
              </a:lnSpc>
            </a:pPr>
            <a:r>
              <a:rPr lang="en-US" altLang="en-US" dirty="0"/>
              <a:t>session</a:t>
            </a:r>
          </a:p>
          <a:p>
            <a:pPr algn="ctr">
              <a:lnSpc>
                <a:spcPct val="70000"/>
              </a:lnSpc>
            </a:pPr>
            <a:endParaRPr lang="en-US" altLang="en-US" dirty="0"/>
          </a:p>
          <a:p>
            <a:pPr algn="ctr">
              <a:lnSpc>
                <a:spcPct val="70000"/>
              </a:lnSpc>
            </a:pPr>
            <a:r>
              <a:rPr lang="en-US" altLang="en-US" dirty="0"/>
              <a:t>transport</a:t>
            </a:r>
          </a:p>
          <a:p>
            <a:pPr algn="ctr">
              <a:lnSpc>
                <a:spcPct val="70000"/>
              </a:lnSpc>
            </a:pPr>
            <a:endParaRPr lang="en-US" altLang="en-US" dirty="0"/>
          </a:p>
          <a:p>
            <a:pPr algn="ctr">
              <a:lnSpc>
                <a:spcPct val="70000"/>
              </a:lnSpc>
            </a:pPr>
            <a:r>
              <a:rPr lang="en-US" altLang="en-US" dirty="0"/>
              <a:t>network</a:t>
            </a:r>
          </a:p>
          <a:p>
            <a:pPr algn="ctr">
              <a:lnSpc>
                <a:spcPct val="70000"/>
              </a:lnSpc>
            </a:pPr>
            <a:endParaRPr lang="en-US" altLang="en-US" dirty="0"/>
          </a:p>
          <a:p>
            <a:pPr algn="ctr">
              <a:lnSpc>
                <a:spcPct val="70000"/>
              </a:lnSpc>
            </a:pPr>
            <a:r>
              <a:rPr lang="en-US" altLang="en-US" dirty="0"/>
              <a:t>link</a:t>
            </a:r>
          </a:p>
          <a:p>
            <a:pPr algn="ctr">
              <a:lnSpc>
                <a:spcPct val="70000"/>
              </a:lnSpc>
            </a:pPr>
            <a:endParaRPr lang="en-US" altLang="en-US" dirty="0"/>
          </a:p>
          <a:p>
            <a:pPr algn="ctr">
              <a:lnSpc>
                <a:spcPct val="70000"/>
              </a:lnSpc>
            </a:pPr>
            <a:r>
              <a:rPr lang="en-US" altLang="en-US" dirty="0"/>
              <a:t>physical</a:t>
            </a:r>
          </a:p>
        </p:txBody>
      </p:sp>
      <p:sp>
        <p:nvSpPr>
          <p:cNvPr id="10" name="Line 8">
            <a:extLst>
              <a:ext uri="{FF2B5EF4-FFF2-40B4-BE49-F238E27FC236}">
                <a16:creationId xmlns:a16="http://schemas.microsoft.com/office/drawing/2014/main" id="{2A989D6F-FA45-8C4E-9BBC-741936AB29C5}"/>
              </a:ext>
            </a:extLst>
          </p:cNvPr>
          <p:cNvSpPr>
            <a:spLocks noChangeShapeType="1"/>
          </p:cNvSpPr>
          <p:nvPr/>
        </p:nvSpPr>
        <p:spPr bwMode="auto">
          <a:xfrm>
            <a:off x="8487304" y="2142331"/>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1" name="Line 9">
            <a:extLst>
              <a:ext uri="{FF2B5EF4-FFF2-40B4-BE49-F238E27FC236}">
                <a16:creationId xmlns:a16="http://schemas.microsoft.com/office/drawing/2014/main" id="{15317A6D-8DDE-594B-9C31-D329305C5300}"/>
              </a:ext>
            </a:extLst>
          </p:cNvPr>
          <p:cNvSpPr>
            <a:spLocks noChangeShapeType="1"/>
          </p:cNvSpPr>
          <p:nvPr/>
        </p:nvSpPr>
        <p:spPr bwMode="auto">
          <a:xfrm>
            <a:off x="8501591" y="3118643"/>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2" name="Line 10">
            <a:extLst>
              <a:ext uri="{FF2B5EF4-FFF2-40B4-BE49-F238E27FC236}">
                <a16:creationId xmlns:a16="http://schemas.microsoft.com/office/drawing/2014/main" id="{4C0565FC-B6A4-1C41-A3C7-95333C728091}"/>
              </a:ext>
            </a:extLst>
          </p:cNvPr>
          <p:cNvSpPr>
            <a:spLocks noChangeShapeType="1"/>
          </p:cNvSpPr>
          <p:nvPr/>
        </p:nvSpPr>
        <p:spPr bwMode="auto">
          <a:xfrm>
            <a:off x="8501591" y="3658393"/>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3" name="Line 11">
            <a:extLst>
              <a:ext uri="{FF2B5EF4-FFF2-40B4-BE49-F238E27FC236}">
                <a16:creationId xmlns:a16="http://schemas.microsoft.com/office/drawing/2014/main" id="{CB8177A7-EC5F-054E-9BF4-6807B276EBEB}"/>
              </a:ext>
            </a:extLst>
          </p:cNvPr>
          <p:cNvSpPr>
            <a:spLocks noChangeShapeType="1"/>
          </p:cNvSpPr>
          <p:nvPr/>
        </p:nvSpPr>
        <p:spPr bwMode="auto">
          <a:xfrm>
            <a:off x="8503179" y="4674393"/>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4" name="Line 12">
            <a:extLst>
              <a:ext uri="{FF2B5EF4-FFF2-40B4-BE49-F238E27FC236}">
                <a16:creationId xmlns:a16="http://schemas.microsoft.com/office/drawing/2014/main" id="{E3C788FC-704D-5B46-BAF8-D2E15950C61F}"/>
              </a:ext>
            </a:extLst>
          </p:cNvPr>
          <p:cNvSpPr>
            <a:spLocks noChangeShapeType="1"/>
          </p:cNvSpPr>
          <p:nvPr/>
        </p:nvSpPr>
        <p:spPr bwMode="auto">
          <a:xfrm>
            <a:off x="8487304" y="4191793"/>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5" name="Line 13">
            <a:extLst>
              <a:ext uri="{FF2B5EF4-FFF2-40B4-BE49-F238E27FC236}">
                <a16:creationId xmlns:a16="http://schemas.microsoft.com/office/drawing/2014/main" id="{50AC6633-E0EA-2542-8345-CA3634789CDF}"/>
              </a:ext>
            </a:extLst>
          </p:cNvPr>
          <p:cNvSpPr>
            <a:spLocks noChangeShapeType="1"/>
          </p:cNvSpPr>
          <p:nvPr/>
        </p:nvSpPr>
        <p:spPr bwMode="auto">
          <a:xfrm>
            <a:off x="8485716" y="2661443"/>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 name="TextBox 3">
            <a:extLst>
              <a:ext uri="{FF2B5EF4-FFF2-40B4-BE49-F238E27FC236}">
                <a16:creationId xmlns:a16="http://schemas.microsoft.com/office/drawing/2014/main" id="{1E944C3F-C77B-9A49-ACB6-EDB2E17C9D3A}"/>
              </a:ext>
            </a:extLst>
          </p:cNvPr>
          <p:cNvSpPr txBox="1"/>
          <p:nvPr/>
        </p:nvSpPr>
        <p:spPr>
          <a:xfrm>
            <a:off x="8246534" y="5352939"/>
            <a:ext cx="2466444" cy="646331"/>
          </a:xfrm>
          <a:prstGeom prst="rect">
            <a:avLst/>
          </a:prstGeom>
          <a:noFill/>
        </p:spPr>
        <p:txBody>
          <a:bodyPr wrap="none" rtlCol="0">
            <a:spAutoFit/>
          </a:bodyPr>
          <a:lstStyle/>
          <a:p>
            <a:pPr algn="ctr"/>
            <a:r>
              <a:rPr lang="en-US" dirty="0"/>
              <a:t>The seven layer OSI/ISO </a:t>
            </a:r>
          </a:p>
          <a:p>
            <a:pPr algn="ctr"/>
            <a:r>
              <a:rPr lang="en-US" dirty="0"/>
              <a:t>reference model</a:t>
            </a:r>
          </a:p>
        </p:txBody>
      </p:sp>
    </p:spTree>
    <p:extLst>
      <p:ext uri="{BB962C8B-B14F-4D97-AF65-F5344CB8AC3E}">
        <p14:creationId xmlns:p14="http://schemas.microsoft.com/office/powerpoint/2010/main" val="350788986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Layered TCP/IP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tack</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979384" y="1472008"/>
            <a:ext cx="7936016" cy="492270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supporting network applications</a:t>
            </a:r>
          </a:p>
          <a:p>
            <a:pPr marL="682625" marR="0" lvl="1" indent="-225425" algn="l" defTabSz="914400" rtl="0" eaLnBrk="1" fontAlgn="auto" latinLnBrk="0" hangingPunct="1">
              <a:lnSpc>
                <a:spcPct val="8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HTTP, IMAP, SMTP, DNS</a:t>
            </a:r>
          </a:p>
          <a:p>
            <a:pPr marL="287338" marR="0" lvl="0" indent="-28733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transport: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process-process data transfer</a:t>
            </a:r>
          </a:p>
          <a:p>
            <a:pPr marL="682625" marR="0" lvl="1" indent="-225425" algn="l" defTabSz="914400" rtl="0" eaLnBrk="1" fontAlgn="auto" latinLnBrk="0" hangingPunct="1">
              <a:lnSpc>
                <a:spcPct val="8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TCP, UDP</a:t>
            </a:r>
          </a:p>
          <a:p>
            <a:pPr marL="287338" marR="0" lvl="0" indent="-28733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of datagrams from source to destination</a:t>
            </a:r>
          </a:p>
          <a:p>
            <a:pPr marL="682625" marR="0" lvl="1" indent="-225425" algn="l" defTabSz="914400" rtl="0" eaLnBrk="1" fontAlgn="auto" latinLnBrk="0" hangingPunct="1">
              <a:lnSpc>
                <a:spcPct val="8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IP, routing protocols</a:t>
            </a:r>
          </a:p>
          <a:p>
            <a:pPr marL="287338" marR="0" lvl="0" indent="-28733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link: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transfer between neighboring  network elements</a:t>
            </a:r>
          </a:p>
          <a:p>
            <a:pPr marL="682625" marR="0" lvl="1" indent="-225425" algn="l" defTabSz="914400" rtl="0" eaLnBrk="1" fontAlgn="auto" latinLnBrk="0" hangingPunct="1">
              <a:lnSpc>
                <a:spcPct val="8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Ethernet, 802.11 (WiFi), PPP</a:t>
            </a:r>
          </a:p>
          <a:p>
            <a:pPr marL="287338" marR="0" lvl="0" indent="-28733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physical: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bits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the wire”</a:t>
            </a:r>
          </a:p>
        </p:txBody>
      </p:sp>
      <p:sp>
        <p:nvSpPr>
          <p:cNvPr id="8" name="Rectangle 6">
            <a:extLst>
              <a:ext uri="{FF2B5EF4-FFF2-40B4-BE49-F238E27FC236}">
                <a16:creationId xmlns:a16="http://schemas.microsoft.com/office/drawing/2014/main" id="{7FC87645-22AD-8040-8C83-BC2F64C5D928}"/>
              </a:ext>
            </a:extLst>
          </p:cNvPr>
          <p:cNvSpPr>
            <a:spLocks noChangeArrowheads="1"/>
          </p:cNvSpPr>
          <p:nvPr/>
        </p:nvSpPr>
        <p:spPr bwMode="auto">
          <a:xfrm>
            <a:off x="8913284" y="1902006"/>
            <a:ext cx="1892300" cy="3530600"/>
          </a:xfrm>
          <a:prstGeom prst="rect">
            <a:avLst/>
          </a:prstGeom>
          <a:solidFill>
            <a:schemeClr val="bg1"/>
          </a:solidFill>
          <a:ln w="38100">
            <a:solidFill>
              <a:schemeClr val="tx1"/>
            </a:solidFill>
            <a:miter lim="800000"/>
            <a:headEnd/>
            <a:tailEnd/>
          </a:ln>
          <a:effectLst>
            <a:outerShdw blurRad="304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06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 name="Text Box 7">
            <a:extLst>
              <a:ext uri="{FF2B5EF4-FFF2-40B4-BE49-F238E27FC236}">
                <a16:creationId xmlns:a16="http://schemas.microsoft.com/office/drawing/2014/main" id="{8C032AE1-21C7-1541-9531-59DC0E0F6A64}"/>
              </a:ext>
            </a:extLst>
          </p:cNvPr>
          <p:cNvSpPr txBox="1">
            <a:spLocks noChangeArrowheads="1"/>
          </p:cNvSpPr>
          <p:nvPr/>
        </p:nvSpPr>
        <p:spPr bwMode="auto">
          <a:xfrm>
            <a:off x="9503820" y="4217549"/>
            <a:ext cx="700833"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link</a:t>
            </a:r>
          </a:p>
        </p:txBody>
      </p:sp>
      <p:sp>
        <p:nvSpPr>
          <p:cNvPr id="10" name="Line 8">
            <a:extLst>
              <a:ext uri="{FF2B5EF4-FFF2-40B4-BE49-F238E27FC236}">
                <a16:creationId xmlns:a16="http://schemas.microsoft.com/office/drawing/2014/main" id="{2FF6CB9E-FC16-794F-9F97-8FE4CC7DA95C}"/>
              </a:ext>
            </a:extLst>
          </p:cNvPr>
          <p:cNvSpPr>
            <a:spLocks noChangeShapeType="1"/>
          </p:cNvSpPr>
          <p:nvPr/>
        </p:nvSpPr>
        <p:spPr bwMode="auto">
          <a:xfrm>
            <a:off x="8906934" y="2637698"/>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ts val="206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Line 9">
            <a:extLst>
              <a:ext uri="{FF2B5EF4-FFF2-40B4-BE49-F238E27FC236}">
                <a16:creationId xmlns:a16="http://schemas.microsoft.com/office/drawing/2014/main" id="{E0C842E9-2804-A24B-90F5-1E76ED56B971}"/>
              </a:ext>
            </a:extLst>
          </p:cNvPr>
          <p:cNvSpPr>
            <a:spLocks noChangeShapeType="1"/>
          </p:cNvSpPr>
          <p:nvPr/>
        </p:nvSpPr>
        <p:spPr bwMode="auto">
          <a:xfrm>
            <a:off x="8906934" y="3342548"/>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ts val="206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10">
            <a:extLst>
              <a:ext uri="{FF2B5EF4-FFF2-40B4-BE49-F238E27FC236}">
                <a16:creationId xmlns:a16="http://schemas.microsoft.com/office/drawing/2014/main" id="{80C10F46-6CD7-F647-A004-85EB56C772DF}"/>
              </a:ext>
            </a:extLst>
          </p:cNvPr>
          <p:cNvSpPr>
            <a:spLocks noChangeShapeType="1"/>
          </p:cNvSpPr>
          <p:nvPr/>
        </p:nvSpPr>
        <p:spPr bwMode="auto">
          <a:xfrm>
            <a:off x="8906934" y="4053748"/>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ts val="206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11">
            <a:extLst>
              <a:ext uri="{FF2B5EF4-FFF2-40B4-BE49-F238E27FC236}">
                <a16:creationId xmlns:a16="http://schemas.microsoft.com/office/drawing/2014/main" id="{264B0C4A-9518-2F45-BBDA-97BCDD99E256}"/>
              </a:ext>
            </a:extLst>
          </p:cNvPr>
          <p:cNvSpPr>
            <a:spLocks noChangeShapeType="1"/>
          </p:cNvSpPr>
          <p:nvPr/>
        </p:nvSpPr>
        <p:spPr bwMode="auto">
          <a:xfrm>
            <a:off x="8906934" y="4764948"/>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ts val="206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Text Box 7">
            <a:extLst>
              <a:ext uri="{FF2B5EF4-FFF2-40B4-BE49-F238E27FC236}">
                <a16:creationId xmlns:a16="http://schemas.microsoft.com/office/drawing/2014/main" id="{A1409CBF-F5BE-6642-ACCF-440DA30E3B86}"/>
              </a:ext>
            </a:extLst>
          </p:cNvPr>
          <p:cNvSpPr txBox="1">
            <a:spLocks noChangeArrowheads="1"/>
          </p:cNvSpPr>
          <p:nvPr/>
        </p:nvSpPr>
        <p:spPr bwMode="auto">
          <a:xfrm>
            <a:off x="8942478" y="2070093"/>
            <a:ext cx="1795813"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application</a:t>
            </a:r>
          </a:p>
        </p:txBody>
      </p:sp>
      <p:sp>
        <p:nvSpPr>
          <p:cNvPr id="15" name="Text Box 7">
            <a:extLst>
              <a:ext uri="{FF2B5EF4-FFF2-40B4-BE49-F238E27FC236}">
                <a16:creationId xmlns:a16="http://schemas.microsoft.com/office/drawing/2014/main" id="{4C8F71E2-C149-F549-B200-0E64A6F67591}"/>
              </a:ext>
            </a:extLst>
          </p:cNvPr>
          <p:cNvSpPr txBox="1">
            <a:spLocks noChangeArrowheads="1"/>
          </p:cNvSpPr>
          <p:nvPr/>
        </p:nvSpPr>
        <p:spPr bwMode="auto">
          <a:xfrm>
            <a:off x="9139934" y="3510968"/>
            <a:ext cx="1400896"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network</a:t>
            </a:r>
          </a:p>
        </p:txBody>
      </p:sp>
      <p:sp>
        <p:nvSpPr>
          <p:cNvPr id="16" name="Text Box 7">
            <a:extLst>
              <a:ext uri="{FF2B5EF4-FFF2-40B4-BE49-F238E27FC236}">
                <a16:creationId xmlns:a16="http://schemas.microsoft.com/office/drawing/2014/main" id="{565AE4AB-C1CB-3E4C-B30F-33A869485DEC}"/>
              </a:ext>
            </a:extLst>
          </p:cNvPr>
          <p:cNvSpPr txBox="1">
            <a:spLocks noChangeArrowheads="1"/>
          </p:cNvSpPr>
          <p:nvPr/>
        </p:nvSpPr>
        <p:spPr bwMode="auto">
          <a:xfrm>
            <a:off x="9024889" y="2776676"/>
            <a:ext cx="1547860"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transport</a:t>
            </a:r>
          </a:p>
        </p:txBody>
      </p:sp>
      <p:sp>
        <p:nvSpPr>
          <p:cNvPr id="18" name="Text Box 7">
            <a:extLst>
              <a:ext uri="{FF2B5EF4-FFF2-40B4-BE49-F238E27FC236}">
                <a16:creationId xmlns:a16="http://schemas.microsoft.com/office/drawing/2014/main" id="{0C3D0051-24D3-9542-BC28-EF8E74513E07}"/>
              </a:ext>
            </a:extLst>
          </p:cNvPr>
          <p:cNvSpPr txBox="1">
            <a:spLocks noChangeArrowheads="1"/>
          </p:cNvSpPr>
          <p:nvPr/>
        </p:nvSpPr>
        <p:spPr bwMode="auto">
          <a:xfrm>
            <a:off x="9197943" y="4884466"/>
            <a:ext cx="1340302"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physical</a:t>
            </a:r>
          </a:p>
        </p:txBody>
      </p:sp>
      <p:grpSp>
        <p:nvGrpSpPr>
          <p:cNvPr id="4" name="Group 3">
            <a:extLst>
              <a:ext uri="{FF2B5EF4-FFF2-40B4-BE49-F238E27FC236}">
                <a16:creationId xmlns:a16="http://schemas.microsoft.com/office/drawing/2014/main" id="{0D5C6DD9-E1C8-9A47-B128-964947A9BCA1}"/>
              </a:ext>
            </a:extLst>
          </p:cNvPr>
          <p:cNvGrpSpPr/>
          <p:nvPr/>
        </p:nvGrpSpPr>
        <p:grpSpPr>
          <a:xfrm>
            <a:off x="8931728" y="1894114"/>
            <a:ext cx="1877786" cy="734786"/>
            <a:chOff x="8980714" y="751114"/>
            <a:chExt cx="1877786" cy="734786"/>
          </a:xfrm>
        </p:grpSpPr>
        <p:sp>
          <p:nvSpPr>
            <p:cNvPr id="3" name="Rectangle 2">
              <a:extLst>
                <a:ext uri="{FF2B5EF4-FFF2-40B4-BE49-F238E27FC236}">
                  <a16:creationId xmlns:a16="http://schemas.microsoft.com/office/drawing/2014/main" id="{A763C0FF-36B6-664F-90B3-14AB76C3338D}"/>
                </a:ext>
              </a:extLst>
            </p:cNvPr>
            <p:cNvSpPr/>
            <p:nvPr/>
          </p:nvSpPr>
          <p:spPr>
            <a:xfrm>
              <a:off x="8980714" y="751114"/>
              <a:ext cx="1877786" cy="734786"/>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Text Box 7">
              <a:extLst>
                <a:ext uri="{FF2B5EF4-FFF2-40B4-BE49-F238E27FC236}">
                  <a16:creationId xmlns:a16="http://schemas.microsoft.com/office/drawing/2014/main" id="{D1D9D12F-41D2-1C43-BE10-20C3B18B6C74}"/>
                </a:ext>
              </a:extLst>
            </p:cNvPr>
            <p:cNvSpPr txBox="1">
              <a:spLocks noChangeArrowheads="1"/>
            </p:cNvSpPr>
            <p:nvPr/>
          </p:nvSpPr>
          <p:spPr bwMode="auto">
            <a:xfrm>
              <a:off x="9029564" y="899878"/>
              <a:ext cx="1795813"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application</a:t>
              </a:r>
            </a:p>
          </p:txBody>
        </p:sp>
      </p:grpSp>
      <p:grpSp>
        <p:nvGrpSpPr>
          <p:cNvPr id="20" name="Group 19">
            <a:extLst>
              <a:ext uri="{FF2B5EF4-FFF2-40B4-BE49-F238E27FC236}">
                <a16:creationId xmlns:a16="http://schemas.microsoft.com/office/drawing/2014/main" id="{FBC066ED-EC5C-E148-85B2-CE56D9C40F28}"/>
              </a:ext>
            </a:extLst>
          </p:cNvPr>
          <p:cNvGrpSpPr/>
          <p:nvPr/>
        </p:nvGrpSpPr>
        <p:grpSpPr>
          <a:xfrm>
            <a:off x="8933979" y="2649498"/>
            <a:ext cx="1861418" cy="688224"/>
            <a:chOff x="8993850" y="766270"/>
            <a:chExt cx="1861418" cy="688224"/>
          </a:xfrm>
        </p:grpSpPr>
        <p:sp>
          <p:nvSpPr>
            <p:cNvPr id="21" name="Rectangle 20">
              <a:extLst>
                <a:ext uri="{FF2B5EF4-FFF2-40B4-BE49-F238E27FC236}">
                  <a16:creationId xmlns:a16="http://schemas.microsoft.com/office/drawing/2014/main" id="{173E1221-1527-4744-A110-60E3BD72A69D}"/>
                </a:ext>
              </a:extLst>
            </p:cNvPr>
            <p:cNvSpPr/>
            <p:nvPr/>
          </p:nvSpPr>
          <p:spPr>
            <a:xfrm>
              <a:off x="8993850" y="766270"/>
              <a:ext cx="1861418" cy="68822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Text Box 7">
              <a:extLst>
                <a:ext uri="{FF2B5EF4-FFF2-40B4-BE49-F238E27FC236}">
                  <a16:creationId xmlns:a16="http://schemas.microsoft.com/office/drawing/2014/main" id="{5D7E6050-1C4A-AC42-9C80-455BF3E89624}"/>
                </a:ext>
              </a:extLst>
            </p:cNvPr>
            <p:cNvSpPr txBox="1">
              <a:spLocks noChangeArrowheads="1"/>
            </p:cNvSpPr>
            <p:nvPr/>
          </p:nvSpPr>
          <p:spPr bwMode="auto">
            <a:xfrm>
              <a:off x="9153542" y="899878"/>
              <a:ext cx="1547860"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transport</a:t>
              </a:r>
            </a:p>
          </p:txBody>
        </p:sp>
      </p:grpSp>
      <p:grpSp>
        <p:nvGrpSpPr>
          <p:cNvPr id="23" name="Group 22">
            <a:extLst>
              <a:ext uri="{FF2B5EF4-FFF2-40B4-BE49-F238E27FC236}">
                <a16:creationId xmlns:a16="http://schemas.microsoft.com/office/drawing/2014/main" id="{A118D44F-D234-294A-9DFB-5BF4D5E069AC}"/>
              </a:ext>
            </a:extLst>
          </p:cNvPr>
          <p:cNvGrpSpPr/>
          <p:nvPr/>
        </p:nvGrpSpPr>
        <p:grpSpPr>
          <a:xfrm>
            <a:off x="8931286" y="3357646"/>
            <a:ext cx="1861418" cy="677992"/>
            <a:chOff x="8993850" y="766270"/>
            <a:chExt cx="1861418" cy="677992"/>
          </a:xfrm>
        </p:grpSpPr>
        <p:sp>
          <p:nvSpPr>
            <p:cNvPr id="24" name="Rectangle 23">
              <a:extLst>
                <a:ext uri="{FF2B5EF4-FFF2-40B4-BE49-F238E27FC236}">
                  <a16:creationId xmlns:a16="http://schemas.microsoft.com/office/drawing/2014/main" id="{5BB6D480-0EF6-9743-B8C0-63D799A0402B}"/>
                </a:ext>
              </a:extLst>
            </p:cNvPr>
            <p:cNvSpPr/>
            <p:nvPr/>
          </p:nvSpPr>
          <p:spPr>
            <a:xfrm>
              <a:off x="8993850" y="766270"/>
              <a:ext cx="1861418" cy="677992"/>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 Box 7">
              <a:extLst>
                <a:ext uri="{FF2B5EF4-FFF2-40B4-BE49-F238E27FC236}">
                  <a16:creationId xmlns:a16="http://schemas.microsoft.com/office/drawing/2014/main" id="{2D6CC9E9-4EB8-C148-99C7-DE21615E7DBD}"/>
                </a:ext>
              </a:extLst>
            </p:cNvPr>
            <p:cNvSpPr txBox="1">
              <a:spLocks noChangeArrowheads="1"/>
            </p:cNvSpPr>
            <p:nvPr/>
          </p:nvSpPr>
          <p:spPr bwMode="auto">
            <a:xfrm>
              <a:off x="9227024" y="899878"/>
              <a:ext cx="1400896"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network</a:t>
              </a:r>
            </a:p>
          </p:txBody>
        </p:sp>
      </p:grpSp>
      <p:grpSp>
        <p:nvGrpSpPr>
          <p:cNvPr id="26" name="Group 25">
            <a:extLst>
              <a:ext uri="{FF2B5EF4-FFF2-40B4-BE49-F238E27FC236}">
                <a16:creationId xmlns:a16="http://schemas.microsoft.com/office/drawing/2014/main" id="{AC9AAF3B-AED3-A449-97D4-F0291249333B}"/>
              </a:ext>
            </a:extLst>
          </p:cNvPr>
          <p:cNvGrpSpPr/>
          <p:nvPr/>
        </p:nvGrpSpPr>
        <p:grpSpPr>
          <a:xfrm>
            <a:off x="8931824" y="4072257"/>
            <a:ext cx="1861418" cy="677992"/>
            <a:chOff x="8993850" y="766270"/>
            <a:chExt cx="1861418" cy="677992"/>
          </a:xfrm>
        </p:grpSpPr>
        <p:sp>
          <p:nvSpPr>
            <p:cNvPr id="27" name="Rectangle 26">
              <a:extLst>
                <a:ext uri="{FF2B5EF4-FFF2-40B4-BE49-F238E27FC236}">
                  <a16:creationId xmlns:a16="http://schemas.microsoft.com/office/drawing/2014/main" id="{821B1C9B-1511-9048-954A-42C526FFA552}"/>
                </a:ext>
              </a:extLst>
            </p:cNvPr>
            <p:cNvSpPr/>
            <p:nvPr/>
          </p:nvSpPr>
          <p:spPr>
            <a:xfrm>
              <a:off x="8993850" y="766270"/>
              <a:ext cx="1861418" cy="677992"/>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Text Box 7">
              <a:extLst>
                <a:ext uri="{FF2B5EF4-FFF2-40B4-BE49-F238E27FC236}">
                  <a16:creationId xmlns:a16="http://schemas.microsoft.com/office/drawing/2014/main" id="{94F6A773-D867-F74F-B5C6-8190F112DD55}"/>
                </a:ext>
              </a:extLst>
            </p:cNvPr>
            <p:cNvSpPr txBox="1">
              <a:spLocks noChangeArrowheads="1"/>
            </p:cNvSpPr>
            <p:nvPr/>
          </p:nvSpPr>
          <p:spPr bwMode="auto">
            <a:xfrm>
              <a:off x="9577056" y="899878"/>
              <a:ext cx="700834"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link</a:t>
              </a:r>
            </a:p>
          </p:txBody>
        </p:sp>
      </p:grpSp>
      <p:grpSp>
        <p:nvGrpSpPr>
          <p:cNvPr id="29" name="Group 28">
            <a:extLst>
              <a:ext uri="{FF2B5EF4-FFF2-40B4-BE49-F238E27FC236}">
                <a16:creationId xmlns:a16="http://schemas.microsoft.com/office/drawing/2014/main" id="{5725BE4D-F37D-9C4B-B89A-22367E8DCDC6}"/>
              </a:ext>
            </a:extLst>
          </p:cNvPr>
          <p:cNvGrpSpPr/>
          <p:nvPr/>
        </p:nvGrpSpPr>
        <p:grpSpPr>
          <a:xfrm>
            <a:off x="8925900" y="4785252"/>
            <a:ext cx="1861418" cy="639758"/>
            <a:chOff x="8993850" y="784041"/>
            <a:chExt cx="1861418" cy="639758"/>
          </a:xfrm>
        </p:grpSpPr>
        <p:sp>
          <p:nvSpPr>
            <p:cNvPr id="30" name="Rectangle 29">
              <a:extLst>
                <a:ext uri="{FF2B5EF4-FFF2-40B4-BE49-F238E27FC236}">
                  <a16:creationId xmlns:a16="http://schemas.microsoft.com/office/drawing/2014/main" id="{0D53E4D4-FAC6-1E4B-882F-3AD5F8C274EF}"/>
                </a:ext>
              </a:extLst>
            </p:cNvPr>
            <p:cNvSpPr/>
            <p:nvPr/>
          </p:nvSpPr>
          <p:spPr>
            <a:xfrm>
              <a:off x="8993850" y="784041"/>
              <a:ext cx="1861418" cy="63975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Text Box 7">
              <a:extLst>
                <a:ext uri="{FF2B5EF4-FFF2-40B4-BE49-F238E27FC236}">
                  <a16:creationId xmlns:a16="http://schemas.microsoft.com/office/drawing/2014/main" id="{2F3023D6-375B-E04C-A47A-CBC847CE62DB}"/>
                </a:ext>
              </a:extLst>
            </p:cNvPr>
            <p:cNvSpPr txBox="1">
              <a:spLocks noChangeArrowheads="1"/>
            </p:cNvSpPr>
            <p:nvPr/>
          </p:nvSpPr>
          <p:spPr bwMode="auto">
            <a:xfrm>
              <a:off x="9257324" y="899878"/>
              <a:ext cx="1340303"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physical</a:t>
              </a:r>
            </a:p>
          </p:txBody>
        </p:sp>
      </p:grpSp>
      <p:sp>
        <p:nvSpPr>
          <p:cNvPr id="32" name="Slide Number Placeholder 5">
            <a:extLst>
              <a:ext uri="{FF2B5EF4-FFF2-40B4-BE49-F238E27FC236}">
                <a16:creationId xmlns:a16="http://schemas.microsoft.com/office/drawing/2014/main" id="{BD8DF8F4-5414-EF4A-839E-C45585257CE0}"/>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7</a:t>
            </a:fld>
            <a:endParaRPr lang="en-US" dirty="0"/>
          </a:p>
        </p:txBody>
      </p:sp>
    </p:spTree>
    <p:extLst>
      <p:ext uri="{BB962C8B-B14F-4D97-AF65-F5344CB8AC3E}">
        <p14:creationId xmlns:p14="http://schemas.microsoft.com/office/powerpoint/2010/main" val="5997087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dissolve">
                                      <p:cBhvr>
                                        <p:cTn id="13" dur="500"/>
                                        <p:tgtEl>
                                          <p:spTgt spid="4"/>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7">
                                            <p:txEl>
                                              <p:pRg st="2" end="2"/>
                                            </p:txEl>
                                          </p:spTgt>
                                        </p:tgtEl>
                                        <p:attrNameLst>
                                          <p:attrName>style.visibility</p:attrName>
                                        </p:attrNameLst>
                                      </p:cBhvr>
                                      <p:to>
                                        <p:strVal val="visible"/>
                                      </p:to>
                                    </p:set>
                                    <p:animEffect transition="in" filter="dissolve">
                                      <p:cBhvr>
                                        <p:cTn id="18" dur="500"/>
                                        <p:tgtEl>
                                          <p:spTgt spid="17">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7">
                                            <p:txEl>
                                              <p:pRg st="3" end="3"/>
                                            </p:txEl>
                                          </p:spTgt>
                                        </p:tgtEl>
                                        <p:attrNameLst>
                                          <p:attrName>style.visibility</p:attrName>
                                        </p:attrNameLst>
                                      </p:cBhvr>
                                      <p:to>
                                        <p:strVal val="visible"/>
                                      </p:to>
                                    </p:set>
                                    <p:animEffect transition="in" filter="dissolve">
                                      <p:cBhvr>
                                        <p:cTn id="21" dur="500"/>
                                        <p:tgtEl>
                                          <p:spTgt spid="17">
                                            <p:txEl>
                                              <p:pRg st="3" end="3"/>
                                            </p:txEl>
                                          </p:spTgt>
                                        </p:tgtEl>
                                      </p:cBhvr>
                                    </p:animEffect>
                                  </p:childTnLst>
                                </p:cTn>
                              </p:par>
                              <p:par>
                                <p:cTn id="22" presetID="9" presetClass="exit" presetSubtype="0" fill="hold" nodeType="withEffect">
                                  <p:stCondLst>
                                    <p:cond delay="0"/>
                                  </p:stCondLst>
                                  <p:childTnLst>
                                    <p:animEffect transition="out" filter="dissolve">
                                      <p:cBhvr>
                                        <p:cTn id="23" dur="500"/>
                                        <p:tgtEl>
                                          <p:spTgt spid="4"/>
                                        </p:tgtEl>
                                      </p:cBhvr>
                                    </p:animEffect>
                                    <p:set>
                                      <p:cBhvr>
                                        <p:cTn id="24" dur="1" fill="hold">
                                          <p:stCondLst>
                                            <p:cond delay="499"/>
                                          </p:stCondLst>
                                        </p:cTn>
                                        <p:tgtEl>
                                          <p:spTgt spid="4"/>
                                        </p:tgtEl>
                                        <p:attrNameLst>
                                          <p:attrName>style.visibility</p:attrName>
                                        </p:attrNameLst>
                                      </p:cBhvr>
                                      <p:to>
                                        <p:strVal val="hidden"/>
                                      </p:to>
                                    </p:set>
                                  </p:childTnLst>
                                </p:cTn>
                              </p:par>
                              <p:par>
                                <p:cTn id="25" presetID="9" presetClass="entr" presetSubtype="0" fill="hold" nodeType="with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dissolve">
                                      <p:cBhvr>
                                        <p:cTn id="27" dur="5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7">
                                            <p:txEl>
                                              <p:pRg st="4" end="4"/>
                                            </p:txEl>
                                          </p:spTgt>
                                        </p:tgtEl>
                                        <p:attrNameLst>
                                          <p:attrName>style.visibility</p:attrName>
                                        </p:attrNameLst>
                                      </p:cBhvr>
                                      <p:to>
                                        <p:strVal val="visible"/>
                                      </p:to>
                                    </p:set>
                                    <p:animEffect transition="in" filter="dissolve">
                                      <p:cBhvr>
                                        <p:cTn id="32" dur="500"/>
                                        <p:tgtEl>
                                          <p:spTgt spid="17">
                                            <p:txEl>
                                              <p:pRg st="4" end="4"/>
                                            </p:txEl>
                                          </p:spTgt>
                                        </p:tgtEl>
                                      </p:cBhvr>
                                    </p:animEffect>
                                  </p:childTnLst>
                                </p:cTn>
                              </p:par>
                              <p:par>
                                <p:cTn id="33" presetID="9" presetClass="entr" presetSubtype="0" fill="hold" nodeType="withEffect">
                                  <p:stCondLst>
                                    <p:cond delay="0"/>
                                  </p:stCondLst>
                                  <p:childTnLst>
                                    <p:set>
                                      <p:cBhvr>
                                        <p:cTn id="34" dur="1" fill="hold">
                                          <p:stCondLst>
                                            <p:cond delay="0"/>
                                          </p:stCondLst>
                                        </p:cTn>
                                        <p:tgtEl>
                                          <p:spTgt spid="17">
                                            <p:txEl>
                                              <p:pRg st="5" end="5"/>
                                            </p:txEl>
                                          </p:spTgt>
                                        </p:tgtEl>
                                        <p:attrNameLst>
                                          <p:attrName>style.visibility</p:attrName>
                                        </p:attrNameLst>
                                      </p:cBhvr>
                                      <p:to>
                                        <p:strVal val="visible"/>
                                      </p:to>
                                    </p:set>
                                    <p:animEffect transition="in" filter="dissolve">
                                      <p:cBhvr>
                                        <p:cTn id="35" dur="500"/>
                                        <p:tgtEl>
                                          <p:spTgt spid="17">
                                            <p:txEl>
                                              <p:pRg st="5" end="5"/>
                                            </p:txEl>
                                          </p:spTgt>
                                        </p:tgtEl>
                                      </p:cBhvr>
                                    </p:animEffect>
                                  </p:childTnLst>
                                </p:cTn>
                              </p:par>
                              <p:par>
                                <p:cTn id="36" presetID="9" presetClass="exit" presetSubtype="0" fill="hold" nodeType="withEffect">
                                  <p:stCondLst>
                                    <p:cond delay="0"/>
                                  </p:stCondLst>
                                  <p:childTnLst>
                                    <p:animEffect transition="out" filter="dissolve">
                                      <p:cBhvr>
                                        <p:cTn id="37" dur="500"/>
                                        <p:tgtEl>
                                          <p:spTgt spid="20"/>
                                        </p:tgtEl>
                                      </p:cBhvr>
                                    </p:animEffect>
                                    <p:set>
                                      <p:cBhvr>
                                        <p:cTn id="38" dur="1" fill="hold">
                                          <p:stCondLst>
                                            <p:cond delay="499"/>
                                          </p:stCondLst>
                                        </p:cTn>
                                        <p:tgtEl>
                                          <p:spTgt spid="20"/>
                                        </p:tgtEl>
                                        <p:attrNameLst>
                                          <p:attrName>style.visibility</p:attrName>
                                        </p:attrNameLst>
                                      </p:cBhvr>
                                      <p:to>
                                        <p:strVal val="hidden"/>
                                      </p:to>
                                    </p:set>
                                  </p:childTnLst>
                                </p:cTn>
                              </p:par>
                              <p:par>
                                <p:cTn id="39" presetID="9" presetClass="entr" presetSubtype="0" fill="hold"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dissolv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7">
                                            <p:txEl>
                                              <p:pRg st="6" end="6"/>
                                            </p:txEl>
                                          </p:spTgt>
                                        </p:tgtEl>
                                        <p:attrNameLst>
                                          <p:attrName>style.visibility</p:attrName>
                                        </p:attrNameLst>
                                      </p:cBhvr>
                                      <p:to>
                                        <p:strVal val="visible"/>
                                      </p:to>
                                    </p:set>
                                    <p:animEffect transition="in" filter="dissolve">
                                      <p:cBhvr>
                                        <p:cTn id="46" dur="500"/>
                                        <p:tgtEl>
                                          <p:spTgt spid="17">
                                            <p:txEl>
                                              <p:pRg st="6" end="6"/>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17">
                                            <p:txEl>
                                              <p:pRg st="7" end="7"/>
                                            </p:txEl>
                                          </p:spTgt>
                                        </p:tgtEl>
                                        <p:attrNameLst>
                                          <p:attrName>style.visibility</p:attrName>
                                        </p:attrNameLst>
                                      </p:cBhvr>
                                      <p:to>
                                        <p:strVal val="visible"/>
                                      </p:to>
                                    </p:set>
                                    <p:animEffect transition="in" filter="dissolve">
                                      <p:cBhvr>
                                        <p:cTn id="49" dur="500"/>
                                        <p:tgtEl>
                                          <p:spTgt spid="17">
                                            <p:txEl>
                                              <p:pRg st="7" end="7"/>
                                            </p:txEl>
                                          </p:spTgt>
                                        </p:tgtEl>
                                      </p:cBhvr>
                                    </p:animEffect>
                                  </p:childTnLst>
                                </p:cTn>
                              </p:par>
                              <p:par>
                                <p:cTn id="50" presetID="9" presetClass="exit" presetSubtype="0" fill="hold" nodeType="withEffect">
                                  <p:stCondLst>
                                    <p:cond delay="0"/>
                                  </p:stCondLst>
                                  <p:childTnLst>
                                    <p:animEffect transition="out" filter="dissolve">
                                      <p:cBhvr>
                                        <p:cTn id="51" dur="500"/>
                                        <p:tgtEl>
                                          <p:spTgt spid="23"/>
                                        </p:tgtEl>
                                      </p:cBhvr>
                                    </p:animEffect>
                                    <p:set>
                                      <p:cBhvr>
                                        <p:cTn id="52" dur="1" fill="hold">
                                          <p:stCondLst>
                                            <p:cond delay="499"/>
                                          </p:stCondLst>
                                        </p:cTn>
                                        <p:tgtEl>
                                          <p:spTgt spid="23"/>
                                        </p:tgtEl>
                                        <p:attrNameLst>
                                          <p:attrName>style.visibility</p:attrName>
                                        </p:attrNameLst>
                                      </p:cBhvr>
                                      <p:to>
                                        <p:strVal val="hidden"/>
                                      </p:to>
                                    </p:set>
                                  </p:childTnLst>
                                </p:cTn>
                              </p:par>
                              <p:par>
                                <p:cTn id="53" presetID="9" presetClass="entr" presetSubtype="0" fill="hold" nodeType="with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dissolve">
                                      <p:cBhvr>
                                        <p:cTn id="55" dur="500"/>
                                        <p:tgtEl>
                                          <p:spTgt spid="26"/>
                                        </p:tgtEl>
                                      </p:cBhvr>
                                    </p:animEffect>
                                  </p:childTnLst>
                                </p:cTn>
                              </p:par>
                            </p:childTnLst>
                          </p:cTn>
                        </p:par>
                      </p:childTnLst>
                    </p:cTn>
                  </p:par>
                  <p:par>
                    <p:cTn id="56" fill="hold">
                      <p:stCondLst>
                        <p:cond delay="indefinite"/>
                      </p:stCondLst>
                      <p:childTnLst>
                        <p:par>
                          <p:cTn id="57" fill="hold">
                            <p:stCondLst>
                              <p:cond delay="0"/>
                            </p:stCondLst>
                            <p:childTnLst>
                              <p:par>
                                <p:cTn id="58" presetID="9" presetClass="entr" presetSubtype="0" fill="hold" nodeType="clickEffect">
                                  <p:stCondLst>
                                    <p:cond delay="0"/>
                                  </p:stCondLst>
                                  <p:childTnLst>
                                    <p:set>
                                      <p:cBhvr>
                                        <p:cTn id="59" dur="1" fill="hold">
                                          <p:stCondLst>
                                            <p:cond delay="0"/>
                                          </p:stCondLst>
                                        </p:cTn>
                                        <p:tgtEl>
                                          <p:spTgt spid="17">
                                            <p:txEl>
                                              <p:pRg st="8" end="8"/>
                                            </p:txEl>
                                          </p:spTgt>
                                        </p:tgtEl>
                                        <p:attrNameLst>
                                          <p:attrName>style.visibility</p:attrName>
                                        </p:attrNameLst>
                                      </p:cBhvr>
                                      <p:to>
                                        <p:strVal val="visible"/>
                                      </p:to>
                                    </p:set>
                                    <p:animEffect transition="in" filter="dissolve">
                                      <p:cBhvr>
                                        <p:cTn id="60" dur="500"/>
                                        <p:tgtEl>
                                          <p:spTgt spid="17">
                                            <p:txEl>
                                              <p:pRg st="8" end="8"/>
                                            </p:txEl>
                                          </p:spTgt>
                                        </p:tgtEl>
                                      </p:cBhvr>
                                    </p:animEffect>
                                  </p:childTnLst>
                                </p:cTn>
                              </p:par>
                              <p:par>
                                <p:cTn id="61" presetID="9" presetClass="exit" presetSubtype="0" fill="hold" nodeType="withEffect">
                                  <p:stCondLst>
                                    <p:cond delay="0"/>
                                  </p:stCondLst>
                                  <p:childTnLst>
                                    <p:animEffect transition="out" filter="dissolve">
                                      <p:cBhvr>
                                        <p:cTn id="62" dur="500"/>
                                        <p:tgtEl>
                                          <p:spTgt spid="26"/>
                                        </p:tgtEl>
                                      </p:cBhvr>
                                    </p:animEffect>
                                    <p:set>
                                      <p:cBhvr>
                                        <p:cTn id="63" dur="1" fill="hold">
                                          <p:stCondLst>
                                            <p:cond delay="499"/>
                                          </p:stCondLst>
                                        </p:cTn>
                                        <p:tgtEl>
                                          <p:spTgt spid="26"/>
                                        </p:tgtEl>
                                        <p:attrNameLst>
                                          <p:attrName>style.visibility</p:attrName>
                                        </p:attrNameLst>
                                      </p:cBhvr>
                                      <p:to>
                                        <p:strVal val="hidden"/>
                                      </p:to>
                                    </p:set>
                                  </p:childTnLst>
                                </p:cTn>
                              </p:par>
                              <p:par>
                                <p:cTn id="64" presetID="9" presetClass="entr" presetSubtype="0" fill="hold" nodeType="withEffect">
                                  <p:stCondLst>
                                    <p:cond delay="0"/>
                                  </p:stCondLst>
                                  <p:childTnLst>
                                    <p:set>
                                      <p:cBhvr>
                                        <p:cTn id="65" dur="1" fill="hold">
                                          <p:stCondLst>
                                            <p:cond delay="0"/>
                                          </p:stCondLst>
                                        </p:cTn>
                                        <p:tgtEl>
                                          <p:spTgt spid="29"/>
                                        </p:tgtEl>
                                        <p:attrNameLst>
                                          <p:attrName>style.visibility</p:attrName>
                                        </p:attrNameLst>
                                      </p:cBhvr>
                                      <p:to>
                                        <p:strVal val="visible"/>
                                      </p:to>
                                    </p:set>
                                    <p:animEffect transition="in" filter="dissolve">
                                      <p:cBhvr>
                                        <p:cTn id="66"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Why layering?</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780297" y="1203575"/>
            <a:ext cx="10162523" cy="492270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Approach to designing/discussing complex systems:</a:t>
            </a:r>
          </a:p>
        </p:txBody>
      </p:sp>
      <p:sp>
        <p:nvSpPr>
          <p:cNvPr id="5" name="Rectangle 5">
            <a:extLst>
              <a:ext uri="{FF2B5EF4-FFF2-40B4-BE49-F238E27FC236}">
                <a16:creationId xmlns:a16="http://schemas.microsoft.com/office/drawing/2014/main" id="{15F7B519-61A4-984E-AD7F-1F86A8769FE7}"/>
              </a:ext>
            </a:extLst>
          </p:cNvPr>
          <p:cNvSpPr txBox="1">
            <a:spLocks noChangeArrowheads="1"/>
          </p:cNvSpPr>
          <p:nvPr/>
        </p:nvSpPr>
        <p:spPr>
          <a:xfrm>
            <a:off x="722834" y="1935296"/>
            <a:ext cx="7431816" cy="434558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3088" marR="0" lvl="0" indent="-355600" algn="l" defTabSz="914400" rtl="0" eaLnBrk="1" fontAlgn="auto" latinLnBrk="0" hangingPunct="1">
              <a:lnSpc>
                <a:spcPct val="90000"/>
              </a:lnSpc>
              <a:spcBef>
                <a:spcPts val="1000"/>
              </a:spcBef>
              <a:spcAft>
                <a:spcPts val="0"/>
              </a:spcAft>
              <a:buClr>
                <a:srgbClr val="0000A3"/>
              </a:buClr>
              <a:buSzTx/>
              <a:buFont typeface="Wingdings" pitchFamily="2" charset="2"/>
              <a:buChar char="§"/>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explicit structure allows identification, relationship of system’</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pieces</a:t>
            </a:r>
          </a:p>
          <a:p>
            <a:pPr marL="982663" marR="0" lvl="1" indent="-355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layered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Arial" panose="020B0604020202020204" pitchFamily="34" charset="0"/>
                <a:cs typeface="+mn-cs"/>
              </a:rPr>
              <a:t>reference model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 for discussion</a:t>
            </a:r>
          </a:p>
          <a:p>
            <a:pPr marL="573088" marR="0" lvl="0" indent="-355600" algn="l" defTabSz="914400" rtl="0" eaLnBrk="1" fontAlgn="auto" latinLnBrk="0" hangingPunct="1">
              <a:lnSpc>
                <a:spcPct val="90000"/>
              </a:lnSpc>
              <a:spcBef>
                <a:spcPts val="1000"/>
              </a:spcBef>
              <a:spcAft>
                <a:spcPts val="0"/>
              </a:spcAft>
              <a:buClr>
                <a:srgbClr val="0000A3"/>
              </a:buClr>
              <a:buSzTx/>
              <a:buFont typeface="Wingdings" pitchFamily="2" charset="2"/>
              <a:buChar char="§"/>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modularization eases maintenance, updating of system</a:t>
            </a:r>
          </a:p>
          <a:p>
            <a:pPr marL="982663" marR="0" lvl="1" indent="-355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change in layer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service </a:t>
            </a:r>
            <a:r>
              <a:rPr kumimoji="0" lang="en-US" altLang="ja-JP"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implementation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transparent to rest of system</a:t>
            </a:r>
          </a:p>
          <a:p>
            <a:pPr marL="982663" marR="0" lvl="1" indent="-355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e.g., change in gate procedure doesn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affect rest of system</a:t>
            </a:r>
          </a:p>
        </p:txBody>
      </p:sp>
      <p:sp>
        <p:nvSpPr>
          <p:cNvPr id="6" name="Slide Number Placeholder 5">
            <a:extLst>
              <a:ext uri="{FF2B5EF4-FFF2-40B4-BE49-F238E27FC236}">
                <a16:creationId xmlns:a16="http://schemas.microsoft.com/office/drawing/2014/main" id="{C7863566-BF3F-7A41-A14A-C94625DA7630}"/>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8</a:t>
            </a:fld>
            <a:endParaRPr lang="en-US" dirty="0"/>
          </a:p>
        </p:txBody>
      </p:sp>
    </p:spTree>
    <p:extLst>
      <p:ext uri="{BB962C8B-B14F-4D97-AF65-F5344CB8AC3E}">
        <p14:creationId xmlns:p14="http://schemas.microsoft.com/office/powerpoint/2010/main" val="5858173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1000"/>
                                        <p:tgtEl>
                                          <p:spTgt spid="5">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1" end="1"/>
                                            </p:txEl>
                                          </p:spTgt>
                                        </p:tgtEl>
                                        <p:attrNameLst>
                                          <p:attrName>style.visibility</p:attrName>
                                        </p:attrNameLst>
                                      </p:cBhvr>
                                      <p:to>
                                        <p:strVal val="visible"/>
                                      </p:to>
                                    </p:set>
                                    <p:animEffect transition="in" filter="dissolve">
                                      <p:cBhvr>
                                        <p:cTn id="10" dur="1000"/>
                                        <p:tgtEl>
                                          <p:spTgt spid="5">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1000"/>
                                        <p:tgtEl>
                                          <p:spTgt spid="5">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5">
                                            <p:txEl>
                                              <p:pRg st="3" end="3"/>
                                            </p:txEl>
                                          </p:spTgt>
                                        </p:tgtEl>
                                        <p:attrNameLst>
                                          <p:attrName>style.visibility</p:attrName>
                                        </p:attrNameLst>
                                      </p:cBhvr>
                                      <p:to>
                                        <p:strVal val="visible"/>
                                      </p:to>
                                    </p:set>
                                    <p:animEffect transition="in" filter="dissolve">
                                      <p:cBhvr>
                                        <p:cTn id="18" dur="1000"/>
                                        <p:tgtEl>
                                          <p:spTgt spid="5">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animEffect transition="in" filter="dissolve">
                                      <p:cBhvr>
                                        <p:cTn id="21" dur="1000"/>
                                        <p:tgtEl>
                                          <p:spTgt spid="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Freeform 10">
            <a:extLst>
              <a:ext uri="{FF2B5EF4-FFF2-40B4-BE49-F238E27FC236}">
                <a16:creationId xmlns:a16="http://schemas.microsoft.com/office/drawing/2014/main" id="{236C8C34-AA0A-1747-BF1D-3CBFB21AC1F2}"/>
              </a:ext>
            </a:extLst>
          </p:cNvPr>
          <p:cNvSpPr>
            <a:spLocks/>
          </p:cNvSpPr>
          <p:nvPr/>
        </p:nvSpPr>
        <p:spPr bwMode="auto">
          <a:xfrm rot="10800000" flipH="1">
            <a:off x="10916607" y="1577038"/>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Services, Layering and Encapsulation</a:t>
            </a:r>
            <a:endParaRPr lang="en-US" sz="4400" dirty="0"/>
          </a:p>
        </p:txBody>
      </p:sp>
      <p:sp>
        <p:nvSpPr>
          <p:cNvPr id="13" name="Text Box 8">
            <a:extLst>
              <a:ext uri="{FF2B5EF4-FFF2-40B4-BE49-F238E27FC236}">
                <a16:creationId xmlns:a16="http://schemas.microsoft.com/office/drawing/2014/main" id="{10CAB5B1-70B7-184B-A16F-4239A3118B18}"/>
              </a:ext>
            </a:extLst>
          </p:cNvPr>
          <p:cNvSpPr txBox="1">
            <a:spLocks noChangeArrowheads="1"/>
          </p:cNvSpPr>
          <p:nvPr/>
        </p:nvSpPr>
        <p:spPr bwMode="auto">
          <a:xfrm>
            <a:off x="449705" y="5724388"/>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4" name="Freeform 10">
            <a:extLst>
              <a:ext uri="{FF2B5EF4-FFF2-40B4-BE49-F238E27FC236}">
                <a16:creationId xmlns:a16="http://schemas.microsoft.com/office/drawing/2014/main" id="{1C528DAB-CFD1-6943-9F41-1A6F334C3C75}"/>
              </a:ext>
            </a:extLst>
          </p:cNvPr>
          <p:cNvSpPr>
            <a:spLocks/>
          </p:cNvSpPr>
          <p:nvPr/>
        </p:nvSpPr>
        <p:spPr bwMode="auto">
          <a:xfrm rot="10800000">
            <a:off x="975630" y="1559549"/>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190">
            <a:extLst>
              <a:ext uri="{FF2B5EF4-FFF2-40B4-BE49-F238E27FC236}">
                <a16:creationId xmlns:a16="http://schemas.microsoft.com/office/drawing/2014/main" id="{8D7B8AF0-B984-FB44-AB9F-07CA253CEA38}"/>
              </a:ext>
            </a:extLst>
          </p:cNvPr>
          <p:cNvGrpSpPr>
            <a:grpSpLocks/>
          </p:cNvGrpSpPr>
          <p:nvPr/>
        </p:nvGrpSpPr>
        <p:grpSpPr bwMode="auto">
          <a:xfrm flipH="1">
            <a:off x="635446" y="5073984"/>
            <a:ext cx="803275" cy="771525"/>
            <a:chOff x="-44" y="1473"/>
            <a:chExt cx="981" cy="1105"/>
          </a:xfrm>
        </p:grpSpPr>
        <p:pic>
          <p:nvPicPr>
            <p:cNvPr id="25" name="Picture 191" descr="desktop_computer_stylized_medium">
              <a:extLst>
                <a:ext uri="{FF2B5EF4-FFF2-40B4-BE49-F238E27FC236}">
                  <a16:creationId xmlns:a16="http://schemas.microsoft.com/office/drawing/2014/main" id="{06D1D726-A569-254A-9E27-366DB8CF32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192">
              <a:extLst>
                <a:ext uri="{FF2B5EF4-FFF2-40B4-BE49-F238E27FC236}">
                  <a16:creationId xmlns:a16="http://schemas.microsoft.com/office/drawing/2014/main" id="{F5362B29-42A6-3F4A-A1AB-EFF56E7B772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4" name="TextBox 143">
            <a:extLst>
              <a:ext uri="{FF2B5EF4-FFF2-40B4-BE49-F238E27FC236}">
                <a16:creationId xmlns:a16="http://schemas.microsoft.com/office/drawing/2014/main" id="{2CE37313-1E06-C945-A455-53ADE2AA5971}"/>
              </a:ext>
            </a:extLst>
          </p:cNvPr>
          <p:cNvSpPr txBox="1"/>
          <p:nvPr/>
        </p:nvSpPr>
        <p:spPr>
          <a:xfrm>
            <a:off x="3462727" y="3394795"/>
            <a:ext cx="5831174" cy="2086725"/>
          </a:xfrm>
          <a:prstGeom prst="rect">
            <a:avLst/>
          </a:prstGeom>
          <a:noFill/>
        </p:spPr>
        <p:txBody>
          <a:bodyPr wrap="square" rtlCol="0">
            <a:spAutoFit/>
          </a:bodyPr>
          <a:lstStyle/>
          <a:p>
            <a:pPr marL="295275" indent="-295275">
              <a:lnSpc>
                <a:spcPct val="90000"/>
              </a:lnSpc>
              <a:buClr>
                <a:srgbClr val="0000A3"/>
              </a:buClr>
              <a:buFont typeface="Wingdings" pitchFamily="2" charset="2"/>
              <a:buChar char="§"/>
            </a:pPr>
            <a:r>
              <a:rPr lang="en-US" sz="2400" dirty="0"/>
              <a:t>transport-layer protocol </a:t>
            </a:r>
            <a:r>
              <a:rPr lang="en-US" sz="2400" dirty="0">
                <a:solidFill>
                  <a:srgbClr val="0000A3"/>
                </a:solidFill>
              </a:rPr>
              <a:t>encapsulates</a:t>
            </a:r>
            <a:r>
              <a:rPr lang="en-US" sz="2400" dirty="0"/>
              <a:t> application-layer message, M, with </a:t>
            </a:r>
            <a:r>
              <a:rPr lang="en-US" sz="2400" i="1" dirty="0"/>
              <a:t>transport</a:t>
            </a:r>
            <a:r>
              <a:rPr lang="en-US" sz="2400" dirty="0"/>
              <a:t> layer-layer header H</a:t>
            </a:r>
            <a:r>
              <a:rPr lang="en-US" sz="2400" baseline="-25000" dirty="0"/>
              <a:t>t </a:t>
            </a:r>
            <a:r>
              <a:rPr lang="en-US" sz="2400" dirty="0"/>
              <a:t>to create a transport-layer </a:t>
            </a:r>
            <a:r>
              <a:rPr lang="en-US" sz="2400" dirty="0">
                <a:solidFill>
                  <a:srgbClr val="C00000"/>
                </a:solidFill>
              </a:rPr>
              <a:t>segment</a:t>
            </a:r>
            <a:endParaRPr lang="en-US" sz="2400" baseline="-25000" dirty="0">
              <a:solidFill>
                <a:srgbClr val="C00000"/>
              </a:solidFill>
            </a:endParaRPr>
          </a:p>
          <a:p>
            <a:pPr marL="574675" lvl="1" indent="-231775">
              <a:lnSpc>
                <a:spcPct val="90000"/>
              </a:lnSpc>
              <a:buClr>
                <a:srgbClr val="0000A3"/>
              </a:buClr>
              <a:buFont typeface="Arial" panose="020B0604020202020204" pitchFamily="34" charset="0"/>
              <a:buChar char="•"/>
            </a:pPr>
            <a:r>
              <a:rPr lang="en-US" sz="2400" dirty="0"/>
              <a:t>H</a:t>
            </a:r>
            <a:r>
              <a:rPr lang="en-US" sz="2400" baseline="-25000" dirty="0"/>
              <a:t>t </a:t>
            </a:r>
            <a:r>
              <a:rPr lang="en-US" sz="2400" dirty="0"/>
              <a:t> used by transport layer protocol to implement its service</a:t>
            </a:r>
            <a:endParaRPr lang="en-US" sz="2400" baseline="-25000" dirty="0"/>
          </a:p>
        </p:txBody>
      </p:sp>
      <p:grpSp>
        <p:nvGrpSpPr>
          <p:cNvPr id="212" name="Group 211">
            <a:extLst>
              <a:ext uri="{FF2B5EF4-FFF2-40B4-BE49-F238E27FC236}">
                <a16:creationId xmlns:a16="http://schemas.microsoft.com/office/drawing/2014/main" id="{BD0C4974-D689-414F-A2EB-9B1043F3314D}"/>
              </a:ext>
            </a:extLst>
          </p:cNvPr>
          <p:cNvGrpSpPr/>
          <p:nvPr/>
        </p:nvGrpSpPr>
        <p:grpSpPr>
          <a:xfrm>
            <a:off x="1334125" y="1421667"/>
            <a:ext cx="1765726" cy="4034752"/>
            <a:chOff x="1484027" y="1706480"/>
            <a:chExt cx="1765726" cy="4034752"/>
          </a:xfrm>
        </p:grpSpPr>
        <p:sp>
          <p:nvSpPr>
            <p:cNvPr id="11" name="Rectangle 24">
              <a:extLst>
                <a:ext uri="{FF2B5EF4-FFF2-40B4-BE49-F238E27FC236}">
                  <a16:creationId xmlns:a16="http://schemas.microsoft.com/office/drawing/2014/main" id="{ED8D52E4-C345-B842-A2E7-C8068B8E5CF4}"/>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 name="Text Box 26">
              <a:extLst>
                <a:ext uri="{FF2B5EF4-FFF2-40B4-BE49-F238E27FC236}">
                  <a16:creationId xmlns:a16="http://schemas.microsoft.com/office/drawing/2014/main" id="{A5089E2D-0B1B-544A-82BC-F28ED3191A4E}"/>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117" name="Straight Connector 116">
              <a:extLst>
                <a:ext uri="{FF2B5EF4-FFF2-40B4-BE49-F238E27FC236}">
                  <a16:creationId xmlns:a16="http://schemas.microsoft.com/office/drawing/2014/main" id="{B3EBBB35-9D82-7C43-B882-52ED90AE3A71}"/>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2EA7353-AEFA-934F-93DE-A8D55DF75658}"/>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40242E3-3BEB-D543-B881-84EB2D13BD66}"/>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DC27D746-0691-6F47-9E9D-1D63DF11D081}"/>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950">
            <a:extLst>
              <a:ext uri="{FF2B5EF4-FFF2-40B4-BE49-F238E27FC236}">
                <a16:creationId xmlns:a16="http://schemas.microsoft.com/office/drawing/2014/main" id="{044873AD-74A5-8A44-846B-EC5D0FBC82D7}"/>
              </a:ext>
            </a:extLst>
          </p:cNvPr>
          <p:cNvGrpSpPr>
            <a:grpSpLocks/>
          </p:cNvGrpSpPr>
          <p:nvPr/>
        </p:nvGrpSpPr>
        <p:grpSpPr bwMode="auto">
          <a:xfrm>
            <a:off x="11107713" y="4961744"/>
            <a:ext cx="374754" cy="833726"/>
            <a:chOff x="4140" y="429"/>
            <a:chExt cx="1425" cy="2396"/>
          </a:xfrm>
        </p:grpSpPr>
        <p:sp>
          <p:nvSpPr>
            <p:cNvPr id="168" name="Freeform 951">
              <a:extLst>
                <a:ext uri="{FF2B5EF4-FFF2-40B4-BE49-F238E27FC236}">
                  <a16:creationId xmlns:a16="http://schemas.microsoft.com/office/drawing/2014/main" id="{EEDE4156-8281-D847-9240-9DE98999091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952">
              <a:extLst>
                <a:ext uri="{FF2B5EF4-FFF2-40B4-BE49-F238E27FC236}">
                  <a16:creationId xmlns:a16="http://schemas.microsoft.com/office/drawing/2014/main" id="{22E8340D-B5D1-3C48-A062-4F70248D103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0" name="Freeform 953">
              <a:extLst>
                <a:ext uri="{FF2B5EF4-FFF2-40B4-BE49-F238E27FC236}">
                  <a16:creationId xmlns:a16="http://schemas.microsoft.com/office/drawing/2014/main" id="{29109B86-1ABF-F647-8516-2AAE154A9E8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954">
              <a:extLst>
                <a:ext uri="{FF2B5EF4-FFF2-40B4-BE49-F238E27FC236}">
                  <a16:creationId xmlns:a16="http://schemas.microsoft.com/office/drawing/2014/main" id="{9F93569F-8FC8-7C4E-9F95-B14647D2DB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955">
              <a:extLst>
                <a:ext uri="{FF2B5EF4-FFF2-40B4-BE49-F238E27FC236}">
                  <a16:creationId xmlns:a16="http://schemas.microsoft.com/office/drawing/2014/main" id="{8E5BC3B8-E87D-9F47-A6F6-AD8B57BC21E6}"/>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3" name="Group 956">
              <a:extLst>
                <a:ext uri="{FF2B5EF4-FFF2-40B4-BE49-F238E27FC236}">
                  <a16:creationId xmlns:a16="http://schemas.microsoft.com/office/drawing/2014/main" id="{1694DE96-689D-9540-964A-22F06F6D940F}"/>
                </a:ext>
              </a:extLst>
            </p:cNvPr>
            <p:cNvGrpSpPr>
              <a:grpSpLocks/>
            </p:cNvGrpSpPr>
            <p:nvPr/>
          </p:nvGrpSpPr>
          <p:grpSpPr bwMode="auto">
            <a:xfrm>
              <a:off x="4749" y="668"/>
              <a:ext cx="581" cy="145"/>
              <a:chOff x="614" y="2568"/>
              <a:chExt cx="725" cy="139"/>
            </a:xfrm>
          </p:grpSpPr>
          <p:sp>
            <p:nvSpPr>
              <p:cNvPr id="198" name="AutoShape 957">
                <a:extLst>
                  <a:ext uri="{FF2B5EF4-FFF2-40B4-BE49-F238E27FC236}">
                    <a16:creationId xmlns:a16="http://schemas.microsoft.com/office/drawing/2014/main" id="{435DFCEB-F2FD-7B44-93DA-9204E2E311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9" name="AutoShape 958">
                <a:extLst>
                  <a:ext uri="{FF2B5EF4-FFF2-40B4-BE49-F238E27FC236}">
                    <a16:creationId xmlns:a16="http://schemas.microsoft.com/office/drawing/2014/main" id="{521647D7-4114-1146-9C5A-F1DB4FEC81A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4" name="Rectangle 959">
              <a:extLst>
                <a:ext uri="{FF2B5EF4-FFF2-40B4-BE49-F238E27FC236}">
                  <a16:creationId xmlns:a16="http://schemas.microsoft.com/office/drawing/2014/main" id="{3A0D9FD6-DBAC-4B49-A55F-167642D66FA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5" name="Group 960">
              <a:extLst>
                <a:ext uri="{FF2B5EF4-FFF2-40B4-BE49-F238E27FC236}">
                  <a16:creationId xmlns:a16="http://schemas.microsoft.com/office/drawing/2014/main" id="{3CFA0950-BC76-3949-8726-38646B18FD5C}"/>
                </a:ext>
              </a:extLst>
            </p:cNvPr>
            <p:cNvGrpSpPr>
              <a:grpSpLocks/>
            </p:cNvGrpSpPr>
            <p:nvPr/>
          </p:nvGrpSpPr>
          <p:grpSpPr bwMode="auto">
            <a:xfrm>
              <a:off x="4747" y="994"/>
              <a:ext cx="581" cy="134"/>
              <a:chOff x="614" y="2568"/>
              <a:chExt cx="725" cy="139"/>
            </a:xfrm>
          </p:grpSpPr>
          <p:sp>
            <p:nvSpPr>
              <p:cNvPr id="196" name="AutoShape 961">
                <a:extLst>
                  <a:ext uri="{FF2B5EF4-FFF2-40B4-BE49-F238E27FC236}">
                    <a16:creationId xmlns:a16="http://schemas.microsoft.com/office/drawing/2014/main" id="{67127BA7-9D0A-2443-9190-C56C02906F6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AutoShape 962">
                <a:extLst>
                  <a:ext uri="{FF2B5EF4-FFF2-40B4-BE49-F238E27FC236}">
                    <a16:creationId xmlns:a16="http://schemas.microsoft.com/office/drawing/2014/main" id="{2C9F8790-3076-4541-A56A-E9305DCB098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6" name="Rectangle 963">
              <a:extLst>
                <a:ext uri="{FF2B5EF4-FFF2-40B4-BE49-F238E27FC236}">
                  <a16:creationId xmlns:a16="http://schemas.microsoft.com/office/drawing/2014/main" id="{4DE6A147-5BC7-FF41-B7AC-2BA9913BB098}"/>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Rectangle 964">
              <a:extLst>
                <a:ext uri="{FF2B5EF4-FFF2-40B4-BE49-F238E27FC236}">
                  <a16:creationId xmlns:a16="http://schemas.microsoft.com/office/drawing/2014/main" id="{53ECF0A1-6175-BE45-A32A-233E1942C8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8" name="Group 965">
              <a:extLst>
                <a:ext uri="{FF2B5EF4-FFF2-40B4-BE49-F238E27FC236}">
                  <a16:creationId xmlns:a16="http://schemas.microsoft.com/office/drawing/2014/main" id="{16810F93-1596-884B-B639-A3868A5CD4D8}"/>
                </a:ext>
              </a:extLst>
            </p:cNvPr>
            <p:cNvGrpSpPr>
              <a:grpSpLocks/>
            </p:cNvGrpSpPr>
            <p:nvPr/>
          </p:nvGrpSpPr>
          <p:grpSpPr bwMode="auto">
            <a:xfrm>
              <a:off x="4735" y="1627"/>
              <a:ext cx="582" cy="151"/>
              <a:chOff x="614" y="2568"/>
              <a:chExt cx="725" cy="139"/>
            </a:xfrm>
          </p:grpSpPr>
          <p:sp>
            <p:nvSpPr>
              <p:cNvPr id="194" name="AutoShape 966">
                <a:extLst>
                  <a:ext uri="{FF2B5EF4-FFF2-40B4-BE49-F238E27FC236}">
                    <a16:creationId xmlns:a16="http://schemas.microsoft.com/office/drawing/2014/main" id="{84EC0348-3D46-9445-B43C-6DC8DB392F6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AutoShape 967">
                <a:extLst>
                  <a:ext uri="{FF2B5EF4-FFF2-40B4-BE49-F238E27FC236}">
                    <a16:creationId xmlns:a16="http://schemas.microsoft.com/office/drawing/2014/main" id="{23A1F6B3-9F2D-5E41-8602-67921ABB12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9" name="Freeform 968">
              <a:extLst>
                <a:ext uri="{FF2B5EF4-FFF2-40B4-BE49-F238E27FC236}">
                  <a16:creationId xmlns:a16="http://schemas.microsoft.com/office/drawing/2014/main" id="{8FD6AEB5-BE60-044C-B32D-B433B740036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0" name="Group 969">
              <a:extLst>
                <a:ext uri="{FF2B5EF4-FFF2-40B4-BE49-F238E27FC236}">
                  <a16:creationId xmlns:a16="http://schemas.microsoft.com/office/drawing/2014/main" id="{30895737-AC01-6342-BADB-B3B3BFE7FC46}"/>
                </a:ext>
              </a:extLst>
            </p:cNvPr>
            <p:cNvGrpSpPr>
              <a:grpSpLocks/>
            </p:cNvGrpSpPr>
            <p:nvPr/>
          </p:nvGrpSpPr>
          <p:grpSpPr bwMode="auto">
            <a:xfrm>
              <a:off x="4739" y="1327"/>
              <a:ext cx="582" cy="139"/>
              <a:chOff x="614" y="2568"/>
              <a:chExt cx="725" cy="139"/>
            </a:xfrm>
          </p:grpSpPr>
          <p:sp>
            <p:nvSpPr>
              <p:cNvPr id="192" name="AutoShape 970">
                <a:extLst>
                  <a:ext uri="{FF2B5EF4-FFF2-40B4-BE49-F238E27FC236}">
                    <a16:creationId xmlns:a16="http://schemas.microsoft.com/office/drawing/2014/main" id="{2D690E63-3733-8E4E-B8F8-19245FF772B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3" name="AutoShape 971">
                <a:extLst>
                  <a:ext uri="{FF2B5EF4-FFF2-40B4-BE49-F238E27FC236}">
                    <a16:creationId xmlns:a16="http://schemas.microsoft.com/office/drawing/2014/main" id="{9CE827B0-221F-ED4A-A36B-E1EEFE27B7B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72">
              <a:extLst>
                <a:ext uri="{FF2B5EF4-FFF2-40B4-BE49-F238E27FC236}">
                  <a16:creationId xmlns:a16="http://schemas.microsoft.com/office/drawing/2014/main" id="{6DA44079-B2D7-9244-A5E0-9DF13556EBC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2" name="Freeform 973">
              <a:extLst>
                <a:ext uri="{FF2B5EF4-FFF2-40B4-BE49-F238E27FC236}">
                  <a16:creationId xmlns:a16="http://schemas.microsoft.com/office/drawing/2014/main" id="{E808BD44-A307-394D-8965-070EF3F8652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974">
              <a:extLst>
                <a:ext uri="{FF2B5EF4-FFF2-40B4-BE49-F238E27FC236}">
                  <a16:creationId xmlns:a16="http://schemas.microsoft.com/office/drawing/2014/main" id="{327FF4BF-3914-2143-83C7-C816B3E0AC3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Oval 975">
              <a:extLst>
                <a:ext uri="{FF2B5EF4-FFF2-40B4-BE49-F238E27FC236}">
                  <a16:creationId xmlns:a16="http://schemas.microsoft.com/office/drawing/2014/main" id="{09C51570-A4D3-D24C-A492-3811DD957CD4}"/>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5" name="Freeform 976">
              <a:extLst>
                <a:ext uri="{FF2B5EF4-FFF2-40B4-BE49-F238E27FC236}">
                  <a16:creationId xmlns:a16="http://schemas.microsoft.com/office/drawing/2014/main" id="{BC2853B5-A39B-5A40-97DF-5ADB471224B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AutoShape 977">
              <a:extLst>
                <a:ext uri="{FF2B5EF4-FFF2-40B4-BE49-F238E27FC236}">
                  <a16:creationId xmlns:a16="http://schemas.microsoft.com/office/drawing/2014/main" id="{7928EDBA-57E1-B441-B1AF-CC0D62B2B5B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AutoShape 978">
              <a:extLst>
                <a:ext uri="{FF2B5EF4-FFF2-40B4-BE49-F238E27FC236}">
                  <a16:creationId xmlns:a16="http://schemas.microsoft.com/office/drawing/2014/main" id="{CC70E1A7-AAEC-6440-86AC-73ECE22D7A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8" name="Oval 979">
              <a:extLst>
                <a:ext uri="{FF2B5EF4-FFF2-40B4-BE49-F238E27FC236}">
                  <a16:creationId xmlns:a16="http://schemas.microsoft.com/office/drawing/2014/main" id="{2F7E7C91-0257-D84D-8AD1-4A152C818F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Oval 980">
              <a:extLst>
                <a:ext uri="{FF2B5EF4-FFF2-40B4-BE49-F238E27FC236}">
                  <a16:creationId xmlns:a16="http://schemas.microsoft.com/office/drawing/2014/main" id="{6AE127C2-D583-E74D-8B39-05EEBEBE23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0" name="Oval 981">
              <a:extLst>
                <a:ext uri="{FF2B5EF4-FFF2-40B4-BE49-F238E27FC236}">
                  <a16:creationId xmlns:a16="http://schemas.microsoft.com/office/drawing/2014/main" id="{0EDFA963-70E6-2E42-AAFE-E2F9BD64631D}"/>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1" name="Rectangle 982">
              <a:extLst>
                <a:ext uri="{FF2B5EF4-FFF2-40B4-BE49-F238E27FC236}">
                  <a16:creationId xmlns:a16="http://schemas.microsoft.com/office/drawing/2014/main" id="{27A6382E-A13F-A248-84BF-E9DBD71EE18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06" name="Text Box 8">
            <a:extLst>
              <a:ext uri="{FF2B5EF4-FFF2-40B4-BE49-F238E27FC236}">
                <a16:creationId xmlns:a16="http://schemas.microsoft.com/office/drawing/2014/main" id="{6066254D-E62E-B446-8950-17FDF2A183D7}"/>
              </a:ext>
            </a:extLst>
          </p:cNvPr>
          <p:cNvSpPr txBox="1">
            <a:spLocks noChangeArrowheads="1"/>
          </p:cNvSpPr>
          <p:nvPr/>
        </p:nvSpPr>
        <p:spPr bwMode="auto">
          <a:xfrm>
            <a:off x="10216734" y="5716780"/>
            <a:ext cx="16754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400" i="1" dirty="0">
                <a:solidFill>
                  <a:srgbClr val="000099"/>
                </a:solidFill>
                <a:latin typeface="Arial" panose="020B0604020202020204" pitchFamily="34" charset="0"/>
              </a:rPr>
              <a:t>destination</a:t>
            </a:r>
            <a:endPar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3" name="Group 212">
            <a:extLst>
              <a:ext uri="{FF2B5EF4-FFF2-40B4-BE49-F238E27FC236}">
                <a16:creationId xmlns:a16="http://schemas.microsoft.com/office/drawing/2014/main" id="{94888FAE-136F-094E-BF2A-11D94A17BB7F}"/>
              </a:ext>
            </a:extLst>
          </p:cNvPr>
          <p:cNvGrpSpPr/>
          <p:nvPr/>
        </p:nvGrpSpPr>
        <p:grpSpPr>
          <a:xfrm>
            <a:off x="9221450" y="1413548"/>
            <a:ext cx="1765726" cy="4034752"/>
            <a:chOff x="1484027" y="1706480"/>
            <a:chExt cx="1765726" cy="4034752"/>
          </a:xfrm>
        </p:grpSpPr>
        <p:sp>
          <p:nvSpPr>
            <p:cNvPr id="214" name="Rectangle 24">
              <a:extLst>
                <a:ext uri="{FF2B5EF4-FFF2-40B4-BE49-F238E27FC236}">
                  <a16:creationId xmlns:a16="http://schemas.microsoft.com/office/drawing/2014/main" id="{FA7A7264-CB0E-4442-BA92-F16F6E6EF1F5}"/>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5" name="Text Box 26">
              <a:extLst>
                <a:ext uri="{FF2B5EF4-FFF2-40B4-BE49-F238E27FC236}">
                  <a16:creationId xmlns:a16="http://schemas.microsoft.com/office/drawing/2014/main" id="{D54F6320-1E23-E649-BFED-E007672E7AB0}"/>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216" name="Straight Connector 215">
              <a:extLst>
                <a:ext uri="{FF2B5EF4-FFF2-40B4-BE49-F238E27FC236}">
                  <a16:creationId xmlns:a16="http://schemas.microsoft.com/office/drawing/2014/main" id="{3F2C66BF-55D8-0549-A9DA-934202F38DD5}"/>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CA370408-C974-CD4A-8EF6-0AEC3924D4ED}"/>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5A7BF2B3-45B8-414A-8B63-2480CF8FA113}"/>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9A1FEA61-81C7-C449-880B-15A8ACAF5500}"/>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0204AF74-1396-104A-87D1-95A4614EA10A}"/>
              </a:ext>
            </a:extLst>
          </p:cNvPr>
          <p:cNvGrpSpPr/>
          <p:nvPr/>
        </p:nvGrpSpPr>
        <p:grpSpPr>
          <a:xfrm>
            <a:off x="3211642" y="2368401"/>
            <a:ext cx="5768716" cy="914472"/>
            <a:chOff x="3211642" y="2368401"/>
            <a:chExt cx="5768716" cy="914472"/>
          </a:xfrm>
        </p:grpSpPr>
        <p:cxnSp>
          <p:nvCxnSpPr>
            <p:cNvPr id="78" name="Straight Arrow Connector 77">
              <a:extLst>
                <a:ext uri="{FF2B5EF4-FFF2-40B4-BE49-F238E27FC236}">
                  <a16:creationId xmlns:a16="http://schemas.microsoft.com/office/drawing/2014/main" id="{44026509-71C6-2A41-AD9B-DEF9BBBA327C}"/>
                </a:ext>
              </a:extLst>
            </p:cNvPr>
            <p:cNvCxnSpPr>
              <a:cxnSpLocks/>
            </p:cNvCxnSpPr>
            <p:nvPr/>
          </p:nvCxnSpPr>
          <p:spPr>
            <a:xfrm>
              <a:off x="3211642" y="2610788"/>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EF3F96C4-7C44-5A46-A288-AFF998E8C12A}"/>
                </a:ext>
              </a:extLst>
            </p:cNvPr>
            <p:cNvSpPr txBox="1"/>
            <p:nvPr/>
          </p:nvSpPr>
          <p:spPr>
            <a:xfrm>
              <a:off x="3359490" y="2717590"/>
              <a:ext cx="5620868" cy="565283"/>
            </a:xfrm>
            <a:prstGeom prst="rect">
              <a:avLst/>
            </a:prstGeom>
            <a:noFill/>
          </p:spPr>
          <p:txBody>
            <a:bodyPr wrap="square" rtlCol="0">
              <a:spAutoFit/>
            </a:bodyPr>
            <a:lstStyle/>
            <a:p>
              <a:pPr algn="ctr">
                <a:lnSpc>
                  <a:spcPct val="85000"/>
                </a:lnSpc>
              </a:pPr>
              <a:r>
                <a:rPr lang="en-US" dirty="0">
                  <a:solidFill>
                    <a:srgbClr val="C00000"/>
                  </a:solidFill>
                </a:rPr>
                <a:t>Transport-layer </a:t>
              </a:r>
              <a:r>
                <a:rPr lang="en-US" dirty="0"/>
                <a:t>protocol transfers M (e.g., reliably) from one </a:t>
              </a:r>
              <a:r>
                <a:rPr lang="en-US" i="1" dirty="0"/>
                <a:t>process</a:t>
              </a:r>
              <a:r>
                <a:rPr lang="en-US" dirty="0"/>
                <a:t> to another, using services of network layer</a:t>
              </a:r>
            </a:p>
          </p:txBody>
        </p:sp>
        <p:sp>
          <p:nvSpPr>
            <p:cNvPr id="80" name="Rectangle 79">
              <a:extLst>
                <a:ext uri="{FF2B5EF4-FFF2-40B4-BE49-F238E27FC236}">
                  <a16:creationId xmlns:a16="http://schemas.microsoft.com/office/drawing/2014/main" id="{7BCE6F83-E984-0A47-ACF6-560550DA22AC}"/>
                </a:ext>
              </a:extLst>
            </p:cNvPr>
            <p:cNvSpPr/>
            <p:nvPr/>
          </p:nvSpPr>
          <p:spPr>
            <a:xfrm>
              <a:off x="5584583" y="2368401"/>
              <a:ext cx="971760"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1" name="Group 185">
              <a:extLst>
                <a:ext uri="{FF2B5EF4-FFF2-40B4-BE49-F238E27FC236}">
                  <a16:creationId xmlns:a16="http://schemas.microsoft.com/office/drawing/2014/main" id="{BBEFAA32-01D5-174D-A563-219B7E938E65}"/>
                </a:ext>
              </a:extLst>
            </p:cNvPr>
            <p:cNvGrpSpPr>
              <a:grpSpLocks/>
            </p:cNvGrpSpPr>
            <p:nvPr/>
          </p:nvGrpSpPr>
          <p:grpSpPr bwMode="auto">
            <a:xfrm>
              <a:off x="5690803" y="2434313"/>
              <a:ext cx="908050" cy="301625"/>
              <a:chOff x="1848" y="2046"/>
              <a:chExt cx="572" cy="190"/>
            </a:xfrm>
          </p:grpSpPr>
          <p:grpSp>
            <p:nvGrpSpPr>
              <p:cNvPr id="82" name="Group 179">
                <a:extLst>
                  <a:ext uri="{FF2B5EF4-FFF2-40B4-BE49-F238E27FC236}">
                    <a16:creationId xmlns:a16="http://schemas.microsoft.com/office/drawing/2014/main" id="{2F1E9753-461B-724C-ACD8-92A06085DCFF}"/>
                  </a:ext>
                </a:extLst>
              </p:cNvPr>
              <p:cNvGrpSpPr>
                <a:grpSpLocks/>
              </p:cNvGrpSpPr>
              <p:nvPr/>
            </p:nvGrpSpPr>
            <p:grpSpPr bwMode="auto">
              <a:xfrm>
                <a:off x="1848" y="2047"/>
                <a:ext cx="187" cy="184"/>
                <a:chOff x="1959" y="2058"/>
                <a:chExt cx="187" cy="184"/>
              </a:xfrm>
            </p:grpSpPr>
            <p:sp>
              <p:nvSpPr>
                <p:cNvPr id="86" name="Rectangle 180">
                  <a:extLst>
                    <a:ext uri="{FF2B5EF4-FFF2-40B4-BE49-F238E27FC236}">
                      <a16:creationId xmlns:a16="http://schemas.microsoft.com/office/drawing/2014/main" id="{458B0BF5-90AD-E548-AAB1-86D4685BA81E}"/>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Rectangle 181">
                  <a:extLst>
                    <a:ext uri="{FF2B5EF4-FFF2-40B4-BE49-F238E27FC236}">
                      <a16:creationId xmlns:a16="http://schemas.microsoft.com/office/drawing/2014/main" id="{1E3E44CE-06FB-264E-B1D2-5C7788F13081}"/>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83" name="Group 182">
                <a:extLst>
                  <a:ext uri="{FF2B5EF4-FFF2-40B4-BE49-F238E27FC236}">
                    <a16:creationId xmlns:a16="http://schemas.microsoft.com/office/drawing/2014/main" id="{647AE73E-75D6-7D44-BB6A-A49CECE4F95B}"/>
                  </a:ext>
                </a:extLst>
              </p:cNvPr>
              <p:cNvGrpSpPr>
                <a:grpSpLocks/>
              </p:cNvGrpSpPr>
              <p:nvPr/>
            </p:nvGrpSpPr>
            <p:grpSpPr bwMode="auto">
              <a:xfrm>
                <a:off x="1992" y="2046"/>
                <a:ext cx="428" cy="190"/>
                <a:chOff x="780" y="1553"/>
                <a:chExt cx="428" cy="190"/>
              </a:xfrm>
            </p:grpSpPr>
            <p:sp>
              <p:nvSpPr>
                <p:cNvPr id="84" name="Rectangle 183">
                  <a:extLst>
                    <a:ext uri="{FF2B5EF4-FFF2-40B4-BE49-F238E27FC236}">
                      <a16:creationId xmlns:a16="http://schemas.microsoft.com/office/drawing/2014/main" id="{E2065433-0D2A-3446-BC7D-8CEDCA3DD66A}"/>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184">
                  <a:extLst>
                    <a:ext uri="{FF2B5EF4-FFF2-40B4-BE49-F238E27FC236}">
                      <a16:creationId xmlns:a16="http://schemas.microsoft.com/office/drawing/2014/main" id="{6E32735B-6992-604C-B1C0-390BFA95D359}"/>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sp>
        <p:nvSpPr>
          <p:cNvPr id="89" name="TextBox 88">
            <a:extLst>
              <a:ext uri="{FF2B5EF4-FFF2-40B4-BE49-F238E27FC236}">
                <a16:creationId xmlns:a16="http://schemas.microsoft.com/office/drawing/2014/main" id="{BDA85EA9-5376-4A4E-AEA3-D00FB0A25494}"/>
              </a:ext>
            </a:extLst>
          </p:cNvPr>
          <p:cNvSpPr txBox="1"/>
          <p:nvPr/>
        </p:nvSpPr>
        <p:spPr>
          <a:xfrm>
            <a:off x="3375461" y="1789390"/>
            <a:ext cx="5618811" cy="565283"/>
          </a:xfrm>
          <a:prstGeom prst="rect">
            <a:avLst/>
          </a:prstGeom>
          <a:noFill/>
        </p:spPr>
        <p:txBody>
          <a:bodyPr wrap="square" rtlCol="0">
            <a:spAutoFit/>
          </a:bodyPr>
          <a:lstStyle/>
          <a:p>
            <a:pPr algn="ctr">
              <a:lnSpc>
                <a:spcPct val="85000"/>
              </a:lnSpc>
            </a:pPr>
            <a:r>
              <a:rPr lang="en-US" dirty="0">
                <a:solidFill>
                  <a:srgbClr val="C00000"/>
                </a:solidFill>
              </a:rPr>
              <a:t>Application </a:t>
            </a:r>
            <a:r>
              <a:rPr lang="en-US" dirty="0"/>
              <a:t>exchanges </a:t>
            </a:r>
            <a:r>
              <a:rPr lang="en-US" dirty="0">
                <a:solidFill>
                  <a:srgbClr val="C00000"/>
                </a:solidFill>
              </a:rPr>
              <a:t>messages</a:t>
            </a:r>
            <a:r>
              <a:rPr lang="en-US" dirty="0"/>
              <a:t> to implement some application service using </a:t>
            </a:r>
            <a:r>
              <a:rPr lang="en-US" i="1" dirty="0"/>
              <a:t>services</a:t>
            </a:r>
            <a:r>
              <a:rPr lang="en-US" dirty="0"/>
              <a:t> of transport layer</a:t>
            </a:r>
          </a:p>
        </p:txBody>
      </p:sp>
      <p:grpSp>
        <p:nvGrpSpPr>
          <p:cNvPr id="90" name="Group 89">
            <a:extLst>
              <a:ext uri="{FF2B5EF4-FFF2-40B4-BE49-F238E27FC236}">
                <a16:creationId xmlns:a16="http://schemas.microsoft.com/office/drawing/2014/main" id="{CB92BE64-DD95-B746-BF9A-8A0857499E1E}"/>
              </a:ext>
            </a:extLst>
          </p:cNvPr>
          <p:cNvGrpSpPr/>
          <p:nvPr/>
        </p:nvGrpSpPr>
        <p:grpSpPr>
          <a:xfrm>
            <a:off x="3254290" y="1489592"/>
            <a:ext cx="5651292" cy="389744"/>
            <a:chOff x="3270354" y="1798823"/>
            <a:chExt cx="5651292" cy="389744"/>
          </a:xfrm>
        </p:grpSpPr>
        <p:cxnSp>
          <p:nvCxnSpPr>
            <p:cNvPr id="91" name="Straight Arrow Connector 90">
              <a:extLst>
                <a:ext uri="{FF2B5EF4-FFF2-40B4-BE49-F238E27FC236}">
                  <a16:creationId xmlns:a16="http://schemas.microsoft.com/office/drawing/2014/main" id="{995B0542-E9EB-D44C-B795-91D151650594}"/>
                </a:ext>
              </a:extLst>
            </p:cNvPr>
            <p:cNvCxnSpPr>
              <a:cxnSpLocks/>
            </p:cNvCxnSpPr>
            <p:nvPr/>
          </p:nvCxnSpPr>
          <p:spPr>
            <a:xfrm>
              <a:off x="3270354" y="1993691"/>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2" name="Rectangle 91">
              <a:extLst>
                <a:ext uri="{FF2B5EF4-FFF2-40B4-BE49-F238E27FC236}">
                  <a16:creationId xmlns:a16="http://schemas.microsoft.com/office/drawing/2014/main" id="{A492A489-FD20-604F-9599-77E085F78EE9}"/>
                </a:ext>
              </a:extLst>
            </p:cNvPr>
            <p:cNvSpPr/>
            <p:nvPr/>
          </p:nvSpPr>
          <p:spPr>
            <a:xfrm>
              <a:off x="5878639" y="1798823"/>
              <a:ext cx="674558"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3" name="Group 175">
              <a:extLst>
                <a:ext uri="{FF2B5EF4-FFF2-40B4-BE49-F238E27FC236}">
                  <a16:creationId xmlns:a16="http://schemas.microsoft.com/office/drawing/2014/main" id="{88BE32B5-AD28-CB44-B25F-0BE0155F4E5A}"/>
                </a:ext>
              </a:extLst>
            </p:cNvPr>
            <p:cNvGrpSpPr>
              <a:grpSpLocks/>
            </p:cNvGrpSpPr>
            <p:nvPr/>
          </p:nvGrpSpPr>
          <p:grpSpPr bwMode="auto">
            <a:xfrm>
              <a:off x="5953468" y="1857555"/>
              <a:ext cx="679450" cy="301625"/>
              <a:chOff x="780" y="1553"/>
              <a:chExt cx="428" cy="190"/>
            </a:xfrm>
          </p:grpSpPr>
          <p:sp>
            <p:nvSpPr>
              <p:cNvPr id="94" name="Rectangle 176">
                <a:extLst>
                  <a:ext uri="{FF2B5EF4-FFF2-40B4-BE49-F238E27FC236}">
                    <a16:creationId xmlns:a16="http://schemas.microsoft.com/office/drawing/2014/main" id="{E5CD48DB-61FF-EC4F-B8FF-E51BCE938292}"/>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5" name="Rectangle 177">
                <a:extLst>
                  <a:ext uri="{FF2B5EF4-FFF2-40B4-BE49-F238E27FC236}">
                    <a16:creationId xmlns:a16="http://schemas.microsoft.com/office/drawing/2014/main" id="{40D322D2-6F2A-0246-B033-7CB00E527FB3}"/>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3" name="TextBox 2">
            <a:extLst>
              <a:ext uri="{FF2B5EF4-FFF2-40B4-BE49-F238E27FC236}">
                <a16:creationId xmlns:a16="http://schemas.microsoft.com/office/drawing/2014/main" id="{E7B29E55-88BD-AD40-949B-5E711ABB4016}"/>
              </a:ext>
            </a:extLst>
          </p:cNvPr>
          <p:cNvSpPr txBox="1"/>
          <p:nvPr/>
        </p:nvSpPr>
        <p:spPr>
          <a:xfrm>
            <a:off x="6982691" y="-781396"/>
            <a:ext cx="45719" cy="369332"/>
          </a:xfrm>
          <a:prstGeom prst="rect">
            <a:avLst/>
          </a:prstGeom>
          <a:noFill/>
        </p:spPr>
        <p:txBody>
          <a:bodyPr wrap="square" rtlCol="0">
            <a:spAutoFit/>
          </a:bodyPr>
          <a:lstStyle/>
          <a:p>
            <a:endParaRPr lang="en-US" dirty="0"/>
          </a:p>
        </p:txBody>
      </p:sp>
      <p:sp>
        <p:nvSpPr>
          <p:cNvPr id="88" name="Slide Number Placeholder 5">
            <a:extLst>
              <a:ext uri="{FF2B5EF4-FFF2-40B4-BE49-F238E27FC236}">
                <a16:creationId xmlns:a16="http://schemas.microsoft.com/office/drawing/2014/main" id="{19C48C77-97C9-E641-9E95-A18076BB0488}"/>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9</a:t>
            </a:fld>
            <a:endParaRPr lang="en-US" dirty="0"/>
          </a:p>
        </p:txBody>
      </p:sp>
    </p:spTree>
    <p:extLst>
      <p:ext uri="{BB962C8B-B14F-4D97-AF65-F5344CB8AC3E}">
        <p14:creationId xmlns:p14="http://schemas.microsoft.com/office/powerpoint/2010/main" val="42667069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0"/>
                                        </p:tgtEl>
                                        <p:attrNameLst>
                                          <p:attrName>style.visibility</p:attrName>
                                        </p:attrNameLst>
                                      </p:cBhvr>
                                      <p:to>
                                        <p:strVal val="visible"/>
                                      </p:to>
                                    </p:set>
                                    <p:animEffect transition="in" filter="dissolve">
                                      <p:cBhvr>
                                        <p:cTn id="7" dur="500"/>
                                        <p:tgtEl>
                                          <p:spTgt spid="90"/>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9"/>
                                        </p:tgtEl>
                                        <p:attrNameLst>
                                          <p:attrName>style.visibility</p:attrName>
                                        </p:attrNameLst>
                                      </p:cBhvr>
                                      <p:to>
                                        <p:strVal val="visible"/>
                                      </p:to>
                                    </p:set>
                                    <p:animEffect transition="in" filter="dissolve">
                                      <p:cBhvr>
                                        <p:cTn id="10" dur="500"/>
                                        <p:tgtEl>
                                          <p:spTgt spid="8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7"/>
                                        </p:tgtEl>
                                        <p:attrNameLst>
                                          <p:attrName>style.visibility</p:attrName>
                                        </p:attrNameLst>
                                      </p:cBhvr>
                                      <p:to>
                                        <p:strVal val="visible"/>
                                      </p:to>
                                    </p:set>
                                    <p:animEffect transition="in" filter="dissolve">
                                      <p:cBhvr>
                                        <p:cTn id="15" dur="500"/>
                                        <p:tgtEl>
                                          <p:spTgt spid="77"/>
                                        </p:tgtEl>
                                      </p:cBhvr>
                                    </p:animEffect>
                                  </p:childTnLst>
                                </p:cTn>
                              </p:par>
                              <p:par>
                                <p:cTn id="16" presetID="9" presetClass="exit" presetSubtype="0" fill="hold" grpId="1" nodeType="withEffect">
                                  <p:stCondLst>
                                    <p:cond delay="0"/>
                                  </p:stCondLst>
                                  <p:childTnLst>
                                    <p:animEffect transition="out" filter="dissolve">
                                      <p:cBhvr>
                                        <p:cTn id="17" dur="500"/>
                                        <p:tgtEl>
                                          <p:spTgt spid="89"/>
                                        </p:tgtEl>
                                      </p:cBhvr>
                                    </p:animEffect>
                                    <p:set>
                                      <p:cBhvr>
                                        <p:cTn id="18" dur="1" fill="hold">
                                          <p:stCondLst>
                                            <p:cond delay="499"/>
                                          </p:stCondLst>
                                        </p:cTn>
                                        <p:tgtEl>
                                          <p:spTgt spid="89"/>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44"/>
                                        </p:tgtEl>
                                        <p:attrNameLst>
                                          <p:attrName>style.visibility</p:attrName>
                                        </p:attrNameLst>
                                      </p:cBhvr>
                                      <p:to>
                                        <p:strVal val="visible"/>
                                      </p:to>
                                    </p:set>
                                    <p:animEffect transition="in" filter="dissolve">
                                      <p:cBhvr>
                                        <p:cTn id="23" dur="5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 grpId="0"/>
      <p:bldP spid="89" grpId="0"/>
      <p:bldP spid="89" grpId="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Freeform 10">
            <a:extLst>
              <a:ext uri="{FF2B5EF4-FFF2-40B4-BE49-F238E27FC236}">
                <a16:creationId xmlns:a16="http://schemas.microsoft.com/office/drawing/2014/main" id="{236C8C34-AA0A-1747-BF1D-3CBFB21AC1F2}"/>
              </a:ext>
            </a:extLst>
          </p:cNvPr>
          <p:cNvSpPr>
            <a:spLocks/>
          </p:cNvSpPr>
          <p:nvPr/>
        </p:nvSpPr>
        <p:spPr bwMode="auto">
          <a:xfrm rot="10800000" flipH="1">
            <a:off x="10916607" y="1577038"/>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Services, Layering and Encapsulation</a:t>
            </a:r>
            <a:endParaRPr lang="en-US" sz="4400" dirty="0"/>
          </a:p>
        </p:txBody>
      </p:sp>
      <p:sp>
        <p:nvSpPr>
          <p:cNvPr id="13" name="Text Box 8">
            <a:extLst>
              <a:ext uri="{FF2B5EF4-FFF2-40B4-BE49-F238E27FC236}">
                <a16:creationId xmlns:a16="http://schemas.microsoft.com/office/drawing/2014/main" id="{10CAB5B1-70B7-184B-A16F-4239A3118B18}"/>
              </a:ext>
            </a:extLst>
          </p:cNvPr>
          <p:cNvSpPr txBox="1">
            <a:spLocks noChangeArrowheads="1"/>
          </p:cNvSpPr>
          <p:nvPr/>
        </p:nvSpPr>
        <p:spPr bwMode="auto">
          <a:xfrm>
            <a:off x="449705" y="5724388"/>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4" name="Freeform 10">
            <a:extLst>
              <a:ext uri="{FF2B5EF4-FFF2-40B4-BE49-F238E27FC236}">
                <a16:creationId xmlns:a16="http://schemas.microsoft.com/office/drawing/2014/main" id="{1C528DAB-CFD1-6943-9F41-1A6F334C3C75}"/>
              </a:ext>
            </a:extLst>
          </p:cNvPr>
          <p:cNvSpPr>
            <a:spLocks/>
          </p:cNvSpPr>
          <p:nvPr/>
        </p:nvSpPr>
        <p:spPr bwMode="auto">
          <a:xfrm rot="10800000">
            <a:off x="975630" y="1559549"/>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190">
            <a:extLst>
              <a:ext uri="{FF2B5EF4-FFF2-40B4-BE49-F238E27FC236}">
                <a16:creationId xmlns:a16="http://schemas.microsoft.com/office/drawing/2014/main" id="{8D7B8AF0-B984-FB44-AB9F-07CA253CEA38}"/>
              </a:ext>
            </a:extLst>
          </p:cNvPr>
          <p:cNvGrpSpPr>
            <a:grpSpLocks/>
          </p:cNvGrpSpPr>
          <p:nvPr/>
        </p:nvGrpSpPr>
        <p:grpSpPr bwMode="auto">
          <a:xfrm flipH="1">
            <a:off x="635446" y="5073984"/>
            <a:ext cx="803275" cy="771525"/>
            <a:chOff x="-44" y="1473"/>
            <a:chExt cx="981" cy="1105"/>
          </a:xfrm>
        </p:grpSpPr>
        <p:pic>
          <p:nvPicPr>
            <p:cNvPr id="25" name="Picture 191" descr="desktop_computer_stylized_medium">
              <a:extLst>
                <a:ext uri="{FF2B5EF4-FFF2-40B4-BE49-F238E27FC236}">
                  <a16:creationId xmlns:a16="http://schemas.microsoft.com/office/drawing/2014/main" id="{06D1D726-A569-254A-9E27-366DB8CF32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192">
              <a:extLst>
                <a:ext uri="{FF2B5EF4-FFF2-40B4-BE49-F238E27FC236}">
                  <a16:creationId xmlns:a16="http://schemas.microsoft.com/office/drawing/2014/main" id="{F5362B29-42A6-3F4A-A1AB-EFF56E7B772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27" name="Straight Arrow Connector 126">
            <a:extLst>
              <a:ext uri="{FF2B5EF4-FFF2-40B4-BE49-F238E27FC236}">
                <a16:creationId xmlns:a16="http://schemas.microsoft.com/office/drawing/2014/main" id="{2ACB87E4-845E-A542-9CE2-5864050E17AD}"/>
              </a:ext>
            </a:extLst>
          </p:cNvPr>
          <p:cNvCxnSpPr>
            <a:cxnSpLocks/>
          </p:cNvCxnSpPr>
          <p:nvPr/>
        </p:nvCxnSpPr>
        <p:spPr>
          <a:xfrm>
            <a:off x="3211642" y="2610788"/>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8" name="TextBox 127">
            <a:extLst>
              <a:ext uri="{FF2B5EF4-FFF2-40B4-BE49-F238E27FC236}">
                <a16:creationId xmlns:a16="http://schemas.microsoft.com/office/drawing/2014/main" id="{C22C09FB-549C-8E44-8641-4B4BD5A57453}"/>
              </a:ext>
            </a:extLst>
          </p:cNvPr>
          <p:cNvSpPr txBox="1"/>
          <p:nvPr/>
        </p:nvSpPr>
        <p:spPr>
          <a:xfrm>
            <a:off x="3359490" y="2717590"/>
            <a:ext cx="5620868" cy="565283"/>
          </a:xfrm>
          <a:prstGeom prst="rect">
            <a:avLst/>
          </a:prstGeom>
          <a:noFill/>
        </p:spPr>
        <p:txBody>
          <a:bodyPr wrap="square" rtlCol="0">
            <a:spAutoFit/>
          </a:bodyPr>
          <a:lstStyle/>
          <a:p>
            <a:pPr algn="ctr">
              <a:lnSpc>
                <a:spcPct val="85000"/>
              </a:lnSpc>
            </a:pPr>
            <a:r>
              <a:rPr lang="en-US" dirty="0">
                <a:solidFill>
                  <a:srgbClr val="C00000"/>
                </a:solidFill>
              </a:rPr>
              <a:t>Transport-layer </a:t>
            </a:r>
            <a:r>
              <a:rPr lang="en-US" dirty="0"/>
              <a:t>protocol transfers M (e.g., reliably) from one </a:t>
            </a:r>
            <a:r>
              <a:rPr lang="en-US" i="1" dirty="0"/>
              <a:t>process</a:t>
            </a:r>
            <a:r>
              <a:rPr lang="en-US" dirty="0"/>
              <a:t> to another, using services of network layer</a:t>
            </a:r>
          </a:p>
        </p:txBody>
      </p:sp>
      <p:sp>
        <p:nvSpPr>
          <p:cNvPr id="143" name="Rectangle 142">
            <a:extLst>
              <a:ext uri="{FF2B5EF4-FFF2-40B4-BE49-F238E27FC236}">
                <a16:creationId xmlns:a16="http://schemas.microsoft.com/office/drawing/2014/main" id="{EE8BAFE3-3C6F-F143-9E4B-2A620EAB382E}"/>
              </a:ext>
            </a:extLst>
          </p:cNvPr>
          <p:cNvSpPr/>
          <p:nvPr/>
        </p:nvSpPr>
        <p:spPr>
          <a:xfrm>
            <a:off x="5584583" y="2368401"/>
            <a:ext cx="971760"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3" name="Group 185">
            <a:extLst>
              <a:ext uri="{FF2B5EF4-FFF2-40B4-BE49-F238E27FC236}">
                <a16:creationId xmlns:a16="http://schemas.microsoft.com/office/drawing/2014/main" id="{EB20B2E4-EE78-334C-B142-D9716F510006}"/>
              </a:ext>
            </a:extLst>
          </p:cNvPr>
          <p:cNvGrpSpPr>
            <a:grpSpLocks/>
          </p:cNvGrpSpPr>
          <p:nvPr/>
        </p:nvGrpSpPr>
        <p:grpSpPr bwMode="auto">
          <a:xfrm>
            <a:off x="5690803" y="2434313"/>
            <a:ext cx="908050" cy="301625"/>
            <a:chOff x="1848" y="2046"/>
            <a:chExt cx="572" cy="190"/>
          </a:xfrm>
        </p:grpSpPr>
        <p:grpSp>
          <p:nvGrpSpPr>
            <p:cNvPr id="134" name="Group 179">
              <a:extLst>
                <a:ext uri="{FF2B5EF4-FFF2-40B4-BE49-F238E27FC236}">
                  <a16:creationId xmlns:a16="http://schemas.microsoft.com/office/drawing/2014/main" id="{1D5E26E8-DD67-F64E-B7A5-CF2A5868C4FE}"/>
                </a:ext>
              </a:extLst>
            </p:cNvPr>
            <p:cNvGrpSpPr>
              <a:grpSpLocks/>
            </p:cNvGrpSpPr>
            <p:nvPr/>
          </p:nvGrpSpPr>
          <p:grpSpPr bwMode="auto">
            <a:xfrm>
              <a:off x="1848" y="2047"/>
              <a:ext cx="187" cy="184"/>
              <a:chOff x="1959" y="2058"/>
              <a:chExt cx="187" cy="184"/>
            </a:xfrm>
          </p:grpSpPr>
          <p:sp>
            <p:nvSpPr>
              <p:cNvPr id="138" name="Rectangle 180">
                <a:extLst>
                  <a:ext uri="{FF2B5EF4-FFF2-40B4-BE49-F238E27FC236}">
                    <a16:creationId xmlns:a16="http://schemas.microsoft.com/office/drawing/2014/main" id="{A0FF28E6-68F8-9D49-858D-54A894437AE3}"/>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9" name="Rectangle 181">
                <a:extLst>
                  <a:ext uri="{FF2B5EF4-FFF2-40B4-BE49-F238E27FC236}">
                    <a16:creationId xmlns:a16="http://schemas.microsoft.com/office/drawing/2014/main" id="{57F4F79C-9470-0243-9459-9DE005B149AC}"/>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135" name="Group 182">
              <a:extLst>
                <a:ext uri="{FF2B5EF4-FFF2-40B4-BE49-F238E27FC236}">
                  <a16:creationId xmlns:a16="http://schemas.microsoft.com/office/drawing/2014/main" id="{C814D838-F088-1449-A73B-3285342C6057}"/>
                </a:ext>
              </a:extLst>
            </p:cNvPr>
            <p:cNvGrpSpPr>
              <a:grpSpLocks/>
            </p:cNvGrpSpPr>
            <p:nvPr/>
          </p:nvGrpSpPr>
          <p:grpSpPr bwMode="auto">
            <a:xfrm>
              <a:off x="1992" y="2046"/>
              <a:ext cx="428" cy="190"/>
              <a:chOff x="780" y="1553"/>
              <a:chExt cx="428" cy="190"/>
            </a:xfrm>
          </p:grpSpPr>
          <p:sp>
            <p:nvSpPr>
              <p:cNvPr id="136" name="Rectangle 183">
                <a:extLst>
                  <a:ext uri="{FF2B5EF4-FFF2-40B4-BE49-F238E27FC236}">
                    <a16:creationId xmlns:a16="http://schemas.microsoft.com/office/drawing/2014/main" id="{744B26E9-8C84-AF45-BC0E-C09188489CFA}"/>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7" name="Rectangle 184">
                <a:extLst>
                  <a:ext uri="{FF2B5EF4-FFF2-40B4-BE49-F238E27FC236}">
                    <a16:creationId xmlns:a16="http://schemas.microsoft.com/office/drawing/2014/main" id="{71A3F897-85F9-4241-906F-6308455A3CAB}"/>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144" name="TextBox 143">
            <a:extLst>
              <a:ext uri="{FF2B5EF4-FFF2-40B4-BE49-F238E27FC236}">
                <a16:creationId xmlns:a16="http://schemas.microsoft.com/office/drawing/2014/main" id="{2CE37313-1E06-C945-A455-53ADE2AA5971}"/>
              </a:ext>
            </a:extLst>
          </p:cNvPr>
          <p:cNvSpPr txBox="1"/>
          <p:nvPr/>
        </p:nvSpPr>
        <p:spPr>
          <a:xfrm>
            <a:off x="3462727" y="4339175"/>
            <a:ext cx="5831174" cy="2086725"/>
          </a:xfrm>
          <a:prstGeom prst="rect">
            <a:avLst/>
          </a:prstGeom>
          <a:noFill/>
        </p:spPr>
        <p:txBody>
          <a:bodyPr wrap="square" rtlCol="0">
            <a:spAutoFit/>
          </a:bodyPr>
          <a:lstStyle/>
          <a:p>
            <a:pPr marL="295275" indent="-295275">
              <a:lnSpc>
                <a:spcPct val="90000"/>
              </a:lnSpc>
              <a:buClr>
                <a:srgbClr val="0000A3"/>
              </a:buClr>
              <a:buFont typeface="Wingdings" pitchFamily="2" charset="2"/>
              <a:buChar char="§"/>
            </a:pPr>
            <a:r>
              <a:rPr lang="en-US" sz="2400" dirty="0"/>
              <a:t>network-layer protocol </a:t>
            </a:r>
            <a:r>
              <a:rPr lang="en-US" sz="2400" dirty="0">
                <a:solidFill>
                  <a:srgbClr val="0000A3"/>
                </a:solidFill>
              </a:rPr>
              <a:t>encapsulates</a:t>
            </a:r>
            <a:r>
              <a:rPr lang="en-US" sz="2400" dirty="0"/>
              <a:t> transport-layer segment</a:t>
            </a:r>
            <a:r>
              <a:rPr lang="en-US" sz="2000" dirty="0"/>
              <a:t>  [H</a:t>
            </a:r>
            <a:r>
              <a:rPr lang="en-US" sz="2000" baseline="-25000" dirty="0"/>
              <a:t>t</a:t>
            </a:r>
            <a:r>
              <a:rPr lang="en-US" sz="2000" dirty="0"/>
              <a:t> | M] </a:t>
            </a:r>
            <a:r>
              <a:rPr lang="en-US" sz="2400" dirty="0"/>
              <a:t>with network layer-layer header H</a:t>
            </a:r>
            <a:r>
              <a:rPr lang="en-US" sz="2400" baseline="-25000" dirty="0"/>
              <a:t>n </a:t>
            </a:r>
            <a:r>
              <a:rPr lang="en-US" sz="2400" dirty="0"/>
              <a:t> to create a network-layer </a:t>
            </a:r>
            <a:r>
              <a:rPr lang="en-US" sz="2400" dirty="0">
                <a:solidFill>
                  <a:srgbClr val="C00000"/>
                </a:solidFill>
              </a:rPr>
              <a:t>datagram </a:t>
            </a:r>
          </a:p>
          <a:p>
            <a:pPr marL="574675" lvl="1" indent="-231775">
              <a:lnSpc>
                <a:spcPct val="90000"/>
              </a:lnSpc>
              <a:buClr>
                <a:srgbClr val="0000A3"/>
              </a:buClr>
              <a:buFont typeface="Arial" panose="020B0604020202020204" pitchFamily="34" charset="0"/>
              <a:buChar char="•"/>
            </a:pPr>
            <a:r>
              <a:rPr lang="en-US" sz="2400" dirty="0"/>
              <a:t>H</a:t>
            </a:r>
            <a:r>
              <a:rPr lang="en-US" sz="2400" baseline="-25000" dirty="0"/>
              <a:t>n </a:t>
            </a:r>
            <a:r>
              <a:rPr lang="en-US" sz="2400" dirty="0"/>
              <a:t> used by network layer protocol to implement its service</a:t>
            </a:r>
            <a:endParaRPr lang="en-US" sz="2400" baseline="-25000" dirty="0"/>
          </a:p>
        </p:txBody>
      </p:sp>
      <p:grpSp>
        <p:nvGrpSpPr>
          <p:cNvPr id="212" name="Group 211">
            <a:extLst>
              <a:ext uri="{FF2B5EF4-FFF2-40B4-BE49-F238E27FC236}">
                <a16:creationId xmlns:a16="http://schemas.microsoft.com/office/drawing/2014/main" id="{BD0C4974-D689-414F-A2EB-9B1043F3314D}"/>
              </a:ext>
            </a:extLst>
          </p:cNvPr>
          <p:cNvGrpSpPr/>
          <p:nvPr/>
        </p:nvGrpSpPr>
        <p:grpSpPr>
          <a:xfrm>
            <a:off x="1334125" y="1421667"/>
            <a:ext cx="1765726" cy="4034752"/>
            <a:chOff x="1484027" y="1706480"/>
            <a:chExt cx="1765726" cy="4034752"/>
          </a:xfrm>
        </p:grpSpPr>
        <p:sp>
          <p:nvSpPr>
            <p:cNvPr id="11" name="Rectangle 24">
              <a:extLst>
                <a:ext uri="{FF2B5EF4-FFF2-40B4-BE49-F238E27FC236}">
                  <a16:creationId xmlns:a16="http://schemas.microsoft.com/office/drawing/2014/main" id="{ED8D52E4-C345-B842-A2E7-C8068B8E5CF4}"/>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 name="Text Box 26">
              <a:extLst>
                <a:ext uri="{FF2B5EF4-FFF2-40B4-BE49-F238E27FC236}">
                  <a16:creationId xmlns:a16="http://schemas.microsoft.com/office/drawing/2014/main" id="{A5089E2D-0B1B-544A-82BC-F28ED3191A4E}"/>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117" name="Straight Connector 116">
              <a:extLst>
                <a:ext uri="{FF2B5EF4-FFF2-40B4-BE49-F238E27FC236}">
                  <a16:creationId xmlns:a16="http://schemas.microsoft.com/office/drawing/2014/main" id="{B3EBBB35-9D82-7C43-B882-52ED90AE3A71}"/>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2EA7353-AEFA-934F-93DE-A8D55DF75658}"/>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40242E3-3BEB-D543-B881-84EB2D13BD66}"/>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DC27D746-0691-6F47-9E9D-1D63DF11D081}"/>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950">
            <a:extLst>
              <a:ext uri="{FF2B5EF4-FFF2-40B4-BE49-F238E27FC236}">
                <a16:creationId xmlns:a16="http://schemas.microsoft.com/office/drawing/2014/main" id="{044873AD-74A5-8A44-846B-EC5D0FBC82D7}"/>
              </a:ext>
            </a:extLst>
          </p:cNvPr>
          <p:cNvGrpSpPr>
            <a:grpSpLocks/>
          </p:cNvGrpSpPr>
          <p:nvPr/>
        </p:nvGrpSpPr>
        <p:grpSpPr bwMode="auto">
          <a:xfrm>
            <a:off x="11107713" y="4961744"/>
            <a:ext cx="374754" cy="833726"/>
            <a:chOff x="4140" y="429"/>
            <a:chExt cx="1425" cy="2396"/>
          </a:xfrm>
        </p:grpSpPr>
        <p:sp>
          <p:nvSpPr>
            <p:cNvPr id="168" name="Freeform 951">
              <a:extLst>
                <a:ext uri="{FF2B5EF4-FFF2-40B4-BE49-F238E27FC236}">
                  <a16:creationId xmlns:a16="http://schemas.microsoft.com/office/drawing/2014/main" id="{EEDE4156-8281-D847-9240-9DE98999091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952">
              <a:extLst>
                <a:ext uri="{FF2B5EF4-FFF2-40B4-BE49-F238E27FC236}">
                  <a16:creationId xmlns:a16="http://schemas.microsoft.com/office/drawing/2014/main" id="{22E8340D-B5D1-3C48-A062-4F70248D103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0" name="Freeform 953">
              <a:extLst>
                <a:ext uri="{FF2B5EF4-FFF2-40B4-BE49-F238E27FC236}">
                  <a16:creationId xmlns:a16="http://schemas.microsoft.com/office/drawing/2014/main" id="{29109B86-1ABF-F647-8516-2AAE154A9E8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954">
              <a:extLst>
                <a:ext uri="{FF2B5EF4-FFF2-40B4-BE49-F238E27FC236}">
                  <a16:creationId xmlns:a16="http://schemas.microsoft.com/office/drawing/2014/main" id="{9F93569F-8FC8-7C4E-9F95-B14647D2DB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955">
              <a:extLst>
                <a:ext uri="{FF2B5EF4-FFF2-40B4-BE49-F238E27FC236}">
                  <a16:creationId xmlns:a16="http://schemas.microsoft.com/office/drawing/2014/main" id="{8E5BC3B8-E87D-9F47-A6F6-AD8B57BC21E6}"/>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3" name="Group 956">
              <a:extLst>
                <a:ext uri="{FF2B5EF4-FFF2-40B4-BE49-F238E27FC236}">
                  <a16:creationId xmlns:a16="http://schemas.microsoft.com/office/drawing/2014/main" id="{1694DE96-689D-9540-964A-22F06F6D940F}"/>
                </a:ext>
              </a:extLst>
            </p:cNvPr>
            <p:cNvGrpSpPr>
              <a:grpSpLocks/>
            </p:cNvGrpSpPr>
            <p:nvPr/>
          </p:nvGrpSpPr>
          <p:grpSpPr bwMode="auto">
            <a:xfrm>
              <a:off x="4749" y="668"/>
              <a:ext cx="581" cy="145"/>
              <a:chOff x="614" y="2568"/>
              <a:chExt cx="725" cy="139"/>
            </a:xfrm>
          </p:grpSpPr>
          <p:sp>
            <p:nvSpPr>
              <p:cNvPr id="198" name="AutoShape 957">
                <a:extLst>
                  <a:ext uri="{FF2B5EF4-FFF2-40B4-BE49-F238E27FC236}">
                    <a16:creationId xmlns:a16="http://schemas.microsoft.com/office/drawing/2014/main" id="{435DFCEB-F2FD-7B44-93DA-9204E2E311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9" name="AutoShape 958">
                <a:extLst>
                  <a:ext uri="{FF2B5EF4-FFF2-40B4-BE49-F238E27FC236}">
                    <a16:creationId xmlns:a16="http://schemas.microsoft.com/office/drawing/2014/main" id="{521647D7-4114-1146-9C5A-F1DB4FEC81A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4" name="Rectangle 959">
              <a:extLst>
                <a:ext uri="{FF2B5EF4-FFF2-40B4-BE49-F238E27FC236}">
                  <a16:creationId xmlns:a16="http://schemas.microsoft.com/office/drawing/2014/main" id="{3A0D9FD6-DBAC-4B49-A55F-167642D66FA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5" name="Group 960">
              <a:extLst>
                <a:ext uri="{FF2B5EF4-FFF2-40B4-BE49-F238E27FC236}">
                  <a16:creationId xmlns:a16="http://schemas.microsoft.com/office/drawing/2014/main" id="{3CFA0950-BC76-3949-8726-38646B18FD5C}"/>
                </a:ext>
              </a:extLst>
            </p:cNvPr>
            <p:cNvGrpSpPr>
              <a:grpSpLocks/>
            </p:cNvGrpSpPr>
            <p:nvPr/>
          </p:nvGrpSpPr>
          <p:grpSpPr bwMode="auto">
            <a:xfrm>
              <a:off x="4747" y="994"/>
              <a:ext cx="581" cy="134"/>
              <a:chOff x="614" y="2568"/>
              <a:chExt cx="725" cy="139"/>
            </a:xfrm>
          </p:grpSpPr>
          <p:sp>
            <p:nvSpPr>
              <p:cNvPr id="196" name="AutoShape 961">
                <a:extLst>
                  <a:ext uri="{FF2B5EF4-FFF2-40B4-BE49-F238E27FC236}">
                    <a16:creationId xmlns:a16="http://schemas.microsoft.com/office/drawing/2014/main" id="{67127BA7-9D0A-2443-9190-C56C02906F6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AutoShape 962">
                <a:extLst>
                  <a:ext uri="{FF2B5EF4-FFF2-40B4-BE49-F238E27FC236}">
                    <a16:creationId xmlns:a16="http://schemas.microsoft.com/office/drawing/2014/main" id="{2C9F8790-3076-4541-A56A-E9305DCB098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6" name="Rectangle 963">
              <a:extLst>
                <a:ext uri="{FF2B5EF4-FFF2-40B4-BE49-F238E27FC236}">
                  <a16:creationId xmlns:a16="http://schemas.microsoft.com/office/drawing/2014/main" id="{4DE6A147-5BC7-FF41-B7AC-2BA9913BB098}"/>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Rectangle 964">
              <a:extLst>
                <a:ext uri="{FF2B5EF4-FFF2-40B4-BE49-F238E27FC236}">
                  <a16:creationId xmlns:a16="http://schemas.microsoft.com/office/drawing/2014/main" id="{53ECF0A1-6175-BE45-A32A-233E1942C8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8" name="Group 965">
              <a:extLst>
                <a:ext uri="{FF2B5EF4-FFF2-40B4-BE49-F238E27FC236}">
                  <a16:creationId xmlns:a16="http://schemas.microsoft.com/office/drawing/2014/main" id="{16810F93-1596-884B-B639-A3868A5CD4D8}"/>
                </a:ext>
              </a:extLst>
            </p:cNvPr>
            <p:cNvGrpSpPr>
              <a:grpSpLocks/>
            </p:cNvGrpSpPr>
            <p:nvPr/>
          </p:nvGrpSpPr>
          <p:grpSpPr bwMode="auto">
            <a:xfrm>
              <a:off x="4735" y="1627"/>
              <a:ext cx="582" cy="151"/>
              <a:chOff x="614" y="2568"/>
              <a:chExt cx="725" cy="139"/>
            </a:xfrm>
          </p:grpSpPr>
          <p:sp>
            <p:nvSpPr>
              <p:cNvPr id="194" name="AutoShape 966">
                <a:extLst>
                  <a:ext uri="{FF2B5EF4-FFF2-40B4-BE49-F238E27FC236}">
                    <a16:creationId xmlns:a16="http://schemas.microsoft.com/office/drawing/2014/main" id="{84EC0348-3D46-9445-B43C-6DC8DB392F6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AutoShape 967">
                <a:extLst>
                  <a:ext uri="{FF2B5EF4-FFF2-40B4-BE49-F238E27FC236}">
                    <a16:creationId xmlns:a16="http://schemas.microsoft.com/office/drawing/2014/main" id="{23A1F6B3-9F2D-5E41-8602-67921ABB12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9" name="Freeform 968">
              <a:extLst>
                <a:ext uri="{FF2B5EF4-FFF2-40B4-BE49-F238E27FC236}">
                  <a16:creationId xmlns:a16="http://schemas.microsoft.com/office/drawing/2014/main" id="{8FD6AEB5-BE60-044C-B32D-B433B740036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0" name="Group 969">
              <a:extLst>
                <a:ext uri="{FF2B5EF4-FFF2-40B4-BE49-F238E27FC236}">
                  <a16:creationId xmlns:a16="http://schemas.microsoft.com/office/drawing/2014/main" id="{30895737-AC01-6342-BADB-B3B3BFE7FC46}"/>
                </a:ext>
              </a:extLst>
            </p:cNvPr>
            <p:cNvGrpSpPr>
              <a:grpSpLocks/>
            </p:cNvGrpSpPr>
            <p:nvPr/>
          </p:nvGrpSpPr>
          <p:grpSpPr bwMode="auto">
            <a:xfrm>
              <a:off x="4739" y="1327"/>
              <a:ext cx="582" cy="139"/>
              <a:chOff x="614" y="2568"/>
              <a:chExt cx="725" cy="139"/>
            </a:xfrm>
          </p:grpSpPr>
          <p:sp>
            <p:nvSpPr>
              <p:cNvPr id="192" name="AutoShape 970">
                <a:extLst>
                  <a:ext uri="{FF2B5EF4-FFF2-40B4-BE49-F238E27FC236}">
                    <a16:creationId xmlns:a16="http://schemas.microsoft.com/office/drawing/2014/main" id="{2D690E63-3733-8E4E-B8F8-19245FF772B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3" name="AutoShape 971">
                <a:extLst>
                  <a:ext uri="{FF2B5EF4-FFF2-40B4-BE49-F238E27FC236}">
                    <a16:creationId xmlns:a16="http://schemas.microsoft.com/office/drawing/2014/main" id="{9CE827B0-221F-ED4A-A36B-E1EEFE27B7B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72">
              <a:extLst>
                <a:ext uri="{FF2B5EF4-FFF2-40B4-BE49-F238E27FC236}">
                  <a16:creationId xmlns:a16="http://schemas.microsoft.com/office/drawing/2014/main" id="{6DA44079-B2D7-9244-A5E0-9DF13556EBC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2" name="Freeform 973">
              <a:extLst>
                <a:ext uri="{FF2B5EF4-FFF2-40B4-BE49-F238E27FC236}">
                  <a16:creationId xmlns:a16="http://schemas.microsoft.com/office/drawing/2014/main" id="{E808BD44-A307-394D-8965-070EF3F8652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974">
              <a:extLst>
                <a:ext uri="{FF2B5EF4-FFF2-40B4-BE49-F238E27FC236}">
                  <a16:creationId xmlns:a16="http://schemas.microsoft.com/office/drawing/2014/main" id="{327FF4BF-3914-2143-83C7-C816B3E0AC3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Oval 975">
              <a:extLst>
                <a:ext uri="{FF2B5EF4-FFF2-40B4-BE49-F238E27FC236}">
                  <a16:creationId xmlns:a16="http://schemas.microsoft.com/office/drawing/2014/main" id="{09C51570-A4D3-D24C-A492-3811DD957CD4}"/>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5" name="Freeform 976">
              <a:extLst>
                <a:ext uri="{FF2B5EF4-FFF2-40B4-BE49-F238E27FC236}">
                  <a16:creationId xmlns:a16="http://schemas.microsoft.com/office/drawing/2014/main" id="{BC2853B5-A39B-5A40-97DF-5ADB471224B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AutoShape 977">
              <a:extLst>
                <a:ext uri="{FF2B5EF4-FFF2-40B4-BE49-F238E27FC236}">
                  <a16:creationId xmlns:a16="http://schemas.microsoft.com/office/drawing/2014/main" id="{7928EDBA-57E1-B441-B1AF-CC0D62B2B5B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AutoShape 978">
              <a:extLst>
                <a:ext uri="{FF2B5EF4-FFF2-40B4-BE49-F238E27FC236}">
                  <a16:creationId xmlns:a16="http://schemas.microsoft.com/office/drawing/2014/main" id="{CC70E1A7-AAEC-6440-86AC-73ECE22D7A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8" name="Oval 979">
              <a:extLst>
                <a:ext uri="{FF2B5EF4-FFF2-40B4-BE49-F238E27FC236}">
                  <a16:creationId xmlns:a16="http://schemas.microsoft.com/office/drawing/2014/main" id="{2F7E7C91-0257-D84D-8AD1-4A152C818F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Oval 980">
              <a:extLst>
                <a:ext uri="{FF2B5EF4-FFF2-40B4-BE49-F238E27FC236}">
                  <a16:creationId xmlns:a16="http://schemas.microsoft.com/office/drawing/2014/main" id="{6AE127C2-D583-E74D-8B39-05EEBEBE23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0" name="Oval 981">
              <a:extLst>
                <a:ext uri="{FF2B5EF4-FFF2-40B4-BE49-F238E27FC236}">
                  <a16:creationId xmlns:a16="http://schemas.microsoft.com/office/drawing/2014/main" id="{0EDFA963-70E6-2E42-AAFE-E2F9BD64631D}"/>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1" name="Rectangle 982">
              <a:extLst>
                <a:ext uri="{FF2B5EF4-FFF2-40B4-BE49-F238E27FC236}">
                  <a16:creationId xmlns:a16="http://schemas.microsoft.com/office/drawing/2014/main" id="{27A6382E-A13F-A248-84BF-E9DBD71EE18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06" name="Text Box 8">
            <a:extLst>
              <a:ext uri="{FF2B5EF4-FFF2-40B4-BE49-F238E27FC236}">
                <a16:creationId xmlns:a16="http://schemas.microsoft.com/office/drawing/2014/main" id="{6066254D-E62E-B446-8950-17FDF2A183D7}"/>
              </a:ext>
            </a:extLst>
          </p:cNvPr>
          <p:cNvSpPr txBox="1">
            <a:spLocks noChangeArrowheads="1"/>
          </p:cNvSpPr>
          <p:nvPr/>
        </p:nvSpPr>
        <p:spPr bwMode="auto">
          <a:xfrm>
            <a:off x="10216734" y="5716780"/>
            <a:ext cx="16754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400" i="1" dirty="0">
                <a:solidFill>
                  <a:srgbClr val="000099"/>
                </a:solidFill>
                <a:latin typeface="Arial" panose="020B0604020202020204" pitchFamily="34" charset="0"/>
              </a:rPr>
              <a:t>destination</a:t>
            </a:r>
            <a:endPar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07" name="Group 206">
            <a:extLst>
              <a:ext uri="{FF2B5EF4-FFF2-40B4-BE49-F238E27FC236}">
                <a16:creationId xmlns:a16="http://schemas.microsoft.com/office/drawing/2014/main" id="{9BA8D23A-DF12-2443-9B89-890BD7CDB6B8}"/>
              </a:ext>
            </a:extLst>
          </p:cNvPr>
          <p:cNvGrpSpPr/>
          <p:nvPr/>
        </p:nvGrpSpPr>
        <p:grpSpPr>
          <a:xfrm>
            <a:off x="3254290" y="1489592"/>
            <a:ext cx="5651292" cy="389744"/>
            <a:chOff x="3270354" y="1798823"/>
            <a:chExt cx="5651292" cy="389744"/>
          </a:xfrm>
        </p:grpSpPr>
        <p:cxnSp>
          <p:nvCxnSpPr>
            <p:cNvPr id="8" name="Straight Arrow Connector 7">
              <a:extLst>
                <a:ext uri="{FF2B5EF4-FFF2-40B4-BE49-F238E27FC236}">
                  <a16:creationId xmlns:a16="http://schemas.microsoft.com/office/drawing/2014/main" id="{A76A2E93-F723-6741-8FBC-288F6B0B758B}"/>
                </a:ext>
              </a:extLst>
            </p:cNvPr>
            <p:cNvCxnSpPr>
              <a:cxnSpLocks/>
            </p:cNvCxnSpPr>
            <p:nvPr/>
          </p:nvCxnSpPr>
          <p:spPr>
            <a:xfrm>
              <a:off x="3270354" y="1993691"/>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2" name="Rectangle 111">
              <a:extLst>
                <a:ext uri="{FF2B5EF4-FFF2-40B4-BE49-F238E27FC236}">
                  <a16:creationId xmlns:a16="http://schemas.microsoft.com/office/drawing/2014/main" id="{30C90201-2355-084F-A843-B545A899D6FE}"/>
                </a:ext>
              </a:extLst>
            </p:cNvPr>
            <p:cNvSpPr/>
            <p:nvPr/>
          </p:nvSpPr>
          <p:spPr>
            <a:xfrm>
              <a:off x="5878639" y="1798823"/>
              <a:ext cx="674558"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6" name="Group 175">
              <a:extLst>
                <a:ext uri="{FF2B5EF4-FFF2-40B4-BE49-F238E27FC236}">
                  <a16:creationId xmlns:a16="http://schemas.microsoft.com/office/drawing/2014/main" id="{AC026B9A-C8C6-C045-8CBD-B9022027FFE8}"/>
                </a:ext>
              </a:extLst>
            </p:cNvPr>
            <p:cNvGrpSpPr>
              <a:grpSpLocks/>
            </p:cNvGrpSpPr>
            <p:nvPr/>
          </p:nvGrpSpPr>
          <p:grpSpPr bwMode="auto">
            <a:xfrm>
              <a:off x="5953468" y="1857555"/>
              <a:ext cx="679450" cy="301625"/>
              <a:chOff x="780" y="1553"/>
              <a:chExt cx="428" cy="190"/>
            </a:xfrm>
          </p:grpSpPr>
          <p:sp>
            <p:nvSpPr>
              <p:cNvPr id="97" name="Rectangle 176">
                <a:extLst>
                  <a:ext uri="{FF2B5EF4-FFF2-40B4-BE49-F238E27FC236}">
                    <a16:creationId xmlns:a16="http://schemas.microsoft.com/office/drawing/2014/main" id="{10F5A1DA-0939-D34B-B227-29AA407BCDD6}"/>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8" name="Rectangle 177">
                <a:extLst>
                  <a:ext uri="{FF2B5EF4-FFF2-40B4-BE49-F238E27FC236}">
                    <a16:creationId xmlns:a16="http://schemas.microsoft.com/office/drawing/2014/main" id="{2086AF53-43CC-814A-BA4C-260362990784}"/>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213" name="Group 212">
            <a:extLst>
              <a:ext uri="{FF2B5EF4-FFF2-40B4-BE49-F238E27FC236}">
                <a16:creationId xmlns:a16="http://schemas.microsoft.com/office/drawing/2014/main" id="{94888FAE-136F-094E-BF2A-11D94A17BB7F}"/>
              </a:ext>
            </a:extLst>
          </p:cNvPr>
          <p:cNvGrpSpPr/>
          <p:nvPr/>
        </p:nvGrpSpPr>
        <p:grpSpPr>
          <a:xfrm>
            <a:off x="9221450" y="1413548"/>
            <a:ext cx="1765726" cy="4034752"/>
            <a:chOff x="1484027" y="1706480"/>
            <a:chExt cx="1765726" cy="4034752"/>
          </a:xfrm>
        </p:grpSpPr>
        <p:sp>
          <p:nvSpPr>
            <p:cNvPr id="214" name="Rectangle 24">
              <a:extLst>
                <a:ext uri="{FF2B5EF4-FFF2-40B4-BE49-F238E27FC236}">
                  <a16:creationId xmlns:a16="http://schemas.microsoft.com/office/drawing/2014/main" id="{FA7A7264-CB0E-4442-BA92-F16F6E6EF1F5}"/>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5" name="Text Box 26">
              <a:extLst>
                <a:ext uri="{FF2B5EF4-FFF2-40B4-BE49-F238E27FC236}">
                  <a16:creationId xmlns:a16="http://schemas.microsoft.com/office/drawing/2014/main" id="{D54F6320-1E23-E649-BFED-E007672E7AB0}"/>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216" name="Straight Connector 215">
              <a:extLst>
                <a:ext uri="{FF2B5EF4-FFF2-40B4-BE49-F238E27FC236}">
                  <a16:creationId xmlns:a16="http://schemas.microsoft.com/office/drawing/2014/main" id="{3F2C66BF-55D8-0549-A9DA-934202F38DD5}"/>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CA370408-C974-CD4A-8EF6-0AEC3924D4ED}"/>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5A7BF2B3-45B8-414A-8B63-2480CF8FA113}"/>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9A1FEA61-81C7-C449-880B-15A8ACAF5500}"/>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 name="Group 2">
            <a:extLst>
              <a:ext uri="{FF2B5EF4-FFF2-40B4-BE49-F238E27FC236}">
                <a16:creationId xmlns:a16="http://schemas.microsoft.com/office/drawing/2014/main" id="{5EFD3EBC-45D5-C74A-B32F-79C699B23E2E}"/>
              </a:ext>
            </a:extLst>
          </p:cNvPr>
          <p:cNvGrpSpPr/>
          <p:nvPr/>
        </p:nvGrpSpPr>
        <p:grpSpPr>
          <a:xfrm>
            <a:off x="3211642" y="3319499"/>
            <a:ext cx="5882482" cy="895263"/>
            <a:chOff x="3211642" y="3319499"/>
            <a:chExt cx="5882482" cy="895263"/>
          </a:xfrm>
        </p:grpSpPr>
        <p:cxnSp>
          <p:nvCxnSpPr>
            <p:cNvPr id="78" name="Straight Arrow Connector 77">
              <a:extLst>
                <a:ext uri="{FF2B5EF4-FFF2-40B4-BE49-F238E27FC236}">
                  <a16:creationId xmlns:a16="http://schemas.microsoft.com/office/drawing/2014/main" id="{B1705D36-44EB-7144-ADDD-2BCA5A49E36C}"/>
                </a:ext>
              </a:extLst>
            </p:cNvPr>
            <p:cNvCxnSpPr>
              <a:cxnSpLocks/>
            </p:cNvCxnSpPr>
            <p:nvPr/>
          </p:nvCxnSpPr>
          <p:spPr>
            <a:xfrm>
              <a:off x="3211642" y="3542677"/>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0" name="Rectangle 79">
              <a:extLst>
                <a:ext uri="{FF2B5EF4-FFF2-40B4-BE49-F238E27FC236}">
                  <a16:creationId xmlns:a16="http://schemas.microsoft.com/office/drawing/2014/main" id="{664C90AC-8D4A-5646-A57F-0F37EE375E51}"/>
                </a:ext>
              </a:extLst>
            </p:cNvPr>
            <p:cNvSpPr/>
            <p:nvPr/>
          </p:nvSpPr>
          <p:spPr>
            <a:xfrm>
              <a:off x="5356172" y="3319499"/>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5">
              <a:extLst>
                <a:ext uri="{FF2B5EF4-FFF2-40B4-BE49-F238E27FC236}">
                  <a16:creationId xmlns:a16="http://schemas.microsoft.com/office/drawing/2014/main" id="{EB00013B-973D-F145-BC62-E1EB59B2D1F7}"/>
                </a:ext>
              </a:extLst>
            </p:cNvPr>
            <p:cNvGrpSpPr/>
            <p:nvPr/>
          </p:nvGrpSpPr>
          <p:grpSpPr>
            <a:xfrm>
              <a:off x="5418625" y="3360607"/>
              <a:ext cx="1058375" cy="307296"/>
              <a:chOff x="5509436" y="3287899"/>
              <a:chExt cx="1058375" cy="307296"/>
            </a:xfrm>
          </p:grpSpPr>
          <p:grpSp>
            <p:nvGrpSpPr>
              <p:cNvPr id="83" name="Group 182">
                <a:extLst>
                  <a:ext uri="{FF2B5EF4-FFF2-40B4-BE49-F238E27FC236}">
                    <a16:creationId xmlns:a16="http://schemas.microsoft.com/office/drawing/2014/main" id="{92B476DA-1332-E245-A063-5F18A8ED561F}"/>
                  </a:ext>
                </a:extLst>
              </p:cNvPr>
              <p:cNvGrpSpPr>
                <a:grpSpLocks/>
              </p:cNvGrpSpPr>
              <p:nvPr/>
            </p:nvGrpSpPr>
            <p:grpSpPr bwMode="auto">
              <a:xfrm>
                <a:off x="5510535" y="3293570"/>
                <a:ext cx="1057276" cy="301625"/>
                <a:chOff x="469" y="1531"/>
                <a:chExt cx="666" cy="190"/>
              </a:xfrm>
            </p:grpSpPr>
            <p:sp>
              <p:nvSpPr>
                <p:cNvPr id="84" name="Rectangle 183">
                  <a:extLst>
                    <a:ext uri="{FF2B5EF4-FFF2-40B4-BE49-F238E27FC236}">
                      <a16:creationId xmlns:a16="http://schemas.microsoft.com/office/drawing/2014/main" id="{35A3A0E8-5840-8E42-ADE8-7EB044576C1C}"/>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184">
                  <a:extLst>
                    <a:ext uri="{FF2B5EF4-FFF2-40B4-BE49-F238E27FC236}">
                      <a16:creationId xmlns:a16="http://schemas.microsoft.com/office/drawing/2014/main" id="{55600375-23A3-CD4E-BBD9-EE07BA4AED64}"/>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87" name="Rectangle 181">
                <a:extLst>
                  <a:ext uri="{FF2B5EF4-FFF2-40B4-BE49-F238E27FC236}">
                    <a16:creationId xmlns:a16="http://schemas.microsoft.com/office/drawing/2014/main" id="{51F428BA-8794-2B46-B109-1D511F62E555}"/>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88" name="Rectangle 181">
                <a:extLst>
                  <a:ext uri="{FF2B5EF4-FFF2-40B4-BE49-F238E27FC236}">
                    <a16:creationId xmlns:a16="http://schemas.microsoft.com/office/drawing/2014/main" id="{E5D95958-8C54-6242-A3B1-968E6AC629AC}"/>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4" name="Straight Connector 3">
                <a:extLst>
                  <a:ext uri="{FF2B5EF4-FFF2-40B4-BE49-F238E27FC236}">
                    <a16:creationId xmlns:a16="http://schemas.microsoft.com/office/drawing/2014/main" id="{AE213470-EFFE-1143-AE70-3E6F1DF5204B}"/>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FB823437-9FDA-D44D-8E28-4933018C3600}"/>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a:extLst>
                <a:ext uri="{FF2B5EF4-FFF2-40B4-BE49-F238E27FC236}">
                  <a16:creationId xmlns:a16="http://schemas.microsoft.com/office/drawing/2014/main" id="{25A1DE96-E618-F245-B317-BF7C352A5215}"/>
                </a:ext>
              </a:extLst>
            </p:cNvPr>
            <p:cNvSpPr txBox="1"/>
            <p:nvPr/>
          </p:nvSpPr>
          <p:spPr>
            <a:xfrm>
              <a:off x="3359490" y="3649479"/>
              <a:ext cx="5734634" cy="565283"/>
            </a:xfrm>
            <a:prstGeom prst="rect">
              <a:avLst/>
            </a:prstGeom>
            <a:noFill/>
          </p:spPr>
          <p:txBody>
            <a:bodyPr wrap="square" rtlCol="0">
              <a:spAutoFit/>
            </a:bodyPr>
            <a:lstStyle/>
            <a:p>
              <a:pPr algn="ctr">
                <a:lnSpc>
                  <a:spcPct val="85000"/>
                </a:lnSpc>
              </a:pPr>
              <a:r>
                <a:rPr lang="en-US" dirty="0">
                  <a:solidFill>
                    <a:srgbClr val="C00000"/>
                  </a:solidFill>
                </a:rPr>
                <a:t>Network-layer </a:t>
              </a:r>
              <a:r>
                <a:rPr lang="en-US" dirty="0"/>
                <a:t>protocol transfers transport-layer segment [H</a:t>
              </a:r>
              <a:r>
                <a:rPr lang="en-US" baseline="-25000" dirty="0"/>
                <a:t>t</a:t>
              </a:r>
              <a:r>
                <a:rPr lang="en-US" dirty="0"/>
                <a:t> | M] from one </a:t>
              </a:r>
              <a:r>
                <a:rPr lang="en-US" i="1" dirty="0"/>
                <a:t>host</a:t>
              </a:r>
              <a:r>
                <a:rPr lang="en-US" dirty="0"/>
                <a:t> to another, using link layer services</a:t>
              </a:r>
            </a:p>
          </p:txBody>
        </p:sp>
      </p:grpSp>
      <p:sp>
        <p:nvSpPr>
          <p:cNvPr id="86" name="Slide Number Placeholder 5">
            <a:extLst>
              <a:ext uri="{FF2B5EF4-FFF2-40B4-BE49-F238E27FC236}">
                <a16:creationId xmlns:a16="http://schemas.microsoft.com/office/drawing/2014/main" id="{FCF8662E-6C10-1246-A632-4EAD39DCFA18}"/>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10</a:t>
            </a:fld>
            <a:endParaRPr lang="en-US" dirty="0"/>
          </a:p>
        </p:txBody>
      </p:sp>
    </p:spTree>
    <p:extLst>
      <p:ext uri="{BB962C8B-B14F-4D97-AF65-F5344CB8AC3E}">
        <p14:creationId xmlns:p14="http://schemas.microsoft.com/office/powerpoint/2010/main" val="9957701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28"/>
                                        </p:tgtEl>
                                      </p:cBhvr>
                                    </p:animEffect>
                                    <p:set>
                                      <p:cBhvr>
                                        <p:cTn id="7" dur="1" fill="hold">
                                          <p:stCondLst>
                                            <p:cond delay="499"/>
                                          </p:stCondLst>
                                        </p:cTn>
                                        <p:tgtEl>
                                          <p:spTgt spid="128"/>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dissolve">
                                      <p:cBhvr>
                                        <p:cTn id="10" dur="5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44"/>
                                        </p:tgtEl>
                                        <p:attrNameLst>
                                          <p:attrName>style.visibility</p:attrName>
                                        </p:attrNameLst>
                                      </p:cBhvr>
                                      <p:to>
                                        <p:strVal val="visible"/>
                                      </p:to>
                                    </p:set>
                                    <p:animEffect transition="in" filter="dissolve">
                                      <p:cBhvr>
                                        <p:cTn id="15" dur="5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144"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Freeform 10">
            <a:extLst>
              <a:ext uri="{FF2B5EF4-FFF2-40B4-BE49-F238E27FC236}">
                <a16:creationId xmlns:a16="http://schemas.microsoft.com/office/drawing/2014/main" id="{236C8C34-AA0A-1747-BF1D-3CBFB21AC1F2}"/>
              </a:ext>
            </a:extLst>
          </p:cNvPr>
          <p:cNvSpPr>
            <a:spLocks/>
          </p:cNvSpPr>
          <p:nvPr/>
        </p:nvSpPr>
        <p:spPr bwMode="auto">
          <a:xfrm rot="10800000" flipH="1">
            <a:off x="10916607" y="1577038"/>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Services, Layering and Encapsulation</a:t>
            </a:r>
            <a:endParaRPr lang="en-US" sz="4400" dirty="0"/>
          </a:p>
        </p:txBody>
      </p:sp>
      <p:sp>
        <p:nvSpPr>
          <p:cNvPr id="13" name="Text Box 8">
            <a:extLst>
              <a:ext uri="{FF2B5EF4-FFF2-40B4-BE49-F238E27FC236}">
                <a16:creationId xmlns:a16="http://schemas.microsoft.com/office/drawing/2014/main" id="{10CAB5B1-70B7-184B-A16F-4239A3118B18}"/>
              </a:ext>
            </a:extLst>
          </p:cNvPr>
          <p:cNvSpPr txBox="1">
            <a:spLocks noChangeArrowheads="1"/>
          </p:cNvSpPr>
          <p:nvPr/>
        </p:nvSpPr>
        <p:spPr bwMode="auto">
          <a:xfrm>
            <a:off x="449705" y="5724388"/>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4" name="Freeform 10">
            <a:extLst>
              <a:ext uri="{FF2B5EF4-FFF2-40B4-BE49-F238E27FC236}">
                <a16:creationId xmlns:a16="http://schemas.microsoft.com/office/drawing/2014/main" id="{1C528DAB-CFD1-6943-9F41-1A6F334C3C75}"/>
              </a:ext>
            </a:extLst>
          </p:cNvPr>
          <p:cNvSpPr>
            <a:spLocks/>
          </p:cNvSpPr>
          <p:nvPr/>
        </p:nvSpPr>
        <p:spPr bwMode="auto">
          <a:xfrm rot="10800000">
            <a:off x="975630" y="1559549"/>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190">
            <a:extLst>
              <a:ext uri="{FF2B5EF4-FFF2-40B4-BE49-F238E27FC236}">
                <a16:creationId xmlns:a16="http://schemas.microsoft.com/office/drawing/2014/main" id="{8D7B8AF0-B984-FB44-AB9F-07CA253CEA38}"/>
              </a:ext>
            </a:extLst>
          </p:cNvPr>
          <p:cNvGrpSpPr>
            <a:grpSpLocks/>
          </p:cNvGrpSpPr>
          <p:nvPr/>
        </p:nvGrpSpPr>
        <p:grpSpPr bwMode="auto">
          <a:xfrm flipH="1">
            <a:off x="635446" y="5073984"/>
            <a:ext cx="803275" cy="771525"/>
            <a:chOff x="-44" y="1473"/>
            <a:chExt cx="981" cy="1105"/>
          </a:xfrm>
        </p:grpSpPr>
        <p:pic>
          <p:nvPicPr>
            <p:cNvPr id="25" name="Picture 191" descr="desktop_computer_stylized_medium">
              <a:extLst>
                <a:ext uri="{FF2B5EF4-FFF2-40B4-BE49-F238E27FC236}">
                  <a16:creationId xmlns:a16="http://schemas.microsoft.com/office/drawing/2014/main" id="{06D1D726-A569-254A-9E27-366DB8CF32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192">
              <a:extLst>
                <a:ext uri="{FF2B5EF4-FFF2-40B4-BE49-F238E27FC236}">
                  <a16:creationId xmlns:a16="http://schemas.microsoft.com/office/drawing/2014/main" id="{F5362B29-42A6-3F4A-A1AB-EFF56E7B772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27" name="Straight Arrow Connector 126">
            <a:extLst>
              <a:ext uri="{FF2B5EF4-FFF2-40B4-BE49-F238E27FC236}">
                <a16:creationId xmlns:a16="http://schemas.microsoft.com/office/drawing/2014/main" id="{2ACB87E4-845E-A542-9CE2-5864050E17AD}"/>
              </a:ext>
            </a:extLst>
          </p:cNvPr>
          <p:cNvCxnSpPr>
            <a:cxnSpLocks/>
          </p:cNvCxnSpPr>
          <p:nvPr/>
        </p:nvCxnSpPr>
        <p:spPr>
          <a:xfrm>
            <a:off x="3211642" y="2610788"/>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3" name="Rectangle 142">
            <a:extLst>
              <a:ext uri="{FF2B5EF4-FFF2-40B4-BE49-F238E27FC236}">
                <a16:creationId xmlns:a16="http://schemas.microsoft.com/office/drawing/2014/main" id="{EE8BAFE3-3C6F-F143-9E4B-2A620EAB382E}"/>
              </a:ext>
            </a:extLst>
          </p:cNvPr>
          <p:cNvSpPr/>
          <p:nvPr/>
        </p:nvSpPr>
        <p:spPr>
          <a:xfrm>
            <a:off x="5584583" y="2368401"/>
            <a:ext cx="971760"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3" name="Group 185">
            <a:extLst>
              <a:ext uri="{FF2B5EF4-FFF2-40B4-BE49-F238E27FC236}">
                <a16:creationId xmlns:a16="http://schemas.microsoft.com/office/drawing/2014/main" id="{EB20B2E4-EE78-334C-B142-D9716F510006}"/>
              </a:ext>
            </a:extLst>
          </p:cNvPr>
          <p:cNvGrpSpPr>
            <a:grpSpLocks/>
          </p:cNvGrpSpPr>
          <p:nvPr/>
        </p:nvGrpSpPr>
        <p:grpSpPr bwMode="auto">
          <a:xfrm>
            <a:off x="5690803" y="2434313"/>
            <a:ext cx="908050" cy="301625"/>
            <a:chOff x="1848" y="2046"/>
            <a:chExt cx="572" cy="190"/>
          </a:xfrm>
        </p:grpSpPr>
        <p:grpSp>
          <p:nvGrpSpPr>
            <p:cNvPr id="134" name="Group 179">
              <a:extLst>
                <a:ext uri="{FF2B5EF4-FFF2-40B4-BE49-F238E27FC236}">
                  <a16:creationId xmlns:a16="http://schemas.microsoft.com/office/drawing/2014/main" id="{1D5E26E8-DD67-F64E-B7A5-CF2A5868C4FE}"/>
                </a:ext>
              </a:extLst>
            </p:cNvPr>
            <p:cNvGrpSpPr>
              <a:grpSpLocks/>
            </p:cNvGrpSpPr>
            <p:nvPr/>
          </p:nvGrpSpPr>
          <p:grpSpPr bwMode="auto">
            <a:xfrm>
              <a:off x="1848" y="2047"/>
              <a:ext cx="187" cy="184"/>
              <a:chOff x="1959" y="2058"/>
              <a:chExt cx="187" cy="184"/>
            </a:xfrm>
          </p:grpSpPr>
          <p:sp>
            <p:nvSpPr>
              <p:cNvPr id="138" name="Rectangle 180">
                <a:extLst>
                  <a:ext uri="{FF2B5EF4-FFF2-40B4-BE49-F238E27FC236}">
                    <a16:creationId xmlns:a16="http://schemas.microsoft.com/office/drawing/2014/main" id="{A0FF28E6-68F8-9D49-858D-54A894437AE3}"/>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9" name="Rectangle 181">
                <a:extLst>
                  <a:ext uri="{FF2B5EF4-FFF2-40B4-BE49-F238E27FC236}">
                    <a16:creationId xmlns:a16="http://schemas.microsoft.com/office/drawing/2014/main" id="{57F4F79C-9470-0243-9459-9DE005B149AC}"/>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135" name="Group 182">
              <a:extLst>
                <a:ext uri="{FF2B5EF4-FFF2-40B4-BE49-F238E27FC236}">
                  <a16:creationId xmlns:a16="http://schemas.microsoft.com/office/drawing/2014/main" id="{C814D838-F088-1449-A73B-3285342C6057}"/>
                </a:ext>
              </a:extLst>
            </p:cNvPr>
            <p:cNvGrpSpPr>
              <a:grpSpLocks/>
            </p:cNvGrpSpPr>
            <p:nvPr/>
          </p:nvGrpSpPr>
          <p:grpSpPr bwMode="auto">
            <a:xfrm>
              <a:off x="1992" y="2046"/>
              <a:ext cx="428" cy="190"/>
              <a:chOff x="780" y="1553"/>
              <a:chExt cx="428" cy="190"/>
            </a:xfrm>
          </p:grpSpPr>
          <p:sp>
            <p:nvSpPr>
              <p:cNvPr id="136" name="Rectangle 183">
                <a:extLst>
                  <a:ext uri="{FF2B5EF4-FFF2-40B4-BE49-F238E27FC236}">
                    <a16:creationId xmlns:a16="http://schemas.microsoft.com/office/drawing/2014/main" id="{744B26E9-8C84-AF45-BC0E-C09188489CFA}"/>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7" name="Rectangle 184">
                <a:extLst>
                  <a:ext uri="{FF2B5EF4-FFF2-40B4-BE49-F238E27FC236}">
                    <a16:creationId xmlns:a16="http://schemas.microsoft.com/office/drawing/2014/main" id="{71A3F897-85F9-4241-906F-6308455A3CAB}"/>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144" name="TextBox 143">
            <a:extLst>
              <a:ext uri="{FF2B5EF4-FFF2-40B4-BE49-F238E27FC236}">
                <a16:creationId xmlns:a16="http://schemas.microsoft.com/office/drawing/2014/main" id="{2CE37313-1E06-C945-A455-53ADE2AA5971}"/>
              </a:ext>
            </a:extLst>
          </p:cNvPr>
          <p:cNvSpPr txBox="1"/>
          <p:nvPr/>
        </p:nvSpPr>
        <p:spPr>
          <a:xfrm>
            <a:off x="3371603" y="5096823"/>
            <a:ext cx="5831174" cy="1089529"/>
          </a:xfrm>
          <a:prstGeom prst="rect">
            <a:avLst/>
          </a:prstGeom>
          <a:noFill/>
        </p:spPr>
        <p:txBody>
          <a:bodyPr wrap="square" rtlCol="0">
            <a:spAutoFit/>
          </a:bodyPr>
          <a:lstStyle/>
          <a:p>
            <a:pPr marL="295275" indent="-295275">
              <a:lnSpc>
                <a:spcPct val="90000"/>
              </a:lnSpc>
              <a:buClr>
                <a:srgbClr val="0000A3"/>
              </a:buClr>
              <a:buFont typeface="Wingdings" pitchFamily="2" charset="2"/>
              <a:buChar char="§"/>
            </a:pPr>
            <a:r>
              <a:rPr lang="en-US" sz="2400" dirty="0"/>
              <a:t>link-layer protocol </a:t>
            </a:r>
            <a:r>
              <a:rPr lang="en-US" sz="2400" dirty="0">
                <a:solidFill>
                  <a:srgbClr val="0000A3"/>
                </a:solidFill>
              </a:rPr>
              <a:t>encapsulates</a:t>
            </a:r>
            <a:r>
              <a:rPr lang="en-US" sz="2400" dirty="0"/>
              <a:t> network datagram </a:t>
            </a:r>
            <a:r>
              <a:rPr lang="en-US" sz="2000" dirty="0"/>
              <a:t>[H</a:t>
            </a:r>
            <a:r>
              <a:rPr lang="en-US" sz="2000" baseline="-25000" dirty="0"/>
              <a:t>n</a:t>
            </a:r>
            <a:r>
              <a:rPr lang="en-US" sz="2000" dirty="0"/>
              <a:t>| [H</a:t>
            </a:r>
            <a:r>
              <a:rPr lang="en-US" sz="2000" baseline="-25000" dirty="0"/>
              <a:t>t</a:t>
            </a:r>
            <a:r>
              <a:rPr lang="en-US" sz="2000" dirty="0"/>
              <a:t> |M], </a:t>
            </a:r>
            <a:r>
              <a:rPr lang="en-US" sz="2400" dirty="0"/>
              <a:t>with link-layer header H</a:t>
            </a:r>
            <a:r>
              <a:rPr lang="en-US" sz="2400" baseline="-25000" dirty="0"/>
              <a:t>l </a:t>
            </a:r>
            <a:r>
              <a:rPr lang="en-US" sz="2400" dirty="0"/>
              <a:t> to create a link-layer </a:t>
            </a:r>
            <a:r>
              <a:rPr lang="en-US" sz="2400" dirty="0">
                <a:solidFill>
                  <a:srgbClr val="C00000"/>
                </a:solidFill>
              </a:rPr>
              <a:t>frame </a:t>
            </a:r>
          </a:p>
        </p:txBody>
      </p:sp>
      <p:grpSp>
        <p:nvGrpSpPr>
          <p:cNvPr id="212" name="Group 211">
            <a:extLst>
              <a:ext uri="{FF2B5EF4-FFF2-40B4-BE49-F238E27FC236}">
                <a16:creationId xmlns:a16="http://schemas.microsoft.com/office/drawing/2014/main" id="{BD0C4974-D689-414F-A2EB-9B1043F3314D}"/>
              </a:ext>
            </a:extLst>
          </p:cNvPr>
          <p:cNvGrpSpPr/>
          <p:nvPr/>
        </p:nvGrpSpPr>
        <p:grpSpPr>
          <a:xfrm>
            <a:off x="1334125" y="1421667"/>
            <a:ext cx="1765726" cy="4034752"/>
            <a:chOff x="1484027" y="1706480"/>
            <a:chExt cx="1765726" cy="4034752"/>
          </a:xfrm>
        </p:grpSpPr>
        <p:sp>
          <p:nvSpPr>
            <p:cNvPr id="11" name="Rectangle 24">
              <a:extLst>
                <a:ext uri="{FF2B5EF4-FFF2-40B4-BE49-F238E27FC236}">
                  <a16:creationId xmlns:a16="http://schemas.microsoft.com/office/drawing/2014/main" id="{ED8D52E4-C345-B842-A2E7-C8068B8E5CF4}"/>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 name="Text Box 26">
              <a:extLst>
                <a:ext uri="{FF2B5EF4-FFF2-40B4-BE49-F238E27FC236}">
                  <a16:creationId xmlns:a16="http://schemas.microsoft.com/office/drawing/2014/main" id="{A5089E2D-0B1B-544A-82BC-F28ED3191A4E}"/>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117" name="Straight Connector 116">
              <a:extLst>
                <a:ext uri="{FF2B5EF4-FFF2-40B4-BE49-F238E27FC236}">
                  <a16:creationId xmlns:a16="http://schemas.microsoft.com/office/drawing/2014/main" id="{B3EBBB35-9D82-7C43-B882-52ED90AE3A71}"/>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2EA7353-AEFA-934F-93DE-A8D55DF75658}"/>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40242E3-3BEB-D543-B881-84EB2D13BD66}"/>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DC27D746-0691-6F47-9E9D-1D63DF11D081}"/>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950">
            <a:extLst>
              <a:ext uri="{FF2B5EF4-FFF2-40B4-BE49-F238E27FC236}">
                <a16:creationId xmlns:a16="http://schemas.microsoft.com/office/drawing/2014/main" id="{044873AD-74A5-8A44-846B-EC5D0FBC82D7}"/>
              </a:ext>
            </a:extLst>
          </p:cNvPr>
          <p:cNvGrpSpPr>
            <a:grpSpLocks/>
          </p:cNvGrpSpPr>
          <p:nvPr/>
        </p:nvGrpSpPr>
        <p:grpSpPr bwMode="auto">
          <a:xfrm>
            <a:off x="11107713" y="4961744"/>
            <a:ext cx="374754" cy="833726"/>
            <a:chOff x="4140" y="429"/>
            <a:chExt cx="1425" cy="2396"/>
          </a:xfrm>
        </p:grpSpPr>
        <p:sp>
          <p:nvSpPr>
            <p:cNvPr id="168" name="Freeform 951">
              <a:extLst>
                <a:ext uri="{FF2B5EF4-FFF2-40B4-BE49-F238E27FC236}">
                  <a16:creationId xmlns:a16="http://schemas.microsoft.com/office/drawing/2014/main" id="{EEDE4156-8281-D847-9240-9DE98999091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952">
              <a:extLst>
                <a:ext uri="{FF2B5EF4-FFF2-40B4-BE49-F238E27FC236}">
                  <a16:creationId xmlns:a16="http://schemas.microsoft.com/office/drawing/2014/main" id="{22E8340D-B5D1-3C48-A062-4F70248D103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0" name="Freeform 953">
              <a:extLst>
                <a:ext uri="{FF2B5EF4-FFF2-40B4-BE49-F238E27FC236}">
                  <a16:creationId xmlns:a16="http://schemas.microsoft.com/office/drawing/2014/main" id="{29109B86-1ABF-F647-8516-2AAE154A9E8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954">
              <a:extLst>
                <a:ext uri="{FF2B5EF4-FFF2-40B4-BE49-F238E27FC236}">
                  <a16:creationId xmlns:a16="http://schemas.microsoft.com/office/drawing/2014/main" id="{9F93569F-8FC8-7C4E-9F95-B14647D2DB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955">
              <a:extLst>
                <a:ext uri="{FF2B5EF4-FFF2-40B4-BE49-F238E27FC236}">
                  <a16:creationId xmlns:a16="http://schemas.microsoft.com/office/drawing/2014/main" id="{8E5BC3B8-E87D-9F47-A6F6-AD8B57BC21E6}"/>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3" name="Group 956">
              <a:extLst>
                <a:ext uri="{FF2B5EF4-FFF2-40B4-BE49-F238E27FC236}">
                  <a16:creationId xmlns:a16="http://schemas.microsoft.com/office/drawing/2014/main" id="{1694DE96-689D-9540-964A-22F06F6D940F}"/>
                </a:ext>
              </a:extLst>
            </p:cNvPr>
            <p:cNvGrpSpPr>
              <a:grpSpLocks/>
            </p:cNvGrpSpPr>
            <p:nvPr/>
          </p:nvGrpSpPr>
          <p:grpSpPr bwMode="auto">
            <a:xfrm>
              <a:off x="4749" y="668"/>
              <a:ext cx="581" cy="145"/>
              <a:chOff x="614" y="2568"/>
              <a:chExt cx="725" cy="139"/>
            </a:xfrm>
          </p:grpSpPr>
          <p:sp>
            <p:nvSpPr>
              <p:cNvPr id="198" name="AutoShape 957">
                <a:extLst>
                  <a:ext uri="{FF2B5EF4-FFF2-40B4-BE49-F238E27FC236}">
                    <a16:creationId xmlns:a16="http://schemas.microsoft.com/office/drawing/2014/main" id="{435DFCEB-F2FD-7B44-93DA-9204E2E311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9" name="AutoShape 958">
                <a:extLst>
                  <a:ext uri="{FF2B5EF4-FFF2-40B4-BE49-F238E27FC236}">
                    <a16:creationId xmlns:a16="http://schemas.microsoft.com/office/drawing/2014/main" id="{521647D7-4114-1146-9C5A-F1DB4FEC81A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4" name="Rectangle 959">
              <a:extLst>
                <a:ext uri="{FF2B5EF4-FFF2-40B4-BE49-F238E27FC236}">
                  <a16:creationId xmlns:a16="http://schemas.microsoft.com/office/drawing/2014/main" id="{3A0D9FD6-DBAC-4B49-A55F-167642D66FA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5" name="Group 960">
              <a:extLst>
                <a:ext uri="{FF2B5EF4-FFF2-40B4-BE49-F238E27FC236}">
                  <a16:creationId xmlns:a16="http://schemas.microsoft.com/office/drawing/2014/main" id="{3CFA0950-BC76-3949-8726-38646B18FD5C}"/>
                </a:ext>
              </a:extLst>
            </p:cNvPr>
            <p:cNvGrpSpPr>
              <a:grpSpLocks/>
            </p:cNvGrpSpPr>
            <p:nvPr/>
          </p:nvGrpSpPr>
          <p:grpSpPr bwMode="auto">
            <a:xfrm>
              <a:off x="4747" y="994"/>
              <a:ext cx="581" cy="134"/>
              <a:chOff x="614" y="2568"/>
              <a:chExt cx="725" cy="139"/>
            </a:xfrm>
          </p:grpSpPr>
          <p:sp>
            <p:nvSpPr>
              <p:cNvPr id="196" name="AutoShape 961">
                <a:extLst>
                  <a:ext uri="{FF2B5EF4-FFF2-40B4-BE49-F238E27FC236}">
                    <a16:creationId xmlns:a16="http://schemas.microsoft.com/office/drawing/2014/main" id="{67127BA7-9D0A-2443-9190-C56C02906F6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AutoShape 962">
                <a:extLst>
                  <a:ext uri="{FF2B5EF4-FFF2-40B4-BE49-F238E27FC236}">
                    <a16:creationId xmlns:a16="http://schemas.microsoft.com/office/drawing/2014/main" id="{2C9F8790-3076-4541-A56A-E9305DCB098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6" name="Rectangle 963">
              <a:extLst>
                <a:ext uri="{FF2B5EF4-FFF2-40B4-BE49-F238E27FC236}">
                  <a16:creationId xmlns:a16="http://schemas.microsoft.com/office/drawing/2014/main" id="{4DE6A147-5BC7-FF41-B7AC-2BA9913BB098}"/>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Rectangle 964">
              <a:extLst>
                <a:ext uri="{FF2B5EF4-FFF2-40B4-BE49-F238E27FC236}">
                  <a16:creationId xmlns:a16="http://schemas.microsoft.com/office/drawing/2014/main" id="{53ECF0A1-6175-BE45-A32A-233E1942C8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8" name="Group 965">
              <a:extLst>
                <a:ext uri="{FF2B5EF4-FFF2-40B4-BE49-F238E27FC236}">
                  <a16:creationId xmlns:a16="http://schemas.microsoft.com/office/drawing/2014/main" id="{16810F93-1596-884B-B639-A3868A5CD4D8}"/>
                </a:ext>
              </a:extLst>
            </p:cNvPr>
            <p:cNvGrpSpPr>
              <a:grpSpLocks/>
            </p:cNvGrpSpPr>
            <p:nvPr/>
          </p:nvGrpSpPr>
          <p:grpSpPr bwMode="auto">
            <a:xfrm>
              <a:off x="4735" y="1627"/>
              <a:ext cx="582" cy="151"/>
              <a:chOff x="614" y="2568"/>
              <a:chExt cx="725" cy="139"/>
            </a:xfrm>
          </p:grpSpPr>
          <p:sp>
            <p:nvSpPr>
              <p:cNvPr id="194" name="AutoShape 966">
                <a:extLst>
                  <a:ext uri="{FF2B5EF4-FFF2-40B4-BE49-F238E27FC236}">
                    <a16:creationId xmlns:a16="http://schemas.microsoft.com/office/drawing/2014/main" id="{84EC0348-3D46-9445-B43C-6DC8DB392F6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AutoShape 967">
                <a:extLst>
                  <a:ext uri="{FF2B5EF4-FFF2-40B4-BE49-F238E27FC236}">
                    <a16:creationId xmlns:a16="http://schemas.microsoft.com/office/drawing/2014/main" id="{23A1F6B3-9F2D-5E41-8602-67921ABB12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9" name="Freeform 968">
              <a:extLst>
                <a:ext uri="{FF2B5EF4-FFF2-40B4-BE49-F238E27FC236}">
                  <a16:creationId xmlns:a16="http://schemas.microsoft.com/office/drawing/2014/main" id="{8FD6AEB5-BE60-044C-B32D-B433B740036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0" name="Group 969">
              <a:extLst>
                <a:ext uri="{FF2B5EF4-FFF2-40B4-BE49-F238E27FC236}">
                  <a16:creationId xmlns:a16="http://schemas.microsoft.com/office/drawing/2014/main" id="{30895737-AC01-6342-BADB-B3B3BFE7FC46}"/>
                </a:ext>
              </a:extLst>
            </p:cNvPr>
            <p:cNvGrpSpPr>
              <a:grpSpLocks/>
            </p:cNvGrpSpPr>
            <p:nvPr/>
          </p:nvGrpSpPr>
          <p:grpSpPr bwMode="auto">
            <a:xfrm>
              <a:off x="4739" y="1327"/>
              <a:ext cx="582" cy="139"/>
              <a:chOff x="614" y="2568"/>
              <a:chExt cx="725" cy="139"/>
            </a:xfrm>
          </p:grpSpPr>
          <p:sp>
            <p:nvSpPr>
              <p:cNvPr id="192" name="AutoShape 970">
                <a:extLst>
                  <a:ext uri="{FF2B5EF4-FFF2-40B4-BE49-F238E27FC236}">
                    <a16:creationId xmlns:a16="http://schemas.microsoft.com/office/drawing/2014/main" id="{2D690E63-3733-8E4E-B8F8-19245FF772B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3" name="AutoShape 971">
                <a:extLst>
                  <a:ext uri="{FF2B5EF4-FFF2-40B4-BE49-F238E27FC236}">
                    <a16:creationId xmlns:a16="http://schemas.microsoft.com/office/drawing/2014/main" id="{9CE827B0-221F-ED4A-A36B-E1EEFE27B7B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72">
              <a:extLst>
                <a:ext uri="{FF2B5EF4-FFF2-40B4-BE49-F238E27FC236}">
                  <a16:creationId xmlns:a16="http://schemas.microsoft.com/office/drawing/2014/main" id="{6DA44079-B2D7-9244-A5E0-9DF13556EBC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2" name="Freeform 973">
              <a:extLst>
                <a:ext uri="{FF2B5EF4-FFF2-40B4-BE49-F238E27FC236}">
                  <a16:creationId xmlns:a16="http://schemas.microsoft.com/office/drawing/2014/main" id="{E808BD44-A307-394D-8965-070EF3F8652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974">
              <a:extLst>
                <a:ext uri="{FF2B5EF4-FFF2-40B4-BE49-F238E27FC236}">
                  <a16:creationId xmlns:a16="http://schemas.microsoft.com/office/drawing/2014/main" id="{327FF4BF-3914-2143-83C7-C816B3E0AC3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Oval 975">
              <a:extLst>
                <a:ext uri="{FF2B5EF4-FFF2-40B4-BE49-F238E27FC236}">
                  <a16:creationId xmlns:a16="http://schemas.microsoft.com/office/drawing/2014/main" id="{09C51570-A4D3-D24C-A492-3811DD957CD4}"/>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5" name="Freeform 976">
              <a:extLst>
                <a:ext uri="{FF2B5EF4-FFF2-40B4-BE49-F238E27FC236}">
                  <a16:creationId xmlns:a16="http://schemas.microsoft.com/office/drawing/2014/main" id="{BC2853B5-A39B-5A40-97DF-5ADB471224B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AutoShape 977">
              <a:extLst>
                <a:ext uri="{FF2B5EF4-FFF2-40B4-BE49-F238E27FC236}">
                  <a16:creationId xmlns:a16="http://schemas.microsoft.com/office/drawing/2014/main" id="{7928EDBA-57E1-B441-B1AF-CC0D62B2B5B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AutoShape 978">
              <a:extLst>
                <a:ext uri="{FF2B5EF4-FFF2-40B4-BE49-F238E27FC236}">
                  <a16:creationId xmlns:a16="http://schemas.microsoft.com/office/drawing/2014/main" id="{CC70E1A7-AAEC-6440-86AC-73ECE22D7A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8" name="Oval 979">
              <a:extLst>
                <a:ext uri="{FF2B5EF4-FFF2-40B4-BE49-F238E27FC236}">
                  <a16:creationId xmlns:a16="http://schemas.microsoft.com/office/drawing/2014/main" id="{2F7E7C91-0257-D84D-8AD1-4A152C818F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Oval 980">
              <a:extLst>
                <a:ext uri="{FF2B5EF4-FFF2-40B4-BE49-F238E27FC236}">
                  <a16:creationId xmlns:a16="http://schemas.microsoft.com/office/drawing/2014/main" id="{6AE127C2-D583-E74D-8B39-05EEBEBE23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0" name="Oval 981">
              <a:extLst>
                <a:ext uri="{FF2B5EF4-FFF2-40B4-BE49-F238E27FC236}">
                  <a16:creationId xmlns:a16="http://schemas.microsoft.com/office/drawing/2014/main" id="{0EDFA963-70E6-2E42-AAFE-E2F9BD64631D}"/>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1" name="Rectangle 982">
              <a:extLst>
                <a:ext uri="{FF2B5EF4-FFF2-40B4-BE49-F238E27FC236}">
                  <a16:creationId xmlns:a16="http://schemas.microsoft.com/office/drawing/2014/main" id="{27A6382E-A13F-A248-84BF-E9DBD71EE18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06" name="Text Box 8">
            <a:extLst>
              <a:ext uri="{FF2B5EF4-FFF2-40B4-BE49-F238E27FC236}">
                <a16:creationId xmlns:a16="http://schemas.microsoft.com/office/drawing/2014/main" id="{6066254D-E62E-B446-8950-17FDF2A183D7}"/>
              </a:ext>
            </a:extLst>
          </p:cNvPr>
          <p:cNvSpPr txBox="1">
            <a:spLocks noChangeArrowheads="1"/>
          </p:cNvSpPr>
          <p:nvPr/>
        </p:nvSpPr>
        <p:spPr bwMode="auto">
          <a:xfrm>
            <a:off x="10216734" y="5716780"/>
            <a:ext cx="16754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400" i="1" dirty="0">
                <a:solidFill>
                  <a:srgbClr val="000099"/>
                </a:solidFill>
                <a:latin typeface="Arial" panose="020B0604020202020204" pitchFamily="34" charset="0"/>
              </a:rPr>
              <a:t>destination</a:t>
            </a:r>
            <a:endPar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07" name="Group 206">
            <a:extLst>
              <a:ext uri="{FF2B5EF4-FFF2-40B4-BE49-F238E27FC236}">
                <a16:creationId xmlns:a16="http://schemas.microsoft.com/office/drawing/2014/main" id="{9BA8D23A-DF12-2443-9B89-890BD7CDB6B8}"/>
              </a:ext>
            </a:extLst>
          </p:cNvPr>
          <p:cNvGrpSpPr/>
          <p:nvPr/>
        </p:nvGrpSpPr>
        <p:grpSpPr>
          <a:xfrm>
            <a:off x="3254290" y="1489592"/>
            <a:ext cx="5651292" cy="389744"/>
            <a:chOff x="3270354" y="1798823"/>
            <a:chExt cx="5651292" cy="389744"/>
          </a:xfrm>
        </p:grpSpPr>
        <p:cxnSp>
          <p:nvCxnSpPr>
            <p:cNvPr id="8" name="Straight Arrow Connector 7">
              <a:extLst>
                <a:ext uri="{FF2B5EF4-FFF2-40B4-BE49-F238E27FC236}">
                  <a16:creationId xmlns:a16="http://schemas.microsoft.com/office/drawing/2014/main" id="{A76A2E93-F723-6741-8FBC-288F6B0B758B}"/>
                </a:ext>
              </a:extLst>
            </p:cNvPr>
            <p:cNvCxnSpPr>
              <a:cxnSpLocks/>
            </p:cNvCxnSpPr>
            <p:nvPr/>
          </p:nvCxnSpPr>
          <p:spPr>
            <a:xfrm>
              <a:off x="3270354" y="1993691"/>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2" name="Rectangle 111">
              <a:extLst>
                <a:ext uri="{FF2B5EF4-FFF2-40B4-BE49-F238E27FC236}">
                  <a16:creationId xmlns:a16="http://schemas.microsoft.com/office/drawing/2014/main" id="{30C90201-2355-084F-A843-B545A899D6FE}"/>
                </a:ext>
              </a:extLst>
            </p:cNvPr>
            <p:cNvSpPr/>
            <p:nvPr/>
          </p:nvSpPr>
          <p:spPr>
            <a:xfrm>
              <a:off x="5878639" y="1798823"/>
              <a:ext cx="674558"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6" name="Group 175">
              <a:extLst>
                <a:ext uri="{FF2B5EF4-FFF2-40B4-BE49-F238E27FC236}">
                  <a16:creationId xmlns:a16="http://schemas.microsoft.com/office/drawing/2014/main" id="{AC026B9A-C8C6-C045-8CBD-B9022027FFE8}"/>
                </a:ext>
              </a:extLst>
            </p:cNvPr>
            <p:cNvGrpSpPr>
              <a:grpSpLocks/>
            </p:cNvGrpSpPr>
            <p:nvPr/>
          </p:nvGrpSpPr>
          <p:grpSpPr bwMode="auto">
            <a:xfrm>
              <a:off x="5953468" y="1857555"/>
              <a:ext cx="679450" cy="301625"/>
              <a:chOff x="780" y="1553"/>
              <a:chExt cx="428" cy="190"/>
            </a:xfrm>
          </p:grpSpPr>
          <p:sp>
            <p:nvSpPr>
              <p:cNvPr id="97" name="Rectangle 176">
                <a:extLst>
                  <a:ext uri="{FF2B5EF4-FFF2-40B4-BE49-F238E27FC236}">
                    <a16:creationId xmlns:a16="http://schemas.microsoft.com/office/drawing/2014/main" id="{10F5A1DA-0939-D34B-B227-29AA407BCDD6}"/>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8" name="Rectangle 177">
                <a:extLst>
                  <a:ext uri="{FF2B5EF4-FFF2-40B4-BE49-F238E27FC236}">
                    <a16:creationId xmlns:a16="http://schemas.microsoft.com/office/drawing/2014/main" id="{2086AF53-43CC-814A-BA4C-260362990784}"/>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213" name="Group 212">
            <a:extLst>
              <a:ext uri="{FF2B5EF4-FFF2-40B4-BE49-F238E27FC236}">
                <a16:creationId xmlns:a16="http://schemas.microsoft.com/office/drawing/2014/main" id="{94888FAE-136F-094E-BF2A-11D94A17BB7F}"/>
              </a:ext>
            </a:extLst>
          </p:cNvPr>
          <p:cNvGrpSpPr/>
          <p:nvPr/>
        </p:nvGrpSpPr>
        <p:grpSpPr>
          <a:xfrm>
            <a:off x="9221450" y="1413548"/>
            <a:ext cx="1765726" cy="4034752"/>
            <a:chOff x="1484027" y="1706480"/>
            <a:chExt cx="1765726" cy="4034752"/>
          </a:xfrm>
        </p:grpSpPr>
        <p:sp>
          <p:nvSpPr>
            <p:cNvPr id="214" name="Rectangle 24">
              <a:extLst>
                <a:ext uri="{FF2B5EF4-FFF2-40B4-BE49-F238E27FC236}">
                  <a16:creationId xmlns:a16="http://schemas.microsoft.com/office/drawing/2014/main" id="{FA7A7264-CB0E-4442-BA92-F16F6E6EF1F5}"/>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5" name="Text Box 26">
              <a:extLst>
                <a:ext uri="{FF2B5EF4-FFF2-40B4-BE49-F238E27FC236}">
                  <a16:creationId xmlns:a16="http://schemas.microsoft.com/office/drawing/2014/main" id="{D54F6320-1E23-E649-BFED-E007672E7AB0}"/>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216" name="Straight Connector 215">
              <a:extLst>
                <a:ext uri="{FF2B5EF4-FFF2-40B4-BE49-F238E27FC236}">
                  <a16:creationId xmlns:a16="http://schemas.microsoft.com/office/drawing/2014/main" id="{3F2C66BF-55D8-0549-A9DA-934202F38DD5}"/>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CA370408-C974-CD4A-8EF6-0AEC3924D4ED}"/>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5A7BF2B3-45B8-414A-8B63-2480CF8FA113}"/>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9A1FEA61-81C7-C449-880B-15A8ACAF5500}"/>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8" name="Straight Arrow Connector 77">
            <a:extLst>
              <a:ext uri="{FF2B5EF4-FFF2-40B4-BE49-F238E27FC236}">
                <a16:creationId xmlns:a16="http://schemas.microsoft.com/office/drawing/2014/main" id="{B1705D36-44EB-7144-ADDD-2BCA5A49E36C}"/>
              </a:ext>
            </a:extLst>
          </p:cNvPr>
          <p:cNvCxnSpPr>
            <a:cxnSpLocks/>
          </p:cNvCxnSpPr>
          <p:nvPr/>
        </p:nvCxnSpPr>
        <p:spPr>
          <a:xfrm>
            <a:off x="3211642" y="3542677"/>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0" name="Rectangle 79">
            <a:extLst>
              <a:ext uri="{FF2B5EF4-FFF2-40B4-BE49-F238E27FC236}">
                <a16:creationId xmlns:a16="http://schemas.microsoft.com/office/drawing/2014/main" id="{664C90AC-8D4A-5646-A57F-0F37EE375E51}"/>
              </a:ext>
            </a:extLst>
          </p:cNvPr>
          <p:cNvSpPr/>
          <p:nvPr/>
        </p:nvSpPr>
        <p:spPr>
          <a:xfrm>
            <a:off x="5356172" y="3319499"/>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5">
            <a:extLst>
              <a:ext uri="{FF2B5EF4-FFF2-40B4-BE49-F238E27FC236}">
                <a16:creationId xmlns:a16="http://schemas.microsoft.com/office/drawing/2014/main" id="{EB00013B-973D-F145-BC62-E1EB59B2D1F7}"/>
              </a:ext>
            </a:extLst>
          </p:cNvPr>
          <p:cNvGrpSpPr/>
          <p:nvPr/>
        </p:nvGrpSpPr>
        <p:grpSpPr>
          <a:xfrm>
            <a:off x="5418625" y="3360607"/>
            <a:ext cx="1058375" cy="307296"/>
            <a:chOff x="5509436" y="3287899"/>
            <a:chExt cx="1058375" cy="307296"/>
          </a:xfrm>
        </p:grpSpPr>
        <p:grpSp>
          <p:nvGrpSpPr>
            <p:cNvPr id="83" name="Group 182">
              <a:extLst>
                <a:ext uri="{FF2B5EF4-FFF2-40B4-BE49-F238E27FC236}">
                  <a16:creationId xmlns:a16="http://schemas.microsoft.com/office/drawing/2014/main" id="{92B476DA-1332-E245-A063-5F18A8ED561F}"/>
                </a:ext>
              </a:extLst>
            </p:cNvPr>
            <p:cNvGrpSpPr>
              <a:grpSpLocks/>
            </p:cNvGrpSpPr>
            <p:nvPr/>
          </p:nvGrpSpPr>
          <p:grpSpPr bwMode="auto">
            <a:xfrm>
              <a:off x="5510535" y="3293570"/>
              <a:ext cx="1057276" cy="301625"/>
              <a:chOff x="469" y="1531"/>
              <a:chExt cx="666" cy="190"/>
            </a:xfrm>
          </p:grpSpPr>
          <p:sp>
            <p:nvSpPr>
              <p:cNvPr id="84" name="Rectangle 183">
                <a:extLst>
                  <a:ext uri="{FF2B5EF4-FFF2-40B4-BE49-F238E27FC236}">
                    <a16:creationId xmlns:a16="http://schemas.microsoft.com/office/drawing/2014/main" id="{35A3A0E8-5840-8E42-ADE8-7EB044576C1C}"/>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184">
                <a:extLst>
                  <a:ext uri="{FF2B5EF4-FFF2-40B4-BE49-F238E27FC236}">
                    <a16:creationId xmlns:a16="http://schemas.microsoft.com/office/drawing/2014/main" id="{55600375-23A3-CD4E-BBD9-EE07BA4AED64}"/>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87" name="Rectangle 181">
              <a:extLst>
                <a:ext uri="{FF2B5EF4-FFF2-40B4-BE49-F238E27FC236}">
                  <a16:creationId xmlns:a16="http://schemas.microsoft.com/office/drawing/2014/main" id="{51F428BA-8794-2B46-B109-1D511F62E555}"/>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88" name="Rectangle 181">
              <a:extLst>
                <a:ext uri="{FF2B5EF4-FFF2-40B4-BE49-F238E27FC236}">
                  <a16:creationId xmlns:a16="http://schemas.microsoft.com/office/drawing/2014/main" id="{E5D95958-8C54-6242-A3B1-968E6AC629AC}"/>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4" name="Straight Connector 3">
              <a:extLst>
                <a:ext uri="{FF2B5EF4-FFF2-40B4-BE49-F238E27FC236}">
                  <a16:creationId xmlns:a16="http://schemas.microsoft.com/office/drawing/2014/main" id="{AE213470-EFFE-1143-AE70-3E6F1DF5204B}"/>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FB823437-9FDA-D44D-8E28-4933018C3600}"/>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2" name="TextBox 101">
            <a:extLst>
              <a:ext uri="{FF2B5EF4-FFF2-40B4-BE49-F238E27FC236}">
                <a16:creationId xmlns:a16="http://schemas.microsoft.com/office/drawing/2014/main" id="{203A67B3-AD0F-0041-BB55-345D4484BF78}"/>
              </a:ext>
            </a:extLst>
          </p:cNvPr>
          <p:cNvSpPr txBox="1"/>
          <p:nvPr/>
        </p:nvSpPr>
        <p:spPr>
          <a:xfrm>
            <a:off x="3374573" y="4483522"/>
            <a:ext cx="5620868" cy="565283"/>
          </a:xfrm>
          <a:prstGeom prst="rect">
            <a:avLst/>
          </a:prstGeom>
          <a:noFill/>
        </p:spPr>
        <p:txBody>
          <a:bodyPr wrap="square" rtlCol="0">
            <a:spAutoFit/>
          </a:bodyPr>
          <a:lstStyle/>
          <a:p>
            <a:pPr algn="ctr">
              <a:lnSpc>
                <a:spcPct val="85000"/>
              </a:lnSpc>
            </a:pPr>
            <a:r>
              <a:rPr lang="en-US" dirty="0">
                <a:solidFill>
                  <a:srgbClr val="C00000"/>
                </a:solidFill>
              </a:rPr>
              <a:t>Link-layer </a:t>
            </a:r>
            <a:r>
              <a:rPr lang="en-US" dirty="0"/>
              <a:t>protocol transfers datagram [H</a:t>
            </a:r>
            <a:r>
              <a:rPr lang="en-US" baseline="-25000" dirty="0"/>
              <a:t>n</a:t>
            </a:r>
            <a:r>
              <a:rPr lang="en-US" dirty="0"/>
              <a:t>| [H</a:t>
            </a:r>
            <a:r>
              <a:rPr lang="en-US" baseline="-25000" dirty="0"/>
              <a:t>t</a:t>
            </a:r>
            <a:r>
              <a:rPr lang="en-US" dirty="0"/>
              <a:t> |M] from </a:t>
            </a:r>
            <a:r>
              <a:rPr lang="en-US" i="1" dirty="0"/>
              <a:t>host </a:t>
            </a:r>
            <a:r>
              <a:rPr lang="en-US" dirty="0"/>
              <a:t>to neighboring host, using network-layer services</a:t>
            </a:r>
          </a:p>
        </p:txBody>
      </p:sp>
      <p:grpSp>
        <p:nvGrpSpPr>
          <p:cNvPr id="7" name="Group 6">
            <a:extLst>
              <a:ext uri="{FF2B5EF4-FFF2-40B4-BE49-F238E27FC236}">
                <a16:creationId xmlns:a16="http://schemas.microsoft.com/office/drawing/2014/main" id="{491A965C-D49C-304E-9BCB-5B5079C4AD83}"/>
              </a:ext>
            </a:extLst>
          </p:cNvPr>
          <p:cNvGrpSpPr/>
          <p:nvPr/>
        </p:nvGrpSpPr>
        <p:grpSpPr>
          <a:xfrm>
            <a:off x="3226725" y="4169060"/>
            <a:ext cx="5651292" cy="374226"/>
            <a:chOff x="3226725" y="4169060"/>
            <a:chExt cx="5651292" cy="374226"/>
          </a:xfrm>
        </p:grpSpPr>
        <p:cxnSp>
          <p:nvCxnSpPr>
            <p:cNvPr id="86" name="Straight Arrow Connector 85">
              <a:extLst>
                <a:ext uri="{FF2B5EF4-FFF2-40B4-BE49-F238E27FC236}">
                  <a16:creationId xmlns:a16="http://schemas.microsoft.com/office/drawing/2014/main" id="{6BFA270B-F048-734C-8D17-9C3EE129B47D}"/>
                </a:ext>
              </a:extLst>
            </p:cNvPr>
            <p:cNvCxnSpPr>
              <a:cxnSpLocks/>
            </p:cNvCxnSpPr>
            <p:nvPr/>
          </p:nvCxnSpPr>
          <p:spPr>
            <a:xfrm>
              <a:off x="3226725" y="4376720"/>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208143C4-E722-4448-8DC9-B6DF8B0D299E}"/>
                </a:ext>
              </a:extLst>
            </p:cNvPr>
            <p:cNvGrpSpPr/>
            <p:nvPr/>
          </p:nvGrpSpPr>
          <p:grpSpPr>
            <a:xfrm>
              <a:off x="5062983" y="4169060"/>
              <a:ext cx="1518637" cy="374226"/>
              <a:chOff x="5062983" y="4252185"/>
              <a:chExt cx="1518637" cy="374226"/>
            </a:xfrm>
          </p:grpSpPr>
          <p:sp>
            <p:nvSpPr>
              <p:cNvPr id="89" name="Rectangle 88">
                <a:extLst>
                  <a:ext uri="{FF2B5EF4-FFF2-40B4-BE49-F238E27FC236}">
                    <a16:creationId xmlns:a16="http://schemas.microsoft.com/office/drawing/2014/main" id="{76785350-92B7-9949-A608-9FBFA3760ED8}"/>
                  </a:ext>
                </a:extLst>
              </p:cNvPr>
              <p:cNvSpPr/>
              <p:nvPr/>
            </p:nvSpPr>
            <p:spPr>
              <a:xfrm>
                <a:off x="5062983" y="4252185"/>
                <a:ext cx="1518637" cy="37422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2" name="Group 182">
                <a:extLst>
                  <a:ext uri="{FF2B5EF4-FFF2-40B4-BE49-F238E27FC236}">
                    <a16:creationId xmlns:a16="http://schemas.microsoft.com/office/drawing/2014/main" id="{45CD0A72-C88E-6047-BB5F-DD34C8006CE8}"/>
                  </a:ext>
                </a:extLst>
              </p:cNvPr>
              <p:cNvGrpSpPr>
                <a:grpSpLocks/>
              </p:cNvGrpSpPr>
              <p:nvPr/>
            </p:nvGrpSpPr>
            <p:grpSpPr bwMode="auto">
              <a:xfrm>
                <a:off x="5144294" y="4283446"/>
                <a:ext cx="1347789" cy="301625"/>
                <a:chOff x="286" y="1531"/>
                <a:chExt cx="849" cy="190"/>
              </a:xfrm>
            </p:grpSpPr>
            <p:sp>
              <p:nvSpPr>
                <p:cNvPr id="100" name="Rectangle 183">
                  <a:extLst>
                    <a:ext uri="{FF2B5EF4-FFF2-40B4-BE49-F238E27FC236}">
                      <a16:creationId xmlns:a16="http://schemas.microsoft.com/office/drawing/2014/main" id="{C0F4519B-22A6-8C43-B106-B86515EA92D7}"/>
                    </a:ext>
                  </a:extLst>
                </p:cNvPr>
                <p:cNvSpPr>
                  <a:spLocks noChangeArrowheads="1"/>
                </p:cNvSpPr>
                <p:nvPr/>
              </p:nvSpPr>
              <p:spPr bwMode="auto">
                <a:xfrm>
                  <a:off x="286" y="1549"/>
                  <a:ext cx="849"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1" name="Rectangle 184">
                  <a:extLst>
                    <a:ext uri="{FF2B5EF4-FFF2-40B4-BE49-F238E27FC236}">
                      <a16:creationId xmlns:a16="http://schemas.microsoft.com/office/drawing/2014/main" id="{4A672F36-49EC-D34C-A30D-BFF6136048EE}"/>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93" name="Rectangle 181">
                <a:extLst>
                  <a:ext uri="{FF2B5EF4-FFF2-40B4-BE49-F238E27FC236}">
                    <a16:creationId xmlns:a16="http://schemas.microsoft.com/office/drawing/2014/main" id="{9CB56124-BE22-4744-B402-647CD871D717}"/>
                  </a:ext>
                </a:extLst>
              </p:cNvPr>
              <p:cNvSpPr>
                <a:spLocks noChangeArrowheads="1"/>
              </p:cNvSpPr>
              <p:nvPr/>
            </p:nvSpPr>
            <p:spPr bwMode="auto">
              <a:xfrm>
                <a:off x="5696012" y="4295113"/>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94" name="Rectangle 181">
                <a:extLst>
                  <a:ext uri="{FF2B5EF4-FFF2-40B4-BE49-F238E27FC236}">
                    <a16:creationId xmlns:a16="http://schemas.microsoft.com/office/drawing/2014/main" id="{FB07F637-8B3F-9948-AA28-F1F413F8F17C}"/>
                  </a:ext>
                </a:extLst>
              </p:cNvPr>
              <p:cNvSpPr>
                <a:spLocks noChangeArrowheads="1"/>
              </p:cNvSpPr>
              <p:nvPr/>
            </p:nvSpPr>
            <p:spPr bwMode="auto">
              <a:xfrm>
                <a:off x="5433708" y="4277775"/>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95" name="Straight Connector 94">
                <a:extLst>
                  <a:ext uri="{FF2B5EF4-FFF2-40B4-BE49-F238E27FC236}">
                    <a16:creationId xmlns:a16="http://schemas.microsoft.com/office/drawing/2014/main" id="{42006C5A-8B94-0C44-BBC3-909EA572E0EF}"/>
                  </a:ext>
                </a:extLst>
              </p:cNvPr>
              <p:cNvCxnSpPr>
                <a:cxnSpLocks/>
              </p:cNvCxnSpPr>
              <p:nvPr/>
            </p:nvCxnSpPr>
            <p:spPr>
              <a:xfrm>
                <a:off x="6001149" y="4312021"/>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B21F5BD4-1F06-964B-8B36-F5192E01256C}"/>
                  </a:ext>
                </a:extLst>
              </p:cNvPr>
              <p:cNvCxnSpPr/>
              <p:nvPr/>
            </p:nvCxnSpPr>
            <p:spPr>
              <a:xfrm>
                <a:off x="5720650" y="4310309"/>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3" name="Rectangle 181">
                <a:extLst>
                  <a:ext uri="{FF2B5EF4-FFF2-40B4-BE49-F238E27FC236}">
                    <a16:creationId xmlns:a16="http://schemas.microsoft.com/office/drawing/2014/main" id="{C22AEA05-2A3E-8F46-BCF2-9FE184FF0B11}"/>
                  </a:ext>
                </a:extLst>
              </p:cNvPr>
              <p:cNvSpPr>
                <a:spLocks noChangeArrowheads="1"/>
              </p:cNvSpPr>
              <p:nvPr/>
            </p:nvSpPr>
            <p:spPr bwMode="auto">
              <a:xfrm>
                <a:off x="5149178" y="4281528"/>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cxnSp>
            <p:nvCxnSpPr>
              <p:cNvPr id="104" name="Straight Connector 103">
                <a:extLst>
                  <a:ext uri="{FF2B5EF4-FFF2-40B4-BE49-F238E27FC236}">
                    <a16:creationId xmlns:a16="http://schemas.microsoft.com/office/drawing/2014/main" id="{97CD4AFB-B9ED-7843-B804-83029ED5054D}"/>
                  </a:ext>
                </a:extLst>
              </p:cNvPr>
              <p:cNvCxnSpPr/>
              <p:nvPr/>
            </p:nvCxnSpPr>
            <p:spPr>
              <a:xfrm>
                <a:off x="5418102" y="4309558"/>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06" name="Straight Arrow Connector 105">
            <a:extLst>
              <a:ext uri="{FF2B5EF4-FFF2-40B4-BE49-F238E27FC236}">
                <a16:creationId xmlns:a16="http://schemas.microsoft.com/office/drawing/2014/main" id="{04CD79AB-EFE6-E14B-878A-669E9C4D9042}"/>
              </a:ext>
            </a:extLst>
          </p:cNvPr>
          <p:cNvCxnSpPr>
            <a:cxnSpLocks/>
          </p:cNvCxnSpPr>
          <p:nvPr/>
        </p:nvCxnSpPr>
        <p:spPr>
          <a:xfrm>
            <a:off x="3594027" y="-1079199"/>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7" name="Rectangle 106">
            <a:extLst>
              <a:ext uri="{FF2B5EF4-FFF2-40B4-BE49-F238E27FC236}">
                <a16:creationId xmlns:a16="http://schemas.microsoft.com/office/drawing/2014/main" id="{871C9FED-2DA1-3A44-B6FE-2B1DAB7A3D60}"/>
              </a:ext>
            </a:extLst>
          </p:cNvPr>
          <p:cNvSpPr/>
          <p:nvPr/>
        </p:nvSpPr>
        <p:spPr>
          <a:xfrm>
            <a:off x="5738557" y="-1302377"/>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8" name="Group 107">
            <a:extLst>
              <a:ext uri="{FF2B5EF4-FFF2-40B4-BE49-F238E27FC236}">
                <a16:creationId xmlns:a16="http://schemas.microsoft.com/office/drawing/2014/main" id="{2AA69BF9-270A-F443-A92C-84A46DE35441}"/>
              </a:ext>
            </a:extLst>
          </p:cNvPr>
          <p:cNvGrpSpPr/>
          <p:nvPr/>
        </p:nvGrpSpPr>
        <p:grpSpPr>
          <a:xfrm>
            <a:off x="5801010" y="-1261269"/>
            <a:ext cx="1058375" cy="307296"/>
            <a:chOff x="5509436" y="3287899"/>
            <a:chExt cx="1058375" cy="307296"/>
          </a:xfrm>
        </p:grpSpPr>
        <p:grpSp>
          <p:nvGrpSpPr>
            <p:cNvPr id="110" name="Group 182">
              <a:extLst>
                <a:ext uri="{FF2B5EF4-FFF2-40B4-BE49-F238E27FC236}">
                  <a16:creationId xmlns:a16="http://schemas.microsoft.com/office/drawing/2014/main" id="{15D5F71B-2CF5-DE43-94EF-784236E59EB7}"/>
                </a:ext>
              </a:extLst>
            </p:cNvPr>
            <p:cNvGrpSpPr>
              <a:grpSpLocks/>
            </p:cNvGrpSpPr>
            <p:nvPr/>
          </p:nvGrpSpPr>
          <p:grpSpPr bwMode="auto">
            <a:xfrm>
              <a:off x="5510535" y="3293570"/>
              <a:ext cx="1057276" cy="301625"/>
              <a:chOff x="469" y="1531"/>
              <a:chExt cx="666" cy="190"/>
            </a:xfrm>
          </p:grpSpPr>
          <p:sp>
            <p:nvSpPr>
              <p:cNvPr id="116" name="Rectangle 183">
                <a:extLst>
                  <a:ext uri="{FF2B5EF4-FFF2-40B4-BE49-F238E27FC236}">
                    <a16:creationId xmlns:a16="http://schemas.microsoft.com/office/drawing/2014/main" id="{A054BB4B-B69C-D14C-8F5B-5BEEEDE8D730}"/>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8" name="Rectangle 184">
                <a:extLst>
                  <a:ext uri="{FF2B5EF4-FFF2-40B4-BE49-F238E27FC236}">
                    <a16:creationId xmlns:a16="http://schemas.microsoft.com/office/drawing/2014/main" id="{2025D776-034C-8D48-A4B6-FF664F22FD92}"/>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111" name="Rectangle 181">
              <a:extLst>
                <a:ext uri="{FF2B5EF4-FFF2-40B4-BE49-F238E27FC236}">
                  <a16:creationId xmlns:a16="http://schemas.microsoft.com/office/drawing/2014/main" id="{D06D048B-900E-8F4D-8A64-20DA16D1F88F}"/>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113" name="Rectangle 181">
              <a:extLst>
                <a:ext uri="{FF2B5EF4-FFF2-40B4-BE49-F238E27FC236}">
                  <a16:creationId xmlns:a16="http://schemas.microsoft.com/office/drawing/2014/main" id="{580EB15C-4763-334C-B100-4D66978CB819}"/>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114" name="Straight Connector 113">
              <a:extLst>
                <a:ext uri="{FF2B5EF4-FFF2-40B4-BE49-F238E27FC236}">
                  <a16:creationId xmlns:a16="http://schemas.microsoft.com/office/drawing/2014/main" id="{F48100A0-01D0-7A4A-8CBD-6A4D5B9F1842}"/>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95FE4795-7D19-DF46-88AF-179D04B18878}"/>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 name="TextBox 118">
            <a:extLst>
              <a:ext uri="{FF2B5EF4-FFF2-40B4-BE49-F238E27FC236}">
                <a16:creationId xmlns:a16="http://schemas.microsoft.com/office/drawing/2014/main" id="{00B31285-CEBC-B045-A3D2-E171BD35C682}"/>
              </a:ext>
            </a:extLst>
          </p:cNvPr>
          <p:cNvSpPr txBox="1"/>
          <p:nvPr/>
        </p:nvSpPr>
        <p:spPr>
          <a:xfrm>
            <a:off x="3359490" y="3649479"/>
            <a:ext cx="5734634" cy="565283"/>
          </a:xfrm>
          <a:prstGeom prst="rect">
            <a:avLst/>
          </a:prstGeom>
          <a:noFill/>
        </p:spPr>
        <p:txBody>
          <a:bodyPr wrap="square" rtlCol="0">
            <a:spAutoFit/>
          </a:bodyPr>
          <a:lstStyle/>
          <a:p>
            <a:pPr algn="ctr">
              <a:lnSpc>
                <a:spcPct val="85000"/>
              </a:lnSpc>
            </a:pPr>
            <a:r>
              <a:rPr lang="en-US" dirty="0">
                <a:solidFill>
                  <a:srgbClr val="C00000"/>
                </a:solidFill>
              </a:rPr>
              <a:t>Network-layer </a:t>
            </a:r>
            <a:r>
              <a:rPr lang="en-US" dirty="0"/>
              <a:t>protocol transfers transport-layer segment [H</a:t>
            </a:r>
            <a:r>
              <a:rPr lang="en-US" baseline="-25000" dirty="0"/>
              <a:t>t</a:t>
            </a:r>
            <a:r>
              <a:rPr lang="en-US" dirty="0"/>
              <a:t> | M] from one </a:t>
            </a:r>
            <a:r>
              <a:rPr lang="en-US" i="1" dirty="0"/>
              <a:t>host</a:t>
            </a:r>
            <a:r>
              <a:rPr lang="en-US" dirty="0"/>
              <a:t> to another, using link layer services</a:t>
            </a:r>
          </a:p>
        </p:txBody>
      </p:sp>
      <p:sp>
        <p:nvSpPr>
          <p:cNvPr id="109" name="Slide Number Placeholder 5">
            <a:extLst>
              <a:ext uri="{FF2B5EF4-FFF2-40B4-BE49-F238E27FC236}">
                <a16:creationId xmlns:a16="http://schemas.microsoft.com/office/drawing/2014/main" id="{99BA57FE-A308-1E41-B606-A1B8A22BF1A6}"/>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11</a:t>
            </a:fld>
            <a:endParaRPr lang="en-US" dirty="0"/>
          </a:p>
        </p:txBody>
      </p:sp>
    </p:spTree>
    <p:extLst>
      <p:ext uri="{BB962C8B-B14F-4D97-AF65-F5344CB8AC3E}">
        <p14:creationId xmlns:p14="http://schemas.microsoft.com/office/powerpoint/2010/main" val="22640860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19"/>
                                        </p:tgtEl>
                                      </p:cBhvr>
                                    </p:animEffect>
                                    <p:set>
                                      <p:cBhvr>
                                        <p:cTn id="7" dur="1" fill="hold">
                                          <p:stCondLst>
                                            <p:cond delay="499"/>
                                          </p:stCondLst>
                                        </p:cTn>
                                        <p:tgtEl>
                                          <p:spTgt spid="119"/>
                                        </p:tgtEl>
                                        <p:attrNameLst>
                                          <p:attrName>style.visibility</p:attrName>
                                        </p:attrNameLst>
                                      </p:cBhvr>
                                      <p:to>
                                        <p:strVal val="hidden"/>
                                      </p:to>
                                    </p:se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102"/>
                                        </p:tgtEl>
                                        <p:attrNameLst>
                                          <p:attrName>style.visibility</p:attrName>
                                        </p:attrNameLst>
                                      </p:cBhvr>
                                      <p:to>
                                        <p:strVal val="visible"/>
                                      </p:to>
                                    </p:set>
                                    <p:animEffect transition="in" filter="dissolve">
                                      <p:cBhvr>
                                        <p:cTn id="14" dur="500"/>
                                        <p:tgtEl>
                                          <p:spTgt spid="102"/>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144"/>
                                        </p:tgtEl>
                                        <p:attrNameLst>
                                          <p:attrName>style.visibility</p:attrName>
                                        </p:attrNameLst>
                                      </p:cBhvr>
                                      <p:to>
                                        <p:strVal val="visible"/>
                                      </p:to>
                                    </p:set>
                                    <p:animEffect transition="in" filter="dissolve">
                                      <p:cBhvr>
                                        <p:cTn id="19" dur="5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 grpId="0"/>
      <p:bldP spid="102" grpId="0"/>
      <p:bldP spid="119"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 name="Freeform 8">
            <a:extLst>
              <a:ext uri="{FF2B5EF4-FFF2-40B4-BE49-F238E27FC236}">
                <a16:creationId xmlns:a16="http://schemas.microsoft.com/office/drawing/2014/main" id="{5C25CEF4-E407-5F48-A3E3-98E83E25849B}"/>
              </a:ext>
            </a:extLst>
          </p:cNvPr>
          <p:cNvSpPr>
            <a:spLocks/>
          </p:cNvSpPr>
          <p:nvPr/>
        </p:nvSpPr>
        <p:spPr bwMode="auto">
          <a:xfrm>
            <a:off x="3548141" y="1573968"/>
            <a:ext cx="4992" cy="3104606"/>
          </a:xfrm>
          <a:custGeom>
            <a:avLst/>
            <a:gdLst>
              <a:gd name="T0" fmla="*/ 0 w 4100"/>
              <a:gd name="T1" fmla="*/ 0 h 2072"/>
              <a:gd name="T2" fmla="*/ 4 w 4100"/>
              <a:gd name="T3" fmla="*/ 1736 h 2072"/>
              <a:gd name="T4" fmla="*/ 804 w 4100"/>
              <a:gd name="T5" fmla="*/ 2064 h 2072"/>
              <a:gd name="T6" fmla="*/ 3468 w 4100"/>
              <a:gd name="T7" fmla="*/ 2072 h 2072"/>
              <a:gd name="T8" fmla="*/ 4100 w 4100"/>
              <a:gd name="T9" fmla="*/ 1736 h 2072"/>
              <a:gd name="T10" fmla="*/ 4100 w 4100"/>
              <a:gd name="T11" fmla="*/ 96 h 2072"/>
              <a:gd name="T12" fmla="*/ 0 60000 65536"/>
              <a:gd name="T13" fmla="*/ 0 60000 65536"/>
              <a:gd name="T14" fmla="*/ 0 60000 65536"/>
              <a:gd name="T15" fmla="*/ 0 60000 65536"/>
              <a:gd name="T16" fmla="*/ 0 60000 65536"/>
              <a:gd name="T17" fmla="*/ 0 60000 65536"/>
              <a:gd name="T18" fmla="*/ 0 w 4100"/>
              <a:gd name="T19" fmla="*/ 0 h 2072"/>
              <a:gd name="T20" fmla="*/ 4100 w 4100"/>
              <a:gd name="T21" fmla="*/ 2072 h 2072"/>
              <a:gd name="connsiteX0" fmla="*/ 0 w 10000"/>
              <a:gd name="connsiteY0" fmla="*/ 0 h 10000"/>
              <a:gd name="connsiteX1" fmla="*/ 10 w 10000"/>
              <a:gd name="connsiteY1" fmla="*/ 8378 h 10000"/>
              <a:gd name="connsiteX2" fmla="*/ 1961 w 10000"/>
              <a:gd name="connsiteY2" fmla="*/ 9961 h 10000"/>
              <a:gd name="connsiteX3" fmla="*/ 8459 w 10000"/>
              <a:gd name="connsiteY3" fmla="*/ 10000 h 10000"/>
              <a:gd name="connsiteX4" fmla="*/ 10000 w 10000"/>
              <a:gd name="connsiteY4" fmla="*/ 8378 h 10000"/>
              <a:gd name="connsiteX0" fmla="*/ 0 w 8459"/>
              <a:gd name="connsiteY0" fmla="*/ 0 h 10000"/>
              <a:gd name="connsiteX1" fmla="*/ 10 w 8459"/>
              <a:gd name="connsiteY1" fmla="*/ 8378 h 10000"/>
              <a:gd name="connsiteX2" fmla="*/ 1961 w 8459"/>
              <a:gd name="connsiteY2" fmla="*/ 9961 h 10000"/>
              <a:gd name="connsiteX3" fmla="*/ 8459 w 8459"/>
              <a:gd name="connsiteY3" fmla="*/ 10000 h 10000"/>
              <a:gd name="connsiteX0" fmla="*/ 0 w 2318"/>
              <a:gd name="connsiteY0" fmla="*/ 0 h 9961"/>
              <a:gd name="connsiteX1" fmla="*/ 12 w 2318"/>
              <a:gd name="connsiteY1" fmla="*/ 8378 h 9961"/>
              <a:gd name="connsiteX2" fmla="*/ 2318 w 2318"/>
              <a:gd name="connsiteY2" fmla="*/ 9961 h 9961"/>
              <a:gd name="connsiteX0" fmla="*/ 0 w 52"/>
              <a:gd name="connsiteY0" fmla="*/ 0 h 8411"/>
              <a:gd name="connsiteX1" fmla="*/ 52 w 52"/>
              <a:gd name="connsiteY1" fmla="*/ 8411 h 8411"/>
            </a:gdLst>
            <a:ahLst/>
            <a:cxnLst>
              <a:cxn ang="0">
                <a:pos x="connsiteX0" y="connsiteY0"/>
              </a:cxn>
              <a:cxn ang="0">
                <a:pos x="connsiteX1" y="connsiteY1"/>
              </a:cxn>
            </a:cxnLst>
            <a:rect l="l" t="t" r="r" b="b"/>
            <a:pathLst>
              <a:path w="52" h="8411">
                <a:moveTo>
                  <a:pt x="0" y="0"/>
                </a:moveTo>
                <a:cubicBezTo>
                  <a:pt x="17" y="2804"/>
                  <a:pt x="35" y="5607"/>
                  <a:pt x="52" y="8411"/>
                </a:cubicBezTo>
              </a:path>
            </a:pathLst>
          </a:custGeom>
          <a:noFill/>
          <a:ln w="44450">
            <a:solidFill>
              <a:srgbClr val="C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20" name="Freeform 10">
            <a:extLst>
              <a:ext uri="{FF2B5EF4-FFF2-40B4-BE49-F238E27FC236}">
                <a16:creationId xmlns:a16="http://schemas.microsoft.com/office/drawing/2014/main" id="{236C8C34-AA0A-1747-BF1D-3CBFB21AC1F2}"/>
              </a:ext>
            </a:extLst>
          </p:cNvPr>
          <p:cNvSpPr>
            <a:spLocks/>
          </p:cNvSpPr>
          <p:nvPr/>
        </p:nvSpPr>
        <p:spPr bwMode="auto">
          <a:xfrm rot="10800000" flipH="1">
            <a:off x="10916607" y="1577038"/>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Services, Layering and Encapsulation</a:t>
            </a:r>
            <a:endParaRPr lang="en-US" sz="4400" dirty="0"/>
          </a:p>
        </p:txBody>
      </p:sp>
      <p:sp>
        <p:nvSpPr>
          <p:cNvPr id="13" name="Text Box 8">
            <a:extLst>
              <a:ext uri="{FF2B5EF4-FFF2-40B4-BE49-F238E27FC236}">
                <a16:creationId xmlns:a16="http://schemas.microsoft.com/office/drawing/2014/main" id="{10CAB5B1-70B7-184B-A16F-4239A3118B18}"/>
              </a:ext>
            </a:extLst>
          </p:cNvPr>
          <p:cNvSpPr txBox="1">
            <a:spLocks noChangeArrowheads="1"/>
          </p:cNvSpPr>
          <p:nvPr/>
        </p:nvSpPr>
        <p:spPr bwMode="auto">
          <a:xfrm>
            <a:off x="449705" y="5724388"/>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4" name="Freeform 10">
            <a:extLst>
              <a:ext uri="{FF2B5EF4-FFF2-40B4-BE49-F238E27FC236}">
                <a16:creationId xmlns:a16="http://schemas.microsoft.com/office/drawing/2014/main" id="{1C528DAB-CFD1-6943-9F41-1A6F334C3C75}"/>
              </a:ext>
            </a:extLst>
          </p:cNvPr>
          <p:cNvSpPr>
            <a:spLocks/>
          </p:cNvSpPr>
          <p:nvPr/>
        </p:nvSpPr>
        <p:spPr bwMode="auto">
          <a:xfrm rot="10800000">
            <a:off x="975630" y="1559549"/>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190">
            <a:extLst>
              <a:ext uri="{FF2B5EF4-FFF2-40B4-BE49-F238E27FC236}">
                <a16:creationId xmlns:a16="http://schemas.microsoft.com/office/drawing/2014/main" id="{8D7B8AF0-B984-FB44-AB9F-07CA253CEA38}"/>
              </a:ext>
            </a:extLst>
          </p:cNvPr>
          <p:cNvGrpSpPr>
            <a:grpSpLocks/>
          </p:cNvGrpSpPr>
          <p:nvPr/>
        </p:nvGrpSpPr>
        <p:grpSpPr bwMode="auto">
          <a:xfrm flipH="1">
            <a:off x="635446" y="5073984"/>
            <a:ext cx="803275" cy="771525"/>
            <a:chOff x="-44" y="1473"/>
            <a:chExt cx="981" cy="1105"/>
          </a:xfrm>
        </p:grpSpPr>
        <p:pic>
          <p:nvPicPr>
            <p:cNvPr id="25" name="Picture 191" descr="desktop_computer_stylized_medium">
              <a:extLst>
                <a:ext uri="{FF2B5EF4-FFF2-40B4-BE49-F238E27FC236}">
                  <a16:creationId xmlns:a16="http://schemas.microsoft.com/office/drawing/2014/main" id="{06D1D726-A569-254A-9E27-366DB8CF32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192">
              <a:extLst>
                <a:ext uri="{FF2B5EF4-FFF2-40B4-BE49-F238E27FC236}">
                  <a16:creationId xmlns:a16="http://schemas.microsoft.com/office/drawing/2014/main" id="{F5362B29-42A6-3F4A-A1AB-EFF56E7B772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2" name="Group 211">
            <a:extLst>
              <a:ext uri="{FF2B5EF4-FFF2-40B4-BE49-F238E27FC236}">
                <a16:creationId xmlns:a16="http://schemas.microsoft.com/office/drawing/2014/main" id="{BD0C4974-D689-414F-A2EB-9B1043F3314D}"/>
              </a:ext>
            </a:extLst>
          </p:cNvPr>
          <p:cNvGrpSpPr/>
          <p:nvPr/>
        </p:nvGrpSpPr>
        <p:grpSpPr>
          <a:xfrm>
            <a:off x="1334125" y="1421667"/>
            <a:ext cx="1765726" cy="4034752"/>
            <a:chOff x="1484027" y="1706480"/>
            <a:chExt cx="1765726" cy="4034752"/>
          </a:xfrm>
        </p:grpSpPr>
        <p:sp>
          <p:nvSpPr>
            <p:cNvPr id="11" name="Rectangle 24">
              <a:extLst>
                <a:ext uri="{FF2B5EF4-FFF2-40B4-BE49-F238E27FC236}">
                  <a16:creationId xmlns:a16="http://schemas.microsoft.com/office/drawing/2014/main" id="{ED8D52E4-C345-B842-A2E7-C8068B8E5CF4}"/>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 name="Text Box 26">
              <a:extLst>
                <a:ext uri="{FF2B5EF4-FFF2-40B4-BE49-F238E27FC236}">
                  <a16:creationId xmlns:a16="http://schemas.microsoft.com/office/drawing/2014/main" id="{A5089E2D-0B1B-544A-82BC-F28ED3191A4E}"/>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117" name="Straight Connector 116">
              <a:extLst>
                <a:ext uri="{FF2B5EF4-FFF2-40B4-BE49-F238E27FC236}">
                  <a16:creationId xmlns:a16="http://schemas.microsoft.com/office/drawing/2014/main" id="{B3EBBB35-9D82-7C43-B882-52ED90AE3A71}"/>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2EA7353-AEFA-934F-93DE-A8D55DF75658}"/>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40242E3-3BEB-D543-B881-84EB2D13BD66}"/>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DC27D746-0691-6F47-9E9D-1D63DF11D081}"/>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950">
            <a:extLst>
              <a:ext uri="{FF2B5EF4-FFF2-40B4-BE49-F238E27FC236}">
                <a16:creationId xmlns:a16="http://schemas.microsoft.com/office/drawing/2014/main" id="{044873AD-74A5-8A44-846B-EC5D0FBC82D7}"/>
              </a:ext>
            </a:extLst>
          </p:cNvPr>
          <p:cNvGrpSpPr>
            <a:grpSpLocks/>
          </p:cNvGrpSpPr>
          <p:nvPr/>
        </p:nvGrpSpPr>
        <p:grpSpPr bwMode="auto">
          <a:xfrm>
            <a:off x="11107713" y="4961744"/>
            <a:ext cx="374754" cy="833726"/>
            <a:chOff x="4140" y="429"/>
            <a:chExt cx="1425" cy="2396"/>
          </a:xfrm>
        </p:grpSpPr>
        <p:sp>
          <p:nvSpPr>
            <p:cNvPr id="168" name="Freeform 951">
              <a:extLst>
                <a:ext uri="{FF2B5EF4-FFF2-40B4-BE49-F238E27FC236}">
                  <a16:creationId xmlns:a16="http://schemas.microsoft.com/office/drawing/2014/main" id="{EEDE4156-8281-D847-9240-9DE98999091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952">
              <a:extLst>
                <a:ext uri="{FF2B5EF4-FFF2-40B4-BE49-F238E27FC236}">
                  <a16:creationId xmlns:a16="http://schemas.microsoft.com/office/drawing/2014/main" id="{22E8340D-B5D1-3C48-A062-4F70248D103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0" name="Freeform 953">
              <a:extLst>
                <a:ext uri="{FF2B5EF4-FFF2-40B4-BE49-F238E27FC236}">
                  <a16:creationId xmlns:a16="http://schemas.microsoft.com/office/drawing/2014/main" id="{29109B86-1ABF-F647-8516-2AAE154A9E8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954">
              <a:extLst>
                <a:ext uri="{FF2B5EF4-FFF2-40B4-BE49-F238E27FC236}">
                  <a16:creationId xmlns:a16="http://schemas.microsoft.com/office/drawing/2014/main" id="{9F93569F-8FC8-7C4E-9F95-B14647D2DB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955">
              <a:extLst>
                <a:ext uri="{FF2B5EF4-FFF2-40B4-BE49-F238E27FC236}">
                  <a16:creationId xmlns:a16="http://schemas.microsoft.com/office/drawing/2014/main" id="{8E5BC3B8-E87D-9F47-A6F6-AD8B57BC21E6}"/>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3" name="Group 956">
              <a:extLst>
                <a:ext uri="{FF2B5EF4-FFF2-40B4-BE49-F238E27FC236}">
                  <a16:creationId xmlns:a16="http://schemas.microsoft.com/office/drawing/2014/main" id="{1694DE96-689D-9540-964A-22F06F6D940F}"/>
                </a:ext>
              </a:extLst>
            </p:cNvPr>
            <p:cNvGrpSpPr>
              <a:grpSpLocks/>
            </p:cNvGrpSpPr>
            <p:nvPr/>
          </p:nvGrpSpPr>
          <p:grpSpPr bwMode="auto">
            <a:xfrm>
              <a:off x="4749" y="668"/>
              <a:ext cx="581" cy="145"/>
              <a:chOff x="614" y="2568"/>
              <a:chExt cx="725" cy="139"/>
            </a:xfrm>
          </p:grpSpPr>
          <p:sp>
            <p:nvSpPr>
              <p:cNvPr id="198" name="AutoShape 957">
                <a:extLst>
                  <a:ext uri="{FF2B5EF4-FFF2-40B4-BE49-F238E27FC236}">
                    <a16:creationId xmlns:a16="http://schemas.microsoft.com/office/drawing/2014/main" id="{435DFCEB-F2FD-7B44-93DA-9204E2E311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9" name="AutoShape 958">
                <a:extLst>
                  <a:ext uri="{FF2B5EF4-FFF2-40B4-BE49-F238E27FC236}">
                    <a16:creationId xmlns:a16="http://schemas.microsoft.com/office/drawing/2014/main" id="{521647D7-4114-1146-9C5A-F1DB4FEC81A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4" name="Rectangle 959">
              <a:extLst>
                <a:ext uri="{FF2B5EF4-FFF2-40B4-BE49-F238E27FC236}">
                  <a16:creationId xmlns:a16="http://schemas.microsoft.com/office/drawing/2014/main" id="{3A0D9FD6-DBAC-4B49-A55F-167642D66FA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5" name="Group 960">
              <a:extLst>
                <a:ext uri="{FF2B5EF4-FFF2-40B4-BE49-F238E27FC236}">
                  <a16:creationId xmlns:a16="http://schemas.microsoft.com/office/drawing/2014/main" id="{3CFA0950-BC76-3949-8726-38646B18FD5C}"/>
                </a:ext>
              </a:extLst>
            </p:cNvPr>
            <p:cNvGrpSpPr>
              <a:grpSpLocks/>
            </p:cNvGrpSpPr>
            <p:nvPr/>
          </p:nvGrpSpPr>
          <p:grpSpPr bwMode="auto">
            <a:xfrm>
              <a:off x="4747" y="994"/>
              <a:ext cx="581" cy="134"/>
              <a:chOff x="614" y="2568"/>
              <a:chExt cx="725" cy="139"/>
            </a:xfrm>
          </p:grpSpPr>
          <p:sp>
            <p:nvSpPr>
              <p:cNvPr id="196" name="AutoShape 961">
                <a:extLst>
                  <a:ext uri="{FF2B5EF4-FFF2-40B4-BE49-F238E27FC236}">
                    <a16:creationId xmlns:a16="http://schemas.microsoft.com/office/drawing/2014/main" id="{67127BA7-9D0A-2443-9190-C56C02906F6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AutoShape 962">
                <a:extLst>
                  <a:ext uri="{FF2B5EF4-FFF2-40B4-BE49-F238E27FC236}">
                    <a16:creationId xmlns:a16="http://schemas.microsoft.com/office/drawing/2014/main" id="{2C9F8790-3076-4541-A56A-E9305DCB098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6" name="Rectangle 963">
              <a:extLst>
                <a:ext uri="{FF2B5EF4-FFF2-40B4-BE49-F238E27FC236}">
                  <a16:creationId xmlns:a16="http://schemas.microsoft.com/office/drawing/2014/main" id="{4DE6A147-5BC7-FF41-B7AC-2BA9913BB098}"/>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Rectangle 964">
              <a:extLst>
                <a:ext uri="{FF2B5EF4-FFF2-40B4-BE49-F238E27FC236}">
                  <a16:creationId xmlns:a16="http://schemas.microsoft.com/office/drawing/2014/main" id="{53ECF0A1-6175-BE45-A32A-233E1942C8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8" name="Group 965">
              <a:extLst>
                <a:ext uri="{FF2B5EF4-FFF2-40B4-BE49-F238E27FC236}">
                  <a16:creationId xmlns:a16="http://schemas.microsoft.com/office/drawing/2014/main" id="{16810F93-1596-884B-B639-A3868A5CD4D8}"/>
                </a:ext>
              </a:extLst>
            </p:cNvPr>
            <p:cNvGrpSpPr>
              <a:grpSpLocks/>
            </p:cNvGrpSpPr>
            <p:nvPr/>
          </p:nvGrpSpPr>
          <p:grpSpPr bwMode="auto">
            <a:xfrm>
              <a:off x="4735" y="1627"/>
              <a:ext cx="582" cy="151"/>
              <a:chOff x="614" y="2568"/>
              <a:chExt cx="725" cy="139"/>
            </a:xfrm>
          </p:grpSpPr>
          <p:sp>
            <p:nvSpPr>
              <p:cNvPr id="194" name="AutoShape 966">
                <a:extLst>
                  <a:ext uri="{FF2B5EF4-FFF2-40B4-BE49-F238E27FC236}">
                    <a16:creationId xmlns:a16="http://schemas.microsoft.com/office/drawing/2014/main" id="{84EC0348-3D46-9445-B43C-6DC8DB392F6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AutoShape 967">
                <a:extLst>
                  <a:ext uri="{FF2B5EF4-FFF2-40B4-BE49-F238E27FC236}">
                    <a16:creationId xmlns:a16="http://schemas.microsoft.com/office/drawing/2014/main" id="{23A1F6B3-9F2D-5E41-8602-67921ABB12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9" name="Freeform 968">
              <a:extLst>
                <a:ext uri="{FF2B5EF4-FFF2-40B4-BE49-F238E27FC236}">
                  <a16:creationId xmlns:a16="http://schemas.microsoft.com/office/drawing/2014/main" id="{8FD6AEB5-BE60-044C-B32D-B433B740036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0" name="Group 969">
              <a:extLst>
                <a:ext uri="{FF2B5EF4-FFF2-40B4-BE49-F238E27FC236}">
                  <a16:creationId xmlns:a16="http://schemas.microsoft.com/office/drawing/2014/main" id="{30895737-AC01-6342-BADB-B3B3BFE7FC46}"/>
                </a:ext>
              </a:extLst>
            </p:cNvPr>
            <p:cNvGrpSpPr>
              <a:grpSpLocks/>
            </p:cNvGrpSpPr>
            <p:nvPr/>
          </p:nvGrpSpPr>
          <p:grpSpPr bwMode="auto">
            <a:xfrm>
              <a:off x="4739" y="1327"/>
              <a:ext cx="582" cy="139"/>
              <a:chOff x="614" y="2568"/>
              <a:chExt cx="725" cy="139"/>
            </a:xfrm>
          </p:grpSpPr>
          <p:sp>
            <p:nvSpPr>
              <p:cNvPr id="192" name="AutoShape 970">
                <a:extLst>
                  <a:ext uri="{FF2B5EF4-FFF2-40B4-BE49-F238E27FC236}">
                    <a16:creationId xmlns:a16="http://schemas.microsoft.com/office/drawing/2014/main" id="{2D690E63-3733-8E4E-B8F8-19245FF772B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3" name="AutoShape 971">
                <a:extLst>
                  <a:ext uri="{FF2B5EF4-FFF2-40B4-BE49-F238E27FC236}">
                    <a16:creationId xmlns:a16="http://schemas.microsoft.com/office/drawing/2014/main" id="{9CE827B0-221F-ED4A-A36B-E1EEFE27B7B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72">
              <a:extLst>
                <a:ext uri="{FF2B5EF4-FFF2-40B4-BE49-F238E27FC236}">
                  <a16:creationId xmlns:a16="http://schemas.microsoft.com/office/drawing/2014/main" id="{6DA44079-B2D7-9244-A5E0-9DF13556EBC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2" name="Freeform 973">
              <a:extLst>
                <a:ext uri="{FF2B5EF4-FFF2-40B4-BE49-F238E27FC236}">
                  <a16:creationId xmlns:a16="http://schemas.microsoft.com/office/drawing/2014/main" id="{E808BD44-A307-394D-8965-070EF3F8652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974">
              <a:extLst>
                <a:ext uri="{FF2B5EF4-FFF2-40B4-BE49-F238E27FC236}">
                  <a16:creationId xmlns:a16="http://schemas.microsoft.com/office/drawing/2014/main" id="{327FF4BF-3914-2143-83C7-C816B3E0AC3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Oval 975">
              <a:extLst>
                <a:ext uri="{FF2B5EF4-FFF2-40B4-BE49-F238E27FC236}">
                  <a16:creationId xmlns:a16="http://schemas.microsoft.com/office/drawing/2014/main" id="{09C51570-A4D3-D24C-A492-3811DD957CD4}"/>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5" name="Freeform 976">
              <a:extLst>
                <a:ext uri="{FF2B5EF4-FFF2-40B4-BE49-F238E27FC236}">
                  <a16:creationId xmlns:a16="http://schemas.microsoft.com/office/drawing/2014/main" id="{BC2853B5-A39B-5A40-97DF-5ADB471224B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AutoShape 977">
              <a:extLst>
                <a:ext uri="{FF2B5EF4-FFF2-40B4-BE49-F238E27FC236}">
                  <a16:creationId xmlns:a16="http://schemas.microsoft.com/office/drawing/2014/main" id="{7928EDBA-57E1-B441-B1AF-CC0D62B2B5B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AutoShape 978">
              <a:extLst>
                <a:ext uri="{FF2B5EF4-FFF2-40B4-BE49-F238E27FC236}">
                  <a16:creationId xmlns:a16="http://schemas.microsoft.com/office/drawing/2014/main" id="{CC70E1A7-AAEC-6440-86AC-73ECE22D7A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8" name="Oval 979">
              <a:extLst>
                <a:ext uri="{FF2B5EF4-FFF2-40B4-BE49-F238E27FC236}">
                  <a16:creationId xmlns:a16="http://schemas.microsoft.com/office/drawing/2014/main" id="{2F7E7C91-0257-D84D-8AD1-4A152C818F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Oval 980">
              <a:extLst>
                <a:ext uri="{FF2B5EF4-FFF2-40B4-BE49-F238E27FC236}">
                  <a16:creationId xmlns:a16="http://schemas.microsoft.com/office/drawing/2014/main" id="{6AE127C2-D583-E74D-8B39-05EEBEBE23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0" name="Oval 981">
              <a:extLst>
                <a:ext uri="{FF2B5EF4-FFF2-40B4-BE49-F238E27FC236}">
                  <a16:creationId xmlns:a16="http://schemas.microsoft.com/office/drawing/2014/main" id="{0EDFA963-70E6-2E42-AAFE-E2F9BD64631D}"/>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1" name="Rectangle 982">
              <a:extLst>
                <a:ext uri="{FF2B5EF4-FFF2-40B4-BE49-F238E27FC236}">
                  <a16:creationId xmlns:a16="http://schemas.microsoft.com/office/drawing/2014/main" id="{27A6382E-A13F-A248-84BF-E9DBD71EE18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06" name="Text Box 8">
            <a:extLst>
              <a:ext uri="{FF2B5EF4-FFF2-40B4-BE49-F238E27FC236}">
                <a16:creationId xmlns:a16="http://schemas.microsoft.com/office/drawing/2014/main" id="{6066254D-E62E-B446-8950-17FDF2A183D7}"/>
              </a:ext>
            </a:extLst>
          </p:cNvPr>
          <p:cNvSpPr txBox="1">
            <a:spLocks noChangeArrowheads="1"/>
          </p:cNvSpPr>
          <p:nvPr/>
        </p:nvSpPr>
        <p:spPr bwMode="auto">
          <a:xfrm>
            <a:off x="10216734" y="5716780"/>
            <a:ext cx="16754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400" i="1" dirty="0">
                <a:solidFill>
                  <a:srgbClr val="000099"/>
                </a:solidFill>
                <a:latin typeface="Arial" panose="020B0604020202020204" pitchFamily="34" charset="0"/>
              </a:rPr>
              <a:t>destination</a:t>
            </a:r>
            <a:endPar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3" name="Group 212">
            <a:extLst>
              <a:ext uri="{FF2B5EF4-FFF2-40B4-BE49-F238E27FC236}">
                <a16:creationId xmlns:a16="http://schemas.microsoft.com/office/drawing/2014/main" id="{94888FAE-136F-094E-BF2A-11D94A17BB7F}"/>
              </a:ext>
            </a:extLst>
          </p:cNvPr>
          <p:cNvGrpSpPr/>
          <p:nvPr/>
        </p:nvGrpSpPr>
        <p:grpSpPr>
          <a:xfrm>
            <a:off x="9221450" y="1413548"/>
            <a:ext cx="1765726" cy="4034752"/>
            <a:chOff x="1484027" y="1706480"/>
            <a:chExt cx="1765726" cy="4034752"/>
          </a:xfrm>
        </p:grpSpPr>
        <p:sp>
          <p:nvSpPr>
            <p:cNvPr id="214" name="Rectangle 24">
              <a:extLst>
                <a:ext uri="{FF2B5EF4-FFF2-40B4-BE49-F238E27FC236}">
                  <a16:creationId xmlns:a16="http://schemas.microsoft.com/office/drawing/2014/main" id="{FA7A7264-CB0E-4442-BA92-F16F6E6EF1F5}"/>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5" name="Text Box 26">
              <a:extLst>
                <a:ext uri="{FF2B5EF4-FFF2-40B4-BE49-F238E27FC236}">
                  <a16:creationId xmlns:a16="http://schemas.microsoft.com/office/drawing/2014/main" id="{D54F6320-1E23-E649-BFED-E007672E7AB0}"/>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216" name="Straight Connector 215">
              <a:extLst>
                <a:ext uri="{FF2B5EF4-FFF2-40B4-BE49-F238E27FC236}">
                  <a16:creationId xmlns:a16="http://schemas.microsoft.com/office/drawing/2014/main" id="{3F2C66BF-55D8-0549-A9DA-934202F38DD5}"/>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CA370408-C974-CD4A-8EF6-0AEC3924D4ED}"/>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5A7BF2B3-45B8-414A-8B63-2480CF8FA113}"/>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9A1FEA61-81C7-C449-880B-15A8ACAF5500}"/>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3" name="Rectangle 142">
            <a:extLst>
              <a:ext uri="{FF2B5EF4-FFF2-40B4-BE49-F238E27FC236}">
                <a16:creationId xmlns:a16="http://schemas.microsoft.com/office/drawing/2014/main" id="{EE8BAFE3-3C6F-F143-9E4B-2A620EAB382E}"/>
              </a:ext>
            </a:extLst>
          </p:cNvPr>
          <p:cNvSpPr/>
          <p:nvPr/>
        </p:nvSpPr>
        <p:spPr>
          <a:xfrm>
            <a:off x="5584583" y="2368401"/>
            <a:ext cx="971760"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3" name="Group 185">
            <a:extLst>
              <a:ext uri="{FF2B5EF4-FFF2-40B4-BE49-F238E27FC236}">
                <a16:creationId xmlns:a16="http://schemas.microsoft.com/office/drawing/2014/main" id="{EB20B2E4-EE78-334C-B142-D9716F510006}"/>
              </a:ext>
            </a:extLst>
          </p:cNvPr>
          <p:cNvGrpSpPr>
            <a:grpSpLocks/>
          </p:cNvGrpSpPr>
          <p:nvPr/>
        </p:nvGrpSpPr>
        <p:grpSpPr bwMode="auto">
          <a:xfrm>
            <a:off x="5690803" y="2434313"/>
            <a:ext cx="908050" cy="301625"/>
            <a:chOff x="1848" y="2046"/>
            <a:chExt cx="572" cy="190"/>
          </a:xfrm>
        </p:grpSpPr>
        <p:grpSp>
          <p:nvGrpSpPr>
            <p:cNvPr id="134" name="Group 179">
              <a:extLst>
                <a:ext uri="{FF2B5EF4-FFF2-40B4-BE49-F238E27FC236}">
                  <a16:creationId xmlns:a16="http://schemas.microsoft.com/office/drawing/2014/main" id="{1D5E26E8-DD67-F64E-B7A5-CF2A5868C4FE}"/>
                </a:ext>
              </a:extLst>
            </p:cNvPr>
            <p:cNvGrpSpPr>
              <a:grpSpLocks/>
            </p:cNvGrpSpPr>
            <p:nvPr/>
          </p:nvGrpSpPr>
          <p:grpSpPr bwMode="auto">
            <a:xfrm>
              <a:off x="1848" y="2047"/>
              <a:ext cx="187" cy="184"/>
              <a:chOff x="1959" y="2058"/>
              <a:chExt cx="187" cy="184"/>
            </a:xfrm>
          </p:grpSpPr>
          <p:sp>
            <p:nvSpPr>
              <p:cNvPr id="138" name="Rectangle 180">
                <a:extLst>
                  <a:ext uri="{FF2B5EF4-FFF2-40B4-BE49-F238E27FC236}">
                    <a16:creationId xmlns:a16="http://schemas.microsoft.com/office/drawing/2014/main" id="{A0FF28E6-68F8-9D49-858D-54A894437AE3}"/>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9" name="Rectangle 181">
                <a:extLst>
                  <a:ext uri="{FF2B5EF4-FFF2-40B4-BE49-F238E27FC236}">
                    <a16:creationId xmlns:a16="http://schemas.microsoft.com/office/drawing/2014/main" id="{57F4F79C-9470-0243-9459-9DE005B149AC}"/>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135" name="Group 182">
              <a:extLst>
                <a:ext uri="{FF2B5EF4-FFF2-40B4-BE49-F238E27FC236}">
                  <a16:creationId xmlns:a16="http://schemas.microsoft.com/office/drawing/2014/main" id="{C814D838-F088-1449-A73B-3285342C6057}"/>
                </a:ext>
              </a:extLst>
            </p:cNvPr>
            <p:cNvGrpSpPr>
              <a:grpSpLocks/>
            </p:cNvGrpSpPr>
            <p:nvPr/>
          </p:nvGrpSpPr>
          <p:grpSpPr bwMode="auto">
            <a:xfrm>
              <a:off x="1992" y="2046"/>
              <a:ext cx="428" cy="190"/>
              <a:chOff x="780" y="1553"/>
              <a:chExt cx="428" cy="190"/>
            </a:xfrm>
          </p:grpSpPr>
          <p:sp>
            <p:nvSpPr>
              <p:cNvPr id="136" name="Rectangle 183">
                <a:extLst>
                  <a:ext uri="{FF2B5EF4-FFF2-40B4-BE49-F238E27FC236}">
                    <a16:creationId xmlns:a16="http://schemas.microsoft.com/office/drawing/2014/main" id="{744B26E9-8C84-AF45-BC0E-C09188489CFA}"/>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7" name="Rectangle 184">
                <a:extLst>
                  <a:ext uri="{FF2B5EF4-FFF2-40B4-BE49-F238E27FC236}">
                    <a16:creationId xmlns:a16="http://schemas.microsoft.com/office/drawing/2014/main" id="{71A3F897-85F9-4241-906F-6308455A3CAB}"/>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96" name="Group 175">
            <a:extLst>
              <a:ext uri="{FF2B5EF4-FFF2-40B4-BE49-F238E27FC236}">
                <a16:creationId xmlns:a16="http://schemas.microsoft.com/office/drawing/2014/main" id="{AC026B9A-C8C6-C045-8CBD-B9022027FFE8}"/>
              </a:ext>
            </a:extLst>
          </p:cNvPr>
          <p:cNvGrpSpPr>
            <a:grpSpLocks/>
          </p:cNvGrpSpPr>
          <p:nvPr/>
        </p:nvGrpSpPr>
        <p:grpSpPr bwMode="auto">
          <a:xfrm>
            <a:off x="5937404" y="1548324"/>
            <a:ext cx="679450" cy="301625"/>
            <a:chOff x="780" y="1553"/>
            <a:chExt cx="428" cy="190"/>
          </a:xfrm>
        </p:grpSpPr>
        <p:sp>
          <p:nvSpPr>
            <p:cNvPr id="97" name="Rectangle 176">
              <a:extLst>
                <a:ext uri="{FF2B5EF4-FFF2-40B4-BE49-F238E27FC236}">
                  <a16:creationId xmlns:a16="http://schemas.microsoft.com/office/drawing/2014/main" id="{10F5A1DA-0939-D34B-B227-29AA407BCDD6}"/>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8" name="Rectangle 177">
              <a:extLst>
                <a:ext uri="{FF2B5EF4-FFF2-40B4-BE49-F238E27FC236}">
                  <a16:creationId xmlns:a16="http://schemas.microsoft.com/office/drawing/2014/main" id="{2086AF53-43CC-814A-BA4C-260362990784}"/>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80" name="Rectangle 79">
            <a:extLst>
              <a:ext uri="{FF2B5EF4-FFF2-40B4-BE49-F238E27FC236}">
                <a16:creationId xmlns:a16="http://schemas.microsoft.com/office/drawing/2014/main" id="{664C90AC-8D4A-5646-A57F-0F37EE375E51}"/>
              </a:ext>
            </a:extLst>
          </p:cNvPr>
          <p:cNvSpPr/>
          <p:nvPr/>
        </p:nvSpPr>
        <p:spPr>
          <a:xfrm>
            <a:off x="5356172" y="3319499"/>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5">
            <a:extLst>
              <a:ext uri="{FF2B5EF4-FFF2-40B4-BE49-F238E27FC236}">
                <a16:creationId xmlns:a16="http://schemas.microsoft.com/office/drawing/2014/main" id="{EB00013B-973D-F145-BC62-E1EB59B2D1F7}"/>
              </a:ext>
            </a:extLst>
          </p:cNvPr>
          <p:cNvGrpSpPr/>
          <p:nvPr/>
        </p:nvGrpSpPr>
        <p:grpSpPr>
          <a:xfrm>
            <a:off x="5418625" y="3360607"/>
            <a:ext cx="1058375" cy="307296"/>
            <a:chOff x="5509436" y="3287899"/>
            <a:chExt cx="1058375" cy="307296"/>
          </a:xfrm>
        </p:grpSpPr>
        <p:grpSp>
          <p:nvGrpSpPr>
            <p:cNvPr id="83" name="Group 182">
              <a:extLst>
                <a:ext uri="{FF2B5EF4-FFF2-40B4-BE49-F238E27FC236}">
                  <a16:creationId xmlns:a16="http://schemas.microsoft.com/office/drawing/2014/main" id="{92B476DA-1332-E245-A063-5F18A8ED561F}"/>
                </a:ext>
              </a:extLst>
            </p:cNvPr>
            <p:cNvGrpSpPr>
              <a:grpSpLocks/>
            </p:cNvGrpSpPr>
            <p:nvPr/>
          </p:nvGrpSpPr>
          <p:grpSpPr bwMode="auto">
            <a:xfrm>
              <a:off x="5510535" y="3293570"/>
              <a:ext cx="1057276" cy="301625"/>
              <a:chOff x="469" y="1531"/>
              <a:chExt cx="666" cy="190"/>
            </a:xfrm>
          </p:grpSpPr>
          <p:sp>
            <p:nvSpPr>
              <p:cNvPr id="84" name="Rectangle 183">
                <a:extLst>
                  <a:ext uri="{FF2B5EF4-FFF2-40B4-BE49-F238E27FC236}">
                    <a16:creationId xmlns:a16="http://schemas.microsoft.com/office/drawing/2014/main" id="{35A3A0E8-5840-8E42-ADE8-7EB044576C1C}"/>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184">
                <a:extLst>
                  <a:ext uri="{FF2B5EF4-FFF2-40B4-BE49-F238E27FC236}">
                    <a16:creationId xmlns:a16="http://schemas.microsoft.com/office/drawing/2014/main" id="{55600375-23A3-CD4E-BBD9-EE07BA4AED64}"/>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87" name="Rectangle 181">
              <a:extLst>
                <a:ext uri="{FF2B5EF4-FFF2-40B4-BE49-F238E27FC236}">
                  <a16:creationId xmlns:a16="http://schemas.microsoft.com/office/drawing/2014/main" id="{51F428BA-8794-2B46-B109-1D511F62E555}"/>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88" name="Rectangle 181">
              <a:extLst>
                <a:ext uri="{FF2B5EF4-FFF2-40B4-BE49-F238E27FC236}">
                  <a16:creationId xmlns:a16="http://schemas.microsoft.com/office/drawing/2014/main" id="{E5D95958-8C54-6242-A3B1-968E6AC629AC}"/>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4" name="Straight Connector 3">
              <a:extLst>
                <a:ext uri="{FF2B5EF4-FFF2-40B4-BE49-F238E27FC236}">
                  <a16:creationId xmlns:a16="http://schemas.microsoft.com/office/drawing/2014/main" id="{AE213470-EFFE-1143-AE70-3E6F1DF5204B}"/>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FB823437-9FDA-D44D-8E28-4933018C3600}"/>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A5D21437-EB31-B049-BCA8-EA76E03FEDB7}"/>
              </a:ext>
            </a:extLst>
          </p:cNvPr>
          <p:cNvGrpSpPr/>
          <p:nvPr/>
        </p:nvGrpSpPr>
        <p:grpSpPr>
          <a:xfrm>
            <a:off x="7629993" y="1484027"/>
            <a:ext cx="1535906" cy="3792511"/>
            <a:chOff x="7629993" y="1484027"/>
            <a:chExt cx="1535906" cy="3792511"/>
          </a:xfrm>
        </p:grpSpPr>
        <p:sp>
          <p:nvSpPr>
            <p:cNvPr id="119" name="Freeform 118">
              <a:extLst>
                <a:ext uri="{FF2B5EF4-FFF2-40B4-BE49-F238E27FC236}">
                  <a16:creationId xmlns:a16="http://schemas.microsoft.com/office/drawing/2014/main" id="{2E3C13E9-FC91-E54D-9DC5-AFD70E3CBBAA}"/>
                </a:ext>
              </a:extLst>
            </p:cNvPr>
            <p:cNvSpPr/>
            <p:nvPr/>
          </p:nvSpPr>
          <p:spPr>
            <a:xfrm flipH="1">
              <a:off x="7629993" y="1484027"/>
              <a:ext cx="1201062" cy="3792511"/>
            </a:xfrm>
            <a:custGeom>
              <a:avLst/>
              <a:gdLst>
                <a:gd name="connsiteX0" fmla="*/ 1822537 w 1822537"/>
                <a:gd name="connsiteY0" fmla="*/ 3263030 h 3263030"/>
                <a:gd name="connsiteX1" fmla="*/ 6263 w 1822537"/>
                <a:gd name="connsiteY1" fmla="*/ 2743200 h 3263030"/>
                <a:gd name="connsiteX2" fmla="*/ 0 w 1822537"/>
                <a:gd name="connsiteY2" fmla="*/ 0 h 3263030"/>
              </a:gdLst>
              <a:ahLst/>
              <a:cxnLst>
                <a:cxn ang="0">
                  <a:pos x="connsiteX0" y="connsiteY0"/>
                </a:cxn>
                <a:cxn ang="0">
                  <a:pos x="connsiteX1" y="connsiteY1"/>
                </a:cxn>
                <a:cxn ang="0">
                  <a:pos x="connsiteX2" y="connsiteY2"/>
                </a:cxn>
              </a:cxnLst>
              <a:rect l="l" t="t" r="r" b="b"/>
              <a:pathLst>
                <a:path w="1822537" h="3263030">
                  <a:moveTo>
                    <a:pt x="1822537" y="3263030"/>
                  </a:moveTo>
                  <a:lnTo>
                    <a:pt x="6263" y="2743200"/>
                  </a:lnTo>
                  <a:cubicBezTo>
                    <a:pt x="4175" y="1828800"/>
                    <a:pt x="2088" y="914400"/>
                    <a:pt x="0" y="0"/>
                  </a:cubicBezTo>
                </a:path>
              </a:pathLst>
            </a:custGeom>
            <a:noFill/>
            <a:ln w="44450">
              <a:solidFill>
                <a:srgbClr val="C00000"/>
              </a:solidFill>
              <a:tailEnd type="triangle" w="med"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0" name="Group 119">
              <a:extLst>
                <a:ext uri="{FF2B5EF4-FFF2-40B4-BE49-F238E27FC236}">
                  <a16:creationId xmlns:a16="http://schemas.microsoft.com/office/drawing/2014/main" id="{92B38A84-24FD-C544-987C-947AA35CE4C5}"/>
                </a:ext>
              </a:extLst>
            </p:cNvPr>
            <p:cNvGrpSpPr/>
            <p:nvPr/>
          </p:nvGrpSpPr>
          <p:grpSpPr>
            <a:xfrm>
              <a:off x="7693325" y="4097936"/>
              <a:ext cx="1470663" cy="389744"/>
              <a:chOff x="6216702" y="5375649"/>
              <a:chExt cx="1470663" cy="389744"/>
            </a:xfrm>
          </p:grpSpPr>
          <p:sp>
            <p:nvSpPr>
              <p:cNvPr id="121" name="Rectangle 120">
                <a:extLst>
                  <a:ext uri="{FF2B5EF4-FFF2-40B4-BE49-F238E27FC236}">
                    <a16:creationId xmlns:a16="http://schemas.microsoft.com/office/drawing/2014/main" id="{4CDD6D97-0BE7-0549-9C77-11B2E0248059}"/>
                  </a:ext>
                </a:extLst>
              </p:cNvPr>
              <p:cNvSpPr/>
              <p:nvPr/>
            </p:nvSpPr>
            <p:spPr>
              <a:xfrm>
                <a:off x="6477000" y="5375649"/>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2" name="Group 182">
                <a:extLst>
                  <a:ext uri="{FF2B5EF4-FFF2-40B4-BE49-F238E27FC236}">
                    <a16:creationId xmlns:a16="http://schemas.microsoft.com/office/drawing/2014/main" id="{0DBA1D16-ECC0-6340-A5E0-A93C4A81AED6}"/>
                  </a:ext>
                </a:extLst>
              </p:cNvPr>
              <p:cNvGrpSpPr>
                <a:grpSpLocks/>
              </p:cNvGrpSpPr>
              <p:nvPr/>
            </p:nvGrpSpPr>
            <p:grpSpPr bwMode="auto">
              <a:xfrm>
                <a:off x="6216702" y="5392448"/>
                <a:ext cx="1381126" cy="301625"/>
                <a:chOff x="265" y="1531"/>
                <a:chExt cx="870" cy="190"/>
              </a:xfrm>
            </p:grpSpPr>
            <p:sp>
              <p:nvSpPr>
                <p:cNvPr id="130" name="Rectangle 183">
                  <a:extLst>
                    <a:ext uri="{FF2B5EF4-FFF2-40B4-BE49-F238E27FC236}">
                      <a16:creationId xmlns:a16="http://schemas.microsoft.com/office/drawing/2014/main" id="{973B9FB6-C384-9B48-9B9C-233F0A0DBC0A}"/>
                    </a:ext>
                  </a:extLst>
                </p:cNvPr>
                <p:cNvSpPr>
                  <a:spLocks noChangeArrowheads="1"/>
                </p:cNvSpPr>
                <p:nvPr/>
              </p:nvSpPr>
              <p:spPr bwMode="auto">
                <a:xfrm>
                  <a:off x="265" y="1549"/>
                  <a:ext cx="87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1" name="Rectangle 184">
                  <a:extLst>
                    <a:ext uri="{FF2B5EF4-FFF2-40B4-BE49-F238E27FC236}">
                      <a16:creationId xmlns:a16="http://schemas.microsoft.com/office/drawing/2014/main" id="{3F4F223D-5B6B-4E46-9BB6-14710B320CAE}"/>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123" name="Rectangle 181">
                <a:extLst>
                  <a:ext uri="{FF2B5EF4-FFF2-40B4-BE49-F238E27FC236}">
                    <a16:creationId xmlns:a16="http://schemas.microsoft.com/office/drawing/2014/main" id="{5258144E-5499-AD49-BC8B-BE256AE9A30C}"/>
                  </a:ext>
                </a:extLst>
              </p:cNvPr>
              <p:cNvSpPr>
                <a:spLocks noChangeArrowheads="1"/>
              </p:cNvSpPr>
              <p:nvPr/>
            </p:nvSpPr>
            <p:spPr bwMode="auto">
              <a:xfrm>
                <a:off x="6801757" y="5404115"/>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124" name="Rectangle 181">
                <a:extLst>
                  <a:ext uri="{FF2B5EF4-FFF2-40B4-BE49-F238E27FC236}">
                    <a16:creationId xmlns:a16="http://schemas.microsoft.com/office/drawing/2014/main" id="{AA376B89-1E9F-2B4E-BC10-4D886A9404A6}"/>
                  </a:ext>
                </a:extLst>
              </p:cNvPr>
              <p:cNvSpPr>
                <a:spLocks noChangeArrowheads="1"/>
              </p:cNvSpPr>
              <p:nvPr/>
            </p:nvSpPr>
            <p:spPr bwMode="auto">
              <a:xfrm>
                <a:off x="6539453" y="5386777"/>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125" name="Straight Connector 124">
                <a:extLst>
                  <a:ext uri="{FF2B5EF4-FFF2-40B4-BE49-F238E27FC236}">
                    <a16:creationId xmlns:a16="http://schemas.microsoft.com/office/drawing/2014/main" id="{A158D1E0-EC39-B24D-B774-0F90A7D44B42}"/>
                  </a:ext>
                </a:extLst>
              </p:cNvPr>
              <p:cNvCxnSpPr>
                <a:cxnSpLocks/>
              </p:cNvCxnSpPr>
              <p:nvPr/>
            </p:nvCxnSpPr>
            <p:spPr>
              <a:xfrm>
                <a:off x="7106894" y="542102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48C5D3C3-9FD9-A44F-928B-E71825DFF240}"/>
                  </a:ext>
                </a:extLst>
              </p:cNvPr>
              <p:cNvCxnSpPr/>
              <p:nvPr/>
            </p:nvCxnSpPr>
            <p:spPr>
              <a:xfrm>
                <a:off x="6826395" y="5419311"/>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Rectangle 181">
                <a:extLst>
                  <a:ext uri="{FF2B5EF4-FFF2-40B4-BE49-F238E27FC236}">
                    <a16:creationId xmlns:a16="http://schemas.microsoft.com/office/drawing/2014/main" id="{225DB40F-4099-ED4A-9278-26E92634A4C9}"/>
                  </a:ext>
                </a:extLst>
              </p:cNvPr>
              <p:cNvSpPr>
                <a:spLocks noChangeArrowheads="1"/>
              </p:cNvSpPr>
              <p:nvPr/>
            </p:nvSpPr>
            <p:spPr bwMode="auto">
              <a:xfrm>
                <a:off x="6236418" y="5394426"/>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cxnSp>
            <p:nvCxnSpPr>
              <p:cNvPr id="129" name="Straight Connector 128">
                <a:extLst>
                  <a:ext uri="{FF2B5EF4-FFF2-40B4-BE49-F238E27FC236}">
                    <a16:creationId xmlns:a16="http://schemas.microsoft.com/office/drawing/2014/main" id="{D9C2CF80-D780-354F-8B0F-64498B55F617}"/>
                  </a:ext>
                </a:extLst>
              </p:cNvPr>
              <p:cNvCxnSpPr/>
              <p:nvPr/>
            </p:nvCxnSpPr>
            <p:spPr>
              <a:xfrm>
                <a:off x="6505708" y="5419900"/>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 name="Group 131">
              <a:extLst>
                <a:ext uri="{FF2B5EF4-FFF2-40B4-BE49-F238E27FC236}">
                  <a16:creationId xmlns:a16="http://schemas.microsoft.com/office/drawing/2014/main" id="{F9A41558-760A-B044-A2E4-76228C31F8A4}"/>
                </a:ext>
              </a:extLst>
            </p:cNvPr>
            <p:cNvGrpSpPr/>
            <p:nvPr/>
          </p:nvGrpSpPr>
          <p:grpSpPr>
            <a:xfrm>
              <a:off x="8014421" y="3363106"/>
              <a:ext cx="1058375" cy="307296"/>
              <a:chOff x="5509436" y="3287899"/>
              <a:chExt cx="1058375" cy="307296"/>
            </a:xfrm>
          </p:grpSpPr>
          <p:grpSp>
            <p:nvGrpSpPr>
              <p:cNvPr id="140" name="Group 182">
                <a:extLst>
                  <a:ext uri="{FF2B5EF4-FFF2-40B4-BE49-F238E27FC236}">
                    <a16:creationId xmlns:a16="http://schemas.microsoft.com/office/drawing/2014/main" id="{C1155C62-A602-444F-B19F-4DA3FA3F7D88}"/>
                  </a:ext>
                </a:extLst>
              </p:cNvPr>
              <p:cNvGrpSpPr>
                <a:grpSpLocks/>
              </p:cNvGrpSpPr>
              <p:nvPr/>
            </p:nvGrpSpPr>
            <p:grpSpPr bwMode="auto">
              <a:xfrm>
                <a:off x="5510535" y="3293570"/>
                <a:ext cx="1057276" cy="301625"/>
                <a:chOff x="469" y="1531"/>
                <a:chExt cx="666" cy="190"/>
              </a:xfrm>
            </p:grpSpPr>
            <p:sp>
              <p:nvSpPr>
                <p:cNvPr id="147" name="Rectangle 183">
                  <a:extLst>
                    <a:ext uri="{FF2B5EF4-FFF2-40B4-BE49-F238E27FC236}">
                      <a16:creationId xmlns:a16="http://schemas.microsoft.com/office/drawing/2014/main" id="{2D53D250-0610-284E-81F1-879A700C00E2}"/>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1" name="Rectangle 184">
                  <a:extLst>
                    <a:ext uri="{FF2B5EF4-FFF2-40B4-BE49-F238E27FC236}">
                      <a16:creationId xmlns:a16="http://schemas.microsoft.com/office/drawing/2014/main" id="{0ACD3527-E9B9-6D4D-8007-099BBDDFF1A9}"/>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141" name="Rectangle 181">
                <a:extLst>
                  <a:ext uri="{FF2B5EF4-FFF2-40B4-BE49-F238E27FC236}">
                    <a16:creationId xmlns:a16="http://schemas.microsoft.com/office/drawing/2014/main" id="{38AD7C4D-A21D-0347-A026-DC5DDA65CFD1}"/>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142" name="Rectangle 181">
                <a:extLst>
                  <a:ext uri="{FF2B5EF4-FFF2-40B4-BE49-F238E27FC236}">
                    <a16:creationId xmlns:a16="http://schemas.microsoft.com/office/drawing/2014/main" id="{283EF6F9-EBD6-0643-B547-9A89925CC425}"/>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145" name="Straight Connector 144">
                <a:extLst>
                  <a:ext uri="{FF2B5EF4-FFF2-40B4-BE49-F238E27FC236}">
                    <a16:creationId xmlns:a16="http://schemas.microsoft.com/office/drawing/2014/main" id="{FF1A7170-6A51-3D48-AEA7-1F523F75B4D6}"/>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F7519B9E-323B-804C-8AD0-4C25771A040B}"/>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5A2AE95C-185C-8444-B654-78F71C71DE49}"/>
                </a:ext>
              </a:extLst>
            </p:cNvPr>
            <p:cNvGrpSpPr/>
            <p:nvPr/>
          </p:nvGrpSpPr>
          <p:grpSpPr>
            <a:xfrm>
              <a:off x="8257849" y="2658970"/>
              <a:ext cx="908050" cy="301625"/>
              <a:chOff x="6877524" y="6049441"/>
              <a:chExt cx="908050" cy="301625"/>
            </a:xfrm>
          </p:grpSpPr>
          <p:grpSp>
            <p:nvGrpSpPr>
              <p:cNvPr id="155" name="Group 179">
                <a:extLst>
                  <a:ext uri="{FF2B5EF4-FFF2-40B4-BE49-F238E27FC236}">
                    <a16:creationId xmlns:a16="http://schemas.microsoft.com/office/drawing/2014/main" id="{F7F3A59D-8E1C-0843-A91C-661B48C280F7}"/>
                  </a:ext>
                </a:extLst>
              </p:cNvPr>
              <p:cNvGrpSpPr>
                <a:grpSpLocks/>
              </p:cNvGrpSpPr>
              <p:nvPr/>
            </p:nvGrpSpPr>
            <p:grpSpPr bwMode="auto">
              <a:xfrm>
                <a:off x="6877524" y="6051029"/>
                <a:ext cx="296863" cy="292100"/>
                <a:chOff x="1959" y="2058"/>
                <a:chExt cx="187" cy="184"/>
              </a:xfrm>
            </p:grpSpPr>
            <p:sp>
              <p:nvSpPr>
                <p:cNvPr id="159" name="Rectangle 180">
                  <a:extLst>
                    <a:ext uri="{FF2B5EF4-FFF2-40B4-BE49-F238E27FC236}">
                      <a16:creationId xmlns:a16="http://schemas.microsoft.com/office/drawing/2014/main" id="{D8D8CDAC-1743-F44C-8814-3E710C0D8F89}"/>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Rectangle 181">
                  <a:extLst>
                    <a:ext uri="{FF2B5EF4-FFF2-40B4-BE49-F238E27FC236}">
                      <a16:creationId xmlns:a16="http://schemas.microsoft.com/office/drawing/2014/main" id="{2BF6322B-3EB6-C74A-B78F-2C3780E0EF34}"/>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156" name="Group 182">
                <a:extLst>
                  <a:ext uri="{FF2B5EF4-FFF2-40B4-BE49-F238E27FC236}">
                    <a16:creationId xmlns:a16="http://schemas.microsoft.com/office/drawing/2014/main" id="{EEA95EC8-682A-ED49-9AD0-BB0068E93C67}"/>
                  </a:ext>
                </a:extLst>
              </p:cNvPr>
              <p:cNvGrpSpPr>
                <a:grpSpLocks/>
              </p:cNvGrpSpPr>
              <p:nvPr/>
            </p:nvGrpSpPr>
            <p:grpSpPr bwMode="auto">
              <a:xfrm>
                <a:off x="7106124" y="6049441"/>
                <a:ext cx="679450" cy="301625"/>
                <a:chOff x="780" y="1553"/>
                <a:chExt cx="428" cy="190"/>
              </a:xfrm>
            </p:grpSpPr>
            <p:sp>
              <p:nvSpPr>
                <p:cNvPr id="157" name="Rectangle 183">
                  <a:extLst>
                    <a:ext uri="{FF2B5EF4-FFF2-40B4-BE49-F238E27FC236}">
                      <a16:creationId xmlns:a16="http://schemas.microsoft.com/office/drawing/2014/main" id="{FFE8EEA0-FBAD-384F-AB6F-D39C89FF6B03}"/>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8" name="Rectangle 184">
                  <a:extLst>
                    <a:ext uri="{FF2B5EF4-FFF2-40B4-BE49-F238E27FC236}">
                      <a16:creationId xmlns:a16="http://schemas.microsoft.com/office/drawing/2014/main" id="{9C401D53-7DDF-E146-8622-C9BE9D947C20}"/>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162" name="Group 175">
              <a:extLst>
                <a:ext uri="{FF2B5EF4-FFF2-40B4-BE49-F238E27FC236}">
                  <a16:creationId xmlns:a16="http://schemas.microsoft.com/office/drawing/2014/main" id="{22C4D71A-308A-D147-9E34-D1EFF8D1F18B}"/>
                </a:ext>
              </a:extLst>
            </p:cNvPr>
            <p:cNvGrpSpPr>
              <a:grpSpLocks/>
            </p:cNvGrpSpPr>
            <p:nvPr/>
          </p:nvGrpSpPr>
          <p:grpSpPr bwMode="auto">
            <a:xfrm>
              <a:off x="8465451" y="1880020"/>
              <a:ext cx="679450" cy="301625"/>
              <a:chOff x="780" y="1553"/>
              <a:chExt cx="428" cy="190"/>
            </a:xfrm>
          </p:grpSpPr>
          <p:sp>
            <p:nvSpPr>
              <p:cNvPr id="163" name="Rectangle 176">
                <a:extLst>
                  <a:ext uri="{FF2B5EF4-FFF2-40B4-BE49-F238E27FC236}">
                    <a16:creationId xmlns:a16="http://schemas.microsoft.com/office/drawing/2014/main" id="{1BB3E472-5096-EB4B-9536-B45F30797C16}"/>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4" name="Rectangle 177">
                <a:extLst>
                  <a:ext uri="{FF2B5EF4-FFF2-40B4-BE49-F238E27FC236}">
                    <a16:creationId xmlns:a16="http://schemas.microsoft.com/office/drawing/2014/main" id="{37DB6D54-3397-3949-A1CA-B2DA46101546}"/>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165" name="Freeform 8">
            <a:extLst>
              <a:ext uri="{FF2B5EF4-FFF2-40B4-BE49-F238E27FC236}">
                <a16:creationId xmlns:a16="http://schemas.microsoft.com/office/drawing/2014/main" id="{2F028C19-F830-D644-B8E0-645A3A1596FF}"/>
              </a:ext>
            </a:extLst>
          </p:cNvPr>
          <p:cNvSpPr>
            <a:spLocks/>
          </p:cNvSpPr>
          <p:nvPr/>
        </p:nvSpPr>
        <p:spPr bwMode="auto">
          <a:xfrm>
            <a:off x="3570599" y="4675377"/>
            <a:ext cx="4136844" cy="601045"/>
          </a:xfrm>
          <a:custGeom>
            <a:avLst/>
            <a:gdLst>
              <a:gd name="T0" fmla="*/ 0 w 4100"/>
              <a:gd name="T1" fmla="*/ 0 h 2072"/>
              <a:gd name="T2" fmla="*/ 4 w 4100"/>
              <a:gd name="T3" fmla="*/ 1736 h 2072"/>
              <a:gd name="T4" fmla="*/ 804 w 4100"/>
              <a:gd name="T5" fmla="*/ 2064 h 2072"/>
              <a:gd name="T6" fmla="*/ 3468 w 4100"/>
              <a:gd name="T7" fmla="*/ 2072 h 2072"/>
              <a:gd name="T8" fmla="*/ 4100 w 4100"/>
              <a:gd name="T9" fmla="*/ 1736 h 2072"/>
              <a:gd name="T10" fmla="*/ 4100 w 4100"/>
              <a:gd name="T11" fmla="*/ 96 h 2072"/>
              <a:gd name="T12" fmla="*/ 0 60000 65536"/>
              <a:gd name="T13" fmla="*/ 0 60000 65536"/>
              <a:gd name="T14" fmla="*/ 0 60000 65536"/>
              <a:gd name="T15" fmla="*/ 0 60000 65536"/>
              <a:gd name="T16" fmla="*/ 0 60000 65536"/>
              <a:gd name="T17" fmla="*/ 0 60000 65536"/>
              <a:gd name="T18" fmla="*/ 0 w 4100"/>
              <a:gd name="T19" fmla="*/ 0 h 2072"/>
              <a:gd name="T20" fmla="*/ 4100 w 4100"/>
              <a:gd name="T21" fmla="*/ 2072 h 2072"/>
              <a:gd name="connsiteX0" fmla="*/ 0 w 10000"/>
              <a:gd name="connsiteY0" fmla="*/ 0 h 10000"/>
              <a:gd name="connsiteX1" fmla="*/ 10 w 10000"/>
              <a:gd name="connsiteY1" fmla="*/ 8378 h 10000"/>
              <a:gd name="connsiteX2" fmla="*/ 1961 w 10000"/>
              <a:gd name="connsiteY2" fmla="*/ 9961 h 10000"/>
              <a:gd name="connsiteX3" fmla="*/ 8459 w 10000"/>
              <a:gd name="connsiteY3" fmla="*/ 10000 h 10000"/>
              <a:gd name="connsiteX4" fmla="*/ 10000 w 10000"/>
              <a:gd name="connsiteY4" fmla="*/ 8378 h 10000"/>
              <a:gd name="connsiteX0" fmla="*/ 0 w 8459"/>
              <a:gd name="connsiteY0" fmla="*/ 0 h 10000"/>
              <a:gd name="connsiteX1" fmla="*/ 10 w 8459"/>
              <a:gd name="connsiteY1" fmla="*/ 8378 h 10000"/>
              <a:gd name="connsiteX2" fmla="*/ 1961 w 8459"/>
              <a:gd name="connsiteY2" fmla="*/ 9961 h 10000"/>
              <a:gd name="connsiteX3" fmla="*/ 8459 w 8459"/>
              <a:gd name="connsiteY3" fmla="*/ 10000 h 10000"/>
              <a:gd name="connsiteX0" fmla="*/ 0 w 9988"/>
              <a:gd name="connsiteY0" fmla="*/ 0 h 1622"/>
              <a:gd name="connsiteX1" fmla="*/ 2306 w 9988"/>
              <a:gd name="connsiteY1" fmla="*/ 1583 h 1622"/>
              <a:gd name="connsiteX2" fmla="*/ 9988 w 9988"/>
              <a:gd name="connsiteY2" fmla="*/ 1622 h 1622"/>
            </a:gdLst>
            <a:ahLst/>
            <a:cxnLst>
              <a:cxn ang="0">
                <a:pos x="connsiteX0" y="connsiteY0"/>
              </a:cxn>
              <a:cxn ang="0">
                <a:pos x="connsiteX1" y="connsiteY1"/>
              </a:cxn>
              <a:cxn ang="0">
                <a:pos x="connsiteX2" y="connsiteY2"/>
              </a:cxn>
            </a:cxnLst>
            <a:rect l="l" t="t" r="r" b="b"/>
            <a:pathLst>
              <a:path w="9988" h="1622">
                <a:moveTo>
                  <a:pt x="0" y="0"/>
                </a:moveTo>
                <a:lnTo>
                  <a:pt x="2306" y="1583"/>
                </a:lnTo>
                <a:lnTo>
                  <a:pt x="9988" y="1622"/>
                </a:lnTo>
              </a:path>
            </a:pathLst>
          </a:custGeom>
          <a:noFill/>
          <a:ln w="44450">
            <a:solidFill>
              <a:srgbClr val="C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 name="Group 14">
            <a:extLst>
              <a:ext uri="{FF2B5EF4-FFF2-40B4-BE49-F238E27FC236}">
                <a16:creationId xmlns:a16="http://schemas.microsoft.com/office/drawing/2014/main" id="{18972F90-3C74-DB40-87B9-AFD313A6FA79}"/>
              </a:ext>
            </a:extLst>
          </p:cNvPr>
          <p:cNvGrpSpPr/>
          <p:nvPr/>
        </p:nvGrpSpPr>
        <p:grpSpPr>
          <a:xfrm>
            <a:off x="3186222" y="2137612"/>
            <a:ext cx="1079388" cy="1910319"/>
            <a:chOff x="3186222" y="2137612"/>
            <a:chExt cx="1079388" cy="1910319"/>
          </a:xfrm>
        </p:grpSpPr>
        <p:sp>
          <p:nvSpPr>
            <p:cNvPr id="10" name="TextBox 9">
              <a:extLst>
                <a:ext uri="{FF2B5EF4-FFF2-40B4-BE49-F238E27FC236}">
                  <a16:creationId xmlns:a16="http://schemas.microsoft.com/office/drawing/2014/main" id="{F4282034-58EE-6443-97BE-4033A6975AE5}"/>
                </a:ext>
              </a:extLst>
            </p:cNvPr>
            <p:cNvSpPr txBox="1"/>
            <p:nvPr/>
          </p:nvSpPr>
          <p:spPr>
            <a:xfrm>
              <a:off x="3186222" y="2137612"/>
              <a:ext cx="997068" cy="369332"/>
            </a:xfrm>
            <a:prstGeom prst="rect">
              <a:avLst/>
            </a:prstGeom>
            <a:noFill/>
          </p:spPr>
          <p:txBody>
            <a:bodyPr wrap="none" rtlCol="0">
              <a:spAutoFit/>
            </a:bodyPr>
            <a:lstStyle/>
            <a:p>
              <a:r>
                <a:rPr lang="en-US" dirty="0"/>
                <a:t>message</a:t>
              </a:r>
            </a:p>
          </p:txBody>
        </p:sp>
        <p:sp>
          <p:nvSpPr>
            <p:cNvPr id="166" name="TextBox 165">
              <a:extLst>
                <a:ext uri="{FF2B5EF4-FFF2-40B4-BE49-F238E27FC236}">
                  <a16:creationId xmlns:a16="http://schemas.microsoft.com/office/drawing/2014/main" id="{8BE5EF03-00F9-6A41-8F0C-CAAFE7A85EE6}"/>
                </a:ext>
              </a:extLst>
            </p:cNvPr>
            <p:cNvSpPr txBox="1"/>
            <p:nvPr/>
          </p:nvSpPr>
          <p:spPr>
            <a:xfrm>
              <a:off x="3192100" y="2928436"/>
              <a:ext cx="995272" cy="369332"/>
            </a:xfrm>
            <a:prstGeom prst="rect">
              <a:avLst/>
            </a:prstGeom>
            <a:noFill/>
          </p:spPr>
          <p:txBody>
            <a:bodyPr wrap="none" rtlCol="0">
              <a:spAutoFit/>
            </a:bodyPr>
            <a:lstStyle/>
            <a:p>
              <a:r>
                <a:rPr lang="en-US" dirty="0"/>
                <a:t>segment</a:t>
              </a:r>
            </a:p>
          </p:txBody>
        </p:sp>
        <p:sp>
          <p:nvSpPr>
            <p:cNvPr id="200" name="TextBox 199">
              <a:extLst>
                <a:ext uri="{FF2B5EF4-FFF2-40B4-BE49-F238E27FC236}">
                  <a16:creationId xmlns:a16="http://schemas.microsoft.com/office/drawing/2014/main" id="{DD9ACBFF-6D46-1C46-8036-50329CCCA60E}"/>
                </a:ext>
              </a:extLst>
            </p:cNvPr>
            <p:cNvSpPr txBox="1"/>
            <p:nvPr/>
          </p:nvSpPr>
          <p:spPr>
            <a:xfrm>
              <a:off x="3186532" y="3678599"/>
              <a:ext cx="1079078" cy="369332"/>
            </a:xfrm>
            <a:prstGeom prst="rect">
              <a:avLst/>
            </a:prstGeom>
            <a:noFill/>
          </p:spPr>
          <p:txBody>
            <a:bodyPr wrap="none" rtlCol="0">
              <a:spAutoFit/>
            </a:bodyPr>
            <a:lstStyle/>
            <a:p>
              <a:r>
                <a:rPr lang="en-US" dirty="0"/>
                <a:t>datagram</a:t>
              </a:r>
            </a:p>
          </p:txBody>
        </p:sp>
      </p:grpSp>
      <p:sp>
        <p:nvSpPr>
          <p:cNvPr id="201" name="TextBox 200">
            <a:extLst>
              <a:ext uri="{FF2B5EF4-FFF2-40B4-BE49-F238E27FC236}">
                <a16:creationId xmlns:a16="http://schemas.microsoft.com/office/drawing/2014/main" id="{1BE94808-747E-4346-8BA9-1245F5340481}"/>
              </a:ext>
            </a:extLst>
          </p:cNvPr>
          <p:cNvSpPr txBox="1"/>
          <p:nvPr/>
        </p:nvSpPr>
        <p:spPr>
          <a:xfrm>
            <a:off x="3188967" y="4455188"/>
            <a:ext cx="740972" cy="369332"/>
          </a:xfrm>
          <a:prstGeom prst="rect">
            <a:avLst/>
          </a:prstGeom>
          <a:noFill/>
        </p:spPr>
        <p:txBody>
          <a:bodyPr wrap="none" rtlCol="0">
            <a:spAutoFit/>
          </a:bodyPr>
          <a:lstStyle/>
          <a:p>
            <a:r>
              <a:rPr lang="en-US" dirty="0"/>
              <a:t>frame</a:t>
            </a:r>
          </a:p>
        </p:txBody>
      </p:sp>
      <p:grpSp>
        <p:nvGrpSpPr>
          <p:cNvPr id="3" name="Group 2">
            <a:extLst>
              <a:ext uri="{FF2B5EF4-FFF2-40B4-BE49-F238E27FC236}">
                <a16:creationId xmlns:a16="http://schemas.microsoft.com/office/drawing/2014/main" id="{70ABA56E-C19B-1E49-8691-B116C4BC92D9}"/>
              </a:ext>
            </a:extLst>
          </p:cNvPr>
          <p:cNvGrpSpPr/>
          <p:nvPr/>
        </p:nvGrpSpPr>
        <p:grpSpPr>
          <a:xfrm>
            <a:off x="5144294" y="4194650"/>
            <a:ext cx="1347789" cy="307296"/>
            <a:chOff x="5144294" y="4194650"/>
            <a:chExt cx="1347789" cy="307296"/>
          </a:xfrm>
        </p:grpSpPr>
        <p:grpSp>
          <p:nvGrpSpPr>
            <p:cNvPr id="210" name="Group 182">
              <a:extLst>
                <a:ext uri="{FF2B5EF4-FFF2-40B4-BE49-F238E27FC236}">
                  <a16:creationId xmlns:a16="http://schemas.microsoft.com/office/drawing/2014/main" id="{1C0D8E0C-30C7-D644-B53F-545AC3B41D0A}"/>
                </a:ext>
              </a:extLst>
            </p:cNvPr>
            <p:cNvGrpSpPr>
              <a:grpSpLocks/>
            </p:cNvGrpSpPr>
            <p:nvPr/>
          </p:nvGrpSpPr>
          <p:grpSpPr bwMode="auto">
            <a:xfrm>
              <a:off x="5144294" y="4200321"/>
              <a:ext cx="1347789" cy="301625"/>
              <a:chOff x="286" y="1531"/>
              <a:chExt cx="849" cy="190"/>
            </a:xfrm>
          </p:grpSpPr>
          <p:sp>
            <p:nvSpPr>
              <p:cNvPr id="226" name="Rectangle 183">
                <a:extLst>
                  <a:ext uri="{FF2B5EF4-FFF2-40B4-BE49-F238E27FC236}">
                    <a16:creationId xmlns:a16="http://schemas.microsoft.com/office/drawing/2014/main" id="{6DE19E5C-020A-764D-8F6B-6BB09EA73317}"/>
                  </a:ext>
                </a:extLst>
              </p:cNvPr>
              <p:cNvSpPr>
                <a:spLocks noChangeArrowheads="1"/>
              </p:cNvSpPr>
              <p:nvPr/>
            </p:nvSpPr>
            <p:spPr bwMode="auto">
              <a:xfrm>
                <a:off x="286" y="1549"/>
                <a:ext cx="849"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Rectangle 184">
                <a:extLst>
                  <a:ext uri="{FF2B5EF4-FFF2-40B4-BE49-F238E27FC236}">
                    <a16:creationId xmlns:a16="http://schemas.microsoft.com/office/drawing/2014/main" id="{3DF40025-F95F-CB4C-938D-A1646D4921BD}"/>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211" name="Rectangle 181">
              <a:extLst>
                <a:ext uri="{FF2B5EF4-FFF2-40B4-BE49-F238E27FC236}">
                  <a16:creationId xmlns:a16="http://schemas.microsoft.com/office/drawing/2014/main" id="{C5D484DA-CF52-D04F-9108-C2A5AAA250C8}"/>
                </a:ext>
              </a:extLst>
            </p:cNvPr>
            <p:cNvSpPr>
              <a:spLocks noChangeArrowheads="1"/>
            </p:cNvSpPr>
            <p:nvPr/>
          </p:nvSpPr>
          <p:spPr bwMode="auto">
            <a:xfrm>
              <a:off x="5696012" y="4211988"/>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21" name="Rectangle 181">
              <a:extLst>
                <a:ext uri="{FF2B5EF4-FFF2-40B4-BE49-F238E27FC236}">
                  <a16:creationId xmlns:a16="http://schemas.microsoft.com/office/drawing/2014/main" id="{9A7A7B02-76C2-C24E-946A-4CBDBFE07A53}"/>
                </a:ext>
              </a:extLst>
            </p:cNvPr>
            <p:cNvSpPr>
              <a:spLocks noChangeArrowheads="1"/>
            </p:cNvSpPr>
            <p:nvPr/>
          </p:nvSpPr>
          <p:spPr bwMode="auto">
            <a:xfrm>
              <a:off x="5433708" y="4194650"/>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222" name="Straight Connector 221">
              <a:extLst>
                <a:ext uri="{FF2B5EF4-FFF2-40B4-BE49-F238E27FC236}">
                  <a16:creationId xmlns:a16="http://schemas.microsoft.com/office/drawing/2014/main" id="{104E923B-AAA4-BF49-886D-0890ABD390AE}"/>
                </a:ext>
              </a:extLst>
            </p:cNvPr>
            <p:cNvCxnSpPr>
              <a:cxnSpLocks/>
            </p:cNvCxnSpPr>
            <p:nvPr/>
          </p:nvCxnSpPr>
          <p:spPr>
            <a:xfrm>
              <a:off x="6001149" y="4228896"/>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4096CE24-617A-E048-B706-AA2C9CEA0B54}"/>
                </a:ext>
              </a:extLst>
            </p:cNvPr>
            <p:cNvCxnSpPr/>
            <p:nvPr/>
          </p:nvCxnSpPr>
          <p:spPr>
            <a:xfrm>
              <a:off x="5720650" y="4227184"/>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4" name="Rectangle 181">
              <a:extLst>
                <a:ext uri="{FF2B5EF4-FFF2-40B4-BE49-F238E27FC236}">
                  <a16:creationId xmlns:a16="http://schemas.microsoft.com/office/drawing/2014/main" id="{00739E25-7377-104B-A6E7-E26BE236CB99}"/>
                </a:ext>
              </a:extLst>
            </p:cNvPr>
            <p:cNvSpPr>
              <a:spLocks noChangeArrowheads="1"/>
            </p:cNvSpPr>
            <p:nvPr/>
          </p:nvSpPr>
          <p:spPr bwMode="auto">
            <a:xfrm>
              <a:off x="5149178" y="4198403"/>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cxnSp>
          <p:nvCxnSpPr>
            <p:cNvPr id="225" name="Straight Connector 224">
              <a:extLst>
                <a:ext uri="{FF2B5EF4-FFF2-40B4-BE49-F238E27FC236}">
                  <a16:creationId xmlns:a16="http://schemas.microsoft.com/office/drawing/2014/main" id="{FB902E57-4D34-7F49-80B6-6C4A1D5EB080}"/>
                </a:ext>
              </a:extLst>
            </p:cNvPr>
            <p:cNvCxnSpPr/>
            <p:nvPr/>
          </p:nvCxnSpPr>
          <p:spPr>
            <a:xfrm>
              <a:off x="5418102" y="4226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7" name="Slide Number Placeholder 5">
            <a:extLst>
              <a:ext uri="{FF2B5EF4-FFF2-40B4-BE49-F238E27FC236}">
                <a16:creationId xmlns:a16="http://schemas.microsoft.com/office/drawing/2014/main" id="{60581BF3-DA2A-CA4C-99A4-DD38B8148367}"/>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12</a:t>
            </a:fld>
            <a:endParaRPr lang="en-US" dirty="0"/>
          </a:p>
        </p:txBody>
      </p:sp>
    </p:spTree>
    <p:extLst>
      <p:ext uri="{BB962C8B-B14F-4D97-AF65-F5344CB8AC3E}">
        <p14:creationId xmlns:p14="http://schemas.microsoft.com/office/powerpoint/2010/main" val="1711627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nodeType="withEffect">
                                  <p:stCondLst>
                                    <p:cond delay="0"/>
                                  </p:stCondLst>
                                  <p:childTnLst>
                                    <p:animMotion origin="layout" path="M -4.16667E-7 1.48148E-6 L -0.17917 0.01018 " pathEditMode="relative" rAng="0" ptsTypes="AA">
                                      <p:cBhvr>
                                        <p:cTn id="6" dur="2000" fill="hold"/>
                                        <p:tgtEl>
                                          <p:spTgt spid="6"/>
                                        </p:tgtEl>
                                        <p:attrNameLst>
                                          <p:attrName>ppt_x</p:attrName>
                                          <p:attrName>ppt_y</p:attrName>
                                        </p:attrNameLst>
                                      </p:cBhvr>
                                      <p:rCtr x="-8958" y="509"/>
                                    </p:animMotion>
                                  </p:childTnLst>
                                </p:cTn>
                              </p:par>
                              <p:par>
                                <p:cTn id="7" presetID="42" presetClass="path" presetSubtype="0" accel="50000" decel="50000" fill="hold" nodeType="withEffect">
                                  <p:stCondLst>
                                    <p:cond delay="0"/>
                                  </p:stCondLst>
                                  <p:childTnLst>
                                    <p:animMotion origin="layout" path="M 3.54167E-6 -1.85185E-6 L -0.20157 0.03403 " pathEditMode="relative" rAng="0" ptsTypes="AA">
                                      <p:cBhvr>
                                        <p:cTn id="8" dur="2000" fill="hold"/>
                                        <p:tgtEl>
                                          <p:spTgt spid="133"/>
                                        </p:tgtEl>
                                        <p:attrNameLst>
                                          <p:attrName>ppt_x</p:attrName>
                                          <p:attrName>ppt_y</p:attrName>
                                        </p:attrNameLst>
                                      </p:cBhvr>
                                      <p:rCtr x="-10078" y="1690"/>
                                    </p:animMotion>
                                  </p:childTnLst>
                                </p:cTn>
                              </p:par>
                              <p:par>
                                <p:cTn id="9" presetID="42" presetClass="path" presetSubtype="0" accel="50000" decel="50000" fill="hold" nodeType="withEffect">
                                  <p:stCondLst>
                                    <p:cond delay="0"/>
                                  </p:stCondLst>
                                  <p:childTnLst>
                                    <p:animMotion origin="layout" path="M -3.75E-6 4.81481E-6 L -0.22096 0.04953 " pathEditMode="relative" rAng="0" ptsTypes="AA">
                                      <p:cBhvr>
                                        <p:cTn id="10" dur="2000" fill="hold"/>
                                        <p:tgtEl>
                                          <p:spTgt spid="96"/>
                                        </p:tgtEl>
                                        <p:attrNameLst>
                                          <p:attrName>ppt_x</p:attrName>
                                          <p:attrName>ppt_y</p:attrName>
                                        </p:attrNameLst>
                                      </p:cBhvr>
                                      <p:rCtr x="-11055" y="2477"/>
                                    </p:animMotion>
                                  </p:childTnLst>
                                </p:cTn>
                              </p:par>
                              <p:par>
                                <p:cTn id="11" presetID="42" presetClass="path" presetSubtype="0" accel="50000" decel="50000" fill="hold" nodeType="withEffect">
                                  <p:stCondLst>
                                    <p:cond delay="0"/>
                                  </p:stCondLst>
                                  <p:childTnLst>
                                    <p:animMotion origin="layout" path="M -3.54167E-6 2.22222E-6 L -0.16224 -0.00625 " pathEditMode="relative" rAng="0" ptsTypes="AA">
                                      <p:cBhvr>
                                        <p:cTn id="12" dur="2000" fill="hold"/>
                                        <p:tgtEl>
                                          <p:spTgt spid="3"/>
                                        </p:tgtEl>
                                        <p:attrNameLst>
                                          <p:attrName>ppt_x</p:attrName>
                                          <p:attrName>ppt_y</p:attrName>
                                        </p:attrNameLst>
                                      </p:cBhvr>
                                      <p:rCtr x="-8112" y="-324"/>
                                    </p:animMotion>
                                  </p:childTnLst>
                                </p:cTn>
                              </p:par>
                            </p:childTnLst>
                          </p:cTn>
                        </p:par>
                        <p:par>
                          <p:cTn id="13" fill="hold">
                            <p:stCondLst>
                              <p:cond delay="2000"/>
                            </p:stCondLst>
                            <p:childTnLst>
                              <p:par>
                                <p:cTn id="14" presetID="9" presetClass="entr" presetSubtype="0" fill="hold" nodeType="after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dissolve">
                                      <p:cBhvr>
                                        <p:cTn id="16" dur="500"/>
                                        <p:tgtEl>
                                          <p:spTgt spid="15"/>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01"/>
                                        </p:tgtEl>
                                        <p:attrNameLst>
                                          <p:attrName>style.visibility</p:attrName>
                                        </p:attrNameLst>
                                      </p:cBhvr>
                                      <p:to>
                                        <p:strVal val="visible"/>
                                      </p:to>
                                    </p:set>
                                    <p:animEffect transition="in" filter="dissolve">
                                      <p:cBhvr>
                                        <p:cTn id="19" dur="500"/>
                                        <p:tgtEl>
                                          <p:spTgt spid="201"/>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xit" presetSubtype="0" fill="hold" nodeType="clickEffect">
                                  <p:stCondLst>
                                    <p:cond delay="0"/>
                                  </p:stCondLst>
                                  <p:childTnLst>
                                    <p:animEffect transition="out" filter="dissolve">
                                      <p:cBhvr>
                                        <p:cTn id="23" dur="500"/>
                                        <p:tgtEl>
                                          <p:spTgt spid="15"/>
                                        </p:tgtEl>
                                      </p:cBhvr>
                                    </p:animEffect>
                                    <p:set>
                                      <p:cBhvr>
                                        <p:cTn id="24" dur="1" fill="hold">
                                          <p:stCondLst>
                                            <p:cond delay="499"/>
                                          </p:stCondLst>
                                        </p:cTn>
                                        <p:tgtEl>
                                          <p:spTgt spid="15"/>
                                        </p:tgtEl>
                                        <p:attrNameLst>
                                          <p:attrName>style.visibility</p:attrName>
                                        </p:attrNameLst>
                                      </p:cBhvr>
                                      <p:to>
                                        <p:strVal val="hidden"/>
                                      </p:to>
                                    </p:set>
                                  </p:childTnLst>
                                </p:cTn>
                              </p:par>
                              <p:par>
                                <p:cTn id="25" presetID="9" presetClass="exit" presetSubtype="0" fill="hold" grpId="1" nodeType="withEffect">
                                  <p:stCondLst>
                                    <p:cond delay="0"/>
                                  </p:stCondLst>
                                  <p:childTnLst>
                                    <p:animEffect transition="out" filter="dissolve">
                                      <p:cBhvr>
                                        <p:cTn id="26" dur="500"/>
                                        <p:tgtEl>
                                          <p:spTgt spid="201"/>
                                        </p:tgtEl>
                                      </p:cBhvr>
                                    </p:animEffect>
                                    <p:set>
                                      <p:cBhvr>
                                        <p:cTn id="27" dur="1" fill="hold">
                                          <p:stCondLst>
                                            <p:cond delay="499"/>
                                          </p:stCondLst>
                                        </p:cTn>
                                        <p:tgtEl>
                                          <p:spTgt spid="201"/>
                                        </p:tgtEl>
                                        <p:attrNameLst>
                                          <p:attrName>style.visibility</p:attrName>
                                        </p:attrNameLst>
                                      </p:cBhvr>
                                      <p:to>
                                        <p:strVal val="hidden"/>
                                      </p:to>
                                    </p:set>
                                  </p:childTnLst>
                                </p:cTn>
                              </p:par>
                            </p:childTnLst>
                          </p:cTn>
                        </p:par>
                        <p:par>
                          <p:cTn id="28" fill="hold">
                            <p:stCondLst>
                              <p:cond delay="500"/>
                            </p:stCondLst>
                            <p:childTnLst>
                              <p:par>
                                <p:cTn id="29" presetID="22" presetClass="entr" presetSubtype="1" fill="hold" grpId="0" nodeType="afterEffect">
                                  <p:stCondLst>
                                    <p:cond delay="0"/>
                                  </p:stCondLst>
                                  <p:childTnLst>
                                    <p:set>
                                      <p:cBhvr>
                                        <p:cTn id="30" dur="1" fill="hold">
                                          <p:stCondLst>
                                            <p:cond delay="0"/>
                                          </p:stCondLst>
                                        </p:cTn>
                                        <p:tgtEl>
                                          <p:spTgt spid="118"/>
                                        </p:tgtEl>
                                        <p:attrNameLst>
                                          <p:attrName>style.visibility</p:attrName>
                                        </p:attrNameLst>
                                      </p:cBhvr>
                                      <p:to>
                                        <p:strVal val="visible"/>
                                      </p:to>
                                    </p:set>
                                    <p:animEffect transition="in" filter="wipe(up)">
                                      <p:cBhvr>
                                        <p:cTn id="31" dur="500"/>
                                        <p:tgtEl>
                                          <p:spTgt spid="118"/>
                                        </p:tgtEl>
                                      </p:cBhvr>
                                    </p:animEffect>
                                  </p:childTnLst>
                                </p:cTn>
                              </p:par>
                            </p:childTnLst>
                          </p:cTn>
                        </p:par>
                        <p:par>
                          <p:cTn id="32" fill="hold">
                            <p:stCondLst>
                              <p:cond delay="1000"/>
                            </p:stCondLst>
                            <p:childTnLst>
                              <p:par>
                                <p:cTn id="33" presetID="22" presetClass="entr" presetSubtype="8" fill="hold" grpId="0" nodeType="afterEffect">
                                  <p:stCondLst>
                                    <p:cond delay="0"/>
                                  </p:stCondLst>
                                  <p:childTnLst>
                                    <p:set>
                                      <p:cBhvr>
                                        <p:cTn id="34" dur="1" fill="hold">
                                          <p:stCondLst>
                                            <p:cond delay="0"/>
                                          </p:stCondLst>
                                        </p:cTn>
                                        <p:tgtEl>
                                          <p:spTgt spid="165"/>
                                        </p:tgtEl>
                                        <p:attrNameLst>
                                          <p:attrName>style.visibility</p:attrName>
                                        </p:attrNameLst>
                                      </p:cBhvr>
                                      <p:to>
                                        <p:strVal val="visible"/>
                                      </p:to>
                                    </p:set>
                                    <p:animEffect transition="in" filter="wipe(left)">
                                      <p:cBhvr>
                                        <p:cTn id="35" dur="500"/>
                                        <p:tgtEl>
                                          <p:spTgt spid="165"/>
                                        </p:tgtEl>
                                      </p:cBhvr>
                                    </p:animEffect>
                                  </p:childTnLst>
                                </p:cTn>
                              </p:par>
                            </p:childTnLst>
                          </p:cTn>
                        </p:par>
                        <p:par>
                          <p:cTn id="36" fill="hold">
                            <p:stCondLst>
                              <p:cond delay="1500"/>
                            </p:stCondLst>
                            <p:childTnLst>
                              <p:par>
                                <p:cTn id="37" presetID="22" presetClass="entr" presetSubtype="4" fill="hold" nodeType="after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wipe(down)">
                                      <p:cBhvr>
                                        <p:cTn id="3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65" grpId="0" animBg="1"/>
      <p:bldP spid="201" grpId="0"/>
      <p:bldP spid="201" grpId="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 name="Freeform 99">
            <a:extLst>
              <a:ext uri="{FF2B5EF4-FFF2-40B4-BE49-F238E27FC236}">
                <a16:creationId xmlns:a16="http://schemas.microsoft.com/office/drawing/2014/main" id="{3E758716-A071-4141-B9BA-7927A5BFBD94}"/>
              </a:ext>
            </a:extLst>
          </p:cNvPr>
          <p:cNvSpPr>
            <a:spLocks/>
          </p:cNvSpPr>
          <p:nvPr/>
        </p:nvSpPr>
        <p:spPr bwMode="auto">
          <a:xfrm>
            <a:off x="8197855" y="4478480"/>
            <a:ext cx="454072" cy="992421"/>
          </a:xfrm>
          <a:custGeom>
            <a:avLst/>
            <a:gdLst>
              <a:gd name="T0" fmla="*/ 2147483646 w 413"/>
              <a:gd name="T1" fmla="*/ 2147483646 h 715"/>
              <a:gd name="T2" fmla="*/ 2147483646 w 413"/>
              <a:gd name="T3" fmla="*/ 0 h 715"/>
              <a:gd name="T4" fmla="*/ 0 w 413"/>
              <a:gd name="T5" fmla="*/ 2147483646 h 715"/>
              <a:gd name="T6" fmla="*/ 2147483646 w 413"/>
              <a:gd name="T7" fmla="*/ 2147483646 h 715"/>
              <a:gd name="T8" fmla="*/ 2147483646 w 413"/>
              <a:gd name="T9" fmla="*/ 2147483646 h 715"/>
              <a:gd name="T10" fmla="*/ 0 60000 65536"/>
              <a:gd name="T11" fmla="*/ 0 60000 65536"/>
              <a:gd name="T12" fmla="*/ 0 60000 65536"/>
              <a:gd name="T13" fmla="*/ 0 60000 65536"/>
              <a:gd name="T14" fmla="*/ 0 60000 65536"/>
              <a:gd name="T15" fmla="*/ 0 w 413"/>
              <a:gd name="T16" fmla="*/ 0 h 715"/>
              <a:gd name="T17" fmla="*/ 413 w 413"/>
              <a:gd name="T18" fmla="*/ 715 h 715"/>
              <a:gd name="connsiteX0" fmla="*/ 10000 w 10000"/>
              <a:gd name="connsiteY0" fmla="*/ 7972 h 8825"/>
              <a:gd name="connsiteX1" fmla="*/ 218 w 10000"/>
              <a:gd name="connsiteY1" fmla="*/ 0 h 8825"/>
              <a:gd name="connsiteX2" fmla="*/ 0 w 10000"/>
              <a:gd name="connsiteY2" fmla="*/ 8448 h 8825"/>
              <a:gd name="connsiteX3" fmla="*/ 7224 w 10000"/>
              <a:gd name="connsiteY3" fmla="*/ 8825 h 8825"/>
              <a:gd name="connsiteX4" fmla="*/ 10000 w 10000"/>
              <a:gd name="connsiteY4" fmla="*/ 7972 h 8825"/>
              <a:gd name="connsiteX0" fmla="*/ 6901 w 7224"/>
              <a:gd name="connsiteY0" fmla="*/ 7744 h 10000"/>
              <a:gd name="connsiteX1" fmla="*/ 218 w 7224"/>
              <a:gd name="connsiteY1" fmla="*/ 0 h 10000"/>
              <a:gd name="connsiteX2" fmla="*/ 0 w 7224"/>
              <a:gd name="connsiteY2" fmla="*/ 9573 h 10000"/>
              <a:gd name="connsiteX3" fmla="*/ 7224 w 7224"/>
              <a:gd name="connsiteY3" fmla="*/ 10000 h 10000"/>
              <a:gd name="connsiteX4" fmla="*/ 6901 w 7224"/>
              <a:gd name="connsiteY4" fmla="*/ 7744 h 10000"/>
              <a:gd name="connsiteX0" fmla="*/ 9553 w 9587"/>
              <a:gd name="connsiteY0" fmla="*/ 7744 h 9750"/>
              <a:gd name="connsiteX1" fmla="*/ 302 w 9587"/>
              <a:gd name="connsiteY1" fmla="*/ 0 h 9750"/>
              <a:gd name="connsiteX2" fmla="*/ 0 w 9587"/>
              <a:gd name="connsiteY2" fmla="*/ 9573 h 9750"/>
              <a:gd name="connsiteX3" fmla="*/ 9464 w 9587"/>
              <a:gd name="connsiteY3" fmla="*/ 9750 h 9750"/>
              <a:gd name="connsiteX4" fmla="*/ 9553 w 9587"/>
              <a:gd name="connsiteY4" fmla="*/ 7744 h 9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7" h="9750">
                <a:moveTo>
                  <a:pt x="9553" y="7744"/>
                </a:moveTo>
                <a:lnTo>
                  <a:pt x="302" y="0"/>
                </a:lnTo>
                <a:cubicBezTo>
                  <a:pt x="201" y="3191"/>
                  <a:pt x="101" y="6382"/>
                  <a:pt x="0" y="9573"/>
                </a:cubicBezTo>
                <a:lnTo>
                  <a:pt x="9464" y="9750"/>
                </a:lnTo>
                <a:cubicBezTo>
                  <a:pt x="9314" y="8998"/>
                  <a:pt x="9702" y="8496"/>
                  <a:pt x="9553" y="7744"/>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296">
            <a:extLst>
              <a:ext uri="{FF2B5EF4-FFF2-40B4-BE49-F238E27FC236}">
                <a16:creationId xmlns:a16="http://schemas.microsoft.com/office/drawing/2014/main" id="{DBEB0F95-AE9C-DA4D-9F9E-9C6AE4A652EE}"/>
              </a:ext>
            </a:extLst>
          </p:cNvPr>
          <p:cNvGrpSpPr/>
          <p:nvPr/>
        </p:nvGrpSpPr>
        <p:grpSpPr>
          <a:xfrm>
            <a:off x="8637066" y="5115960"/>
            <a:ext cx="958850" cy="476251"/>
            <a:chOff x="7493876" y="2774731"/>
            <a:chExt cx="1481958" cy="894622"/>
          </a:xfrm>
        </p:grpSpPr>
        <p:sp>
          <p:nvSpPr>
            <p:cNvPr id="298" name="Freeform 297">
              <a:extLst>
                <a:ext uri="{FF2B5EF4-FFF2-40B4-BE49-F238E27FC236}">
                  <a16:creationId xmlns:a16="http://schemas.microsoft.com/office/drawing/2014/main" id="{6025F28A-8766-8949-96E6-DD0BD882AB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9" name="Oval 298">
              <a:extLst>
                <a:ext uri="{FF2B5EF4-FFF2-40B4-BE49-F238E27FC236}">
                  <a16:creationId xmlns:a16="http://schemas.microsoft.com/office/drawing/2014/main" id="{DFA4B720-1D85-4E4A-A3DF-4E2D8BCABC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0" name="Group 299">
              <a:extLst>
                <a:ext uri="{FF2B5EF4-FFF2-40B4-BE49-F238E27FC236}">
                  <a16:creationId xmlns:a16="http://schemas.microsoft.com/office/drawing/2014/main" id="{DAD2409F-AAE1-4A47-A41C-4F8FC3073E02}"/>
                </a:ext>
              </a:extLst>
            </p:cNvPr>
            <p:cNvGrpSpPr/>
            <p:nvPr/>
          </p:nvGrpSpPr>
          <p:grpSpPr>
            <a:xfrm>
              <a:off x="7713663" y="2848339"/>
              <a:ext cx="1042107" cy="425543"/>
              <a:chOff x="7786941" y="2884917"/>
              <a:chExt cx="897649" cy="353919"/>
            </a:xfrm>
          </p:grpSpPr>
          <p:sp>
            <p:nvSpPr>
              <p:cNvPr id="301" name="Freeform 300">
                <a:extLst>
                  <a:ext uri="{FF2B5EF4-FFF2-40B4-BE49-F238E27FC236}">
                    <a16:creationId xmlns:a16="http://schemas.microsoft.com/office/drawing/2014/main" id="{C10106D6-70AD-294D-966C-B6530FB2C38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03C28B18-54E7-EB4E-A70A-2F3A019FD1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5090762B-1155-2347-B6D2-D77A21D74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F0881117-1317-CD49-B4BD-8B8A1E6EB2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32" name="Rectangle 90">
            <a:extLst>
              <a:ext uri="{FF2B5EF4-FFF2-40B4-BE49-F238E27FC236}">
                <a16:creationId xmlns:a16="http://schemas.microsoft.com/office/drawing/2014/main" id="{990C22D1-7679-CB44-8984-10C1D99DCC51}"/>
              </a:ext>
            </a:extLst>
          </p:cNvPr>
          <p:cNvSpPr>
            <a:spLocks noChangeArrowheads="1"/>
          </p:cNvSpPr>
          <p:nvPr/>
        </p:nvSpPr>
        <p:spPr bwMode="auto">
          <a:xfrm>
            <a:off x="6916745" y="4489446"/>
            <a:ext cx="1273175" cy="946150"/>
          </a:xfrm>
          <a:prstGeom prst="rect">
            <a:avLst/>
          </a:prstGeom>
          <a:solidFill>
            <a:schemeClr val="bg1"/>
          </a:solidFill>
          <a:ln w="28575">
            <a:solidFill>
              <a:schemeClr val="tx1"/>
            </a:solidFill>
            <a:miter lim="800000"/>
            <a:headEnd/>
            <a:tailEnd/>
          </a:ln>
          <a:effectLst>
            <a:outerShdw blurRad="127000" dist="38100" dir="18900000" sx="103000" sy="103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Text Box 92">
            <a:extLst>
              <a:ext uri="{FF2B5EF4-FFF2-40B4-BE49-F238E27FC236}">
                <a16:creationId xmlns:a16="http://schemas.microsoft.com/office/drawing/2014/main" id="{1CB4056D-0AB4-094A-9E8C-7C63E13B1C00}"/>
              </a:ext>
            </a:extLst>
          </p:cNvPr>
          <p:cNvSpPr txBox="1">
            <a:spLocks noChangeArrowheads="1"/>
          </p:cNvSpPr>
          <p:nvPr/>
        </p:nvSpPr>
        <p:spPr bwMode="auto">
          <a:xfrm>
            <a:off x="6873882" y="4456108"/>
            <a:ext cx="1317625" cy="99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physical</a:t>
            </a:r>
          </a:p>
        </p:txBody>
      </p:sp>
      <p:sp>
        <p:nvSpPr>
          <p:cNvPr id="144" name="Rectangle 24">
            <a:extLst>
              <a:ext uri="{FF2B5EF4-FFF2-40B4-BE49-F238E27FC236}">
                <a16:creationId xmlns:a16="http://schemas.microsoft.com/office/drawing/2014/main" id="{99237050-2EC8-FD44-B771-4FF0EAEABF5E}"/>
              </a:ext>
            </a:extLst>
          </p:cNvPr>
          <p:cNvSpPr>
            <a:spLocks noChangeArrowheads="1"/>
          </p:cNvSpPr>
          <p:nvPr/>
        </p:nvSpPr>
        <p:spPr bwMode="auto">
          <a:xfrm>
            <a:off x="2886137" y="4865756"/>
            <a:ext cx="1273175" cy="1536700"/>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5" name="Text Box 26">
            <a:extLst>
              <a:ext uri="{FF2B5EF4-FFF2-40B4-BE49-F238E27FC236}">
                <a16:creationId xmlns:a16="http://schemas.microsoft.com/office/drawing/2014/main" id="{BA4F849D-1AD2-9F4B-A8A6-5D9737C832B4}"/>
              </a:ext>
            </a:extLst>
          </p:cNvPr>
          <p:cNvSpPr txBox="1">
            <a:spLocks noChangeArrowheads="1"/>
          </p:cNvSpPr>
          <p:nvPr/>
        </p:nvSpPr>
        <p:spPr bwMode="auto">
          <a:xfrm>
            <a:off x="2832765" y="4821907"/>
            <a:ext cx="1317625"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physical</a:t>
            </a:r>
          </a:p>
        </p:txBody>
      </p:sp>
      <p:sp>
        <p:nvSpPr>
          <p:cNvPr id="146" name="Line 25">
            <a:extLst>
              <a:ext uri="{FF2B5EF4-FFF2-40B4-BE49-F238E27FC236}">
                <a16:creationId xmlns:a16="http://schemas.microsoft.com/office/drawing/2014/main" id="{A3F12762-BE2E-E244-ADD0-3F754C8AA53F}"/>
              </a:ext>
            </a:extLst>
          </p:cNvPr>
          <p:cNvSpPr>
            <a:spLocks noChangeShapeType="1"/>
          </p:cNvSpPr>
          <p:nvPr/>
        </p:nvSpPr>
        <p:spPr bwMode="auto">
          <a:xfrm>
            <a:off x="2886136" y="5183257"/>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Line 27">
            <a:extLst>
              <a:ext uri="{FF2B5EF4-FFF2-40B4-BE49-F238E27FC236}">
                <a16:creationId xmlns:a16="http://schemas.microsoft.com/office/drawing/2014/main" id="{D9CB41BB-F2D8-B74D-BA63-C9D69DF8D2F9}"/>
              </a:ext>
            </a:extLst>
          </p:cNvPr>
          <p:cNvSpPr>
            <a:spLocks noChangeShapeType="1"/>
          </p:cNvSpPr>
          <p:nvPr/>
        </p:nvSpPr>
        <p:spPr bwMode="auto">
          <a:xfrm>
            <a:off x="2894074" y="5503932"/>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Line 28">
            <a:extLst>
              <a:ext uri="{FF2B5EF4-FFF2-40B4-BE49-F238E27FC236}">
                <a16:creationId xmlns:a16="http://schemas.microsoft.com/office/drawing/2014/main" id="{383571D9-51C3-9042-A891-980960CA3F40}"/>
              </a:ext>
            </a:extLst>
          </p:cNvPr>
          <p:cNvSpPr>
            <a:spLocks noChangeShapeType="1"/>
          </p:cNvSpPr>
          <p:nvPr/>
        </p:nvSpPr>
        <p:spPr bwMode="auto">
          <a:xfrm>
            <a:off x="2898836" y="5784919"/>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Line 29">
            <a:extLst>
              <a:ext uri="{FF2B5EF4-FFF2-40B4-BE49-F238E27FC236}">
                <a16:creationId xmlns:a16="http://schemas.microsoft.com/office/drawing/2014/main" id="{C49F8A27-7F5E-A74A-87FC-4C156780CED4}"/>
              </a:ext>
            </a:extLst>
          </p:cNvPr>
          <p:cNvSpPr>
            <a:spLocks noChangeShapeType="1"/>
          </p:cNvSpPr>
          <p:nvPr/>
        </p:nvSpPr>
        <p:spPr bwMode="auto">
          <a:xfrm>
            <a:off x="2898836" y="6061144"/>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24">
            <a:extLst>
              <a:ext uri="{FF2B5EF4-FFF2-40B4-BE49-F238E27FC236}">
                <a16:creationId xmlns:a16="http://schemas.microsoft.com/office/drawing/2014/main" id="{7EA1E797-77D1-3E4E-BE7E-ACEB5C9FC9FA}"/>
              </a:ext>
            </a:extLst>
          </p:cNvPr>
          <p:cNvSpPr>
            <a:spLocks noChangeArrowheads="1"/>
          </p:cNvSpPr>
          <p:nvPr/>
        </p:nvSpPr>
        <p:spPr bwMode="auto">
          <a:xfrm>
            <a:off x="3816357" y="985833"/>
            <a:ext cx="1273175" cy="1536700"/>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1" name="Text Box 26">
            <a:extLst>
              <a:ext uri="{FF2B5EF4-FFF2-40B4-BE49-F238E27FC236}">
                <a16:creationId xmlns:a16="http://schemas.microsoft.com/office/drawing/2014/main" id="{955E0381-1B0E-544A-A7DD-37ADCBB63FC5}"/>
              </a:ext>
            </a:extLst>
          </p:cNvPr>
          <p:cNvSpPr txBox="1">
            <a:spLocks noChangeArrowheads="1"/>
          </p:cNvSpPr>
          <p:nvPr/>
        </p:nvSpPr>
        <p:spPr bwMode="auto">
          <a:xfrm>
            <a:off x="3762985" y="941984"/>
            <a:ext cx="1317625"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physical</a:t>
            </a:r>
          </a:p>
        </p:txBody>
      </p:sp>
      <p:sp>
        <p:nvSpPr>
          <p:cNvPr id="159" name="Freeform 3">
            <a:extLst>
              <a:ext uri="{FF2B5EF4-FFF2-40B4-BE49-F238E27FC236}">
                <a16:creationId xmlns:a16="http://schemas.microsoft.com/office/drawing/2014/main" id="{FF79401E-326D-8443-A822-64EFF7D91F62}"/>
              </a:ext>
            </a:extLst>
          </p:cNvPr>
          <p:cNvSpPr>
            <a:spLocks/>
          </p:cNvSpPr>
          <p:nvPr/>
        </p:nvSpPr>
        <p:spPr bwMode="auto">
          <a:xfrm>
            <a:off x="8317497" y="2564096"/>
            <a:ext cx="638175" cy="781777"/>
          </a:xfrm>
          <a:custGeom>
            <a:avLst/>
            <a:gdLst>
              <a:gd name="T0" fmla="*/ 2147483646 w 402"/>
              <a:gd name="T1" fmla="*/ 2147483646 h 537"/>
              <a:gd name="T2" fmla="*/ 2147483646 w 402"/>
              <a:gd name="T3" fmla="*/ 0 h 537"/>
              <a:gd name="T4" fmla="*/ 0 w 402"/>
              <a:gd name="T5" fmla="*/ 2147483646 h 537"/>
              <a:gd name="T6" fmla="*/ 2147483646 w 402"/>
              <a:gd name="T7" fmla="*/ 2147483646 h 537"/>
              <a:gd name="T8" fmla="*/ 2147483646 w 402"/>
              <a:gd name="T9" fmla="*/ 2147483646 h 537"/>
              <a:gd name="T10" fmla="*/ 0 60000 65536"/>
              <a:gd name="T11" fmla="*/ 0 60000 65536"/>
              <a:gd name="T12" fmla="*/ 0 60000 65536"/>
              <a:gd name="T13" fmla="*/ 0 60000 65536"/>
              <a:gd name="T14" fmla="*/ 0 60000 65536"/>
              <a:gd name="T15" fmla="*/ 0 w 402"/>
              <a:gd name="T16" fmla="*/ 0 h 537"/>
              <a:gd name="T17" fmla="*/ 402 w 402"/>
              <a:gd name="T18" fmla="*/ 537 h 537"/>
            </a:gdLst>
            <a:ahLst/>
            <a:cxnLst>
              <a:cxn ang="T10">
                <a:pos x="T0" y="T1"/>
              </a:cxn>
              <a:cxn ang="T11">
                <a:pos x="T2" y="T3"/>
              </a:cxn>
              <a:cxn ang="T12">
                <a:pos x="T4" y="T5"/>
              </a:cxn>
              <a:cxn ang="T13">
                <a:pos x="T6" y="T7"/>
              </a:cxn>
              <a:cxn ang="T14">
                <a:pos x="T8" y="T9"/>
              </a:cxn>
            </a:cxnLst>
            <a:rect l="T15" t="T16" r="T17" b="T18"/>
            <a:pathLst>
              <a:path w="402" h="537">
                <a:moveTo>
                  <a:pt x="402" y="363"/>
                </a:moveTo>
                <a:lnTo>
                  <a:pt x="28" y="0"/>
                </a:lnTo>
                <a:lnTo>
                  <a:pt x="0" y="470"/>
                </a:lnTo>
                <a:lnTo>
                  <a:pt x="242" y="537"/>
                </a:lnTo>
                <a:lnTo>
                  <a:pt x="402" y="363"/>
                </a:ln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5" name="Group 304">
            <a:extLst>
              <a:ext uri="{FF2B5EF4-FFF2-40B4-BE49-F238E27FC236}">
                <a16:creationId xmlns:a16="http://schemas.microsoft.com/office/drawing/2014/main" id="{A4E47CB1-938F-064D-AFFA-550D0F125117}"/>
              </a:ext>
            </a:extLst>
          </p:cNvPr>
          <p:cNvGrpSpPr/>
          <p:nvPr/>
        </p:nvGrpSpPr>
        <p:grpSpPr>
          <a:xfrm>
            <a:off x="8737109" y="2942202"/>
            <a:ext cx="959348" cy="478062"/>
            <a:chOff x="3668110" y="2448910"/>
            <a:chExt cx="3794234" cy="2165130"/>
          </a:xfrm>
        </p:grpSpPr>
        <p:sp>
          <p:nvSpPr>
            <p:cNvPr id="306" name="Rectangle 305">
              <a:extLst>
                <a:ext uri="{FF2B5EF4-FFF2-40B4-BE49-F238E27FC236}">
                  <a16:creationId xmlns:a16="http://schemas.microsoft.com/office/drawing/2014/main" id="{4113AFA1-3E53-2B44-844D-33D4D414E8F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7" name="Freeform 306">
              <a:extLst>
                <a:ext uri="{FF2B5EF4-FFF2-40B4-BE49-F238E27FC236}">
                  <a16:creationId xmlns:a16="http://schemas.microsoft.com/office/drawing/2014/main" id="{6AACD184-A341-A64D-AF0A-E8273A8D120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08" name="Group 307">
              <a:extLst>
                <a:ext uri="{FF2B5EF4-FFF2-40B4-BE49-F238E27FC236}">
                  <a16:creationId xmlns:a16="http://schemas.microsoft.com/office/drawing/2014/main" id="{397EA54E-AF9C-5E43-ABD4-420C1068CBF3}"/>
                </a:ext>
              </a:extLst>
            </p:cNvPr>
            <p:cNvGrpSpPr/>
            <p:nvPr/>
          </p:nvGrpSpPr>
          <p:grpSpPr>
            <a:xfrm>
              <a:off x="3941378" y="2603243"/>
              <a:ext cx="3202061" cy="1066110"/>
              <a:chOff x="7939341" y="3037317"/>
              <a:chExt cx="897649" cy="353919"/>
            </a:xfrm>
          </p:grpSpPr>
          <p:sp>
            <p:nvSpPr>
              <p:cNvPr id="309" name="Freeform 308">
                <a:extLst>
                  <a:ext uri="{FF2B5EF4-FFF2-40B4-BE49-F238E27FC236}">
                    <a16:creationId xmlns:a16="http://schemas.microsoft.com/office/drawing/2014/main" id="{AAA61B04-18ED-CB4C-AA56-9EE1A97FE5C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F58AB38C-C52F-C046-8B42-AB402232C8F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40B533FA-5B0B-F640-8203-4E6686DF616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113B733F-5182-5C46-833B-B970C649E76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937381" y="264748"/>
            <a:ext cx="4724966" cy="1680850"/>
          </a:xfrm>
        </p:spPr>
        <p:txBody>
          <a:bodyPr>
            <a:normAutofit/>
          </a:bodyPr>
          <a:lstStyle/>
          <a:p>
            <a:r>
              <a:rPr lang="en-US" altLang="en-US" sz="4400" dirty="0">
                <a:ea typeface="ＭＳ Ｐゴシック" panose="020B0600070205080204" pitchFamily="34" charset="-128"/>
              </a:rPr>
              <a:t>Encapsulation: an end-end view</a:t>
            </a:r>
            <a:endParaRPr lang="en-US" sz="4400" dirty="0"/>
          </a:p>
        </p:txBody>
      </p:sp>
      <p:sp>
        <p:nvSpPr>
          <p:cNvPr id="175" name="Freeform 2">
            <a:extLst>
              <a:ext uri="{FF2B5EF4-FFF2-40B4-BE49-F238E27FC236}">
                <a16:creationId xmlns:a16="http://schemas.microsoft.com/office/drawing/2014/main" id="{230063FB-CBF2-814F-9B6D-159C714DB102}"/>
              </a:ext>
            </a:extLst>
          </p:cNvPr>
          <p:cNvSpPr>
            <a:spLocks/>
          </p:cNvSpPr>
          <p:nvPr/>
        </p:nvSpPr>
        <p:spPr bwMode="auto">
          <a:xfrm>
            <a:off x="5037145" y="1701796"/>
            <a:ext cx="4048125" cy="3833813"/>
          </a:xfrm>
          <a:custGeom>
            <a:avLst/>
            <a:gdLst>
              <a:gd name="T0" fmla="*/ 2147483646 w 2550"/>
              <a:gd name="T1" fmla="*/ 0 h 2415"/>
              <a:gd name="T2" fmla="*/ 2147483646 w 2550"/>
              <a:gd name="T3" fmla="*/ 0 h 2415"/>
              <a:gd name="T4" fmla="*/ 2147483646 w 2550"/>
              <a:gd name="T5" fmla="*/ 2147483646 h 2415"/>
              <a:gd name="T6" fmla="*/ 0 w 2550"/>
              <a:gd name="T7" fmla="*/ 2147483646 h 2415"/>
              <a:gd name="T8" fmla="*/ 0 60000 65536"/>
              <a:gd name="T9" fmla="*/ 0 60000 65536"/>
              <a:gd name="T10" fmla="*/ 0 60000 65536"/>
              <a:gd name="T11" fmla="*/ 0 60000 65536"/>
              <a:gd name="T12" fmla="*/ 0 w 2550"/>
              <a:gd name="T13" fmla="*/ 0 h 2415"/>
              <a:gd name="T14" fmla="*/ 2550 w 2550"/>
              <a:gd name="T15" fmla="*/ 2415 h 2415"/>
            </a:gdLst>
            <a:ahLst/>
            <a:cxnLst>
              <a:cxn ang="T8">
                <a:pos x="T0" y="T1"/>
              </a:cxn>
              <a:cxn ang="T9">
                <a:pos x="T2" y="T3"/>
              </a:cxn>
              <a:cxn ang="T10">
                <a:pos x="T4" y="T5"/>
              </a:cxn>
              <a:cxn ang="T11">
                <a:pos x="T6" y="T7"/>
              </a:cxn>
            </a:cxnLst>
            <a:rect l="T12" t="T13" r="T14" b="T15"/>
            <a:pathLst>
              <a:path w="2550" h="2415">
                <a:moveTo>
                  <a:pt x="592" y="0"/>
                </a:moveTo>
                <a:lnTo>
                  <a:pt x="2544" y="0"/>
                </a:lnTo>
                <a:lnTo>
                  <a:pt x="2550" y="2415"/>
                </a:lnTo>
                <a:lnTo>
                  <a:pt x="0" y="2415"/>
                </a:lnTo>
              </a:path>
            </a:pathLst>
          </a:custGeom>
          <a:noFill/>
          <a:ln w="9525">
            <a:solidFill>
              <a:schemeClr val="bg2"/>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8">
            <a:extLst>
              <a:ext uri="{FF2B5EF4-FFF2-40B4-BE49-F238E27FC236}">
                <a16:creationId xmlns:a16="http://schemas.microsoft.com/office/drawing/2014/main" id="{D0A7F162-BF56-0D42-AC1A-1EA608D159F4}"/>
              </a:ext>
            </a:extLst>
          </p:cNvPr>
          <p:cNvSpPr txBox="1">
            <a:spLocks noChangeArrowheads="1"/>
          </p:cNvSpPr>
          <p:nvPr/>
        </p:nvSpPr>
        <p:spPr bwMode="auto">
          <a:xfrm>
            <a:off x="3935420" y="477833"/>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77" name="Freeform 10">
            <a:extLst>
              <a:ext uri="{FF2B5EF4-FFF2-40B4-BE49-F238E27FC236}">
                <a16:creationId xmlns:a16="http://schemas.microsoft.com/office/drawing/2014/main" id="{375C2B54-0F8A-624C-B0EA-326ECF0BEBFA}"/>
              </a:ext>
            </a:extLst>
          </p:cNvPr>
          <p:cNvSpPr>
            <a:spLocks/>
          </p:cNvSpPr>
          <p:nvPr/>
        </p:nvSpPr>
        <p:spPr bwMode="auto">
          <a:xfrm>
            <a:off x="5087944" y="959945"/>
            <a:ext cx="360362" cy="1596219"/>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Line 25">
            <a:extLst>
              <a:ext uri="{FF2B5EF4-FFF2-40B4-BE49-F238E27FC236}">
                <a16:creationId xmlns:a16="http://schemas.microsoft.com/office/drawing/2014/main" id="{06DACFB6-A512-6346-ADF0-044A1E0D8B7E}"/>
              </a:ext>
            </a:extLst>
          </p:cNvPr>
          <p:cNvSpPr>
            <a:spLocks noChangeShapeType="1"/>
          </p:cNvSpPr>
          <p:nvPr/>
        </p:nvSpPr>
        <p:spPr bwMode="auto">
          <a:xfrm>
            <a:off x="3816356" y="1303334"/>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Line 27">
            <a:extLst>
              <a:ext uri="{FF2B5EF4-FFF2-40B4-BE49-F238E27FC236}">
                <a16:creationId xmlns:a16="http://schemas.microsoft.com/office/drawing/2014/main" id="{7F5AA9D2-E3F5-C947-8DEE-283B00AD0518}"/>
              </a:ext>
            </a:extLst>
          </p:cNvPr>
          <p:cNvSpPr>
            <a:spLocks noChangeShapeType="1"/>
          </p:cNvSpPr>
          <p:nvPr/>
        </p:nvSpPr>
        <p:spPr bwMode="auto">
          <a:xfrm>
            <a:off x="3824294" y="1624009"/>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Line 28">
            <a:extLst>
              <a:ext uri="{FF2B5EF4-FFF2-40B4-BE49-F238E27FC236}">
                <a16:creationId xmlns:a16="http://schemas.microsoft.com/office/drawing/2014/main" id="{D2FB6FCA-C219-0347-A799-A07286AA5FDE}"/>
              </a:ext>
            </a:extLst>
          </p:cNvPr>
          <p:cNvSpPr>
            <a:spLocks noChangeShapeType="1"/>
          </p:cNvSpPr>
          <p:nvPr/>
        </p:nvSpPr>
        <p:spPr bwMode="auto">
          <a:xfrm>
            <a:off x="3829056" y="1904996"/>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Line 29">
            <a:extLst>
              <a:ext uri="{FF2B5EF4-FFF2-40B4-BE49-F238E27FC236}">
                <a16:creationId xmlns:a16="http://schemas.microsoft.com/office/drawing/2014/main" id="{5DD86E94-6322-434A-87B3-1B856F1C7FC6}"/>
              </a:ext>
            </a:extLst>
          </p:cNvPr>
          <p:cNvSpPr>
            <a:spLocks noChangeShapeType="1"/>
          </p:cNvSpPr>
          <p:nvPr/>
        </p:nvSpPr>
        <p:spPr bwMode="auto">
          <a:xfrm>
            <a:off x="3829056" y="2181221"/>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5" name="Group 39">
            <a:extLst>
              <a:ext uri="{FF2B5EF4-FFF2-40B4-BE49-F238E27FC236}">
                <a16:creationId xmlns:a16="http://schemas.microsoft.com/office/drawing/2014/main" id="{8AA541B8-399A-EF48-9EFE-5AF447CE2F83}"/>
              </a:ext>
            </a:extLst>
          </p:cNvPr>
          <p:cNvGrpSpPr>
            <a:grpSpLocks/>
          </p:cNvGrpSpPr>
          <p:nvPr/>
        </p:nvGrpSpPr>
        <p:grpSpPr bwMode="auto">
          <a:xfrm>
            <a:off x="2438406" y="1622421"/>
            <a:ext cx="1208088" cy="303213"/>
            <a:chOff x="501" y="1990"/>
            <a:chExt cx="761" cy="191"/>
          </a:xfrm>
        </p:grpSpPr>
        <p:sp>
          <p:nvSpPr>
            <p:cNvPr id="186" name="Rectangle 40">
              <a:extLst>
                <a:ext uri="{FF2B5EF4-FFF2-40B4-BE49-F238E27FC236}">
                  <a16:creationId xmlns:a16="http://schemas.microsoft.com/office/drawing/2014/main" id="{0387B9A7-F992-9246-A12A-3BB5DCDBD751}"/>
                </a:ext>
              </a:extLst>
            </p:cNvPr>
            <p:cNvSpPr>
              <a:spLocks noChangeArrowheads="1"/>
            </p:cNvSpPr>
            <p:nvPr/>
          </p:nvSpPr>
          <p:spPr bwMode="auto">
            <a:xfrm>
              <a:off x="501" y="2007"/>
              <a:ext cx="6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Rectangle 41">
              <a:extLst>
                <a:ext uri="{FF2B5EF4-FFF2-40B4-BE49-F238E27FC236}">
                  <a16:creationId xmlns:a16="http://schemas.microsoft.com/office/drawing/2014/main" id="{313D90F6-44E7-5B43-9F40-EAB5A4BC3719}"/>
                </a:ext>
              </a:extLst>
            </p:cNvPr>
            <p:cNvSpPr>
              <a:spLocks noChangeArrowheads="1"/>
            </p:cNvSpPr>
            <p:nvPr/>
          </p:nvSpPr>
          <p:spPr bwMode="auto">
            <a:xfrm>
              <a:off x="704"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188" name="Rectangle 42">
              <a:extLst>
                <a:ext uri="{FF2B5EF4-FFF2-40B4-BE49-F238E27FC236}">
                  <a16:creationId xmlns:a16="http://schemas.microsoft.com/office/drawing/2014/main" id="{09FD516E-DDA8-584C-AC12-7F5211BB3875}"/>
                </a:ext>
              </a:extLst>
            </p:cNvPr>
            <p:cNvSpPr>
              <a:spLocks noChangeArrowheads="1"/>
            </p:cNvSpPr>
            <p:nvPr/>
          </p:nvSpPr>
          <p:spPr bwMode="auto">
            <a:xfrm>
              <a:off x="518"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189" name="Rectangle 43">
              <a:extLst>
                <a:ext uri="{FF2B5EF4-FFF2-40B4-BE49-F238E27FC236}">
                  <a16:creationId xmlns:a16="http://schemas.microsoft.com/office/drawing/2014/main" id="{6FFC472B-97D7-D347-9A3C-464686CD17B4}"/>
                </a:ext>
              </a:extLst>
            </p:cNvPr>
            <p:cNvSpPr>
              <a:spLocks noChangeArrowheads="1"/>
            </p:cNvSpPr>
            <p:nvPr/>
          </p:nvSpPr>
          <p:spPr bwMode="auto">
            <a:xfrm>
              <a:off x="834" y="1991"/>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190" name="Line 44">
              <a:extLst>
                <a:ext uri="{FF2B5EF4-FFF2-40B4-BE49-F238E27FC236}">
                  <a16:creationId xmlns:a16="http://schemas.microsoft.com/office/drawing/2014/main" id="{72E3E927-7804-2B4F-BEB5-8E712FD0D8B6}"/>
                </a:ext>
              </a:extLst>
            </p:cNvPr>
            <p:cNvSpPr>
              <a:spLocks noChangeShapeType="1"/>
            </p:cNvSpPr>
            <p:nvPr/>
          </p:nvSpPr>
          <p:spPr bwMode="auto">
            <a:xfrm>
              <a:off x="688" y="2013"/>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Line 45">
              <a:extLst>
                <a:ext uri="{FF2B5EF4-FFF2-40B4-BE49-F238E27FC236}">
                  <a16:creationId xmlns:a16="http://schemas.microsoft.com/office/drawing/2014/main" id="{FB19C408-B20F-B545-913F-0B0F21C3B97E}"/>
                </a:ext>
              </a:extLst>
            </p:cNvPr>
            <p:cNvSpPr>
              <a:spLocks noChangeShapeType="1"/>
            </p:cNvSpPr>
            <p:nvPr/>
          </p:nvSpPr>
          <p:spPr bwMode="auto">
            <a:xfrm>
              <a:off x="880" y="2010"/>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2" name="Text Box 5">
            <a:extLst>
              <a:ext uri="{FF2B5EF4-FFF2-40B4-BE49-F238E27FC236}">
                <a16:creationId xmlns:a16="http://schemas.microsoft.com/office/drawing/2014/main" id="{0D15D10E-958A-864A-A283-C2AB2D4E8F72}"/>
              </a:ext>
            </a:extLst>
          </p:cNvPr>
          <p:cNvSpPr txBox="1">
            <a:spLocks noChangeArrowheads="1"/>
          </p:cNvSpPr>
          <p:nvPr/>
        </p:nvSpPr>
        <p:spPr bwMode="auto">
          <a:xfrm>
            <a:off x="1614494" y="1250945"/>
            <a:ext cx="9636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cs typeface="Arial" panose="020B0604020202020204" pitchFamily="34" charset="0"/>
              </a:rPr>
              <a:t>segment</a:t>
            </a:r>
          </a:p>
        </p:txBody>
      </p:sp>
      <p:grpSp>
        <p:nvGrpSpPr>
          <p:cNvPr id="193" name="Group 178">
            <a:extLst>
              <a:ext uri="{FF2B5EF4-FFF2-40B4-BE49-F238E27FC236}">
                <a16:creationId xmlns:a16="http://schemas.microsoft.com/office/drawing/2014/main" id="{C602A8C6-FCB3-7248-AB25-E5D9AF0992ED}"/>
              </a:ext>
            </a:extLst>
          </p:cNvPr>
          <p:cNvGrpSpPr>
            <a:grpSpLocks/>
          </p:cNvGrpSpPr>
          <p:nvPr/>
        </p:nvGrpSpPr>
        <p:grpSpPr bwMode="auto">
          <a:xfrm>
            <a:off x="2755907" y="1290633"/>
            <a:ext cx="301625" cy="292100"/>
            <a:chOff x="1962" y="2058"/>
            <a:chExt cx="190" cy="184"/>
          </a:xfrm>
        </p:grpSpPr>
        <p:sp>
          <p:nvSpPr>
            <p:cNvPr id="194" name="Rectangle 47">
              <a:extLst>
                <a:ext uri="{FF2B5EF4-FFF2-40B4-BE49-F238E27FC236}">
                  <a16:creationId xmlns:a16="http://schemas.microsoft.com/office/drawing/2014/main" id="{74D4FADB-78FF-754C-9258-3499AEC56C8B}"/>
                </a:ext>
              </a:extLst>
            </p:cNvPr>
            <p:cNvSpPr>
              <a:spLocks noChangeArrowheads="1"/>
            </p:cNvSpPr>
            <p:nvPr/>
          </p:nvSpPr>
          <p:spPr bwMode="auto">
            <a:xfrm>
              <a:off x="1962"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Rectangle 48">
              <a:extLst>
                <a:ext uri="{FF2B5EF4-FFF2-40B4-BE49-F238E27FC236}">
                  <a16:creationId xmlns:a16="http://schemas.microsoft.com/office/drawing/2014/main" id="{9A86A925-4488-C149-AC92-7E56AC2DB20A}"/>
                </a:ext>
              </a:extLst>
            </p:cNvPr>
            <p:cNvSpPr>
              <a:spLocks noChangeArrowheads="1"/>
            </p:cNvSpPr>
            <p:nvPr/>
          </p:nvSpPr>
          <p:spPr bwMode="auto">
            <a:xfrm>
              <a:off x="1965"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sp>
        <p:nvSpPr>
          <p:cNvPr id="196" name="Text Box 4">
            <a:extLst>
              <a:ext uri="{FF2B5EF4-FFF2-40B4-BE49-F238E27FC236}">
                <a16:creationId xmlns:a16="http://schemas.microsoft.com/office/drawing/2014/main" id="{0E8F71B9-D739-9B4D-B3C4-4209B53F4740}"/>
              </a:ext>
            </a:extLst>
          </p:cNvPr>
          <p:cNvSpPr txBox="1">
            <a:spLocks noChangeArrowheads="1"/>
          </p:cNvSpPr>
          <p:nvPr/>
        </p:nvSpPr>
        <p:spPr bwMode="auto">
          <a:xfrm>
            <a:off x="1414470" y="1590670"/>
            <a:ext cx="10429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cs typeface="Arial" panose="020B0604020202020204" pitchFamily="34" charset="0"/>
              </a:rPr>
              <a:t>datagram</a:t>
            </a:r>
          </a:p>
        </p:txBody>
      </p:sp>
      <p:sp>
        <p:nvSpPr>
          <p:cNvPr id="197" name="Text Box 54">
            <a:extLst>
              <a:ext uri="{FF2B5EF4-FFF2-40B4-BE49-F238E27FC236}">
                <a16:creationId xmlns:a16="http://schemas.microsoft.com/office/drawing/2014/main" id="{74C41705-B97B-5F4E-BB03-C374DF4919FA}"/>
              </a:ext>
            </a:extLst>
          </p:cNvPr>
          <p:cNvSpPr txBox="1">
            <a:spLocks noChangeArrowheads="1"/>
          </p:cNvSpPr>
          <p:nvPr/>
        </p:nvSpPr>
        <p:spPr bwMode="auto">
          <a:xfrm>
            <a:off x="2767020" y="4411659"/>
            <a:ext cx="1412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destination</a:t>
            </a:r>
          </a:p>
        </p:txBody>
      </p:sp>
      <p:grpSp>
        <p:nvGrpSpPr>
          <p:cNvPr id="206" name="Group 64">
            <a:extLst>
              <a:ext uri="{FF2B5EF4-FFF2-40B4-BE49-F238E27FC236}">
                <a16:creationId xmlns:a16="http://schemas.microsoft.com/office/drawing/2014/main" id="{C50D7752-68C1-8540-988D-5347ECFD1886}"/>
              </a:ext>
            </a:extLst>
          </p:cNvPr>
          <p:cNvGrpSpPr>
            <a:grpSpLocks/>
          </p:cNvGrpSpPr>
          <p:nvPr/>
        </p:nvGrpSpPr>
        <p:grpSpPr bwMode="auto">
          <a:xfrm>
            <a:off x="1371606" y="5781671"/>
            <a:ext cx="1479550" cy="303213"/>
            <a:chOff x="332" y="2224"/>
            <a:chExt cx="932" cy="191"/>
          </a:xfrm>
        </p:grpSpPr>
        <p:sp>
          <p:nvSpPr>
            <p:cNvPr id="207" name="Rectangle 65">
              <a:extLst>
                <a:ext uri="{FF2B5EF4-FFF2-40B4-BE49-F238E27FC236}">
                  <a16:creationId xmlns:a16="http://schemas.microsoft.com/office/drawing/2014/main" id="{1F3E093B-217C-A04B-B5D1-A6C902542EF2}"/>
                </a:ext>
              </a:extLst>
            </p:cNvPr>
            <p:cNvSpPr>
              <a:spLocks noChangeArrowheads="1"/>
            </p:cNvSpPr>
            <p:nvPr/>
          </p:nvSpPr>
          <p:spPr bwMode="auto">
            <a:xfrm>
              <a:off x="345" y="2241"/>
              <a:ext cx="84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8" name="Rectangle 66">
              <a:extLst>
                <a:ext uri="{FF2B5EF4-FFF2-40B4-BE49-F238E27FC236}">
                  <a16:creationId xmlns:a16="http://schemas.microsoft.com/office/drawing/2014/main" id="{12601678-594C-E14C-9193-F38CE9075141}"/>
                </a:ext>
              </a:extLst>
            </p:cNvPr>
            <p:cNvSpPr>
              <a:spLocks noChangeArrowheads="1"/>
            </p:cNvSpPr>
            <p:nvPr/>
          </p:nvSpPr>
          <p:spPr bwMode="auto">
            <a:xfrm>
              <a:off x="706"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09" name="Rectangle 67">
              <a:extLst>
                <a:ext uri="{FF2B5EF4-FFF2-40B4-BE49-F238E27FC236}">
                  <a16:creationId xmlns:a16="http://schemas.microsoft.com/office/drawing/2014/main" id="{C60FF2A5-B680-E647-99BC-03E16BB18F4E}"/>
                </a:ext>
              </a:extLst>
            </p:cNvPr>
            <p:cNvSpPr>
              <a:spLocks noChangeArrowheads="1"/>
            </p:cNvSpPr>
            <p:nvPr/>
          </p:nvSpPr>
          <p:spPr bwMode="auto">
            <a:xfrm>
              <a:off x="520"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10" name="Rectangle 68">
              <a:extLst>
                <a:ext uri="{FF2B5EF4-FFF2-40B4-BE49-F238E27FC236}">
                  <a16:creationId xmlns:a16="http://schemas.microsoft.com/office/drawing/2014/main" id="{397B1F1F-935A-C84B-968D-E29BC9F4E06A}"/>
                </a:ext>
              </a:extLst>
            </p:cNvPr>
            <p:cNvSpPr>
              <a:spLocks noChangeArrowheads="1"/>
            </p:cNvSpPr>
            <p:nvPr/>
          </p:nvSpPr>
          <p:spPr bwMode="auto">
            <a:xfrm>
              <a:off x="332"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sp>
          <p:nvSpPr>
            <p:cNvPr id="211" name="Rectangle 69">
              <a:extLst>
                <a:ext uri="{FF2B5EF4-FFF2-40B4-BE49-F238E27FC236}">
                  <a16:creationId xmlns:a16="http://schemas.microsoft.com/office/drawing/2014/main" id="{F6478DF2-BC33-B343-8620-1D9F679E414D}"/>
                </a:ext>
              </a:extLst>
            </p:cNvPr>
            <p:cNvSpPr>
              <a:spLocks noChangeArrowheads="1"/>
            </p:cNvSpPr>
            <p:nvPr/>
          </p:nvSpPr>
          <p:spPr bwMode="auto">
            <a:xfrm>
              <a:off x="836" y="2225"/>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12" name="Line 70">
              <a:extLst>
                <a:ext uri="{FF2B5EF4-FFF2-40B4-BE49-F238E27FC236}">
                  <a16:creationId xmlns:a16="http://schemas.microsoft.com/office/drawing/2014/main" id="{B65227E4-D34A-B045-A564-9F588CE81723}"/>
                </a:ext>
              </a:extLst>
            </p:cNvPr>
            <p:cNvSpPr>
              <a:spLocks noChangeShapeType="1"/>
            </p:cNvSpPr>
            <p:nvPr/>
          </p:nvSpPr>
          <p:spPr bwMode="auto">
            <a:xfrm>
              <a:off x="510" y="2241"/>
              <a:ext cx="0" cy="1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Line 71">
              <a:extLst>
                <a:ext uri="{FF2B5EF4-FFF2-40B4-BE49-F238E27FC236}">
                  <a16:creationId xmlns:a16="http://schemas.microsoft.com/office/drawing/2014/main" id="{89581348-A579-E648-AF77-CC0CCFD73AE0}"/>
                </a:ext>
              </a:extLst>
            </p:cNvPr>
            <p:cNvSpPr>
              <a:spLocks noChangeShapeType="1"/>
            </p:cNvSpPr>
            <p:nvPr/>
          </p:nvSpPr>
          <p:spPr bwMode="auto">
            <a:xfrm>
              <a:off x="690" y="2247"/>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Line 72">
              <a:extLst>
                <a:ext uri="{FF2B5EF4-FFF2-40B4-BE49-F238E27FC236}">
                  <a16:creationId xmlns:a16="http://schemas.microsoft.com/office/drawing/2014/main" id="{5CD35CDE-ACA7-B147-9033-013571F308B2}"/>
                </a:ext>
              </a:extLst>
            </p:cNvPr>
            <p:cNvSpPr>
              <a:spLocks noChangeShapeType="1"/>
            </p:cNvSpPr>
            <p:nvPr/>
          </p:nvSpPr>
          <p:spPr bwMode="auto">
            <a:xfrm>
              <a:off x="882" y="2244"/>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5" name="Group 73">
            <a:extLst>
              <a:ext uri="{FF2B5EF4-FFF2-40B4-BE49-F238E27FC236}">
                <a16:creationId xmlns:a16="http://schemas.microsoft.com/office/drawing/2014/main" id="{782EFA19-0788-864E-B946-830DAB797411}"/>
              </a:ext>
            </a:extLst>
          </p:cNvPr>
          <p:cNvGrpSpPr>
            <a:grpSpLocks/>
          </p:cNvGrpSpPr>
          <p:nvPr/>
        </p:nvGrpSpPr>
        <p:grpSpPr bwMode="auto">
          <a:xfrm>
            <a:off x="1639895" y="5483221"/>
            <a:ext cx="1208087" cy="303213"/>
            <a:chOff x="501" y="1990"/>
            <a:chExt cx="761" cy="191"/>
          </a:xfrm>
        </p:grpSpPr>
        <p:sp>
          <p:nvSpPr>
            <p:cNvPr id="216" name="Rectangle 74">
              <a:extLst>
                <a:ext uri="{FF2B5EF4-FFF2-40B4-BE49-F238E27FC236}">
                  <a16:creationId xmlns:a16="http://schemas.microsoft.com/office/drawing/2014/main" id="{D970D459-C7BE-CB4F-B370-10A7B56F6424}"/>
                </a:ext>
              </a:extLst>
            </p:cNvPr>
            <p:cNvSpPr>
              <a:spLocks noChangeArrowheads="1"/>
            </p:cNvSpPr>
            <p:nvPr/>
          </p:nvSpPr>
          <p:spPr bwMode="auto">
            <a:xfrm>
              <a:off x="501" y="2007"/>
              <a:ext cx="6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7" name="Rectangle 75">
              <a:extLst>
                <a:ext uri="{FF2B5EF4-FFF2-40B4-BE49-F238E27FC236}">
                  <a16:creationId xmlns:a16="http://schemas.microsoft.com/office/drawing/2014/main" id="{1904B028-B6FD-624E-A3E6-5B05A1065AFC}"/>
                </a:ext>
              </a:extLst>
            </p:cNvPr>
            <p:cNvSpPr>
              <a:spLocks noChangeArrowheads="1"/>
            </p:cNvSpPr>
            <p:nvPr/>
          </p:nvSpPr>
          <p:spPr bwMode="auto">
            <a:xfrm>
              <a:off x="704"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18" name="Rectangle 76">
              <a:extLst>
                <a:ext uri="{FF2B5EF4-FFF2-40B4-BE49-F238E27FC236}">
                  <a16:creationId xmlns:a16="http://schemas.microsoft.com/office/drawing/2014/main" id="{7E497BF0-01B9-9645-AADF-EC6ECCD69181}"/>
                </a:ext>
              </a:extLst>
            </p:cNvPr>
            <p:cNvSpPr>
              <a:spLocks noChangeArrowheads="1"/>
            </p:cNvSpPr>
            <p:nvPr/>
          </p:nvSpPr>
          <p:spPr bwMode="auto">
            <a:xfrm>
              <a:off x="518"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19" name="Rectangle 77">
              <a:extLst>
                <a:ext uri="{FF2B5EF4-FFF2-40B4-BE49-F238E27FC236}">
                  <a16:creationId xmlns:a16="http://schemas.microsoft.com/office/drawing/2014/main" id="{F655CC88-7712-A040-B05C-B926BA640DC3}"/>
                </a:ext>
              </a:extLst>
            </p:cNvPr>
            <p:cNvSpPr>
              <a:spLocks noChangeArrowheads="1"/>
            </p:cNvSpPr>
            <p:nvPr/>
          </p:nvSpPr>
          <p:spPr bwMode="auto">
            <a:xfrm>
              <a:off x="834" y="1991"/>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20" name="Line 78">
              <a:extLst>
                <a:ext uri="{FF2B5EF4-FFF2-40B4-BE49-F238E27FC236}">
                  <a16:creationId xmlns:a16="http://schemas.microsoft.com/office/drawing/2014/main" id="{5F8C7ACF-60C6-EA40-ABF5-A21BAB3D73AC}"/>
                </a:ext>
              </a:extLst>
            </p:cNvPr>
            <p:cNvSpPr>
              <a:spLocks noChangeShapeType="1"/>
            </p:cNvSpPr>
            <p:nvPr/>
          </p:nvSpPr>
          <p:spPr bwMode="auto">
            <a:xfrm>
              <a:off x="688" y="2013"/>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Line 79">
              <a:extLst>
                <a:ext uri="{FF2B5EF4-FFF2-40B4-BE49-F238E27FC236}">
                  <a16:creationId xmlns:a16="http://schemas.microsoft.com/office/drawing/2014/main" id="{B9D1E0FC-D7EB-B94A-95BC-135127D00E84}"/>
                </a:ext>
              </a:extLst>
            </p:cNvPr>
            <p:cNvSpPr>
              <a:spLocks noChangeShapeType="1"/>
            </p:cNvSpPr>
            <p:nvPr/>
          </p:nvSpPr>
          <p:spPr bwMode="auto">
            <a:xfrm>
              <a:off x="880" y="2010"/>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2" name="Group 80">
            <a:extLst>
              <a:ext uri="{FF2B5EF4-FFF2-40B4-BE49-F238E27FC236}">
                <a16:creationId xmlns:a16="http://schemas.microsoft.com/office/drawing/2014/main" id="{ED606BB4-B8BF-EE47-81F0-E3489EBF698D}"/>
              </a:ext>
            </a:extLst>
          </p:cNvPr>
          <p:cNvGrpSpPr>
            <a:grpSpLocks/>
          </p:cNvGrpSpPr>
          <p:nvPr/>
        </p:nvGrpSpPr>
        <p:grpSpPr bwMode="auto">
          <a:xfrm>
            <a:off x="1943106" y="5175246"/>
            <a:ext cx="890588" cy="303213"/>
            <a:chOff x="645" y="1734"/>
            <a:chExt cx="561" cy="191"/>
          </a:xfrm>
        </p:grpSpPr>
        <p:sp>
          <p:nvSpPr>
            <p:cNvPr id="223" name="Rectangle 81">
              <a:extLst>
                <a:ext uri="{FF2B5EF4-FFF2-40B4-BE49-F238E27FC236}">
                  <a16:creationId xmlns:a16="http://schemas.microsoft.com/office/drawing/2014/main" id="{5E750AC6-B9B9-BA47-9749-5BA61D17AB9E}"/>
                </a:ext>
              </a:extLst>
            </p:cNvPr>
            <p:cNvSpPr>
              <a:spLocks noChangeArrowheads="1"/>
            </p:cNvSpPr>
            <p:nvPr/>
          </p:nvSpPr>
          <p:spPr bwMode="auto">
            <a:xfrm>
              <a:off x="645" y="1751"/>
              <a:ext cx="4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Rectangle 82">
              <a:extLst>
                <a:ext uri="{FF2B5EF4-FFF2-40B4-BE49-F238E27FC236}">
                  <a16:creationId xmlns:a16="http://schemas.microsoft.com/office/drawing/2014/main" id="{203BBA7B-2CF5-6949-AEF6-9B5E4804A8E4}"/>
                </a:ext>
              </a:extLst>
            </p:cNvPr>
            <p:cNvSpPr>
              <a:spLocks noChangeArrowheads="1"/>
            </p:cNvSpPr>
            <p:nvPr/>
          </p:nvSpPr>
          <p:spPr bwMode="auto">
            <a:xfrm>
              <a:off x="648" y="173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25" name="Rectangle 83">
              <a:extLst>
                <a:ext uri="{FF2B5EF4-FFF2-40B4-BE49-F238E27FC236}">
                  <a16:creationId xmlns:a16="http://schemas.microsoft.com/office/drawing/2014/main" id="{D9094A29-8FA3-604F-BCB2-C28018927AE8}"/>
                </a:ext>
              </a:extLst>
            </p:cNvPr>
            <p:cNvSpPr>
              <a:spLocks noChangeArrowheads="1"/>
            </p:cNvSpPr>
            <p:nvPr/>
          </p:nvSpPr>
          <p:spPr bwMode="auto">
            <a:xfrm>
              <a:off x="778" y="1735"/>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26" name="Line 84">
              <a:extLst>
                <a:ext uri="{FF2B5EF4-FFF2-40B4-BE49-F238E27FC236}">
                  <a16:creationId xmlns:a16="http://schemas.microsoft.com/office/drawing/2014/main" id="{B797ADA3-EF18-7C49-99C2-2F8F051D96BB}"/>
                </a:ext>
              </a:extLst>
            </p:cNvPr>
            <p:cNvSpPr>
              <a:spLocks noChangeShapeType="1"/>
            </p:cNvSpPr>
            <p:nvPr/>
          </p:nvSpPr>
          <p:spPr bwMode="auto">
            <a:xfrm>
              <a:off x="824" y="1754"/>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7" name="Group 85">
            <a:extLst>
              <a:ext uri="{FF2B5EF4-FFF2-40B4-BE49-F238E27FC236}">
                <a16:creationId xmlns:a16="http://schemas.microsoft.com/office/drawing/2014/main" id="{11AB6D85-B7C0-8142-8671-E8110C22285E}"/>
              </a:ext>
            </a:extLst>
          </p:cNvPr>
          <p:cNvGrpSpPr>
            <a:grpSpLocks/>
          </p:cNvGrpSpPr>
          <p:nvPr/>
        </p:nvGrpSpPr>
        <p:grpSpPr bwMode="auto">
          <a:xfrm>
            <a:off x="2149481" y="4864096"/>
            <a:ext cx="679450" cy="301625"/>
            <a:chOff x="780" y="1553"/>
            <a:chExt cx="428" cy="190"/>
          </a:xfrm>
        </p:grpSpPr>
        <p:sp>
          <p:nvSpPr>
            <p:cNvPr id="228" name="Rectangle 86">
              <a:extLst>
                <a:ext uri="{FF2B5EF4-FFF2-40B4-BE49-F238E27FC236}">
                  <a16:creationId xmlns:a16="http://schemas.microsoft.com/office/drawing/2014/main" id="{5CCFD8AF-21AA-2143-8C8C-4C988C5ED872}"/>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Rectangle 87">
              <a:extLst>
                <a:ext uri="{FF2B5EF4-FFF2-40B4-BE49-F238E27FC236}">
                  <a16:creationId xmlns:a16="http://schemas.microsoft.com/office/drawing/2014/main" id="{0247FE4B-63DA-1F45-A8DA-A5A5C63B6AC3}"/>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233" name="Line 91">
            <a:extLst>
              <a:ext uri="{FF2B5EF4-FFF2-40B4-BE49-F238E27FC236}">
                <a16:creationId xmlns:a16="http://schemas.microsoft.com/office/drawing/2014/main" id="{19384907-F1F7-7342-B03B-0F3880C9074B}"/>
              </a:ext>
            </a:extLst>
          </p:cNvPr>
          <p:cNvSpPr>
            <a:spLocks noChangeShapeType="1"/>
          </p:cNvSpPr>
          <p:nvPr/>
        </p:nvSpPr>
        <p:spPr bwMode="auto">
          <a:xfrm>
            <a:off x="6916745" y="4806946"/>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Line 93">
            <a:extLst>
              <a:ext uri="{FF2B5EF4-FFF2-40B4-BE49-F238E27FC236}">
                <a16:creationId xmlns:a16="http://schemas.microsoft.com/office/drawing/2014/main" id="{883D6FEA-BFB1-A54A-986E-6B39511738A6}"/>
              </a:ext>
            </a:extLst>
          </p:cNvPr>
          <p:cNvSpPr>
            <a:spLocks noChangeShapeType="1"/>
          </p:cNvSpPr>
          <p:nvPr/>
        </p:nvSpPr>
        <p:spPr bwMode="auto">
          <a:xfrm>
            <a:off x="6924682" y="5127621"/>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96">
            <a:extLst>
              <a:ext uri="{FF2B5EF4-FFF2-40B4-BE49-F238E27FC236}">
                <a16:creationId xmlns:a16="http://schemas.microsoft.com/office/drawing/2014/main" id="{259A49E6-709B-2347-990D-69F0B212F487}"/>
              </a:ext>
            </a:extLst>
          </p:cNvPr>
          <p:cNvSpPr>
            <a:spLocks noChangeArrowheads="1"/>
          </p:cNvSpPr>
          <p:nvPr/>
        </p:nvSpPr>
        <p:spPr bwMode="auto">
          <a:xfrm>
            <a:off x="7083433" y="2597147"/>
            <a:ext cx="1273175" cy="655638"/>
          </a:xfrm>
          <a:prstGeom prst="rect">
            <a:avLst/>
          </a:prstGeom>
          <a:solidFill>
            <a:schemeClr val="bg1"/>
          </a:solidFill>
          <a:ln w="28575">
            <a:solidFill>
              <a:schemeClr val="tx1"/>
            </a:solidFill>
            <a:miter lim="800000"/>
            <a:headEnd/>
            <a:tailEnd/>
          </a:ln>
          <a:effectLst>
            <a:outerShdw blurRad="50800" dist="38100" dir="18900000" sx="102000" sy="102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Line 97">
            <a:extLst>
              <a:ext uri="{FF2B5EF4-FFF2-40B4-BE49-F238E27FC236}">
                <a16:creationId xmlns:a16="http://schemas.microsoft.com/office/drawing/2014/main" id="{D82D4EF1-E7DC-B146-B148-5E79F02BCC8B}"/>
              </a:ext>
            </a:extLst>
          </p:cNvPr>
          <p:cNvSpPr>
            <a:spLocks noChangeShapeType="1"/>
          </p:cNvSpPr>
          <p:nvPr/>
        </p:nvSpPr>
        <p:spPr bwMode="auto">
          <a:xfrm>
            <a:off x="7083433" y="2914647"/>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14">
            <a:extLst>
              <a:ext uri="{FF2B5EF4-FFF2-40B4-BE49-F238E27FC236}">
                <a16:creationId xmlns:a16="http://schemas.microsoft.com/office/drawing/2014/main" id="{BEDEB3A2-EFA9-6F44-A8E6-C8BD127C9FBD}"/>
              </a:ext>
            </a:extLst>
          </p:cNvPr>
          <p:cNvSpPr>
            <a:spLocks/>
          </p:cNvSpPr>
          <p:nvPr/>
        </p:nvSpPr>
        <p:spPr bwMode="auto">
          <a:xfrm>
            <a:off x="3048006" y="787395"/>
            <a:ext cx="5264150" cy="5494338"/>
          </a:xfrm>
          <a:custGeom>
            <a:avLst/>
            <a:gdLst>
              <a:gd name="T0" fmla="*/ 2147483646 w 3316"/>
              <a:gd name="T1" fmla="*/ 0 h 3461"/>
              <a:gd name="T2" fmla="*/ 2147483646 w 3316"/>
              <a:gd name="T3" fmla="*/ 2147483646 h 3461"/>
              <a:gd name="T4" fmla="*/ 2147483646 w 3316"/>
              <a:gd name="T5" fmla="*/ 2147483646 h 3461"/>
              <a:gd name="T6" fmla="*/ 2147483646 w 3316"/>
              <a:gd name="T7" fmla="*/ 2147483646 h 3461"/>
              <a:gd name="T8" fmla="*/ 2147483646 w 3316"/>
              <a:gd name="T9" fmla="*/ 2147483646 h 3461"/>
              <a:gd name="T10" fmla="*/ 2147483646 w 3316"/>
              <a:gd name="T11" fmla="*/ 2147483646 h 3461"/>
              <a:gd name="T12" fmla="*/ 2147483646 w 3316"/>
              <a:gd name="T13" fmla="*/ 2147483646 h 3461"/>
              <a:gd name="T14" fmla="*/ 2147483646 w 3316"/>
              <a:gd name="T15" fmla="*/ 2147483646 h 3461"/>
              <a:gd name="T16" fmla="*/ 2147483646 w 3316"/>
              <a:gd name="T17" fmla="*/ 2147483646 h 3461"/>
              <a:gd name="T18" fmla="*/ 2147483646 w 3316"/>
              <a:gd name="T19" fmla="*/ 2147483646 h 3461"/>
              <a:gd name="T20" fmla="*/ 2147483646 w 3316"/>
              <a:gd name="T21" fmla="*/ 2147483646 h 3461"/>
              <a:gd name="T22" fmla="*/ 0 w 3316"/>
              <a:gd name="T23" fmla="*/ 2147483646 h 3461"/>
              <a:gd name="T24" fmla="*/ 0 w 3316"/>
              <a:gd name="T25" fmla="*/ 2147483646 h 34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16"/>
              <a:gd name="T40" fmla="*/ 0 h 3461"/>
              <a:gd name="T41" fmla="*/ 3316 w 3316"/>
              <a:gd name="T42" fmla="*/ 3461 h 34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16" h="3461">
                <a:moveTo>
                  <a:pt x="872" y="0"/>
                </a:moveTo>
                <a:lnTo>
                  <a:pt x="878" y="1481"/>
                </a:lnTo>
                <a:lnTo>
                  <a:pt x="2612" y="1481"/>
                </a:lnTo>
                <a:lnTo>
                  <a:pt x="2612" y="1179"/>
                </a:lnTo>
                <a:lnTo>
                  <a:pt x="3294" y="1179"/>
                </a:lnTo>
                <a:lnTo>
                  <a:pt x="3316" y="3131"/>
                </a:lnTo>
                <a:lnTo>
                  <a:pt x="3148" y="2986"/>
                </a:lnTo>
                <a:lnTo>
                  <a:pt x="3143" y="2387"/>
                </a:lnTo>
                <a:lnTo>
                  <a:pt x="2505" y="2387"/>
                </a:lnTo>
                <a:lnTo>
                  <a:pt x="2505" y="3070"/>
                </a:lnTo>
                <a:lnTo>
                  <a:pt x="1057" y="3461"/>
                </a:lnTo>
                <a:lnTo>
                  <a:pt x="0" y="3461"/>
                </a:lnTo>
                <a:lnTo>
                  <a:pt x="0" y="2505"/>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2" name="Group 115">
            <a:extLst>
              <a:ext uri="{FF2B5EF4-FFF2-40B4-BE49-F238E27FC236}">
                <a16:creationId xmlns:a16="http://schemas.microsoft.com/office/drawing/2014/main" id="{85B6340C-1412-DD49-A487-35E5DC0144AC}"/>
              </a:ext>
            </a:extLst>
          </p:cNvPr>
          <p:cNvGrpSpPr>
            <a:grpSpLocks/>
          </p:cNvGrpSpPr>
          <p:nvPr/>
        </p:nvGrpSpPr>
        <p:grpSpPr bwMode="auto">
          <a:xfrm>
            <a:off x="5457831" y="4800596"/>
            <a:ext cx="1479550" cy="303213"/>
            <a:chOff x="332" y="2224"/>
            <a:chExt cx="932" cy="191"/>
          </a:xfrm>
        </p:grpSpPr>
        <p:sp>
          <p:nvSpPr>
            <p:cNvPr id="243" name="Rectangle 116">
              <a:extLst>
                <a:ext uri="{FF2B5EF4-FFF2-40B4-BE49-F238E27FC236}">
                  <a16:creationId xmlns:a16="http://schemas.microsoft.com/office/drawing/2014/main" id="{504C038E-092B-1D4B-AD07-733B523A2C29}"/>
                </a:ext>
              </a:extLst>
            </p:cNvPr>
            <p:cNvSpPr>
              <a:spLocks noChangeArrowheads="1"/>
            </p:cNvSpPr>
            <p:nvPr/>
          </p:nvSpPr>
          <p:spPr bwMode="auto">
            <a:xfrm>
              <a:off x="345" y="2241"/>
              <a:ext cx="84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Rectangle 117">
              <a:extLst>
                <a:ext uri="{FF2B5EF4-FFF2-40B4-BE49-F238E27FC236}">
                  <a16:creationId xmlns:a16="http://schemas.microsoft.com/office/drawing/2014/main" id="{99CDC4A5-2671-2F4C-AF10-D4F0B21A07E4}"/>
                </a:ext>
              </a:extLst>
            </p:cNvPr>
            <p:cNvSpPr>
              <a:spLocks noChangeArrowheads="1"/>
            </p:cNvSpPr>
            <p:nvPr/>
          </p:nvSpPr>
          <p:spPr bwMode="auto">
            <a:xfrm>
              <a:off x="706"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45" name="Rectangle 118">
              <a:extLst>
                <a:ext uri="{FF2B5EF4-FFF2-40B4-BE49-F238E27FC236}">
                  <a16:creationId xmlns:a16="http://schemas.microsoft.com/office/drawing/2014/main" id="{41C01446-A97C-0942-9110-AECA50BADDDB}"/>
                </a:ext>
              </a:extLst>
            </p:cNvPr>
            <p:cNvSpPr>
              <a:spLocks noChangeArrowheads="1"/>
            </p:cNvSpPr>
            <p:nvPr/>
          </p:nvSpPr>
          <p:spPr bwMode="auto">
            <a:xfrm>
              <a:off x="520"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46" name="Rectangle 119">
              <a:extLst>
                <a:ext uri="{FF2B5EF4-FFF2-40B4-BE49-F238E27FC236}">
                  <a16:creationId xmlns:a16="http://schemas.microsoft.com/office/drawing/2014/main" id="{AA06A8EE-28E9-AF46-9EEA-FBEDDAF18726}"/>
                </a:ext>
              </a:extLst>
            </p:cNvPr>
            <p:cNvSpPr>
              <a:spLocks noChangeArrowheads="1"/>
            </p:cNvSpPr>
            <p:nvPr/>
          </p:nvSpPr>
          <p:spPr bwMode="auto">
            <a:xfrm>
              <a:off x="332"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sp>
          <p:nvSpPr>
            <p:cNvPr id="247" name="Rectangle 120">
              <a:extLst>
                <a:ext uri="{FF2B5EF4-FFF2-40B4-BE49-F238E27FC236}">
                  <a16:creationId xmlns:a16="http://schemas.microsoft.com/office/drawing/2014/main" id="{EF7ADA06-A6C3-EC42-9026-08C964BC6509}"/>
                </a:ext>
              </a:extLst>
            </p:cNvPr>
            <p:cNvSpPr>
              <a:spLocks noChangeArrowheads="1"/>
            </p:cNvSpPr>
            <p:nvPr/>
          </p:nvSpPr>
          <p:spPr bwMode="auto">
            <a:xfrm>
              <a:off x="836" y="2225"/>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48" name="Line 121">
              <a:extLst>
                <a:ext uri="{FF2B5EF4-FFF2-40B4-BE49-F238E27FC236}">
                  <a16:creationId xmlns:a16="http://schemas.microsoft.com/office/drawing/2014/main" id="{F47A00CE-0D92-CA4D-9460-92CBEF8DE836}"/>
                </a:ext>
              </a:extLst>
            </p:cNvPr>
            <p:cNvSpPr>
              <a:spLocks noChangeShapeType="1"/>
            </p:cNvSpPr>
            <p:nvPr/>
          </p:nvSpPr>
          <p:spPr bwMode="auto">
            <a:xfrm>
              <a:off x="510" y="2241"/>
              <a:ext cx="0" cy="1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122">
              <a:extLst>
                <a:ext uri="{FF2B5EF4-FFF2-40B4-BE49-F238E27FC236}">
                  <a16:creationId xmlns:a16="http://schemas.microsoft.com/office/drawing/2014/main" id="{457AAAB2-E313-B54A-B86A-CBEACA43A89D}"/>
                </a:ext>
              </a:extLst>
            </p:cNvPr>
            <p:cNvSpPr>
              <a:spLocks noChangeShapeType="1"/>
            </p:cNvSpPr>
            <p:nvPr/>
          </p:nvSpPr>
          <p:spPr bwMode="auto">
            <a:xfrm>
              <a:off x="690" y="2247"/>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123">
              <a:extLst>
                <a:ext uri="{FF2B5EF4-FFF2-40B4-BE49-F238E27FC236}">
                  <a16:creationId xmlns:a16="http://schemas.microsoft.com/office/drawing/2014/main" id="{777075DA-53C1-4349-BD44-36049E94C4EB}"/>
                </a:ext>
              </a:extLst>
            </p:cNvPr>
            <p:cNvSpPr>
              <a:spLocks noChangeShapeType="1"/>
            </p:cNvSpPr>
            <p:nvPr/>
          </p:nvSpPr>
          <p:spPr bwMode="auto">
            <a:xfrm>
              <a:off x="882" y="2244"/>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1" name="Group 124">
            <a:extLst>
              <a:ext uri="{FF2B5EF4-FFF2-40B4-BE49-F238E27FC236}">
                <a16:creationId xmlns:a16="http://schemas.microsoft.com/office/drawing/2014/main" id="{F09DD616-F735-7046-9C1C-D2103F4D1E5C}"/>
              </a:ext>
            </a:extLst>
          </p:cNvPr>
          <p:cNvGrpSpPr>
            <a:grpSpLocks/>
          </p:cNvGrpSpPr>
          <p:nvPr/>
        </p:nvGrpSpPr>
        <p:grpSpPr bwMode="auto">
          <a:xfrm>
            <a:off x="5716595" y="4494208"/>
            <a:ext cx="1208087" cy="303212"/>
            <a:chOff x="501" y="1990"/>
            <a:chExt cx="761" cy="191"/>
          </a:xfrm>
        </p:grpSpPr>
        <p:sp>
          <p:nvSpPr>
            <p:cNvPr id="252" name="Rectangle 125">
              <a:extLst>
                <a:ext uri="{FF2B5EF4-FFF2-40B4-BE49-F238E27FC236}">
                  <a16:creationId xmlns:a16="http://schemas.microsoft.com/office/drawing/2014/main" id="{DB941F93-1335-5645-94DE-59F001928AC8}"/>
                </a:ext>
              </a:extLst>
            </p:cNvPr>
            <p:cNvSpPr>
              <a:spLocks noChangeArrowheads="1"/>
            </p:cNvSpPr>
            <p:nvPr/>
          </p:nvSpPr>
          <p:spPr bwMode="auto">
            <a:xfrm>
              <a:off x="501" y="2007"/>
              <a:ext cx="6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Rectangle 126">
              <a:extLst>
                <a:ext uri="{FF2B5EF4-FFF2-40B4-BE49-F238E27FC236}">
                  <a16:creationId xmlns:a16="http://schemas.microsoft.com/office/drawing/2014/main" id="{9EA1B2EB-B358-3D4C-841E-567FECFADB18}"/>
                </a:ext>
              </a:extLst>
            </p:cNvPr>
            <p:cNvSpPr>
              <a:spLocks noChangeArrowheads="1"/>
            </p:cNvSpPr>
            <p:nvPr/>
          </p:nvSpPr>
          <p:spPr bwMode="auto">
            <a:xfrm>
              <a:off x="704"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54" name="Rectangle 127">
              <a:extLst>
                <a:ext uri="{FF2B5EF4-FFF2-40B4-BE49-F238E27FC236}">
                  <a16:creationId xmlns:a16="http://schemas.microsoft.com/office/drawing/2014/main" id="{13F00E9F-B735-5849-861F-39C839FD83F4}"/>
                </a:ext>
              </a:extLst>
            </p:cNvPr>
            <p:cNvSpPr>
              <a:spLocks noChangeArrowheads="1"/>
            </p:cNvSpPr>
            <p:nvPr/>
          </p:nvSpPr>
          <p:spPr bwMode="auto">
            <a:xfrm>
              <a:off x="518"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55" name="Rectangle 128">
              <a:extLst>
                <a:ext uri="{FF2B5EF4-FFF2-40B4-BE49-F238E27FC236}">
                  <a16:creationId xmlns:a16="http://schemas.microsoft.com/office/drawing/2014/main" id="{0CE33A55-3FFF-D247-A00E-5085ABE3BDA7}"/>
                </a:ext>
              </a:extLst>
            </p:cNvPr>
            <p:cNvSpPr>
              <a:spLocks noChangeArrowheads="1"/>
            </p:cNvSpPr>
            <p:nvPr/>
          </p:nvSpPr>
          <p:spPr bwMode="auto">
            <a:xfrm>
              <a:off x="834" y="1991"/>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56" name="Line 129">
              <a:extLst>
                <a:ext uri="{FF2B5EF4-FFF2-40B4-BE49-F238E27FC236}">
                  <a16:creationId xmlns:a16="http://schemas.microsoft.com/office/drawing/2014/main" id="{5257F2F7-73B9-0943-A775-4320CC67F911}"/>
                </a:ext>
              </a:extLst>
            </p:cNvPr>
            <p:cNvSpPr>
              <a:spLocks noChangeShapeType="1"/>
            </p:cNvSpPr>
            <p:nvPr/>
          </p:nvSpPr>
          <p:spPr bwMode="auto">
            <a:xfrm>
              <a:off x="688" y="2013"/>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130">
              <a:extLst>
                <a:ext uri="{FF2B5EF4-FFF2-40B4-BE49-F238E27FC236}">
                  <a16:creationId xmlns:a16="http://schemas.microsoft.com/office/drawing/2014/main" id="{F79FB15F-B9B5-1C48-A8C6-B6B142E79B47}"/>
                </a:ext>
              </a:extLst>
            </p:cNvPr>
            <p:cNvSpPr>
              <a:spLocks noChangeShapeType="1"/>
            </p:cNvSpPr>
            <p:nvPr/>
          </p:nvSpPr>
          <p:spPr bwMode="auto">
            <a:xfrm>
              <a:off x="880" y="2010"/>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8" name="Group 140">
            <a:extLst>
              <a:ext uri="{FF2B5EF4-FFF2-40B4-BE49-F238E27FC236}">
                <a16:creationId xmlns:a16="http://schemas.microsoft.com/office/drawing/2014/main" id="{DC4925E6-41A9-8643-8E76-63BD0FB2392D}"/>
              </a:ext>
            </a:extLst>
          </p:cNvPr>
          <p:cNvGrpSpPr>
            <a:grpSpLocks/>
          </p:cNvGrpSpPr>
          <p:nvPr/>
        </p:nvGrpSpPr>
        <p:grpSpPr bwMode="auto">
          <a:xfrm>
            <a:off x="8488370" y="4860921"/>
            <a:ext cx="1208087" cy="303213"/>
            <a:chOff x="501" y="1990"/>
            <a:chExt cx="761" cy="191"/>
          </a:xfrm>
        </p:grpSpPr>
        <p:sp>
          <p:nvSpPr>
            <p:cNvPr id="259" name="Rectangle 141">
              <a:extLst>
                <a:ext uri="{FF2B5EF4-FFF2-40B4-BE49-F238E27FC236}">
                  <a16:creationId xmlns:a16="http://schemas.microsoft.com/office/drawing/2014/main" id="{24DA0C2F-17DB-7643-B65D-18F2B436D4C0}"/>
                </a:ext>
              </a:extLst>
            </p:cNvPr>
            <p:cNvSpPr>
              <a:spLocks noChangeArrowheads="1"/>
            </p:cNvSpPr>
            <p:nvPr/>
          </p:nvSpPr>
          <p:spPr bwMode="auto">
            <a:xfrm>
              <a:off x="501" y="2007"/>
              <a:ext cx="6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60" name="Rectangle 142">
              <a:extLst>
                <a:ext uri="{FF2B5EF4-FFF2-40B4-BE49-F238E27FC236}">
                  <a16:creationId xmlns:a16="http://schemas.microsoft.com/office/drawing/2014/main" id="{296D85F8-DA00-E347-906C-91E4F93935A1}"/>
                </a:ext>
              </a:extLst>
            </p:cNvPr>
            <p:cNvSpPr>
              <a:spLocks noChangeArrowheads="1"/>
            </p:cNvSpPr>
            <p:nvPr/>
          </p:nvSpPr>
          <p:spPr bwMode="auto">
            <a:xfrm>
              <a:off x="704"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61" name="Rectangle 143">
              <a:extLst>
                <a:ext uri="{FF2B5EF4-FFF2-40B4-BE49-F238E27FC236}">
                  <a16:creationId xmlns:a16="http://schemas.microsoft.com/office/drawing/2014/main" id="{7E7E3D6E-A342-6648-9506-7A080F8B77FF}"/>
                </a:ext>
              </a:extLst>
            </p:cNvPr>
            <p:cNvSpPr>
              <a:spLocks noChangeArrowheads="1"/>
            </p:cNvSpPr>
            <p:nvPr/>
          </p:nvSpPr>
          <p:spPr bwMode="auto">
            <a:xfrm>
              <a:off x="518"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62" name="Rectangle 144">
              <a:extLst>
                <a:ext uri="{FF2B5EF4-FFF2-40B4-BE49-F238E27FC236}">
                  <a16:creationId xmlns:a16="http://schemas.microsoft.com/office/drawing/2014/main" id="{E27AB14D-C29B-DF45-8BD1-D050C50BEA27}"/>
                </a:ext>
              </a:extLst>
            </p:cNvPr>
            <p:cNvSpPr>
              <a:spLocks noChangeArrowheads="1"/>
            </p:cNvSpPr>
            <p:nvPr/>
          </p:nvSpPr>
          <p:spPr bwMode="auto">
            <a:xfrm>
              <a:off x="834" y="1991"/>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63" name="Line 145">
              <a:extLst>
                <a:ext uri="{FF2B5EF4-FFF2-40B4-BE49-F238E27FC236}">
                  <a16:creationId xmlns:a16="http://schemas.microsoft.com/office/drawing/2014/main" id="{331963CB-8B11-1C4E-8253-0FDB3A375A54}"/>
                </a:ext>
              </a:extLst>
            </p:cNvPr>
            <p:cNvSpPr>
              <a:spLocks noChangeShapeType="1"/>
            </p:cNvSpPr>
            <p:nvPr/>
          </p:nvSpPr>
          <p:spPr bwMode="auto">
            <a:xfrm>
              <a:off x="688" y="2013"/>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Line 146">
              <a:extLst>
                <a:ext uri="{FF2B5EF4-FFF2-40B4-BE49-F238E27FC236}">
                  <a16:creationId xmlns:a16="http://schemas.microsoft.com/office/drawing/2014/main" id="{432304F0-73BB-2748-8E18-7151D5E33699}"/>
                </a:ext>
              </a:extLst>
            </p:cNvPr>
            <p:cNvSpPr>
              <a:spLocks noChangeShapeType="1"/>
            </p:cNvSpPr>
            <p:nvPr/>
          </p:nvSpPr>
          <p:spPr bwMode="auto">
            <a:xfrm>
              <a:off x="880" y="2010"/>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65" name="Group 156">
            <a:extLst>
              <a:ext uri="{FF2B5EF4-FFF2-40B4-BE49-F238E27FC236}">
                <a16:creationId xmlns:a16="http://schemas.microsoft.com/office/drawing/2014/main" id="{2999D032-84BD-264A-ADD9-A5141E317962}"/>
              </a:ext>
            </a:extLst>
          </p:cNvPr>
          <p:cNvGrpSpPr>
            <a:grpSpLocks/>
          </p:cNvGrpSpPr>
          <p:nvPr/>
        </p:nvGrpSpPr>
        <p:grpSpPr bwMode="auto">
          <a:xfrm>
            <a:off x="2157419" y="1919283"/>
            <a:ext cx="1479550" cy="303212"/>
            <a:chOff x="332" y="2224"/>
            <a:chExt cx="932" cy="191"/>
          </a:xfrm>
        </p:grpSpPr>
        <p:sp>
          <p:nvSpPr>
            <p:cNvPr id="266" name="Rectangle 157">
              <a:extLst>
                <a:ext uri="{FF2B5EF4-FFF2-40B4-BE49-F238E27FC236}">
                  <a16:creationId xmlns:a16="http://schemas.microsoft.com/office/drawing/2014/main" id="{0E7166F5-9BCE-6142-A6E7-CDF949808543}"/>
                </a:ext>
              </a:extLst>
            </p:cNvPr>
            <p:cNvSpPr>
              <a:spLocks noChangeArrowheads="1"/>
            </p:cNvSpPr>
            <p:nvPr/>
          </p:nvSpPr>
          <p:spPr bwMode="auto">
            <a:xfrm>
              <a:off x="345" y="2241"/>
              <a:ext cx="84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67" name="Rectangle 158">
              <a:extLst>
                <a:ext uri="{FF2B5EF4-FFF2-40B4-BE49-F238E27FC236}">
                  <a16:creationId xmlns:a16="http://schemas.microsoft.com/office/drawing/2014/main" id="{754F1661-A032-B447-9C02-84330F1B16C3}"/>
                </a:ext>
              </a:extLst>
            </p:cNvPr>
            <p:cNvSpPr>
              <a:spLocks noChangeArrowheads="1"/>
            </p:cNvSpPr>
            <p:nvPr/>
          </p:nvSpPr>
          <p:spPr bwMode="auto">
            <a:xfrm>
              <a:off x="706"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68" name="Rectangle 159">
              <a:extLst>
                <a:ext uri="{FF2B5EF4-FFF2-40B4-BE49-F238E27FC236}">
                  <a16:creationId xmlns:a16="http://schemas.microsoft.com/office/drawing/2014/main" id="{1C7AD2C3-C553-2A4B-9171-A8E09BA847E8}"/>
                </a:ext>
              </a:extLst>
            </p:cNvPr>
            <p:cNvSpPr>
              <a:spLocks noChangeArrowheads="1"/>
            </p:cNvSpPr>
            <p:nvPr/>
          </p:nvSpPr>
          <p:spPr bwMode="auto">
            <a:xfrm>
              <a:off x="520"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69" name="Rectangle 160">
              <a:extLst>
                <a:ext uri="{FF2B5EF4-FFF2-40B4-BE49-F238E27FC236}">
                  <a16:creationId xmlns:a16="http://schemas.microsoft.com/office/drawing/2014/main" id="{CE64079E-3B67-F34D-801D-A92A1F3B07C8}"/>
                </a:ext>
              </a:extLst>
            </p:cNvPr>
            <p:cNvSpPr>
              <a:spLocks noChangeArrowheads="1"/>
            </p:cNvSpPr>
            <p:nvPr/>
          </p:nvSpPr>
          <p:spPr bwMode="auto">
            <a:xfrm>
              <a:off x="332"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sp>
          <p:nvSpPr>
            <p:cNvPr id="270" name="Rectangle 161">
              <a:extLst>
                <a:ext uri="{FF2B5EF4-FFF2-40B4-BE49-F238E27FC236}">
                  <a16:creationId xmlns:a16="http://schemas.microsoft.com/office/drawing/2014/main" id="{1E8F4774-501D-1F43-80F6-8E0FBDD2EA01}"/>
                </a:ext>
              </a:extLst>
            </p:cNvPr>
            <p:cNvSpPr>
              <a:spLocks noChangeArrowheads="1"/>
            </p:cNvSpPr>
            <p:nvPr/>
          </p:nvSpPr>
          <p:spPr bwMode="auto">
            <a:xfrm>
              <a:off x="836" y="2225"/>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71" name="Line 162">
              <a:extLst>
                <a:ext uri="{FF2B5EF4-FFF2-40B4-BE49-F238E27FC236}">
                  <a16:creationId xmlns:a16="http://schemas.microsoft.com/office/drawing/2014/main" id="{AC823B9C-431D-F442-BF16-B2BB2576305B}"/>
                </a:ext>
              </a:extLst>
            </p:cNvPr>
            <p:cNvSpPr>
              <a:spLocks noChangeShapeType="1"/>
            </p:cNvSpPr>
            <p:nvPr/>
          </p:nvSpPr>
          <p:spPr bwMode="auto">
            <a:xfrm>
              <a:off x="510" y="2241"/>
              <a:ext cx="0" cy="1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Line 163">
              <a:extLst>
                <a:ext uri="{FF2B5EF4-FFF2-40B4-BE49-F238E27FC236}">
                  <a16:creationId xmlns:a16="http://schemas.microsoft.com/office/drawing/2014/main" id="{027C6256-CE60-DF44-B53C-314BE2376CBC}"/>
                </a:ext>
              </a:extLst>
            </p:cNvPr>
            <p:cNvSpPr>
              <a:spLocks noChangeShapeType="1"/>
            </p:cNvSpPr>
            <p:nvPr/>
          </p:nvSpPr>
          <p:spPr bwMode="auto">
            <a:xfrm>
              <a:off x="690" y="2247"/>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Line 164">
              <a:extLst>
                <a:ext uri="{FF2B5EF4-FFF2-40B4-BE49-F238E27FC236}">
                  <a16:creationId xmlns:a16="http://schemas.microsoft.com/office/drawing/2014/main" id="{EB0B6073-A87E-8C45-871D-8531AA06559B}"/>
                </a:ext>
              </a:extLst>
            </p:cNvPr>
            <p:cNvSpPr>
              <a:spLocks noChangeShapeType="1"/>
            </p:cNvSpPr>
            <p:nvPr/>
          </p:nvSpPr>
          <p:spPr bwMode="auto">
            <a:xfrm>
              <a:off x="882" y="2244"/>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74" name="Text Box 166">
            <a:extLst>
              <a:ext uri="{FF2B5EF4-FFF2-40B4-BE49-F238E27FC236}">
                <a16:creationId xmlns:a16="http://schemas.microsoft.com/office/drawing/2014/main" id="{B74B5829-1A8F-AE47-9517-C70C28E5B2D0}"/>
              </a:ext>
            </a:extLst>
          </p:cNvPr>
          <p:cNvSpPr txBox="1">
            <a:spLocks noChangeArrowheads="1"/>
          </p:cNvSpPr>
          <p:nvPr/>
        </p:nvSpPr>
        <p:spPr bwMode="auto">
          <a:xfrm>
            <a:off x="9140831" y="5665783"/>
            <a:ext cx="84144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router</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endParaRPr>
          </a:p>
        </p:txBody>
      </p:sp>
      <p:sp>
        <p:nvSpPr>
          <p:cNvPr id="275" name="Text Box 167">
            <a:extLst>
              <a:ext uri="{FF2B5EF4-FFF2-40B4-BE49-F238E27FC236}">
                <a16:creationId xmlns:a16="http://schemas.microsoft.com/office/drawing/2014/main" id="{28AC982F-9E27-1847-9770-EC46EAFE4DFF}"/>
              </a:ext>
            </a:extLst>
          </p:cNvPr>
          <p:cNvSpPr txBox="1">
            <a:spLocks noChangeArrowheads="1"/>
          </p:cNvSpPr>
          <p:nvPr/>
        </p:nvSpPr>
        <p:spPr bwMode="auto">
          <a:xfrm>
            <a:off x="9155119" y="3386662"/>
            <a:ext cx="8692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switch</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endParaRPr>
          </a:p>
        </p:txBody>
      </p:sp>
      <p:sp>
        <p:nvSpPr>
          <p:cNvPr id="276" name="Text Box 174">
            <a:extLst>
              <a:ext uri="{FF2B5EF4-FFF2-40B4-BE49-F238E27FC236}">
                <a16:creationId xmlns:a16="http://schemas.microsoft.com/office/drawing/2014/main" id="{2A962AD2-9396-3D42-9E36-5C73F53C9104}"/>
              </a:ext>
            </a:extLst>
          </p:cNvPr>
          <p:cNvSpPr txBox="1">
            <a:spLocks noChangeArrowheads="1"/>
          </p:cNvSpPr>
          <p:nvPr/>
        </p:nvSpPr>
        <p:spPr bwMode="auto">
          <a:xfrm>
            <a:off x="1922469" y="946145"/>
            <a:ext cx="10080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cs typeface="Arial" panose="020B0604020202020204" pitchFamily="34" charset="0"/>
              </a:rPr>
              <a:t>message</a:t>
            </a:r>
          </a:p>
        </p:txBody>
      </p:sp>
      <p:grpSp>
        <p:nvGrpSpPr>
          <p:cNvPr id="277" name="Group 175">
            <a:extLst>
              <a:ext uri="{FF2B5EF4-FFF2-40B4-BE49-F238E27FC236}">
                <a16:creationId xmlns:a16="http://schemas.microsoft.com/office/drawing/2014/main" id="{06D27889-C61F-0242-A608-3A140922A686}"/>
              </a:ext>
            </a:extLst>
          </p:cNvPr>
          <p:cNvGrpSpPr>
            <a:grpSpLocks/>
          </p:cNvGrpSpPr>
          <p:nvPr/>
        </p:nvGrpSpPr>
        <p:grpSpPr bwMode="auto">
          <a:xfrm>
            <a:off x="2982919" y="973134"/>
            <a:ext cx="679450" cy="301625"/>
            <a:chOff x="780" y="1553"/>
            <a:chExt cx="428" cy="190"/>
          </a:xfrm>
        </p:grpSpPr>
        <p:sp>
          <p:nvSpPr>
            <p:cNvPr id="278" name="Rectangle 176">
              <a:extLst>
                <a:ext uri="{FF2B5EF4-FFF2-40B4-BE49-F238E27FC236}">
                  <a16:creationId xmlns:a16="http://schemas.microsoft.com/office/drawing/2014/main" id="{8E4EC409-9300-A24E-856E-0C57A0500EC7}"/>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9" name="Rectangle 177">
              <a:extLst>
                <a:ext uri="{FF2B5EF4-FFF2-40B4-BE49-F238E27FC236}">
                  <a16:creationId xmlns:a16="http://schemas.microsoft.com/office/drawing/2014/main" id="{C7120CFE-84DC-AE4A-96EA-467B21A3F954}"/>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nvGrpSpPr>
          <p:cNvPr id="280" name="Group 185">
            <a:extLst>
              <a:ext uri="{FF2B5EF4-FFF2-40B4-BE49-F238E27FC236}">
                <a16:creationId xmlns:a16="http://schemas.microsoft.com/office/drawing/2014/main" id="{48F838C9-2064-8846-AE99-7D64C6F0E88A}"/>
              </a:ext>
            </a:extLst>
          </p:cNvPr>
          <p:cNvGrpSpPr>
            <a:grpSpLocks/>
          </p:cNvGrpSpPr>
          <p:nvPr/>
        </p:nvGrpSpPr>
        <p:grpSpPr bwMode="auto">
          <a:xfrm>
            <a:off x="2746384" y="1290634"/>
            <a:ext cx="908050" cy="301625"/>
            <a:chOff x="1848" y="2046"/>
            <a:chExt cx="572" cy="190"/>
          </a:xfrm>
        </p:grpSpPr>
        <p:grpSp>
          <p:nvGrpSpPr>
            <p:cNvPr id="281" name="Group 179">
              <a:extLst>
                <a:ext uri="{FF2B5EF4-FFF2-40B4-BE49-F238E27FC236}">
                  <a16:creationId xmlns:a16="http://schemas.microsoft.com/office/drawing/2014/main" id="{B8E6789C-1509-4C48-885B-AD08332F4B98}"/>
                </a:ext>
              </a:extLst>
            </p:cNvPr>
            <p:cNvGrpSpPr>
              <a:grpSpLocks/>
            </p:cNvGrpSpPr>
            <p:nvPr/>
          </p:nvGrpSpPr>
          <p:grpSpPr bwMode="auto">
            <a:xfrm>
              <a:off x="1848" y="2047"/>
              <a:ext cx="187" cy="184"/>
              <a:chOff x="1959" y="2058"/>
              <a:chExt cx="187" cy="184"/>
            </a:xfrm>
          </p:grpSpPr>
          <p:sp>
            <p:nvSpPr>
              <p:cNvPr id="285" name="Rectangle 180">
                <a:extLst>
                  <a:ext uri="{FF2B5EF4-FFF2-40B4-BE49-F238E27FC236}">
                    <a16:creationId xmlns:a16="http://schemas.microsoft.com/office/drawing/2014/main" id="{06BC3922-CF81-3845-BA10-96DBBA1F47B7}"/>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6" name="Rectangle 181">
                <a:extLst>
                  <a:ext uri="{FF2B5EF4-FFF2-40B4-BE49-F238E27FC236}">
                    <a16:creationId xmlns:a16="http://schemas.microsoft.com/office/drawing/2014/main" id="{C4E3DD7C-9412-E741-BD84-C65290F3969E}"/>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282" name="Group 182">
              <a:extLst>
                <a:ext uri="{FF2B5EF4-FFF2-40B4-BE49-F238E27FC236}">
                  <a16:creationId xmlns:a16="http://schemas.microsoft.com/office/drawing/2014/main" id="{19C49CDA-616B-0942-AEEF-049BB04DF303}"/>
                </a:ext>
              </a:extLst>
            </p:cNvPr>
            <p:cNvGrpSpPr>
              <a:grpSpLocks/>
            </p:cNvGrpSpPr>
            <p:nvPr/>
          </p:nvGrpSpPr>
          <p:grpSpPr bwMode="auto">
            <a:xfrm>
              <a:off x="1992" y="2046"/>
              <a:ext cx="428" cy="190"/>
              <a:chOff x="780" y="1553"/>
              <a:chExt cx="428" cy="190"/>
            </a:xfrm>
          </p:grpSpPr>
          <p:sp>
            <p:nvSpPr>
              <p:cNvPr id="283" name="Rectangle 183">
                <a:extLst>
                  <a:ext uri="{FF2B5EF4-FFF2-40B4-BE49-F238E27FC236}">
                    <a16:creationId xmlns:a16="http://schemas.microsoft.com/office/drawing/2014/main" id="{4F97E7C1-6241-2842-9ACE-7FBCF045B164}"/>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4" name="Rectangle 184">
                <a:extLst>
                  <a:ext uri="{FF2B5EF4-FFF2-40B4-BE49-F238E27FC236}">
                    <a16:creationId xmlns:a16="http://schemas.microsoft.com/office/drawing/2014/main" id="{FBAAFC8C-9356-294D-B8F3-F6E4810790B2}"/>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287" name="Group 187">
            <a:extLst>
              <a:ext uri="{FF2B5EF4-FFF2-40B4-BE49-F238E27FC236}">
                <a16:creationId xmlns:a16="http://schemas.microsoft.com/office/drawing/2014/main" id="{11860688-7535-2242-95B7-51DB4FCD1617}"/>
              </a:ext>
            </a:extLst>
          </p:cNvPr>
          <p:cNvGrpSpPr>
            <a:grpSpLocks/>
          </p:cNvGrpSpPr>
          <p:nvPr/>
        </p:nvGrpSpPr>
        <p:grpSpPr bwMode="auto">
          <a:xfrm>
            <a:off x="2438407" y="1622425"/>
            <a:ext cx="323850" cy="295274"/>
            <a:chOff x="1948" y="2058"/>
            <a:chExt cx="204" cy="184"/>
          </a:xfrm>
        </p:grpSpPr>
        <p:sp>
          <p:nvSpPr>
            <p:cNvPr id="288" name="Rectangle 188">
              <a:extLst>
                <a:ext uri="{FF2B5EF4-FFF2-40B4-BE49-F238E27FC236}">
                  <a16:creationId xmlns:a16="http://schemas.microsoft.com/office/drawing/2014/main" id="{731A6D81-5EA1-834F-A9B7-29A362ECB239}"/>
                </a:ext>
              </a:extLst>
            </p:cNvPr>
            <p:cNvSpPr>
              <a:spLocks noChangeArrowheads="1"/>
            </p:cNvSpPr>
            <p:nvPr/>
          </p:nvSpPr>
          <p:spPr bwMode="auto">
            <a:xfrm>
              <a:off x="1948" y="2075"/>
              <a:ext cx="191"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9" name="Rectangle 189">
              <a:extLst>
                <a:ext uri="{FF2B5EF4-FFF2-40B4-BE49-F238E27FC236}">
                  <a16:creationId xmlns:a16="http://schemas.microsoft.com/office/drawing/2014/main" id="{2EAE3C28-1F19-034E-A583-4C40A2941B78}"/>
                </a:ext>
              </a:extLst>
            </p:cNvPr>
            <p:cNvSpPr>
              <a:spLocks noChangeArrowheads="1"/>
            </p:cNvSpPr>
            <p:nvPr/>
          </p:nvSpPr>
          <p:spPr bwMode="auto">
            <a:xfrm>
              <a:off x="1965"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grpSp>
      <p:sp>
        <p:nvSpPr>
          <p:cNvPr id="290" name="Text Box 7">
            <a:extLst>
              <a:ext uri="{FF2B5EF4-FFF2-40B4-BE49-F238E27FC236}">
                <a16:creationId xmlns:a16="http://schemas.microsoft.com/office/drawing/2014/main" id="{A538246A-59B9-0349-A984-2F7704DBA8CC}"/>
              </a:ext>
            </a:extLst>
          </p:cNvPr>
          <p:cNvSpPr txBox="1">
            <a:spLocks noChangeArrowheads="1"/>
          </p:cNvSpPr>
          <p:nvPr/>
        </p:nvSpPr>
        <p:spPr bwMode="auto">
          <a:xfrm>
            <a:off x="1376369" y="1897058"/>
            <a:ext cx="7048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cs typeface="Arial" panose="020B0604020202020204" pitchFamily="34" charset="0"/>
              </a:rPr>
              <a:t>frame</a:t>
            </a:r>
          </a:p>
        </p:txBody>
      </p:sp>
      <p:grpSp>
        <p:nvGrpSpPr>
          <p:cNvPr id="294" name="Group 190">
            <a:extLst>
              <a:ext uri="{FF2B5EF4-FFF2-40B4-BE49-F238E27FC236}">
                <a16:creationId xmlns:a16="http://schemas.microsoft.com/office/drawing/2014/main" id="{3A531A16-240C-9241-94EF-4C9AE4951124}"/>
              </a:ext>
            </a:extLst>
          </p:cNvPr>
          <p:cNvGrpSpPr>
            <a:grpSpLocks/>
          </p:cNvGrpSpPr>
          <p:nvPr/>
        </p:nvGrpSpPr>
        <p:grpSpPr bwMode="auto">
          <a:xfrm flipH="1">
            <a:off x="5359407" y="1341434"/>
            <a:ext cx="803275" cy="771525"/>
            <a:chOff x="-44" y="1473"/>
            <a:chExt cx="981" cy="1105"/>
          </a:xfrm>
        </p:grpSpPr>
        <p:pic>
          <p:nvPicPr>
            <p:cNvPr id="295" name="Picture 191" descr="desktop_computer_stylized_medium">
              <a:extLst>
                <a:ext uri="{FF2B5EF4-FFF2-40B4-BE49-F238E27FC236}">
                  <a16:creationId xmlns:a16="http://schemas.microsoft.com/office/drawing/2014/main" id="{1407FE03-3BF1-1D45-8A83-D39E3D03C3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 name="Freeform 192">
              <a:extLst>
                <a:ext uri="{FF2B5EF4-FFF2-40B4-BE49-F238E27FC236}">
                  <a16:creationId xmlns:a16="http://schemas.microsoft.com/office/drawing/2014/main" id="{24E88B51-BE9B-3C48-9F67-26465B74968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0" name="Freeform 10">
            <a:extLst>
              <a:ext uri="{FF2B5EF4-FFF2-40B4-BE49-F238E27FC236}">
                <a16:creationId xmlns:a16="http://schemas.microsoft.com/office/drawing/2014/main" id="{7497192E-FD73-AA40-BE80-ABE9A774CC99}"/>
              </a:ext>
            </a:extLst>
          </p:cNvPr>
          <p:cNvSpPr>
            <a:spLocks/>
          </p:cNvSpPr>
          <p:nvPr/>
        </p:nvSpPr>
        <p:spPr bwMode="auto">
          <a:xfrm>
            <a:off x="4178506" y="4871041"/>
            <a:ext cx="360362" cy="152290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1" name="Group 187">
            <a:extLst>
              <a:ext uri="{FF2B5EF4-FFF2-40B4-BE49-F238E27FC236}">
                <a16:creationId xmlns:a16="http://schemas.microsoft.com/office/drawing/2014/main" id="{4888665C-41EE-644D-80C5-A5B9017648C6}"/>
              </a:ext>
            </a:extLst>
          </p:cNvPr>
          <p:cNvGrpSpPr>
            <a:grpSpLocks/>
          </p:cNvGrpSpPr>
          <p:nvPr/>
        </p:nvGrpSpPr>
        <p:grpSpPr bwMode="auto">
          <a:xfrm flipH="1">
            <a:off x="4397382" y="5224459"/>
            <a:ext cx="803275" cy="771525"/>
            <a:chOff x="-44" y="1473"/>
            <a:chExt cx="981" cy="1105"/>
          </a:xfrm>
        </p:grpSpPr>
        <p:pic>
          <p:nvPicPr>
            <p:cNvPr id="292" name="Picture 188" descr="desktop_computer_stylized_medium">
              <a:extLst>
                <a:ext uri="{FF2B5EF4-FFF2-40B4-BE49-F238E27FC236}">
                  <a16:creationId xmlns:a16="http://schemas.microsoft.com/office/drawing/2014/main" id="{7A9F9E63-740A-7147-A711-8D8238FD97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 name="Freeform 189">
              <a:extLst>
                <a:ext uri="{FF2B5EF4-FFF2-40B4-BE49-F238E27FC236}">
                  <a16:creationId xmlns:a16="http://schemas.microsoft.com/office/drawing/2014/main" id="{B678C5E1-8916-9C47-B1F3-E8A3F8BB6DB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0" name="Text Box 98">
            <a:extLst>
              <a:ext uri="{FF2B5EF4-FFF2-40B4-BE49-F238E27FC236}">
                <a16:creationId xmlns:a16="http://schemas.microsoft.com/office/drawing/2014/main" id="{9BC58A09-0AC8-5F40-B8A7-C0AF48D1DC0E}"/>
              </a:ext>
            </a:extLst>
          </p:cNvPr>
          <p:cNvSpPr txBox="1">
            <a:spLocks noChangeArrowheads="1"/>
          </p:cNvSpPr>
          <p:nvPr/>
        </p:nvSpPr>
        <p:spPr bwMode="auto">
          <a:xfrm>
            <a:off x="7030180" y="2584590"/>
            <a:ext cx="1317625" cy="695325"/>
          </a:xfrm>
          <a:prstGeom prst="rect">
            <a:avLst/>
          </a:prstGeom>
          <a:noFill/>
          <a:ln>
            <a:noFill/>
          </a:ln>
          <a:effectLst>
            <a:outerShdw blurRad="114300" dist="38100" dir="18900000" sx="123000" sy="123000" algn="bl" rotWithShape="0">
              <a:prstClr val="black">
                <a:alpha val="40000"/>
              </a:prst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physical</a:t>
            </a:r>
          </a:p>
        </p:txBody>
      </p:sp>
      <p:sp>
        <p:nvSpPr>
          <p:cNvPr id="137" name="Slide Number Placeholder 5">
            <a:extLst>
              <a:ext uri="{FF2B5EF4-FFF2-40B4-BE49-F238E27FC236}">
                <a16:creationId xmlns:a16="http://schemas.microsoft.com/office/drawing/2014/main" id="{E70AE3D5-912C-A246-BEFD-E695C530DB2E}"/>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13</a:t>
            </a:fld>
            <a:endParaRPr lang="en-US" dirty="0"/>
          </a:p>
        </p:txBody>
      </p:sp>
    </p:spTree>
    <p:extLst>
      <p:ext uri="{BB962C8B-B14F-4D97-AF65-F5344CB8AC3E}">
        <p14:creationId xmlns:p14="http://schemas.microsoft.com/office/powerpoint/2010/main" val="827783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3.95833E-6 -0.0037 L 3.95833E-6 0.04583 " pathEditMode="relative" rAng="0" ptsTypes="AA">
                                      <p:cBhvr>
                                        <p:cTn id="6" dur="2000" fill="hold"/>
                                        <p:tgtEl>
                                          <p:spTgt spid="277"/>
                                        </p:tgtEl>
                                        <p:attrNameLst>
                                          <p:attrName>ppt_x</p:attrName>
                                          <p:attrName>ppt_y</p:attrName>
                                        </p:attrNameLst>
                                      </p:cBhvr>
                                      <p:rCtr x="0" y="2477"/>
                                    </p:animMotion>
                                  </p:childTnLst>
                                </p:cTn>
                              </p:par>
                              <p:par>
                                <p:cTn id="7" presetID="10" presetClass="exit" presetSubtype="0" fill="hold" grpId="0" nodeType="withEffect">
                                  <p:stCondLst>
                                    <p:cond delay="0"/>
                                  </p:stCondLst>
                                  <p:childTnLst>
                                    <p:animEffect transition="out" filter="fade">
                                      <p:cBhvr>
                                        <p:cTn id="8" dur="2000"/>
                                        <p:tgtEl>
                                          <p:spTgt spid="276"/>
                                        </p:tgtEl>
                                      </p:cBhvr>
                                    </p:animEffect>
                                    <p:set>
                                      <p:cBhvr>
                                        <p:cTn id="9" dur="1" fill="hold">
                                          <p:stCondLst>
                                            <p:cond delay="1999"/>
                                          </p:stCondLst>
                                        </p:cTn>
                                        <p:tgtEl>
                                          <p:spTgt spid="276"/>
                                        </p:tgtEl>
                                        <p:attrNameLst>
                                          <p:attrName>style.visibility</p:attrName>
                                        </p:attrNameLst>
                                      </p:cBhvr>
                                      <p:to>
                                        <p:strVal val="hidden"/>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nodeType="clickEffect">
                                  <p:stCondLst>
                                    <p:cond delay="0"/>
                                  </p:stCondLst>
                                  <p:childTnLst>
                                    <p:set>
                                      <p:cBhvr>
                                        <p:cTn id="13" dur="1" fill="hold">
                                          <p:stCondLst>
                                            <p:cond delay="0"/>
                                          </p:stCondLst>
                                        </p:cTn>
                                        <p:tgtEl>
                                          <p:spTgt spid="193"/>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192"/>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xit" presetSubtype="0" fill="hold" nodeType="clickEffect">
                                  <p:stCondLst>
                                    <p:cond delay="0"/>
                                  </p:stCondLst>
                                  <p:childTnLst>
                                    <p:set>
                                      <p:cBhvr>
                                        <p:cTn id="19" dur="1" fill="hold">
                                          <p:stCondLst>
                                            <p:cond delay="0"/>
                                          </p:stCondLst>
                                        </p:cTn>
                                        <p:tgtEl>
                                          <p:spTgt spid="277"/>
                                        </p:tgtEl>
                                        <p:attrNameLst>
                                          <p:attrName>style.visibility</p:attrName>
                                        </p:attrNameLst>
                                      </p:cBhvr>
                                      <p:to>
                                        <p:strVal val="hidden"/>
                                      </p:to>
                                    </p:set>
                                  </p:childTnLst>
                                </p:cTn>
                              </p:par>
                              <p:par>
                                <p:cTn id="20" presetID="1" presetClass="exit" presetSubtype="0" fill="hold" nodeType="withEffect">
                                  <p:stCondLst>
                                    <p:cond delay="0"/>
                                  </p:stCondLst>
                                  <p:childTnLst>
                                    <p:set>
                                      <p:cBhvr>
                                        <p:cTn id="21" dur="1" fill="hold">
                                          <p:stCondLst>
                                            <p:cond delay="0"/>
                                          </p:stCondLst>
                                        </p:cTn>
                                        <p:tgtEl>
                                          <p:spTgt spid="193"/>
                                        </p:tgtEl>
                                        <p:attrNameLst>
                                          <p:attrName>style.visibility</p:attrName>
                                        </p:attrNameLst>
                                      </p:cBhvr>
                                      <p:to>
                                        <p:strVal val="hidden"/>
                                      </p:to>
                                    </p:set>
                                  </p:childTnLst>
                                </p:cTn>
                              </p:par>
                              <p:par>
                                <p:cTn id="22" presetID="10" presetClass="exit" presetSubtype="0" fill="hold" grpId="1" nodeType="withEffect">
                                  <p:stCondLst>
                                    <p:cond delay="0"/>
                                  </p:stCondLst>
                                  <p:childTnLst>
                                    <p:animEffect transition="out" filter="fade">
                                      <p:cBhvr>
                                        <p:cTn id="23" dur="500"/>
                                        <p:tgtEl>
                                          <p:spTgt spid="192"/>
                                        </p:tgtEl>
                                      </p:cBhvr>
                                    </p:animEffect>
                                    <p:set>
                                      <p:cBhvr>
                                        <p:cTn id="24" dur="1" fill="hold">
                                          <p:stCondLst>
                                            <p:cond delay="499"/>
                                          </p:stCondLst>
                                        </p:cTn>
                                        <p:tgtEl>
                                          <p:spTgt spid="192"/>
                                        </p:tgtEl>
                                        <p:attrNameLst>
                                          <p:attrName>style.visibility</p:attrName>
                                        </p:attrNameLst>
                                      </p:cBhvr>
                                      <p:to>
                                        <p:strVal val="hidden"/>
                                      </p:to>
                                    </p:set>
                                  </p:childTnLst>
                                </p:cTn>
                              </p:par>
                              <p:par>
                                <p:cTn id="25" presetID="1" presetClass="entr" presetSubtype="0" fill="hold" nodeType="withEffect">
                                  <p:stCondLst>
                                    <p:cond delay="0"/>
                                  </p:stCondLst>
                                  <p:childTnLst>
                                    <p:set>
                                      <p:cBhvr>
                                        <p:cTn id="26" dur="1" fill="hold">
                                          <p:stCondLst>
                                            <p:cond delay="0"/>
                                          </p:stCondLst>
                                        </p:cTn>
                                        <p:tgtEl>
                                          <p:spTgt spid="280"/>
                                        </p:tgtEl>
                                        <p:attrNameLst>
                                          <p:attrName>style.visibility</p:attrName>
                                        </p:attrNameLst>
                                      </p:cBhvr>
                                      <p:to>
                                        <p:strVal val="visible"/>
                                      </p:to>
                                    </p:set>
                                  </p:childTnLst>
                                </p:cTn>
                              </p:par>
                            </p:childTnLst>
                          </p:cTn>
                        </p:par>
                        <p:par>
                          <p:cTn id="27" fill="hold">
                            <p:stCondLst>
                              <p:cond delay="500"/>
                            </p:stCondLst>
                            <p:childTnLst>
                              <p:par>
                                <p:cTn id="28" presetID="42" presetClass="path" presetSubtype="0" accel="50000" decel="50000" fill="hold" nodeType="afterEffect">
                                  <p:stCondLst>
                                    <p:cond delay="0"/>
                                  </p:stCondLst>
                                  <p:childTnLst>
                                    <p:animMotion origin="layout" path="M 0 -0.00047 L 0 0.04745 " pathEditMode="relative" rAng="0" ptsTypes="AA">
                                      <p:cBhvr>
                                        <p:cTn id="29" dur="2000" fill="hold"/>
                                        <p:tgtEl>
                                          <p:spTgt spid="280"/>
                                        </p:tgtEl>
                                        <p:attrNameLst>
                                          <p:attrName>ppt_x</p:attrName>
                                          <p:attrName>ppt_y</p:attrName>
                                        </p:attrNameLst>
                                      </p:cBhvr>
                                      <p:rCtr x="0" y="2384"/>
                                    </p:animMotion>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287"/>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196"/>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xit" presetSubtype="0" fill="hold" nodeType="clickEffect">
                                  <p:stCondLst>
                                    <p:cond delay="0"/>
                                  </p:stCondLst>
                                  <p:childTnLst>
                                    <p:set>
                                      <p:cBhvr>
                                        <p:cTn id="39" dur="1" fill="hold">
                                          <p:stCondLst>
                                            <p:cond delay="0"/>
                                          </p:stCondLst>
                                        </p:cTn>
                                        <p:tgtEl>
                                          <p:spTgt spid="280"/>
                                        </p:tgtEl>
                                        <p:attrNameLst>
                                          <p:attrName>style.visibility</p:attrName>
                                        </p:attrNameLst>
                                      </p:cBhvr>
                                      <p:to>
                                        <p:strVal val="hidden"/>
                                      </p:to>
                                    </p:set>
                                  </p:childTnLst>
                                </p:cTn>
                              </p:par>
                              <p:par>
                                <p:cTn id="40" presetID="1" presetClass="exit" presetSubtype="0" fill="hold" nodeType="withEffect">
                                  <p:stCondLst>
                                    <p:cond delay="0"/>
                                  </p:stCondLst>
                                  <p:childTnLst>
                                    <p:set>
                                      <p:cBhvr>
                                        <p:cTn id="41" dur="1" fill="hold">
                                          <p:stCondLst>
                                            <p:cond delay="0"/>
                                          </p:stCondLst>
                                        </p:cTn>
                                        <p:tgtEl>
                                          <p:spTgt spid="287"/>
                                        </p:tgtEl>
                                        <p:attrNameLst>
                                          <p:attrName>style.visibility</p:attrName>
                                        </p:attrNameLst>
                                      </p:cBhvr>
                                      <p:to>
                                        <p:strVal val="hidden"/>
                                      </p:to>
                                    </p:set>
                                  </p:childTnLst>
                                </p:cTn>
                              </p:par>
                              <p:par>
                                <p:cTn id="42" presetID="10" presetClass="exit" presetSubtype="0" fill="hold" grpId="1" nodeType="withEffect">
                                  <p:stCondLst>
                                    <p:cond delay="0"/>
                                  </p:stCondLst>
                                  <p:childTnLst>
                                    <p:animEffect transition="out" filter="fade">
                                      <p:cBhvr>
                                        <p:cTn id="43" dur="500"/>
                                        <p:tgtEl>
                                          <p:spTgt spid="196"/>
                                        </p:tgtEl>
                                      </p:cBhvr>
                                    </p:animEffect>
                                    <p:set>
                                      <p:cBhvr>
                                        <p:cTn id="44" dur="1" fill="hold">
                                          <p:stCondLst>
                                            <p:cond delay="499"/>
                                          </p:stCondLst>
                                        </p:cTn>
                                        <p:tgtEl>
                                          <p:spTgt spid="196"/>
                                        </p:tgtEl>
                                        <p:attrNameLst>
                                          <p:attrName>style.visibility</p:attrName>
                                        </p:attrNameLst>
                                      </p:cBhvr>
                                      <p:to>
                                        <p:strVal val="hidden"/>
                                      </p:to>
                                    </p:set>
                                  </p:childTnLst>
                                </p:cTn>
                              </p:par>
                              <p:par>
                                <p:cTn id="45" presetID="1" presetClass="entr" presetSubtype="0" fill="hold" nodeType="withEffect">
                                  <p:stCondLst>
                                    <p:cond delay="0"/>
                                  </p:stCondLst>
                                  <p:childTnLst>
                                    <p:set>
                                      <p:cBhvr>
                                        <p:cTn id="46" dur="1" fill="hold">
                                          <p:stCondLst>
                                            <p:cond delay="0"/>
                                          </p:stCondLst>
                                        </p:cTn>
                                        <p:tgtEl>
                                          <p:spTgt spid="185"/>
                                        </p:tgtEl>
                                        <p:attrNameLst>
                                          <p:attrName>style.visibility</p:attrName>
                                        </p:attrNameLst>
                                      </p:cBhvr>
                                      <p:to>
                                        <p:strVal val="visible"/>
                                      </p:to>
                                    </p:set>
                                  </p:childTnLst>
                                </p:cTn>
                              </p:par>
                              <p:par>
                                <p:cTn id="47" presetID="42" presetClass="path" presetSubtype="0" accel="50000" decel="50000" fill="hold" nodeType="withEffect">
                                  <p:stCondLst>
                                    <p:cond delay="0"/>
                                  </p:stCondLst>
                                  <p:childTnLst>
                                    <p:animMotion origin="layout" path="M 8.33333E-7 -4.81481E-6 L 8.33333E-7 0.04213 " pathEditMode="relative" rAng="0" ptsTypes="AA">
                                      <p:cBhvr>
                                        <p:cTn id="48" dur="2000" fill="hold"/>
                                        <p:tgtEl>
                                          <p:spTgt spid="185"/>
                                        </p:tgtEl>
                                        <p:attrNameLst>
                                          <p:attrName>ppt_x</p:attrName>
                                          <p:attrName>ppt_y</p:attrName>
                                        </p:attrNameLst>
                                      </p:cBhvr>
                                      <p:rCtr x="0" y="2106"/>
                                    </p:animMotion>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265"/>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290"/>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xit" presetSubtype="0" fill="hold" nodeType="clickEffect">
                                  <p:stCondLst>
                                    <p:cond delay="0"/>
                                  </p:stCondLst>
                                  <p:childTnLst>
                                    <p:set>
                                      <p:cBhvr>
                                        <p:cTn id="58" dur="1" fill="hold">
                                          <p:stCondLst>
                                            <p:cond delay="0"/>
                                          </p:stCondLst>
                                        </p:cTn>
                                        <p:tgtEl>
                                          <p:spTgt spid="185"/>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290"/>
                                        </p:tgtEl>
                                      </p:cBhvr>
                                    </p:animEffect>
                                    <p:set>
                                      <p:cBhvr>
                                        <p:cTn id="61" dur="1" fill="hold">
                                          <p:stCondLst>
                                            <p:cond delay="499"/>
                                          </p:stCondLst>
                                        </p:cTn>
                                        <p:tgtEl>
                                          <p:spTgt spid="290"/>
                                        </p:tgtEl>
                                        <p:attrNameLst>
                                          <p:attrName>style.visibility</p:attrName>
                                        </p:attrNameLst>
                                      </p:cBhvr>
                                      <p:to>
                                        <p:strVal val="hidden"/>
                                      </p:to>
                                    </p:set>
                                  </p:childTnLst>
                                </p:cTn>
                              </p:par>
                            </p:childTnLst>
                          </p:cTn>
                        </p:par>
                        <p:par>
                          <p:cTn id="62" fill="hold">
                            <p:stCondLst>
                              <p:cond delay="500"/>
                            </p:stCondLst>
                            <p:childTnLst>
                              <p:par>
                                <p:cTn id="63" presetID="0" presetClass="path" presetSubtype="0" accel="50000" decel="50000" fill="hold" nodeType="afterEffect">
                                  <p:stCondLst>
                                    <p:cond delay="0"/>
                                  </p:stCondLst>
                                  <p:childTnLst>
                                    <p:animMotion origin="layout" path="M -2.08333E-7 -1.85185E-6 C 0.00052 0.04653 -0.00013 0.07292 -0.00013 0.11273 L 0.29818 0.11158 L 0.29818 0.07315 L 0.58698 0.07084 C 0.58763 0.22384 0.58893 0.36829 0.59154 0.52292 L 0.49622 0.51852 C 0.49622 0.49144 0.49492 0.45185 0.49492 0.42454 " pathEditMode="relative" rAng="0" ptsTypes="AAAAAAAA">
                                      <p:cBhvr>
                                        <p:cTn id="64" dur="3000" fill="hold"/>
                                        <p:tgtEl>
                                          <p:spTgt spid="265"/>
                                        </p:tgtEl>
                                        <p:attrNameLst>
                                          <p:attrName>ppt_x</p:attrName>
                                          <p:attrName>ppt_y</p:attrName>
                                        </p:attrNameLst>
                                      </p:cBhvr>
                                      <p:rCtr x="29570" y="26134"/>
                                    </p:animMotion>
                                  </p:childTnLst>
                                </p:cTn>
                              </p:par>
                            </p:childTnLst>
                          </p:cTn>
                        </p:par>
                      </p:childTnLst>
                    </p:cTn>
                  </p:par>
                  <p:par>
                    <p:cTn id="65" fill="hold">
                      <p:stCondLst>
                        <p:cond delay="indefinite"/>
                      </p:stCondLst>
                      <p:childTnLst>
                        <p:par>
                          <p:cTn id="66" fill="hold">
                            <p:stCondLst>
                              <p:cond delay="0"/>
                            </p:stCondLst>
                            <p:childTnLst>
                              <p:par>
                                <p:cTn id="67" presetID="1" presetClass="exit" presetSubtype="0" fill="hold" nodeType="clickEffect">
                                  <p:stCondLst>
                                    <p:cond delay="0"/>
                                  </p:stCondLst>
                                  <p:childTnLst>
                                    <p:set>
                                      <p:cBhvr>
                                        <p:cTn id="68" dur="1" fill="hold">
                                          <p:stCondLst>
                                            <p:cond delay="0"/>
                                          </p:stCondLst>
                                        </p:cTn>
                                        <p:tgtEl>
                                          <p:spTgt spid="265"/>
                                        </p:tgtEl>
                                        <p:attrNameLst>
                                          <p:attrName>style.visibility</p:attrName>
                                        </p:attrNameLst>
                                      </p:cBhvr>
                                      <p:to>
                                        <p:strVal val="hidden"/>
                                      </p:to>
                                    </p:set>
                                  </p:childTnLst>
                                </p:cTn>
                              </p:par>
                              <p:par>
                                <p:cTn id="69" presetID="1" presetClass="entr" presetSubtype="0" fill="hold" nodeType="withEffect">
                                  <p:stCondLst>
                                    <p:cond delay="0"/>
                                  </p:stCondLst>
                                  <p:childTnLst>
                                    <p:set>
                                      <p:cBhvr>
                                        <p:cTn id="70" dur="1" fill="hold">
                                          <p:stCondLst>
                                            <p:cond delay="0"/>
                                          </p:stCondLst>
                                        </p:cTn>
                                        <p:tgtEl>
                                          <p:spTgt spid="258"/>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64" presetClass="path" presetSubtype="0" accel="50000" decel="50000" fill="hold" nodeType="clickEffect">
                                  <p:stCondLst>
                                    <p:cond delay="0"/>
                                  </p:stCondLst>
                                  <p:childTnLst>
                                    <p:animMotion origin="layout" path="M -3.125E-6 2.96296E-6 L -0.00078 -0.04931 " pathEditMode="relative" rAng="0" ptsTypes="AA">
                                      <p:cBhvr>
                                        <p:cTn id="74" dur="2000" fill="hold"/>
                                        <p:tgtEl>
                                          <p:spTgt spid="258"/>
                                        </p:tgtEl>
                                        <p:attrNameLst>
                                          <p:attrName>ppt_x</p:attrName>
                                          <p:attrName>ppt_y</p:attrName>
                                        </p:attrNameLst>
                                      </p:cBhvr>
                                      <p:rCtr x="-39" y="-2477"/>
                                    </p:animMotion>
                                  </p:childTnLst>
                                  <p:subTnLst>
                                    <p:set>
                                      <p:cBhvr override="childStyle">
                                        <p:cTn dur="1" fill="hold" display="0" masterRel="nextClick" afterEffect="1"/>
                                        <p:tgtEl>
                                          <p:spTgt spid="258"/>
                                        </p:tgtEl>
                                        <p:attrNameLst>
                                          <p:attrName>style.visibility</p:attrName>
                                        </p:attrNameLst>
                                      </p:cBhvr>
                                      <p:to>
                                        <p:strVal val="hidden"/>
                                      </p:to>
                                    </p:set>
                                  </p:subTnLst>
                                </p:cTn>
                              </p:par>
                            </p:childTnLst>
                          </p:cTn>
                        </p:par>
                      </p:childTnLst>
                    </p:cTn>
                  </p:par>
                  <p:par>
                    <p:cTn id="75" fill="hold">
                      <p:stCondLst>
                        <p:cond delay="indefinite"/>
                      </p:stCondLst>
                      <p:childTnLst>
                        <p:par>
                          <p:cTn id="76" fill="hold">
                            <p:stCondLst>
                              <p:cond delay="0"/>
                            </p:stCondLst>
                            <p:childTnLst>
                              <p:par>
                                <p:cTn id="77" presetID="10" presetClass="entr" presetSubtype="0" fill="hold" nodeType="clickEffect">
                                  <p:stCondLst>
                                    <p:cond delay="0"/>
                                  </p:stCondLst>
                                  <p:childTnLst>
                                    <p:set>
                                      <p:cBhvr>
                                        <p:cTn id="78" dur="1" fill="hold">
                                          <p:stCondLst>
                                            <p:cond delay="0"/>
                                          </p:stCondLst>
                                        </p:cTn>
                                        <p:tgtEl>
                                          <p:spTgt spid="251"/>
                                        </p:tgtEl>
                                        <p:attrNameLst>
                                          <p:attrName>style.visibility</p:attrName>
                                        </p:attrNameLst>
                                      </p:cBhvr>
                                      <p:to>
                                        <p:strVal val="visible"/>
                                      </p:to>
                                    </p:set>
                                    <p:animEffect transition="in" filter="fade">
                                      <p:cBhvr>
                                        <p:cTn id="79" dur="500"/>
                                        <p:tgtEl>
                                          <p:spTgt spid="251"/>
                                        </p:tgtEl>
                                      </p:cBhvr>
                                    </p:animEffect>
                                  </p:childTnLst>
                                  <p:subTnLst>
                                    <p:set>
                                      <p:cBhvr override="childStyle">
                                        <p:cTn dur="1" fill="hold" display="0" masterRel="nextClick" afterEffect="1"/>
                                        <p:tgtEl>
                                          <p:spTgt spid="251"/>
                                        </p:tgtEl>
                                        <p:attrNameLst>
                                          <p:attrName>style.visibility</p:attrName>
                                        </p:attrNameLst>
                                      </p:cBhvr>
                                      <p:to>
                                        <p:strVal val="hidden"/>
                                      </p:to>
                                    </p:set>
                                  </p:subTnLst>
                                </p:cTn>
                              </p:par>
                            </p:childTnLst>
                          </p:cTn>
                        </p:par>
                      </p:childTnLst>
                    </p:cTn>
                  </p:par>
                  <p:par>
                    <p:cTn id="80" fill="hold">
                      <p:stCondLst>
                        <p:cond delay="indefinite"/>
                      </p:stCondLst>
                      <p:childTnLst>
                        <p:par>
                          <p:cTn id="81" fill="hold">
                            <p:stCondLst>
                              <p:cond delay="0"/>
                            </p:stCondLst>
                            <p:childTnLst>
                              <p:par>
                                <p:cTn id="82" presetID="10" presetClass="entr" presetSubtype="0" fill="hold" nodeType="clickEffect">
                                  <p:stCondLst>
                                    <p:cond delay="0"/>
                                  </p:stCondLst>
                                  <p:childTnLst>
                                    <p:set>
                                      <p:cBhvr>
                                        <p:cTn id="83" dur="1" fill="hold">
                                          <p:stCondLst>
                                            <p:cond delay="0"/>
                                          </p:stCondLst>
                                        </p:cTn>
                                        <p:tgtEl>
                                          <p:spTgt spid="242"/>
                                        </p:tgtEl>
                                        <p:attrNameLst>
                                          <p:attrName>style.visibility</p:attrName>
                                        </p:attrNameLst>
                                      </p:cBhvr>
                                      <p:to>
                                        <p:strVal val="visible"/>
                                      </p:to>
                                    </p:set>
                                    <p:animEffect transition="in" filter="fade">
                                      <p:cBhvr>
                                        <p:cTn id="84" dur="500"/>
                                        <p:tgtEl>
                                          <p:spTgt spid="242"/>
                                        </p:tgtEl>
                                      </p:cBhvr>
                                    </p:animEffect>
                                  </p:childTnLst>
                                  <p:subTnLst>
                                    <p:set>
                                      <p:cBhvr override="childStyle">
                                        <p:cTn dur="1" fill="hold" display="0" masterRel="nextClick" afterEffect="1"/>
                                        <p:tgtEl>
                                          <p:spTgt spid="242"/>
                                        </p:tgtEl>
                                        <p:attrNameLst>
                                          <p:attrName>style.visibility</p:attrName>
                                        </p:attrNameLst>
                                      </p:cBhvr>
                                      <p:to>
                                        <p:strVal val="hidden"/>
                                      </p:to>
                                    </p:set>
                                  </p:sub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206"/>
                                        </p:tgtEl>
                                        <p:attrNameLst>
                                          <p:attrName>style.visibility</p:attrName>
                                        </p:attrNameLst>
                                      </p:cBhvr>
                                      <p:to>
                                        <p:strVal val="visible"/>
                                      </p:to>
                                    </p:set>
                                    <p:animEffect transition="in" filter="fade">
                                      <p:cBhvr>
                                        <p:cTn id="89" dur="500"/>
                                        <p:tgtEl>
                                          <p:spTgt spid="206"/>
                                        </p:tgtEl>
                                      </p:cBhvr>
                                    </p:animEffec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90" fill="hold">
                      <p:stCondLst>
                        <p:cond delay="indefinite"/>
                      </p:stCondLst>
                      <p:childTnLst>
                        <p:par>
                          <p:cTn id="91" fill="hold">
                            <p:stCondLst>
                              <p:cond delay="0"/>
                            </p:stCondLst>
                            <p:childTnLst>
                              <p:par>
                                <p:cTn id="92" presetID="10" presetClass="entr" presetSubtype="0" fill="hold" nodeType="clickEffect">
                                  <p:stCondLst>
                                    <p:cond delay="0"/>
                                  </p:stCondLst>
                                  <p:childTnLst>
                                    <p:set>
                                      <p:cBhvr>
                                        <p:cTn id="93" dur="1" fill="hold">
                                          <p:stCondLst>
                                            <p:cond delay="0"/>
                                          </p:stCondLst>
                                        </p:cTn>
                                        <p:tgtEl>
                                          <p:spTgt spid="215"/>
                                        </p:tgtEl>
                                        <p:attrNameLst>
                                          <p:attrName>style.visibility</p:attrName>
                                        </p:attrNameLst>
                                      </p:cBhvr>
                                      <p:to>
                                        <p:strVal val="visible"/>
                                      </p:to>
                                    </p:set>
                                    <p:animEffect transition="in" filter="fade">
                                      <p:cBhvr>
                                        <p:cTn id="94" dur="500"/>
                                        <p:tgtEl>
                                          <p:spTgt spid="215"/>
                                        </p:tgtEl>
                                      </p:cBhvr>
                                    </p:animEffect>
                                  </p:childTnLst>
                                  <p:subTnLst>
                                    <p:set>
                                      <p:cBhvr override="childStyle">
                                        <p:cTn dur="1" fill="hold" display="0" masterRel="nextClick" afterEffect="1"/>
                                        <p:tgtEl>
                                          <p:spTgt spid="215"/>
                                        </p:tgtEl>
                                        <p:attrNameLst>
                                          <p:attrName>style.visibility</p:attrName>
                                        </p:attrNameLst>
                                      </p:cBhvr>
                                      <p:to>
                                        <p:strVal val="hidden"/>
                                      </p:to>
                                    </p:set>
                                  </p:subTnLst>
                                </p:cTn>
                              </p:par>
                            </p:childTnLst>
                          </p:cTn>
                        </p:par>
                      </p:childTnLst>
                    </p:cTn>
                  </p:par>
                  <p:par>
                    <p:cTn id="95" fill="hold">
                      <p:stCondLst>
                        <p:cond delay="indefinite"/>
                      </p:stCondLst>
                      <p:childTnLst>
                        <p:par>
                          <p:cTn id="96" fill="hold">
                            <p:stCondLst>
                              <p:cond delay="0"/>
                            </p:stCondLst>
                            <p:childTnLst>
                              <p:par>
                                <p:cTn id="97" presetID="10" presetClass="entr" presetSubtype="0" fill="hold" nodeType="clickEffect">
                                  <p:stCondLst>
                                    <p:cond delay="0"/>
                                  </p:stCondLst>
                                  <p:childTnLst>
                                    <p:set>
                                      <p:cBhvr>
                                        <p:cTn id="98" dur="1" fill="hold">
                                          <p:stCondLst>
                                            <p:cond delay="0"/>
                                          </p:stCondLst>
                                        </p:cTn>
                                        <p:tgtEl>
                                          <p:spTgt spid="222"/>
                                        </p:tgtEl>
                                        <p:attrNameLst>
                                          <p:attrName>style.visibility</p:attrName>
                                        </p:attrNameLst>
                                      </p:cBhvr>
                                      <p:to>
                                        <p:strVal val="visible"/>
                                      </p:to>
                                    </p:set>
                                    <p:animEffect transition="in" filter="fade">
                                      <p:cBhvr>
                                        <p:cTn id="99" dur="500"/>
                                        <p:tgtEl>
                                          <p:spTgt spid="222"/>
                                        </p:tgtEl>
                                      </p:cBhvr>
                                    </p:animEffect>
                                  </p:childTnLst>
                                  <p:subTnLst>
                                    <p:set>
                                      <p:cBhvr override="childStyle">
                                        <p:cTn dur="1" fill="hold" display="0" masterRel="nextClick" afterEffect="1"/>
                                        <p:tgtEl>
                                          <p:spTgt spid="222"/>
                                        </p:tgtEl>
                                        <p:attrNameLst>
                                          <p:attrName>style.visibility</p:attrName>
                                        </p:attrNameLst>
                                      </p:cBhvr>
                                      <p:to>
                                        <p:strVal val="hidden"/>
                                      </p:to>
                                    </p:set>
                                  </p:sub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nodeType="clickEffect">
                                  <p:stCondLst>
                                    <p:cond delay="0"/>
                                  </p:stCondLst>
                                  <p:childTnLst>
                                    <p:set>
                                      <p:cBhvr>
                                        <p:cTn id="103" dur="1" fill="hold">
                                          <p:stCondLst>
                                            <p:cond delay="0"/>
                                          </p:stCondLst>
                                        </p:cTn>
                                        <p:tgtEl>
                                          <p:spTgt spid="227"/>
                                        </p:tgtEl>
                                        <p:attrNameLst>
                                          <p:attrName>style.visibility</p:attrName>
                                        </p:attrNameLst>
                                      </p:cBhvr>
                                      <p:to>
                                        <p:strVal val="visible"/>
                                      </p:to>
                                    </p:set>
                                    <p:animEffect transition="in" filter="fade">
                                      <p:cBhvr>
                                        <p:cTn id="104" dur="500"/>
                                        <p:tgtEl>
                                          <p:spTgt spid="2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2" grpId="0"/>
      <p:bldP spid="192" grpId="1"/>
      <p:bldP spid="196" grpId="0"/>
      <p:bldP spid="196" grpId="1"/>
      <p:bldP spid="276" grpId="0"/>
      <p:bldP spid="290" grpId="0"/>
      <p:bldP spid="290" grpId="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Line 38">
            <a:extLst>
              <a:ext uri="{FF2B5EF4-FFF2-40B4-BE49-F238E27FC236}">
                <a16:creationId xmlns:a16="http://schemas.microsoft.com/office/drawing/2014/main" id="{54E266FC-2C53-E845-810D-72800D812F60}"/>
              </a:ext>
            </a:extLst>
          </p:cNvPr>
          <p:cNvSpPr>
            <a:spLocks noChangeShapeType="1"/>
          </p:cNvSpPr>
          <p:nvPr/>
        </p:nvSpPr>
        <p:spPr bwMode="auto">
          <a:xfrm>
            <a:off x="2831406" y="5366286"/>
            <a:ext cx="469144" cy="3154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105">
            <a:extLst>
              <a:ext uri="{FF2B5EF4-FFF2-40B4-BE49-F238E27FC236}">
                <a16:creationId xmlns:a16="http://schemas.microsoft.com/office/drawing/2014/main" id="{BF1773B1-5019-2B4A-BE6A-B8195D8981B9}"/>
              </a:ext>
            </a:extLst>
          </p:cNvPr>
          <p:cNvSpPr>
            <a:spLocks noChangeShapeType="1"/>
          </p:cNvSpPr>
          <p:nvPr/>
        </p:nvSpPr>
        <p:spPr bwMode="auto">
          <a:xfrm flipV="1">
            <a:off x="3691311" y="5467468"/>
            <a:ext cx="639909"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1" name="Group 180">
            <a:extLst>
              <a:ext uri="{FF2B5EF4-FFF2-40B4-BE49-F238E27FC236}">
                <a16:creationId xmlns:a16="http://schemas.microsoft.com/office/drawing/2014/main" id="{349EA779-C782-D646-A376-27962D2DE8E5}"/>
              </a:ext>
            </a:extLst>
          </p:cNvPr>
          <p:cNvGrpSpPr/>
          <p:nvPr/>
        </p:nvGrpSpPr>
        <p:grpSpPr>
          <a:xfrm>
            <a:off x="3109054" y="5514269"/>
            <a:ext cx="860625" cy="398511"/>
            <a:chOff x="7493876" y="2774731"/>
            <a:chExt cx="1481958" cy="894622"/>
          </a:xfrm>
        </p:grpSpPr>
        <p:sp>
          <p:nvSpPr>
            <p:cNvPr id="182" name="Freeform 181">
              <a:extLst>
                <a:ext uri="{FF2B5EF4-FFF2-40B4-BE49-F238E27FC236}">
                  <a16:creationId xmlns:a16="http://schemas.microsoft.com/office/drawing/2014/main" id="{051DA911-6679-5545-AC55-97B68D0A590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3" name="Oval 182">
              <a:extLst>
                <a:ext uri="{FF2B5EF4-FFF2-40B4-BE49-F238E27FC236}">
                  <a16:creationId xmlns:a16="http://schemas.microsoft.com/office/drawing/2014/main" id="{1B387723-AD5A-6B40-86DC-4E06378B6C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4" name="Group 183">
              <a:extLst>
                <a:ext uri="{FF2B5EF4-FFF2-40B4-BE49-F238E27FC236}">
                  <a16:creationId xmlns:a16="http://schemas.microsoft.com/office/drawing/2014/main" id="{EAEAA504-561F-934C-865A-D764D9D4B585}"/>
                </a:ext>
              </a:extLst>
            </p:cNvPr>
            <p:cNvGrpSpPr/>
            <p:nvPr/>
          </p:nvGrpSpPr>
          <p:grpSpPr>
            <a:xfrm>
              <a:off x="7713663" y="2848339"/>
              <a:ext cx="1042107" cy="425543"/>
              <a:chOff x="7786941" y="2884917"/>
              <a:chExt cx="897649" cy="353919"/>
            </a:xfrm>
          </p:grpSpPr>
          <p:sp>
            <p:nvSpPr>
              <p:cNvPr id="185" name="Freeform 184">
                <a:extLst>
                  <a:ext uri="{FF2B5EF4-FFF2-40B4-BE49-F238E27FC236}">
                    <a16:creationId xmlns:a16="http://schemas.microsoft.com/office/drawing/2014/main" id="{B39429AE-64BE-C648-B108-3B471FFD1A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6" name="Freeform 185">
                <a:extLst>
                  <a:ext uri="{FF2B5EF4-FFF2-40B4-BE49-F238E27FC236}">
                    <a16:creationId xmlns:a16="http://schemas.microsoft.com/office/drawing/2014/main" id="{109B151A-13E2-DE44-ACE5-AC68DBD136E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7" name="Freeform 186">
                <a:extLst>
                  <a:ext uri="{FF2B5EF4-FFF2-40B4-BE49-F238E27FC236}">
                    <a16:creationId xmlns:a16="http://schemas.microsoft.com/office/drawing/2014/main" id="{EF70FD4D-FD10-ED44-BB61-DD85162EEA3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8" name="Freeform 187">
                <a:extLst>
                  <a:ext uri="{FF2B5EF4-FFF2-40B4-BE49-F238E27FC236}">
                    <a16:creationId xmlns:a16="http://schemas.microsoft.com/office/drawing/2014/main" id="{F03C20EC-4A97-134D-9A10-FFE3DDFF03F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0" name="Line 106">
            <a:extLst>
              <a:ext uri="{FF2B5EF4-FFF2-40B4-BE49-F238E27FC236}">
                <a16:creationId xmlns:a16="http://schemas.microsoft.com/office/drawing/2014/main" id="{254FEBFF-881B-E94A-B5B4-5A077C547A5D}"/>
              </a:ext>
            </a:extLst>
          </p:cNvPr>
          <p:cNvSpPr>
            <a:spLocks noChangeShapeType="1"/>
          </p:cNvSpPr>
          <p:nvPr/>
        </p:nvSpPr>
        <p:spPr bwMode="auto">
          <a:xfrm>
            <a:off x="4626350" y="5451593"/>
            <a:ext cx="677550"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108">
            <a:extLst>
              <a:ext uri="{FF2B5EF4-FFF2-40B4-BE49-F238E27FC236}">
                <a16:creationId xmlns:a16="http://schemas.microsoft.com/office/drawing/2014/main" id="{524659AB-C458-864A-B318-E8190017E7B8}"/>
              </a:ext>
            </a:extLst>
          </p:cNvPr>
          <p:cNvSpPr>
            <a:spLocks noChangeShapeType="1"/>
          </p:cNvSpPr>
          <p:nvPr/>
        </p:nvSpPr>
        <p:spPr bwMode="auto">
          <a:xfrm flipH="1">
            <a:off x="4388223" y="5062655"/>
            <a:ext cx="661222" cy="2730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291">
            <a:extLst>
              <a:ext uri="{FF2B5EF4-FFF2-40B4-BE49-F238E27FC236}">
                <a16:creationId xmlns:a16="http://schemas.microsoft.com/office/drawing/2014/main" id="{EB8F889A-4D2D-1B4E-8BFD-EC217EFF65EB}"/>
              </a:ext>
            </a:extLst>
          </p:cNvPr>
          <p:cNvSpPr>
            <a:spLocks noChangeShapeType="1"/>
          </p:cNvSpPr>
          <p:nvPr/>
        </p:nvSpPr>
        <p:spPr bwMode="auto">
          <a:xfrm>
            <a:off x="4356474" y="5583355"/>
            <a:ext cx="318847" cy="3111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2" name="Group 171">
            <a:extLst>
              <a:ext uri="{FF2B5EF4-FFF2-40B4-BE49-F238E27FC236}">
                <a16:creationId xmlns:a16="http://schemas.microsoft.com/office/drawing/2014/main" id="{DA77B42D-EF91-9343-B8AA-7F791CA6173D}"/>
              </a:ext>
            </a:extLst>
          </p:cNvPr>
          <p:cNvGrpSpPr/>
          <p:nvPr/>
        </p:nvGrpSpPr>
        <p:grpSpPr>
          <a:xfrm>
            <a:off x="3957067" y="5203592"/>
            <a:ext cx="860625" cy="398511"/>
            <a:chOff x="7493876" y="2774731"/>
            <a:chExt cx="1481958" cy="894622"/>
          </a:xfrm>
        </p:grpSpPr>
        <p:sp>
          <p:nvSpPr>
            <p:cNvPr id="173" name="Freeform 172">
              <a:extLst>
                <a:ext uri="{FF2B5EF4-FFF2-40B4-BE49-F238E27FC236}">
                  <a16:creationId xmlns:a16="http://schemas.microsoft.com/office/drawing/2014/main" id="{717B3640-CBA8-9D4D-B10E-118D837582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4" name="Oval 173">
              <a:extLst>
                <a:ext uri="{FF2B5EF4-FFF2-40B4-BE49-F238E27FC236}">
                  <a16:creationId xmlns:a16="http://schemas.microsoft.com/office/drawing/2014/main" id="{3DF87D0C-16B9-0242-9434-F058BACF6AF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5" name="Group 174">
              <a:extLst>
                <a:ext uri="{FF2B5EF4-FFF2-40B4-BE49-F238E27FC236}">
                  <a16:creationId xmlns:a16="http://schemas.microsoft.com/office/drawing/2014/main" id="{875F2C4B-EC99-0546-B8BC-E6ABDA1C57CF}"/>
                </a:ext>
              </a:extLst>
            </p:cNvPr>
            <p:cNvGrpSpPr/>
            <p:nvPr/>
          </p:nvGrpSpPr>
          <p:grpSpPr>
            <a:xfrm>
              <a:off x="7713663" y="2848339"/>
              <a:ext cx="1042107" cy="425543"/>
              <a:chOff x="7786941" y="2884917"/>
              <a:chExt cx="897649" cy="353919"/>
            </a:xfrm>
          </p:grpSpPr>
          <p:sp>
            <p:nvSpPr>
              <p:cNvPr id="176" name="Freeform 175">
                <a:extLst>
                  <a:ext uri="{FF2B5EF4-FFF2-40B4-BE49-F238E27FC236}">
                    <a16:creationId xmlns:a16="http://schemas.microsoft.com/office/drawing/2014/main" id="{7AB43264-5575-584F-8FE6-D1C2C13E1C3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Freeform 176">
                <a:extLst>
                  <a:ext uri="{FF2B5EF4-FFF2-40B4-BE49-F238E27FC236}">
                    <a16:creationId xmlns:a16="http://schemas.microsoft.com/office/drawing/2014/main" id="{99D8A414-A25C-5C43-9BC9-95C40A420E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Freeform 177">
                <a:extLst>
                  <a:ext uri="{FF2B5EF4-FFF2-40B4-BE49-F238E27FC236}">
                    <a16:creationId xmlns:a16="http://schemas.microsoft.com/office/drawing/2014/main" id="{B398E537-2A8D-B343-AFFC-0C206FB72B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Freeform 178">
                <a:extLst>
                  <a:ext uri="{FF2B5EF4-FFF2-40B4-BE49-F238E27FC236}">
                    <a16:creationId xmlns:a16="http://schemas.microsoft.com/office/drawing/2014/main" id="{8F5B5F4D-A081-8041-8446-B98FF77714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2" name="Line 113">
            <a:extLst>
              <a:ext uri="{FF2B5EF4-FFF2-40B4-BE49-F238E27FC236}">
                <a16:creationId xmlns:a16="http://schemas.microsoft.com/office/drawing/2014/main" id="{EEC03E85-460E-344B-B658-EA55A9271333}"/>
              </a:ext>
            </a:extLst>
          </p:cNvPr>
          <p:cNvSpPr>
            <a:spLocks noChangeShapeType="1"/>
          </p:cNvSpPr>
          <p:nvPr/>
        </p:nvSpPr>
        <p:spPr bwMode="auto">
          <a:xfrm flipH="1">
            <a:off x="5602660" y="5511918"/>
            <a:ext cx="865759" cy="1444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94">
            <a:extLst>
              <a:ext uri="{FF2B5EF4-FFF2-40B4-BE49-F238E27FC236}">
                <a16:creationId xmlns:a16="http://schemas.microsoft.com/office/drawing/2014/main" id="{6AFF4B42-51C0-8447-92BB-FCA57D50B68A}"/>
              </a:ext>
            </a:extLst>
          </p:cNvPr>
          <p:cNvSpPr>
            <a:spLocks noChangeShapeType="1"/>
          </p:cNvSpPr>
          <p:nvPr/>
        </p:nvSpPr>
        <p:spPr bwMode="auto">
          <a:xfrm flipH="1">
            <a:off x="4997823" y="5773855"/>
            <a:ext cx="487128" cy="1524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64" name="Group 163">
            <a:extLst>
              <a:ext uri="{FF2B5EF4-FFF2-40B4-BE49-F238E27FC236}">
                <a16:creationId xmlns:a16="http://schemas.microsoft.com/office/drawing/2014/main" id="{CEAC493A-EEEF-7C4F-AA98-1801621812D4}"/>
              </a:ext>
            </a:extLst>
          </p:cNvPr>
          <p:cNvGrpSpPr/>
          <p:nvPr/>
        </p:nvGrpSpPr>
        <p:grpSpPr>
          <a:xfrm>
            <a:off x="4985387" y="5543879"/>
            <a:ext cx="860625" cy="398511"/>
            <a:chOff x="7493876" y="2774731"/>
            <a:chExt cx="1481958" cy="894622"/>
          </a:xfrm>
        </p:grpSpPr>
        <p:sp>
          <p:nvSpPr>
            <p:cNvPr id="165" name="Freeform 164">
              <a:extLst>
                <a:ext uri="{FF2B5EF4-FFF2-40B4-BE49-F238E27FC236}">
                  <a16:creationId xmlns:a16="http://schemas.microsoft.com/office/drawing/2014/main" id="{7C772A01-ED51-DF4C-9654-6B6278386C2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6" name="Oval 165">
              <a:extLst>
                <a:ext uri="{FF2B5EF4-FFF2-40B4-BE49-F238E27FC236}">
                  <a16:creationId xmlns:a16="http://schemas.microsoft.com/office/drawing/2014/main" id="{B003DFE7-C366-8140-9629-CD63DF215ED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7" name="Group 166">
              <a:extLst>
                <a:ext uri="{FF2B5EF4-FFF2-40B4-BE49-F238E27FC236}">
                  <a16:creationId xmlns:a16="http://schemas.microsoft.com/office/drawing/2014/main" id="{5F84292C-45D7-D245-AF05-1049328026B3}"/>
                </a:ext>
              </a:extLst>
            </p:cNvPr>
            <p:cNvGrpSpPr/>
            <p:nvPr/>
          </p:nvGrpSpPr>
          <p:grpSpPr>
            <a:xfrm>
              <a:off x="7713663" y="2848339"/>
              <a:ext cx="1042107" cy="425543"/>
              <a:chOff x="7786941" y="2884917"/>
              <a:chExt cx="897649" cy="353919"/>
            </a:xfrm>
          </p:grpSpPr>
          <p:sp>
            <p:nvSpPr>
              <p:cNvPr id="168" name="Freeform 167">
                <a:extLst>
                  <a:ext uri="{FF2B5EF4-FFF2-40B4-BE49-F238E27FC236}">
                    <a16:creationId xmlns:a16="http://schemas.microsoft.com/office/drawing/2014/main" id="{672ECA71-4ED1-A742-8D27-C7DD78E812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AB422B19-1B67-F744-AB96-3C00EBB25F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0" name="Freeform 169">
                <a:extLst>
                  <a:ext uri="{FF2B5EF4-FFF2-40B4-BE49-F238E27FC236}">
                    <a16:creationId xmlns:a16="http://schemas.microsoft.com/office/drawing/2014/main" id="{64DBC56A-851B-1045-8E18-0E1AE5828A8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1" name="Freeform 170">
                <a:extLst>
                  <a:ext uri="{FF2B5EF4-FFF2-40B4-BE49-F238E27FC236}">
                    <a16:creationId xmlns:a16="http://schemas.microsoft.com/office/drawing/2014/main" id="{687D1E8F-A9D2-414E-B37C-C2A41CFCDB2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sz="4400" dirty="0">
                <a:ea typeface="ＭＳ Ｐゴシック" panose="020B0600070205080204" pitchFamily="34" charset="-128"/>
              </a:rPr>
              <a:t>“Real” Internet delays and routes</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980180" y="1324511"/>
            <a:ext cx="10342830" cy="188539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do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 Internet delay &amp; loss look like? </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1"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traceroute</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 provides delay measurement from source to router along end-end Internet path towards destination.  For all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a:t>
            </a:r>
          </a:p>
        </p:txBody>
      </p:sp>
      <p:sp>
        <p:nvSpPr>
          <p:cNvPr id="23" name="Line 260">
            <a:extLst>
              <a:ext uri="{FF2B5EF4-FFF2-40B4-BE49-F238E27FC236}">
                <a16:creationId xmlns:a16="http://schemas.microsoft.com/office/drawing/2014/main" id="{146ED7EC-5957-5A4D-8C10-71CB9EFF9CF6}"/>
              </a:ext>
            </a:extLst>
          </p:cNvPr>
          <p:cNvSpPr>
            <a:spLocks noChangeShapeType="1"/>
          </p:cNvSpPr>
          <p:nvPr/>
        </p:nvSpPr>
        <p:spPr bwMode="auto">
          <a:xfrm>
            <a:off x="6721850" y="5476993"/>
            <a:ext cx="677550"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261">
            <a:extLst>
              <a:ext uri="{FF2B5EF4-FFF2-40B4-BE49-F238E27FC236}">
                <a16:creationId xmlns:a16="http://schemas.microsoft.com/office/drawing/2014/main" id="{7F082344-D846-A442-8098-3870FBC04E2E}"/>
              </a:ext>
            </a:extLst>
          </p:cNvPr>
          <p:cNvSpPr>
            <a:spLocks noChangeShapeType="1"/>
          </p:cNvSpPr>
          <p:nvPr/>
        </p:nvSpPr>
        <p:spPr bwMode="auto">
          <a:xfrm flipH="1">
            <a:off x="7660060" y="5423018"/>
            <a:ext cx="777191" cy="27781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92">
            <a:extLst>
              <a:ext uri="{FF2B5EF4-FFF2-40B4-BE49-F238E27FC236}">
                <a16:creationId xmlns:a16="http://schemas.microsoft.com/office/drawing/2014/main" id="{F2A2632A-A659-1B45-9C0A-17E3A7312946}"/>
              </a:ext>
            </a:extLst>
          </p:cNvPr>
          <p:cNvSpPr>
            <a:spLocks noChangeShapeType="1"/>
          </p:cNvSpPr>
          <p:nvPr/>
        </p:nvSpPr>
        <p:spPr bwMode="auto">
          <a:xfrm>
            <a:off x="6280524" y="5170605"/>
            <a:ext cx="318847" cy="3111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95">
            <a:extLst>
              <a:ext uri="{FF2B5EF4-FFF2-40B4-BE49-F238E27FC236}">
                <a16:creationId xmlns:a16="http://schemas.microsoft.com/office/drawing/2014/main" id="{69CE8977-5EAF-2D48-AB87-ABB232029696}"/>
              </a:ext>
            </a:extLst>
          </p:cNvPr>
          <p:cNvSpPr>
            <a:spLocks noChangeShapeType="1"/>
          </p:cNvSpPr>
          <p:nvPr/>
        </p:nvSpPr>
        <p:spPr bwMode="auto">
          <a:xfrm>
            <a:off x="5394926" y="5277473"/>
            <a:ext cx="8857" cy="2603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Text Box 300">
            <a:extLst>
              <a:ext uri="{FF2B5EF4-FFF2-40B4-BE49-F238E27FC236}">
                <a16:creationId xmlns:a16="http://schemas.microsoft.com/office/drawing/2014/main" id="{A650D718-81E6-C34A-AA06-669C83840015}"/>
              </a:ext>
            </a:extLst>
          </p:cNvPr>
          <p:cNvSpPr txBox="1">
            <a:spLocks noChangeArrowheads="1"/>
          </p:cNvSpPr>
          <p:nvPr/>
        </p:nvSpPr>
        <p:spPr bwMode="auto">
          <a:xfrm>
            <a:off x="2999161" y="5135680"/>
            <a:ext cx="13971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3 probes</a:t>
            </a:r>
          </a:p>
        </p:txBody>
      </p:sp>
      <p:sp>
        <p:nvSpPr>
          <p:cNvPr id="30" name="Text Box 302">
            <a:extLst>
              <a:ext uri="{FF2B5EF4-FFF2-40B4-BE49-F238E27FC236}">
                <a16:creationId xmlns:a16="http://schemas.microsoft.com/office/drawing/2014/main" id="{8C2F6269-CD63-DC47-AA5A-D6F6AD85E9F6}"/>
              </a:ext>
            </a:extLst>
          </p:cNvPr>
          <p:cNvSpPr txBox="1">
            <a:spLocks noChangeArrowheads="1"/>
          </p:cNvSpPr>
          <p:nvPr/>
        </p:nvSpPr>
        <p:spPr bwMode="auto">
          <a:xfrm>
            <a:off x="3613524" y="5696068"/>
            <a:ext cx="13971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3 probes</a:t>
            </a:r>
          </a:p>
        </p:txBody>
      </p:sp>
      <p:sp>
        <p:nvSpPr>
          <p:cNvPr id="31" name="Text Box 304">
            <a:extLst>
              <a:ext uri="{FF2B5EF4-FFF2-40B4-BE49-F238E27FC236}">
                <a16:creationId xmlns:a16="http://schemas.microsoft.com/office/drawing/2014/main" id="{43A2AD3C-9D79-9140-BB67-1BE3BD4261D1}"/>
              </a:ext>
            </a:extLst>
          </p:cNvPr>
          <p:cNvSpPr txBox="1">
            <a:spLocks noChangeArrowheads="1"/>
          </p:cNvSpPr>
          <p:nvPr/>
        </p:nvSpPr>
        <p:spPr bwMode="auto">
          <a:xfrm>
            <a:off x="4842700" y="5044156"/>
            <a:ext cx="13971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3 probes</a:t>
            </a:r>
          </a:p>
        </p:txBody>
      </p:sp>
      <p:grpSp>
        <p:nvGrpSpPr>
          <p:cNvPr id="32" name="Group 100">
            <a:extLst>
              <a:ext uri="{FF2B5EF4-FFF2-40B4-BE49-F238E27FC236}">
                <a16:creationId xmlns:a16="http://schemas.microsoft.com/office/drawing/2014/main" id="{1BEC51D1-0886-F14D-B99F-4CA3879860C9}"/>
              </a:ext>
            </a:extLst>
          </p:cNvPr>
          <p:cNvGrpSpPr>
            <a:grpSpLocks/>
          </p:cNvGrpSpPr>
          <p:nvPr/>
        </p:nvGrpSpPr>
        <p:grpSpPr bwMode="auto">
          <a:xfrm>
            <a:off x="1934728" y="5072180"/>
            <a:ext cx="1027081" cy="688975"/>
            <a:chOff x="-44" y="1473"/>
            <a:chExt cx="981" cy="1105"/>
          </a:xfrm>
        </p:grpSpPr>
        <p:pic>
          <p:nvPicPr>
            <p:cNvPr id="33" name="Picture 101" descr="desktop_computer_stylized_medium">
              <a:extLst>
                <a:ext uri="{FF2B5EF4-FFF2-40B4-BE49-F238E27FC236}">
                  <a16:creationId xmlns:a16="http://schemas.microsoft.com/office/drawing/2014/main" id="{C4436358-53EB-1341-B2F7-BBA9BFD86FC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102">
              <a:extLst>
                <a:ext uri="{FF2B5EF4-FFF2-40B4-BE49-F238E27FC236}">
                  <a16:creationId xmlns:a16="http://schemas.microsoft.com/office/drawing/2014/main" id="{4813CA23-213B-0C4B-B526-D05F84EB9650}"/>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Group 103">
            <a:extLst>
              <a:ext uri="{FF2B5EF4-FFF2-40B4-BE49-F238E27FC236}">
                <a16:creationId xmlns:a16="http://schemas.microsoft.com/office/drawing/2014/main" id="{838A2555-9382-2A43-A8D2-3F77BF649C4C}"/>
              </a:ext>
            </a:extLst>
          </p:cNvPr>
          <p:cNvGrpSpPr>
            <a:grpSpLocks/>
          </p:cNvGrpSpPr>
          <p:nvPr/>
        </p:nvGrpSpPr>
        <p:grpSpPr bwMode="auto">
          <a:xfrm flipH="1">
            <a:off x="8177586" y="5110280"/>
            <a:ext cx="1051754" cy="669925"/>
            <a:chOff x="-44" y="1473"/>
            <a:chExt cx="981" cy="1105"/>
          </a:xfrm>
        </p:grpSpPr>
        <p:pic>
          <p:nvPicPr>
            <p:cNvPr id="42" name="Picture 104" descr="desktop_computer_stylized_medium">
              <a:extLst>
                <a:ext uri="{FF2B5EF4-FFF2-40B4-BE49-F238E27FC236}">
                  <a16:creationId xmlns:a16="http://schemas.microsoft.com/office/drawing/2014/main" id="{99E32CCD-2CED-C441-BCF6-83FBBB7A207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105">
              <a:extLst>
                <a:ext uri="{FF2B5EF4-FFF2-40B4-BE49-F238E27FC236}">
                  <a16:creationId xmlns:a16="http://schemas.microsoft.com/office/drawing/2014/main" id="{1DE64A0C-778E-0542-AF02-9D5203B331A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4" name="Freeform 303">
            <a:extLst>
              <a:ext uri="{FF2B5EF4-FFF2-40B4-BE49-F238E27FC236}">
                <a16:creationId xmlns:a16="http://schemas.microsoft.com/office/drawing/2014/main" id="{D57CFF59-F6AE-0444-8D13-D8E49817EC92}"/>
              </a:ext>
            </a:extLst>
          </p:cNvPr>
          <p:cNvSpPr>
            <a:spLocks/>
          </p:cNvSpPr>
          <p:nvPr/>
        </p:nvSpPr>
        <p:spPr bwMode="auto">
          <a:xfrm>
            <a:off x="2868986" y="5356343"/>
            <a:ext cx="3135331" cy="403225"/>
          </a:xfrm>
          <a:custGeom>
            <a:avLst/>
            <a:gdLst>
              <a:gd name="T0" fmla="*/ 2147483647 w 1416"/>
              <a:gd name="T1" fmla="*/ 2147483647 h 254"/>
              <a:gd name="T2" fmla="*/ 2147483647 w 1416"/>
              <a:gd name="T3" fmla="*/ 2147483647 h 254"/>
              <a:gd name="T4" fmla="*/ 2147483647 w 1416"/>
              <a:gd name="T5" fmla="*/ 2147483647 h 254"/>
              <a:gd name="T6" fmla="*/ 2147483647 w 1416"/>
              <a:gd name="T7" fmla="*/ 2147483647 h 254"/>
              <a:gd name="T8" fmla="*/ 2147483647 w 1416"/>
              <a:gd name="T9" fmla="*/ 2147483647 h 254"/>
              <a:gd name="T10" fmla="*/ 2147483647 w 1416"/>
              <a:gd name="T11" fmla="*/ 2147483647 h 254"/>
              <a:gd name="T12" fmla="*/ 0 w 1416"/>
              <a:gd name="T13" fmla="*/ 2147483647 h 254"/>
              <a:gd name="T14" fmla="*/ 0 60000 65536"/>
              <a:gd name="T15" fmla="*/ 0 60000 65536"/>
              <a:gd name="T16" fmla="*/ 0 60000 65536"/>
              <a:gd name="T17" fmla="*/ 0 60000 65536"/>
              <a:gd name="T18" fmla="*/ 0 60000 65536"/>
              <a:gd name="T19" fmla="*/ 0 60000 65536"/>
              <a:gd name="T20" fmla="*/ 0 60000 65536"/>
              <a:gd name="T21" fmla="*/ 0 w 1416"/>
              <a:gd name="T22" fmla="*/ 0 h 254"/>
              <a:gd name="T23" fmla="*/ 1416 w 1416"/>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6" h="254">
                <a:moveTo>
                  <a:pt x="76" y="30"/>
                </a:moveTo>
                <a:cubicBezTo>
                  <a:pt x="137" y="11"/>
                  <a:pt x="200" y="170"/>
                  <a:pt x="324" y="170"/>
                </a:cubicBezTo>
                <a:cubicBezTo>
                  <a:pt x="461" y="165"/>
                  <a:pt x="717" y="0"/>
                  <a:pt x="896" y="2"/>
                </a:cubicBezTo>
                <a:cubicBezTo>
                  <a:pt x="1075" y="4"/>
                  <a:pt x="1416" y="122"/>
                  <a:pt x="1400" y="182"/>
                </a:cubicBezTo>
                <a:cubicBezTo>
                  <a:pt x="1384" y="242"/>
                  <a:pt x="1073" y="63"/>
                  <a:pt x="896" y="74"/>
                </a:cubicBezTo>
                <a:cubicBezTo>
                  <a:pt x="719" y="85"/>
                  <a:pt x="489" y="254"/>
                  <a:pt x="340" y="250"/>
                </a:cubicBezTo>
                <a:cubicBezTo>
                  <a:pt x="191" y="246"/>
                  <a:pt x="62" y="32"/>
                  <a:pt x="0" y="50"/>
                </a:cubicBezTo>
              </a:path>
            </a:pathLst>
          </a:custGeom>
          <a:noFill/>
          <a:ln w="28575">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299">
            <a:extLst>
              <a:ext uri="{FF2B5EF4-FFF2-40B4-BE49-F238E27FC236}">
                <a16:creationId xmlns:a16="http://schemas.microsoft.com/office/drawing/2014/main" id="{106F45C5-44D3-EB44-A1DD-18F6304B9226}"/>
              </a:ext>
            </a:extLst>
          </p:cNvPr>
          <p:cNvSpPr>
            <a:spLocks/>
          </p:cNvSpPr>
          <p:nvPr/>
        </p:nvSpPr>
        <p:spPr bwMode="auto">
          <a:xfrm>
            <a:off x="2900736" y="5392855"/>
            <a:ext cx="584553" cy="419100"/>
          </a:xfrm>
          <a:custGeom>
            <a:avLst/>
            <a:gdLst>
              <a:gd name="T0" fmla="*/ 2147483647 w 264"/>
              <a:gd name="T1" fmla="*/ 0 h 264"/>
              <a:gd name="T2" fmla="*/ 2147483647 w 264"/>
              <a:gd name="T3" fmla="*/ 2147483647 h 264"/>
              <a:gd name="T4" fmla="*/ 0 w 264"/>
              <a:gd name="T5" fmla="*/ 2147483647 h 264"/>
              <a:gd name="T6" fmla="*/ 0 60000 65536"/>
              <a:gd name="T7" fmla="*/ 0 60000 65536"/>
              <a:gd name="T8" fmla="*/ 0 60000 65536"/>
              <a:gd name="T9" fmla="*/ 0 w 264"/>
              <a:gd name="T10" fmla="*/ 0 h 264"/>
              <a:gd name="T11" fmla="*/ 264 w 264"/>
              <a:gd name="T12" fmla="*/ 264 h 264"/>
            </a:gdLst>
            <a:ahLst/>
            <a:cxnLst>
              <a:cxn ang="T6">
                <a:pos x="T0" y="T1"/>
              </a:cxn>
              <a:cxn ang="T7">
                <a:pos x="T2" y="T3"/>
              </a:cxn>
              <a:cxn ang="T8">
                <a:pos x="T4" y="T5"/>
              </a:cxn>
            </a:cxnLst>
            <a:rect l="T9" t="T10" r="T11" b="T12"/>
            <a:pathLst>
              <a:path w="264" h="264">
                <a:moveTo>
                  <a:pt x="60" y="0"/>
                </a:moveTo>
                <a:cubicBezTo>
                  <a:pt x="86" y="31"/>
                  <a:pt x="264" y="176"/>
                  <a:pt x="228" y="220"/>
                </a:cubicBezTo>
                <a:cubicBezTo>
                  <a:pt x="192" y="264"/>
                  <a:pt x="60" y="109"/>
                  <a:pt x="0" y="88"/>
                </a:cubicBezTo>
              </a:path>
            </a:pathLst>
          </a:custGeom>
          <a:noFill/>
          <a:ln w="28575">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01">
            <a:extLst>
              <a:ext uri="{FF2B5EF4-FFF2-40B4-BE49-F238E27FC236}">
                <a16:creationId xmlns:a16="http://schemas.microsoft.com/office/drawing/2014/main" id="{B0DADD8E-881D-B14F-BA59-384DC3B918B6}"/>
              </a:ext>
            </a:extLst>
          </p:cNvPr>
          <p:cNvSpPr>
            <a:spLocks/>
          </p:cNvSpPr>
          <p:nvPr/>
        </p:nvSpPr>
        <p:spPr bwMode="auto">
          <a:xfrm>
            <a:off x="2894387" y="5307130"/>
            <a:ext cx="1877656" cy="474663"/>
          </a:xfrm>
          <a:custGeom>
            <a:avLst/>
            <a:gdLst>
              <a:gd name="T0" fmla="*/ 2147483647 w 848"/>
              <a:gd name="T1" fmla="*/ 2147483647 h 299"/>
              <a:gd name="T2" fmla="*/ 2147483647 w 848"/>
              <a:gd name="T3" fmla="*/ 2147483647 h 299"/>
              <a:gd name="T4" fmla="*/ 2147483647 w 848"/>
              <a:gd name="T5" fmla="*/ 2147483647 h 299"/>
              <a:gd name="T6" fmla="*/ 2147483647 w 848"/>
              <a:gd name="T7" fmla="*/ 2147483647 h 299"/>
              <a:gd name="T8" fmla="*/ 0 w 848"/>
              <a:gd name="T9" fmla="*/ 2147483647 h 299"/>
              <a:gd name="T10" fmla="*/ 0 60000 65536"/>
              <a:gd name="T11" fmla="*/ 0 60000 65536"/>
              <a:gd name="T12" fmla="*/ 0 60000 65536"/>
              <a:gd name="T13" fmla="*/ 0 60000 65536"/>
              <a:gd name="T14" fmla="*/ 0 60000 65536"/>
              <a:gd name="T15" fmla="*/ 0 w 848"/>
              <a:gd name="T16" fmla="*/ 0 h 299"/>
              <a:gd name="T17" fmla="*/ 848 w 848"/>
              <a:gd name="T18" fmla="*/ 299 h 299"/>
            </a:gdLst>
            <a:ahLst/>
            <a:cxnLst>
              <a:cxn ang="T10">
                <a:pos x="T0" y="T1"/>
              </a:cxn>
              <a:cxn ang="T11">
                <a:pos x="T2" y="T3"/>
              </a:cxn>
              <a:cxn ang="T12">
                <a:pos x="T4" y="T5"/>
              </a:cxn>
              <a:cxn ang="T13">
                <a:pos x="T6" y="T7"/>
              </a:cxn>
              <a:cxn ang="T14">
                <a:pos x="T8" y="T9"/>
              </a:cxn>
            </a:cxnLst>
            <a:rect l="T15" t="T16" r="T17" b="T18"/>
            <a:pathLst>
              <a:path w="848" h="299">
                <a:moveTo>
                  <a:pt x="76" y="76"/>
                </a:moveTo>
                <a:cubicBezTo>
                  <a:pt x="137" y="57"/>
                  <a:pt x="200" y="216"/>
                  <a:pt x="324" y="216"/>
                </a:cubicBezTo>
                <a:cubicBezTo>
                  <a:pt x="448" y="216"/>
                  <a:pt x="792" y="0"/>
                  <a:pt x="820" y="76"/>
                </a:cubicBezTo>
                <a:cubicBezTo>
                  <a:pt x="848" y="152"/>
                  <a:pt x="469" y="245"/>
                  <a:pt x="340" y="296"/>
                </a:cubicBezTo>
                <a:cubicBezTo>
                  <a:pt x="203" y="299"/>
                  <a:pt x="62" y="78"/>
                  <a:pt x="0" y="96"/>
                </a:cubicBezTo>
              </a:path>
            </a:pathLst>
          </a:custGeom>
          <a:noFill/>
          <a:ln w="28575">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55">
            <a:extLst>
              <a:ext uri="{FF2B5EF4-FFF2-40B4-BE49-F238E27FC236}">
                <a16:creationId xmlns:a16="http://schemas.microsoft.com/office/drawing/2014/main" id="{91E1CD52-668E-2940-80F2-B10C4C902272}"/>
              </a:ext>
            </a:extLst>
          </p:cNvPr>
          <p:cNvGrpSpPr/>
          <p:nvPr/>
        </p:nvGrpSpPr>
        <p:grpSpPr>
          <a:xfrm>
            <a:off x="6096000" y="5229664"/>
            <a:ext cx="860625" cy="398511"/>
            <a:chOff x="7493876" y="2774731"/>
            <a:chExt cx="1481958" cy="894622"/>
          </a:xfrm>
        </p:grpSpPr>
        <p:sp>
          <p:nvSpPr>
            <p:cNvPr id="157" name="Freeform 156">
              <a:extLst>
                <a:ext uri="{FF2B5EF4-FFF2-40B4-BE49-F238E27FC236}">
                  <a16:creationId xmlns:a16="http://schemas.microsoft.com/office/drawing/2014/main" id="{524447EB-AF2A-A041-9AAF-22AE80BEBBC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02DFC5C8-0F07-0646-B191-3F36D49C23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39560971-B62C-2E4C-935A-836B55269213}"/>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E2E046A7-F455-5A48-9F2B-58FE95A5E2B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B411AFE3-7C43-B447-9404-B41B6AD175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149A557C-1B39-D44A-ABCE-44F29E0A3D1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47C4949-2773-9643-AB8D-C5F0FC9CD57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0" name="Rectangle 5">
            <a:extLst>
              <a:ext uri="{FF2B5EF4-FFF2-40B4-BE49-F238E27FC236}">
                <a16:creationId xmlns:a16="http://schemas.microsoft.com/office/drawing/2014/main" id="{C45704CB-2C2D-E04A-BF4B-17BB274AE2EB}"/>
              </a:ext>
            </a:extLst>
          </p:cNvPr>
          <p:cNvSpPr txBox="1">
            <a:spLocks noChangeArrowheads="1"/>
          </p:cNvSpPr>
          <p:nvPr/>
        </p:nvSpPr>
        <p:spPr>
          <a:xfrm>
            <a:off x="909932" y="3067365"/>
            <a:ext cx="10342830" cy="172365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sends three packets that will reach router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i</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 on path towards destination (with time-to-live field value of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i</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router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i</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 will return packets to sender</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sender measures time interval between transmission and reply</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endParaRPr>
          </a:p>
        </p:txBody>
      </p:sp>
      <p:sp>
        <p:nvSpPr>
          <p:cNvPr id="61" name="Slide Number Placeholder 5">
            <a:extLst>
              <a:ext uri="{FF2B5EF4-FFF2-40B4-BE49-F238E27FC236}">
                <a16:creationId xmlns:a16="http://schemas.microsoft.com/office/drawing/2014/main" id="{B25BBF9C-F6B7-D74C-8D2F-80041D2036F7}"/>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14</a:t>
            </a:fld>
            <a:endParaRPr lang="en-US" dirty="0"/>
          </a:p>
        </p:txBody>
      </p:sp>
    </p:spTree>
    <p:extLst>
      <p:ext uri="{BB962C8B-B14F-4D97-AF65-F5344CB8AC3E}">
        <p14:creationId xmlns:p14="http://schemas.microsoft.com/office/powerpoint/2010/main" val="3597902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dissolve">
                                      <p:cBhvr>
                                        <p:cTn id="7" dur="500"/>
                                        <p:tgtEl>
                                          <p:spTgt spid="60"/>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par>
                                <p:cTn id="11" presetID="1" presetClass="entr" presetSubtype="0" fill="hold" grpId="0" nodeType="withEffect">
                                  <p:stCondLst>
                                    <p:cond delay="0"/>
                                  </p:stCondLst>
                                  <p:childTnLst>
                                    <p:set>
                                      <p:cBhvr>
                                        <p:cTn id="12" dur="1" fill="hold">
                                          <p:stCondLst>
                                            <p:cond delay="0"/>
                                          </p:stCondLst>
                                        </p:cTn>
                                        <p:tgtEl>
                                          <p:spTgt spid="29"/>
                                        </p:tgtEl>
                                        <p:attrNameLst>
                                          <p:attrName>style.visibility</p:attrName>
                                        </p:attrNameLst>
                                      </p:cBhvr>
                                      <p:to>
                                        <p:strVal val="visible"/>
                                      </p:to>
                                    </p:set>
                                  </p:childTnLst>
                                  <p:subTnLst>
                                    <p:set>
                                      <p:cBhvr override="childStyle">
                                        <p:cTn dur="1" fill="hold" display="0" masterRel="nextClick" afterEffect="1"/>
                                        <p:tgtEl>
                                          <p:spTgt spid="29"/>
                                        </p:tgtEl>
                                        <p:attrNameLst>
                                          <p:attrName>style.visibility</p:attrName>
                                        </p:attrNameLst>
                                      </p:cBhvr>
                                      <p:to>
                                        <p:strVal val="hidden"/>
                                      </p:to>
                                    </p:set>
                                  </p:sub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46"/>
                                        </p:tgtEl>
                                        <p:attrNameLst>
                                          <p:attrName>style.visibility</p:attrName>
                                        </p:attrNameLst>
                                      </p:cBhvr>
                                      <p:to>
                                        <p:strVal val="visible"/>
                                      </p:to>
                                    </p:set>
                                  </p:childTnLst>
                                  <p:subTnLst>
                                    <p:set>
                                      <p:cBhvr override="childStyle">
                                        <p:cTn dur="1" fill="hold" display="0" masterRel="nextClick" afterEffect="1"/>
                                        <p:tgtEl>
                                          <p:spTgt spid="146"/>
                                        </p:tgtEl>
                                        <p:attrNameLst>
                                          <p:attrName>style.visibility</p:attrName>
                                        </p:attrNameLst>
                                      </p:cBhvr>
                                      <p:to>
                                        <p:strVal val="hidden"/>
                                      </p:to>
                                    </p:set>
                                  </p:subTnLst>
                                </p:cTn>
                              </p:par>
                              <p:par>
                                <p:cTn id="17" presetID="1" presetClass="entr" presetSubtype="0" fill="hold" grpId="0" nodeType="withEffect">
                                  <p:stCondLst>
                                    <p:cond delay="0"/>
                                  </p:stCondLst>
                                  <p:childTnLst>
                                    <p:set>
                                      <p:cBhvr>
                                        <p:cTn id="18" dur="1" fill="hold">
                                          <p:stCondLst>
                                            <p:cond delay="0"/>
                                          </p:stCondLst>
                                        </p:cTn>
                                        <p:tgtEl>
                                          <p:spTgt spid="30"/>
                                        </p:tgtEl>
                                        <p:attrNameLst>
                                          <p:attrName>style.visibility</p:attrName>
                                        </p:attrNameLst>
                                      </p:cBhvr>
                                      <p:to>
                                        <p:strVal val="visible"/>
                                      </p:to>
                                    </p:set>
                                  </p:childTnLst>
                                  <p:subTnLst>
                                    <p:set>
                                      <p:cBhvr override="childStyle">
                                        <p:cTn dur="1" fill="hold" display="0" masterRel="nextClick" afterEffect="1"/>
                                        <p:tgtEl>
                                          <p:spTgt spid="30"/>
                                        </p:tgtEl>
                                        <p:attrNameLst>
                                          <p:attrName>style.visibility</p:attrName>
                                        </p:attrNameLst>
                                      </p:cBhvr>
                                      <p:to>
                                        <p:strVal val="hidden"/>
                                      </p:to>
                                    </p:set>
                                  </p:sub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4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P spid="31" grpId="0"/>
      <p:bldP spid="6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sz="4400" dirty="0">
                <a:ea typeface="ＭＳ Ｐゴシック" panose="020B0600070205080204" pitchFamily="34" charset="-128"/>
              </a:rPr>
              <a:t>Real Internet delays and routes</a:t>
            </a:r>
            <a:endParaRPr lang="en-US" sz="4400" dirty="0"/>
          </a:p>
        </p:txBody>
      </p:sp>
      <p:sp>
        <p:nvSpPr>
          <p:cNvPr id="68" name="Text Box 4">
            <a:extLst>
              <a:ext uri="{FF2B5EF4-FFF2-40B4-BE49-F238E27FC236}">
                <a16:creationId xmlns:a16="http://schemas.microsoft.com/office/drawing/2014/main" id="{7892B7DA-887D-4048-94A0-6C1A0FF213DA}"/>
              </a:ext>
            </a:extLst>
          </p:cNvPr>
          <p:cNvSpPr txBox="1">
            <a:spLocks noChangeArrowheads="1"/>
          </p:cNvSpPr>
          <p:nvPr/>
        </p:nvSpPr>
        <p:spPr bwMode="auto">
          <a:xfrm>
            <a:off x="1663495" y="2282978"/>
            <a:ext cx="8229600" cy="3944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  cs-gw (128.119.240.254)  1 ms  1 ms  2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border1-rt-fa5-1-0.gw.umass.edu (128.119.3.145)  1 ms  1 ms  2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  cht-vbns.gw.umass.edu (128.119.3.130)  6 ms 5 ms 5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4  jn1-at1-0-0-19.wor.vbns.net (204.147.132.129)  16 ms 11 ms 13 ms </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5  jn1-so7-0-0-0.wae.vbns.net (204.147.136.136)  21 ms 18 ms 18 ms </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6  abilene-vbns.abilene.ucaid.edu (198.32.11.9)  22 ms  18 ms  22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7  nycm-wash.abilene.ucaid.edu (198.32.8.46)  22 ms  22 ms  22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8  62.40.103.253 (62.40.103.253)  104 ms 109 ms 106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9  de2-1.de1.de.geant.net (62.40.96.129)  109 ms 102 ms 104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10  de.fr1.fr.geant.net (62.40.96.50)  113 ms 121 ms 114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  renater-gw.fr1.fr.geant.net (62.40.103.54)  112 ms  114 ms  112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  nio-n2.cssi.renater.fr (193.51.206.13)  111 ms  114 ms  116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13  nice.cssi.renater.fr (195.220.98.102)  123 ms  125 ms  124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14  r3t2-nice.cssi.renater.fr (195.220.98.110)  126 ms  126 ms  124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15  eurecom-valbonne.r3t2.ft.net (193.48.50.54)  135 ms  128 ms  133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16  194.214.211.25 (194.214.211.25)  126 ms  128 ms  126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17  * * *</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18  * * *</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19  fantasia.eurecom.fr (193.55.113.142)  132 ms  128 ms  136</a:t>
            </a:r>
            <a:r>
              <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ms</a:t>
            </a:r>
          </a:p>
        </p:txBody>
      </p:sp>
      <p:sp>
        <p:nvSpPr>
          <p:cNvPr id="69" name="Text Box 5">
            <a:extLst>
              <a:ext uri="{FF2B5EF4-FFF2-40B4-BE49-F238E27FC236}">
                <a16:creationId xmlns:a16="http://schemas.microsoft.com/office/drawing/2014/main" id="{6BA8008D-6458-AA4E-BF53-C2EE121DAE21}"/>
              </a:ext>
            </a:extLst>
          </p:cNvPr>
          <p:cNvSpPr txBox="1">
            <a:spLocks noChangeArrowheads="1"/>
          </p:cNvSpPr>
          <p:nvPr/>
        </p:nvSpPr>
        <p:spPr bwMode="auto">
          <a:xfrm>
            <a:off x="1684133" y="1091177"/>
            <a:ext cx="819308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traceroute: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gaia.cs.umass.edu to www.eurecom.fr</a:t>
            </a:r>
          </a:p>
        </p:txBody>
      </p:sp>
      <p:sp>
        <p:nvSpPr>
          <p:cNvPr id="79" name="TextBox 1">
            <a:extLst>
              <a:ext uri="{FF2B5EF4-FFF2-40B4-BE49-F238E27FC236}">
                <a16:creationId xmlns:a16="http://schemas.microsoft.com/office/drawing/2014/main" id="{5B7BE9BA-BD29-2540-9F9F-541887F3192F}"/>
              </a:ext>
            </a:extLst>
          </p:cNvPr>
          <p:cNvSpPr txBox="1">
            <a:spLocks noChangeArrowheads="1"/>
          </p:cNvSpPr>
          <p:nvPr/>
        </p:nvSpPr>
        <p:spPr bwMode="auto">
          <a:xfrm>
            <a:off x="1704770" y="6259665"/>
            <a:ext cx="65293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Do some traceroutes from exotic countries at www.traceroute.org</a:t>
            </a:r>
          </a:p>
        </p:txBody>
      </p:sp>
      <p:grpSp>
        <p:nvGrpSpPr>
          <p:cNvPr id="11" name="Group 10">
            <a:extLst>
              <a:ext uri="{FF2B5EF4-FFF2-40B4-BE49-F238E27FC236}">
                <a16:creationId xmlns:a16="http://schemas.microsoft.com/office/drawing/2014/main" id="{D586D7C8-597D-9743-AF6B-834300DFF928}"/>
              </a:ext>
            </a:extLst>
          </p:cNvPr>
          <p:cNvGrpSpPr/>
          <p:nvPr/>
        </p:nvGrpSpPr>
        <p:grpSpPr>
          <a:xfrm>
            <a:off x="2464209" y="5464534"/>
            <a:ext cx="7293694" cy="400110"/>
            <a:chOff x="2464209" y="5464534"/>
            <a:chExt cx="7293694" cy="400110"/>
          </a:xfrm>
        </p:grpSpPr>
        <p:sp>
          <p:nvSpPr>
            <p:cNvPr id="76" name="Text Box 12">
              <a:extLst>
                <a:ext uri="{FF2B5EF4-FFF2-40B4-BE49-F238E27FC236}">
                  <a16:creationId xmlns:a16="http://schemas.microsoft.com/office/drawing/2014/main" id="{417C0065-CF59-F04B-A2B4-24B98D2D9162}"/>
                </a:ext>
              </a:extLst>
            </p:cNvPr>
            <p:cNvSpPr txBox="1">
              <a:spLocks noChangeArrowheads="1"/>
            </p:cNvSpPr>
            <p:nvPr/>
          </p:nvSpPr>
          <p:spPr bwMode="auto">
            <a:xfrm>
              <a:off x="3471403" y="5464534"/>
              <a:ext cx="62865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means no response (probe lost, router not replying)</a:t>
              </a:r>
            </a:p>
          </p:txBody>
        </p:sp>
        <p:cxnSp>
          <p:nvCxnSpPr>
            <p:cNvPr id="23" name="Straight Arrow Connector 22">
              <a:extLst>
                <a:ext uri="{FF2B5EF4-FFF2-40B4-BE49-F238E27FC236}">
                  <a16:creationId xmlns:a16="http://schemas.microsoft.com/office/drawing/2014/main" id="{A2945742-6EAA-EB4A-8286-39E218644BBB}"/>
                </a:ext>
              </a:extLst>
            </p:cNvPr>
            <p:cNvCxnSpPr>
              <a:cxnSpLocks/>
            </p:cNvCxnSpPr>
            <p:nvPr/>
          </p:nvCxnSpPr>
          <p:spPr>
            <a:xfrm flipH="1">
              <a:off x="2464209" y="5590849"/>
              <a:ext cx="1007194"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4">
            <a:extLst>
              <a:ext uri="{FF2B5EF4-FFF2-40B4-BE49-F238E27FC236}">
                <a16:creationId xmlns:a16="http://schemas.microsoft.com/office/drawing/2014/main" id="{517CFBCC-5D80-154D-AFE4-84B6F3DE8CD2}"/>
              </a:ext>
            </a:extLst>
          </p:cNvPr>
          <p:cNvGrpSpPr/>
          <p:nvPr/>
        </p:nvGrpSpPr>
        <p:grpSpPr>
          <a:xfrm>
            <a:off x="1915886" y="1596610"/>
            <a:ext cx="9454526" cy="899847"/>
            <a:chOff x="1915886" y="1596610"/>
            <a:chExt cx="9454526" cy="899847"/>
          </a:xfrm>
        </p:grpSpPr>
        <p:sp>
          <p:nvSpPr>
            <p:cNvPr id="71" name="Text Box 7">
              <a:extLst>
                <a:ext uri="{FF2B5EF4-FFF2-40B4-BE49-F238E27FC236}">
                  <a16:creationId xmlns:a16="http://schemas.microsoft.com/office/drawing/2014/main" id="{7FD28BA9-B712-134B-86AC-CFCC39EB2664}"/>
                </a:ext>
              </a:extLst>
            </p:cNvPr>
            <p:cNvSpPr txBox="1">
              <a:spLocks noChangeArrowheads="1"/>
            </p:cNvSpPr>
            <p:nvPr/>
          </p:nvSpPr>
          <p:spPr bwMode="auto">
            <a:xfrm>
              <a:off x="5433162" y="1596610"/>
              <a:ext cx="5937250"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 delay measurements from </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gaia.cs.umass.edu </a:t>
              </a: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to </a:t>
              </a:r>
              <a:r>
                <a:rPr kumimoji="0" lang="en-US" altLang="en-US" sz="1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cs-gw.cs.umass.edu </a:t>
              </a:r>
              <a:endPar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8">
              <a:extLst>
                <a:ext uri="{FF2B5EF4-FFF2-40B4-BE49-F238E27FC236}">
                  <a16:creationId xmlns:a16="http://schemas.microsoft.com/office/drawing/2014/main" id="{F1026D73-2E6E-CF45-8EF3-ADEA186C5F6B}"/>
                </a:ext>
              </a:extLst>
            </p:cNvPr>
            <p:cNvSpPr>
              <a:spLocks noChangeShapeType="1"/>
            </p:cNvSpPr>
            <p:nvPr/>
          </p:nvSpPr>
          <p:spPr bwMode="auto">
            <a:xfrm flipV="1">
              <a:off x="4430508" y="1909915"/>
              <a:ext cx="671512" cy="412750"/>
            </a:xfrm>
            <a:prstGeom prst="line">
              <a:avLst/>
            </a:prstGeom>
            <a:noFill/>
            <a:ln w="19050">
              <a:solidFill>
                <a:srgbClr val="CC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9">
              <a:extLst>
                <a:ext uri="{FF2B5EF4-FFF2-40B4-BE49-F238E27FC236}">
                  <a16:creationId xmlns:a16="http://schemas.microsoft.com/office/drawing/2014/main" id="{2DB0FD1B-3421-FB44-A67B-6CAF879C898E}"/>
                </a:ext>
              </a:extLst>
            </p:cNvPr>
            <p:cNvSpPr>
              <a:spLocks noChangeShapeType="1"/>
            </p:cNvSpPr>
            <p:nvPr/>
          </p:nvSpPr>
          <p:spPr bwMode="auto">
            <a:xfrm flipV="1">
              <a:off x="4970258" y="1898803"/>
              <a:ext cx="139700" cy="404812"/>
            </a:xfrm>
            <a:prstGeom prst="line">
              <a:avLst/>
            </a:prstGeom>
            <a:noFill/>
            <a:ln w="19050">
              <a:solidFill>
                <a:srgbClr val="CC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10">
              <a:extLst>
                <a:ext uri="{FF2B5EF4-FFF2-40B4-BE49-F238E27FC236}">
                  <a16:creationId xmlns:a16="http://schemas.microsoft.com/office/drawing/2014/main" id="{B675A34D-78B1-1642-8329-2219BE434685}"/>
                </a:ext>
              </a:extLst>
            </p:cNvPr>
            <p:cNvSpPr>
              <a:spLocks noChangeShapeType="1"/>
            </p:cNvSpPr>
            <p:nvPr/>
          </p:nvSpPr>
          <p:spPr bwMode="auto">
            <a:xfrm flipH="1" flipV="1">
              <a:off x="5105195" y="1908328"/>
              <a:ext cx="366713" cy="390525"/>
            </a:xfrm>
            <a:prstGeom prst="line">
              <a:avLst/>
            </a:prstGeom>
            <a:noFill/>
            <a:ln w="19050">
              <a:solidFill>
                <a:srgbClr val="CC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5" name="Straight Arrow Connector 24">
              <a:extLst>
                <a:ext uri="{FF2B5EF4-FFF2-40B4-BE49-F238E27FC236}">
                  <a16:creationId xmlns:a16="http://schemas.microsoft.com/office/drawing/2014/main" id="{156CE76B-0913-694C-A88F-94E62A67C5D4}"/>
                </a:ext>
              </a:extLst>
            </p:cNvPr>
            <p:cNvCxnSpPr>
              <a:cxnSpLocks/>
            </p:cNvCxnSpPr>
            <p:nvPr/>
          </p:nvCxnSpPr>
          <p:spPr>
            <a:xfrm flipH="1">
              <a:off x="5102020" y="1908328"/>
              <a:ext cx="512012"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id="{D80459DB-9FBC-AA43-AD0D-E4EC703C0CD5}"/>
                </a:ext>
              </a:extLst>
            </p:cNvPr>
            <p:cNvSpPr/>
            <p:nvPr/>
          </p:nvSpPr>
          <p:spPr>
            <a:xfrm>
              <a:off x="1915886" y="2307771"/>
              <a:ext cx="638628" cy="188686"/>
            </a:xfrm>
            <a:prstGeom prst="rect">
              <a:avLst/>
            </a:prstGeom>
            <a:solidFill>
              <a:srgbClr val="FFFF00">
                <a:alpha val="3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highlight>
                  <a:srgbClr val="FFFF00"/>
                </a:highligh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E048766B-8BD7-5447-A58F-0580BF2517D6}"/>
              </a:ext>
            </a:extLst>
          </p:cNvPr>
          <p:cNvGrpSpPr/>
          <p:nvPr/>
        </p:nvGrpSpPr>
        <p:grpSpPr>
          <a:xfrm>
            <a:off x="1959429" y="2305498"/>
            <a:ext cx="10306229" cy="617861"/>
            <a:chOff x="1959429" y="2305498"/>
            <a:chExt cx="10306229" cy="617861"/>
          </a:xfrm>
        </p:grpSpPr>
        <p:sp>
          <p:nvSpPr>
            <p:cNvPr id="19" name="Text Box 7">
              <a:extLst>
                <a:ext uri="{FF2B5EF4-FFF2-40B4-BE49-F238E27FC236}">
                  <a16:creationId xmlns:a16="http://schemas.microsoft.com/office/drawing/2014/main" id="{3C3101AA-04AC-604D-B1DD-586ADCDA2471}"/>
                </a:ext>
              </a:extLst>
            </p:cNvPr>
            <p:cNvSpPr txBox="1">
              <a:spLocks noChangeArrowheads="1"/>
            </p:cNvSpPr>
            <p:nvPr/>
          </p:nvSpPr>
          <p:spPr bwMode="auto">
            <a:xfrm>
              <a:off x="8179566" y="2305498"/>
              <a:ext cx="4086092"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 delay measurements</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to </a:t>
              </a:r>
              <a:r>
                <a:rPr kumimoji="0" lang="en-US" altLang="en-US" sz="1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border1-rt-fa5-1-0.gw.umass.edu </a:t>
              </a:r>
              <a:endPar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30144341-821E-C445-8967-E53F584FFF2F}"/>
                </a:ext>
              </a:extLst>
            </p:cNvPr>
            <p:cNvCxnSpPr/>
            <p:nvPr/>
          </p:nvCxnSpPr>
          <p:spPr>
            <a:xfrm flipH="1">
              <a:off x="8136140" y="2591761"/>
              <a:ext cx="73896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CF7106E5-CEC9-5B4C-9D96-768239ACF3F9}"/>
                </a:ext>
              </a:extLst>
            </p:cNvPr>
            <p:cNvSpPr/>
            <p:nvPr/>
          </p:nvSpPr>
          <p:spPr>
            <a:xfrm>
              <a:off x="1959429" y="2525486"/>
              <a:ext cx="2975428" cy="159657"/>
            </a:xfrm>
            <a:prstGeom prst="rect">
              <a:avLst/>
            </a:pr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1E93B100-C8EC-E14F-A08F-A5227BBD8A75}"/>
              </a:ext>
            </a:extLst>
          </p:cNvPr>
          <p:cNvGrpSpPr/>
          <p:nvPr/>
        </p:nvGrpSpPr>
        <p:grpSpPr>
          <a:xfrm>
            <a:off x="7046686" y="4088438"/>
            <a:ext cx="4427559" cy="617861"/>
            <a:chOff x="7046686" y="4088438"/>
            <a:chExt cx="4427559" cy="617861"/>
          </a:xfrm>
        </p:grpSpPr>
        <p:grpSp>
          <p:nvGrpSpPr>
            <p:cNvPr id="10" name="Group 9">
              <a:extLst>
                <a:ext uri="{FF2B5EF4-FFF2-40B4-BE49-F238E27FC236}">
                  <a16:creationId xmlns:a16="http://schemas.microsoft.com/office/drawing/2014/main" id="{5769EA44-D208-F546-BC48-10986246EF9A}"/>
                </a:ext>
              </a:extLst>
            </p:cNvPr>
            <p:cNvGrpSpPr/>
            <p:nvPr/>
          </p:nvGrpSpPr>
          <p:grpSpPr>
            <a:xfrm>
              <a:off x="8136140" y="4088438"/>
              <a:ext cx="3338105" cy="617861"/>
              <a:chOff x="8136140" y="4088438"/>
              <a:chExt cx="3338105" cy="617861"/>
            </a:xfrm>
          </p:grpSpPr>
          <p:sp>
            <p:nvSpPr>
              <p:cNvPr id="16" name="Text Box 7">
                <a:extLst>
                  <a:ext uri="{FF2B5EF4-FFF2-40B4-BE49-F238E27FC236}">
                    <a16:creationId xmlns:a16="http://schemas.microsoft.com/office/drawing/2014/main" id="{461E9B9B-D89F-E045-903F-E4B91E6BDA2E}"/>
                  </a:ext>
                </a:extLst>
              </p:cNvPr>
              <p:cNvSpPr txBox="1">
                <a:spLocks noChangeArrowheads="1"/>
              </p:cNvSpPr>
              <p:nvPr/>
            </p:nvSpPr>
            <p:spPr bwMode="auto">
              <a:xfrm>
                <a:off x="8731045" y="4088438"/>
                <a:ext cx="2743200"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looks like delays </a:t>
                </a: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decrease</a:t>
                </a: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Why?</a:t>
                </a:r>
              </a:p>
            </p:txBody>
          </p:sp>
          <p:cxnSp>
            <p:nvCxnSpPr>
              <p:cNvPr id="22" name="Straight Arrow Connector 21">
                <a:extLst>
                  <a:ext uri="{FF2B5EF4-FFF2-40B4-BE49-F238E27FC236}">
                    <a16:creationId xmlns:a16="http://schemas.microsoft.com/office/drawing/2014/main" id="{7B545969-F2B6-3640-A5C7-754982F63617}"/>
                  </a:ext>
                </a:extLst>
              </p:cNvPr>
              <p:cNvCxnSpPr/>
              <p:nvPr/>
            </p:nvCxnSpPr>
            <p:spPr>
              <a:xfrm flipH="1">
                <a:off x="8136140" y="4381712"/>
                <a:ext cx="73896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12" name="Rectangle 11">
              <a:extLst>
                <a:ext uri="{FF2B5EF4-FFF2-40B4-BE49-F238E27FC236}">
                  <a16:creationId xmlns:a16="http://schemas.microsoft.com/office/drawing/2014/main" id="{BDD5D0FA-CF95-C647-8691-03423CEA1D6E}"/>
                </a:ext>
              </a:extLst>
            </p:cNvPr>
            <p:cNvSpPr/>
            <p:nvPr/>
          </p:nvSpPr>
          <p:spPr>
            <a:xfrm>
              <a:off x="7402286" y="4223657"/>
              <a:ext cx="725714" cy="261257"/>
            </a:xfrm>
            <a:prstGeom prst="rect">
              <a:avLst/>
            </a:prstGeom>
            <a:solidFill>
              <a:srgbClr val="FFFF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highlight>
                  <a:srgbClr val="FFFF00"/>
                </a:highligh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DB422DF4-E50E-8C4F-8EDF-EA4A3399E21E}"/>
                </a:ext>
              </a:extLst>
            </p:cNvPr>
            <p:cNvSpPr/>
            <p:nvPr/>
          </p:nvSpPr>
          <p:spPr>
            <a:xfrm>
              <a:off x="7046686" y="4419600"/>
              <a:ext cx="725714" cy="261257"/>
            </a:xfrm>
            <a:prstGeom prst="rect">
              <a:avLst/>
            </a:prstGeom>
            <a:solidFill>
              <a:srgbClr val="FFFF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highlight>
                  <a:srgbClr val="FFFF00"/>
                </a:highligh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BA6E80E2-2107-5945-8AA3-407451B7E60F}"/>
              </a:ext>
            </a:extLst>
          </p:cNvPr>
          <p:cNvGrpSpPr/>
          <p:nvPr/>
        </p:nvGrpSpPr>
        <p:grpSpPr>
          <a:xfrm>
            <a:off x="1937658" y="3381528"/>
            <a:ext cx="8901587" cy="508300"/>
            <a:chOff x="1937658" y="3381528"/>
            <a:chExt cx="8901587" cy="508300"/>
          </a:xfrm>
        </p:grpSpPr>
        <p:grpSp>
          <p:nvGrpSpPr>
            <p:cNvPr id="9" name="Group 8">
              <a:extLst>
                <a:ext uri="{FF2B5EF4-FFF2-40B4-BE49-F238E27FC236}">
                  <a16:creationId xmlns:a16="http://schemas.microsoft.com/office/drawing/2014/main" id="{92BE253E-6EA1-BB4E-8BF0-19C339C404C1}"/>
                </a:ext>
              </a:extLst>
            </p:cNvPr>
            <p:cNvGrpSpPr/>
            <p:nvPr/>
          </p:nvGrpSpPr>
          <p:grpSpPr>
            <a:xfrm>
              <a:off x="1937658" y="3381528"/>
              <a:ext cx="8901587" cy="460375"/>
              <a:chOff x="1937658" y="3381528"/>
              <a:chExt cx="8901587" cy="460375"/>
            </a:xfrm>
          </p:grpSpPr>
          <p:sp>
            <p:nvSpPr>
              <p:cNvPr id="77" name="Freeform 14">
                <a:extLst>
                  <a:ext uri="{FF2B5EF4-FFF2-40B4-BE49-F238E27FC236}">
                    <a16:creationId xmlns:a16="http://schemas.microsoft.com/office/drawing/2014/main" id="{D3347813-BBD3-9B4D-B4C4-CAF563726A82}"/>
                  </a:ext>
                </a:extLst>
              </p:cNvPr>
              <p:cNvSpPr>
                <a:spLocks/>
              </p:cNvSpPr>
              <p:nvPr/>
            </p:nvSpPr>
            <p:spPr bwMode="auto">
              <a:xfrm>
                <a:off x="7051470" y="3595840"/>
                <a:ext cx="1012825" cy="246063"/>
              </a:xfrm>
              <a:custGeom>
                <a:avLst/>
                <a:gdLst>
                  <a:gd name="T0" fmla="*/ 2147483647 w 638"/>
                  <a:gd name="T1" fmla="*/ 0 h 155"/>
                  <a:gd name="T2" fmla="*/ 2147483647 w 638"/>
                  <a:gd name="T3" fmla="*/ 2147483647 h 155"/>
                  <a:gd name="T4" fmla="*/ 2147483647 w 638"/>
                  <a:gd name="T5" fmla="*/ 2147483647 h 155"/>
                  <a:gd name="T6" fmla="*/ 2147483647 w 638"/>
                  <a:gd name="T7" fmla="*/ 2147483647 h 155"/>
                  <a:gd name="T8" fmla="*/ 0 w 638"/>
                  <a:gd name="T9" fmla="*/ 2147483647 h 155"/>
                  <a:gd name="T10" fmla="*/ 0 60000 65536"/>
                  <a:gd name="T11" fmla="*/ 0 60000 65536"/>
                  <a:gd name="T12" fmla="*/ 0 60000 65536"/>
                  <a:gd name="T13" fmla="*/ 0 60000 65536"/>
                  <a:gd name="T14" fmla="*/ 0 60000 65536"/>
                  <a:gd name="T15" fmla="*/ 0 w 638"/>
                  <a:gd name="T16" fmla="*/ 0 h 155"/>
                  <a:gd name="T17" fmla="*/ 638 w 638"/>
                  <a:gd name="T18" fmla="*/ 155 h 155"/>
                </a:gdLst>
                <a:ahLst/>
                <a:cxnLst>
                  <a:cxn ang="T10">
                    <a:pos x="T0" y="T1"/>
                  </a:cxn>
                  <a:cxn ang="T11">
                    <a:pos x="T2" y="T3"/>
                  </a:cxn>
                  <a:cxn ang="T12">
                    <a:pos x="T4" y="T5"/>
                  </a:cxn>
                  <a:cxn ang="T13">
                    <a:pos x="T6" y="T7"/>
                  </a:cxn>
                  <a:cxn ang="T14">
                    <a:pos x="T8" y="T9"/>
                  </a:cxn>
                </a:cxnLst>
                <a:rect l="T15" t="T16" r="T17" b="T18"/>
                <a:pathLst>
                  <a:path w="638" h="155">
                    <a:moveTo>
                      <a:pt x="593" y="0"/>
                    </a:moveTo>
                    <a:cubicBezTo>
                      <a:pt x="607" y="9"/>
                      <a:pt x="621" y="18"/>
                      <a:pt x="623" y="38"/>
                    </a:cubicBezTo>
                    <a:cubicBezTo>
                      <a:pt x="625" y="58"/>
                      <a:pt x="638" y="104"/>
                      <a:pt x="608" y="123"/>
                    </a:cubicBezTo>
                    <a:cubicBezTo>
                      <a:pt x="578" y="142"/>
                      <a:pt x="547" y="153"/>
                      <a:pt x="446" y="154"/>
                    </a:cubicBezTo>
                    <a:cubicBezTo>
                      <a:pt x="345" y="155"/>
                      <a:pt x="72" y="133"/>
                      <a:pt x="0" y="130"/>
                    </a:cubicBezTo>
                  </a:path>
                </a:pathLst>
              </a:custGeom>
              <a:noFill/>
              <a:ln w="19050">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Text Box 15">
                <a:extLst>
                  <a:ext uri="{FF2B5EF4-FFF2-40B4-BE49-F238E27FC236}">
                    <a16:creationId xmlns:a16="http://schemas.microsoft.com/office/drawing/2014/main" id="{36225CEE-E8B5-D342-87EF-CF5AADE63F11}"/>
                  </a:ext>
                </a:extLst>
              </p:cNvPr>
              <p:cNvSpPr txBox="1">
                <a:spLocks noChangeArrowheads="1"/>
              </p:cNvSpPr>
              <p:nvPr/>
            </p:nvSpPr>
            <p:spPr bwMode="auto">
              <a:xfrm>
                <a:off x="8096045" y="3381528"/>
                <a:ext cx="2743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trans-oceanic link</a:t>
                </a:r>
              </a:p>
            </p:txBody>
          </p:sp>
          <p:sp>
            <p:nvSpPr>
              <p:cNvPr id="26" name="Rectangle 25">
                <a:extLst>
                  <a:ext uri="{FF2B5EF4-FFF2-40B4-BE49-F238E27FC236}">
                    <a16:creationId xmlns:a16="http://schemas.microsoft.com/office/drawing/2014/main" id="{7FEDFBE5-9FAF-5841-909F-D0F941024CFF}"/>
                  </a:ext>
                </a:extLst>
              </p:cNvPr>
              <p:cNvSpPr/>
              <p:nvPr/>
            </p:nvSpPr>
            <p:spPr>
              <a:xfrm>
                <a:off x="1937658" y="3519717"/>
                <a:ext cx="2750456" cy="123370"/>
              </a:xfrm>
              <a:prstGeom prst="rect">
                <a:avLst/>
              </a:pr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4AAD3ED-1CE9-2F41-9A86-B86A45BB3764}"/>
                  </a:ext>
                </a:extLst>
              </p:cNvPr>
              <p:cNvSpPr/>
              <p:nvPr/>
            </p:nvSpPr>
            <p:spPr>
              <a:xfrm>
                <a:off x="2002973" y="3686630"/>
                <a:ext cx="1306284" cy="145141"/>
              </a:xfrm>
              <a:prstGeom prst="rect">
                <a:avLst/>
              </a:pr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Rectangle 13">
              <a:extLst>
                <a:ext uri="{FF2B5EF4-FFF2-40B4-BE49-F238E27FC236}">
                  <a16:creationId xmlns:a16="http://schemas.microsoft.com/office/drawing/2014/main" id="{C812C0CA-EC0F-6646-B05E-6CF824061878}"/>
                </a:ext>
              </a:extLst>
            </p:cNvPr>
            <p:cNvSpPr/>
            <p:nvPr/>
          </p:nvSpPr>
          <p:spPr>
            <a:xfrm>
              <a:off x="7315200" y="3468914"/>
              <a:ext cx="667657" cy="203200"/>
            </a:xfrm>
            <a:prstGeom prst="rect">
              <a:avLst/>
            </a:pr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 name="Rectangle 33">
              <a:extLst>
                <a:ext uri="{FF2B5EF4-FFF2-40B4-BE49-F238E27FC236}">
                  <a16:creationId xmlns:a16="http://schemas.microsoft.com/office/drawing/2014/main" id="{B6B3651B-4FF4-7D4B-9806-691B5A2E72B0}"/>
                </a:ext>
              </a:extLst>
            </p:cNvPr>
            <p:cNvSpPr/>
            <p:nvPr/>
          </p:nvSpPr>
          <p:spPr>
            <a:xfrm>
              <a:off x="6320972" y="3679371"/>
              <a:ext cx="776514" cy="210457"/>
            </a:xfrm>
            <a:prstGeom prst="rect">
              <a:avLst/>
            </a:pr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5" name="Slide Number Placeholder 5">
            <a:extLst>
              <a:ext uri="{FF2B5EF4-FFF2-40B4-BE49-F238E27FC236}">
                <a16:creationId xmlns:a16="http://schemas.microsoft.com/office/drawing/2014/main" id="{55A976FD-BCA0-3B40-B7FA-0498D9E5EF65}"/>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15</a:t>
            </a:fld>
            <a:endParaRPr lang="en-US" dirty="0"/>
          </a:p>
        </p:txBody>
      </p:sp>
    </p:spTree>
    <p:extLst>
      <p:ext uri="{BB962C8B-B14F-4D97-AF65-F5344CB8AC3E}">
        <p14:creationId xmlns:p14="http://schemas.microsoft.com/office/powerpoint/2010/main" val="21853727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5"/>
                                        </p:tgtEl>
                                      </p:cBhvr>
                                    </p:animEffect>
                                    <p:set>
                                      <p:cBhvr>
                                        <p:cTn id="12" dur="1" fill="hold">
                                          <p:stCondLst>
                                            <p:cond delay="499"/>
                                          </p:stCondLst>
                                        </p:cTn>
                                        <p:tgtEl>
                                          <p:spTgt spid="5"/>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dissolv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8"/>
                                        </p:tgtEl>
                                      </p:cBhvr>
                                    </p:animEffect>
                                    <p:set>
                                      <p:cBhvr>
                                        <p:cTn id="20" dur="1" fill="hold">
                                          <p:stCondLst>
                                            <p:cond delay="499"/>
                                          </p:stCondLst>
                                        </p:cTn>
                                        <p:tgtEl>
                                          <p:spTgt spid="8"/>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dissolve">
                                      <p:cBhvr>
                                        <p:cTn id="23" dur="500"/>
                                        <p:tgtEl>
                                          <p:spTgt spid="15"/>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15"/>
                                        </p:tgtEl>
                                      </p:cBhvr>
                                    </p:animEffect>
                                    <p:set>
                                      <p:cBhvr>
                                        <p:cTn id="28" dur="1" fill="hold">
                                          <p:stCondLst>
                                            <p:cond delay="499"/>
                                          </p:stCondLst>
                                        </p:cTn>
                                        <p:tgtEl>
                                          <p:spTgt spid="15"/>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dissolv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13"/>
                                        </p:tgtEl>
                                      </p:cBhvr>
                                    </p:animEffect>
                                    <p:set>
                                      <p:cBhvr>
                                        <p:cTn id="36" dur="1" fill="hold">
                                          <p:stCondLst>
                                            <p:cond delay="499"/>
                                          </p:stCondLst>
                                        </p:cTn>
                                        <p:tgtEl>
                                          <p:spTgt spid="13"/>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dissolve">
                                      <p:cBhvr>
                                        <p:cTn id="3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570091" y="2875362"/>
            <a:ext cx="10515600" cy="894622"/>
          </a:xfrm>
        </p:spPr>
        <p:txBody>
          <a:bodyPr>
            <a:normAutofit fontScale="90000"/>
          </a:bodyPr>
          <a:lstStyle/>
          <a:p>
            <a:pPr algn="ctr"/>
            <a:r>
              <a:rPr lang="en-US" altLang="en-US" sz="6000" dirty="0">
                <a:cs typeface="Calibri" panose="020F0502020204030204" pitchFamily="34" charset="0"/>
              </a:rPr>
              <a:t>Application Layer Protocol - HTTP</a:t>
            </a:r>
            <a:endParaRPr lang="en-US" sz="60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16</a:t>
            </a:fld>
            <a:endParaRPr lang="en-US" dirty="0"/>
          </a:p>
        </p:txBody>
      </p:sp>
    </p:spTree>
    <p:extLst>
      <p:ext uri="{BB962C8B-B14F-4D97-AF65-F5344CB8AC3E}">
        <p14:creationId xmlns:p14="http://schemas.microsoft.com/office/powerpoint/2010/main" val="299522144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Processes communicating</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606042" y="1565977"/>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process:</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 running within a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within same host, two processes communicate using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inter-process communication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by OS)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in different hosts communicate by exchanging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8F7AD000-A388-6C4C-8C9C-158A86A0C51E}"/>
              </a:ext>
            </a:extLst>
          </p:cNvPr>
          <p:cNvSpPr>
            <a:spLocks noChangeArrowheads="1"/>
          </p:cNvSpPr>
          <p:nvPr/>
        </p:nvSpPr>
        <p:spPr bwMode="auto">
          <a:xfrm>
            <a:off x="6915273" y="4263451"/>
            <a:ext cx="3989387" cy="183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applications with P2P architectures have client processes &amp; server processes</a:t>
            </a:r>
          </a:p>
        </p:txBody>
      </p:sp>
      <p:grpSp>
        <p:nvGrpSpPr>
          <p:cNvPr id="2" name="Group 1">
            <a:extLst>
              <a:ext uri="{FF2B5EF4-FFF2-40B4-BE49-F238E27FC236}">
                <a16:creationId xmlns:a16="http://schemas.microsoft.com/office/drawing/2014/main" id="{6E7D9C5A-4A0F-3E45-B3EB-48F963F34B69}"/>
              </a:ext>
            </a:extLst>
          </p:cNvPr>
          <p:cNvGrpSpPr/>
          <p:nvPr/>
        </p:nvGrpSpPr>
        <p:grpSpPr>
          <a:xfrm>
            <a:off x="6974010" y="1488501"/>
            <a:ext cx="4092575" cy="2567781"/>
            <a:chOff x="6974010" y="1488501"/>
            <a:chExt cx="4092575" cy="2567781"/>
          </a:xfrm>
        </p:grpSpPr>
        <p:sp>
          <p:nvSpPr>
            <p:cNvPr id="8" name="Rectangle 4">
              <a:extLst>
                <a:ext uri="{FF2B5EF4-FFF2-40B4-BE49-F238E27FC236}">
                  <a16:creationId xmlns:a16="http://schemas.microsoft.com/office/drawing/2014/main" id="{96562BEA-C84E-254B-BD55-56C2EB6C5088}"/>
                </a:ext>
              </a:extLst>
            </p:cNvPr>
            <p:cNvSpPr txBox="1">
              <a:spLocks noChangeArrowheads="1"/>
            </p:cNvSpPr>
            <p:nvPr/>
          </p:nvSpPr>
          <p:spPr>
            <a:xfrm>
              <a:off x="7025603" y="2022695"/>
              <a:ext cx="3989387" cy="2033587"/>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initiates communication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waits to be contacted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13">
              <a:extLst>
                <a:ext uri="{FF2B5EF4-FFF2-40B4-BE49-F238E27FC236}">
                  <a16:creationId xmlns:a16="http://schemas.microsoft.com/office/drawing/2014/main" id="{0414D3D5-1BB8-5844-8D2A-3C8E3E5DCA6A}"/>
                </a:ext>
              </a:extLst>
            </p:cNvPr>
            <p:cNvSpPr>
              <a:spLocks noChangeArrowheads="1"/>
            </p:cNvSpPr>
            <p:nvPr/>
          </p:nvSpPr>
          <p:spPr bwMode="auto">
            <a:xfrm>
              <a:off x="6974010" y="1786951"/>
              <a:ext cx="4092575" cy="2062163"/>
            </a:xfrm>
            <a:prstGeom prst="rect">
              <a:avLst/>
            </a:prstGeom>
            <a:noFill/>
            <a:ln w="28575">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Text Box 14">
              <a:extLst>
                <a:ext uri="{FF2B5EF4-FFF2-40B4-BE49-F238E27FC236}">
                  <a16:creationId xmlns:a16="http://schemas.microsoft.com/office/drawing/2014/main" id="{FAA5D4F0-1DCB-7C49-A07F-4729B9F9DCA6}"/>
                </a:ext>
              </a:extLst>
            </p:cNvPr>
            <p:cNvSpPr txBox="1">
              <a:spLocks noChangeArrowheads="1"/>
            </p:cNvSpPr>
            <p:nvPr/>
          </p:nvSpPr>
          <p:spPr bwMode="auto">
            <a:xfrm>
              <a:off x="7094660" y="1488501"/>
              <a:ext cx="2325688" cy="519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clients, servers</a:t>
              </a:r>
            </a:p>
          </p:txBody>
        </p:sp>
      </p:grpSp>
      <p:sp>
        <p:nvSpPr>
          <p:cNvPr id="14" name="Slide Number Placeholder 2">
            <a:extLst>
              <a:ext uri="{FF2B5EF4-FFF2-40B4-BE49-F238E27FC236}">
                <a16:creationId xmlns:a16="http://schemas.microsoft.com/office/drawing/2014/main" id="{126C885E-4769-8644-8E59-814749DC523B}"/>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17</a:t>
            </a:fld>
            <a:endParaRPr lang="en-US" dirty="0"/>
          </a:p>
        </p:txBody>
      </p:sp>
    </p:spTree>
    <p:extLst>
      <p:ext uri="{BB962C8B-B14F-4D97-AF65-F5344CB8AC3E}">
        <p14:creationId xmlns:p14="http://schemas.microsoft.com/office/powerpoint/2010/main" val="397073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dissolve">
                                      <p:cBhvr>
                                        <p:cTn id="7" dur="500"/>
                                        <p:tgtEl>
                                          <p:spTgt spid="1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2" end="2"/>
                                            </p:txEl>
                                          </p:spTgt>
                                        </p:tgtEl>
                                        <p:attrNameLst>
                                          <p:attrName>style.visibility</p:attrName>
                                        </p:attrNameLst>
                                      </p:cBhvr>
                                      <p:to>
                                        <p:strVal val="visible"/>
                                      </p:to>
                                    </p:set>
                                    <p:animEffect transition="in" filter="dissolve">
                                      <p:cBhvr>
                                        <p:cTn id="12" dur="500"/>
                                        <p:tgtEl>
                                          <p:spTgt spid="10">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Sockets</a:t>
            </a:r>
            <a:endParaRPr lang="en-US" sz="4400" dirty="0"/>
          </a:p>
        </p:txBody>
      </p:sp>
      <p:sp>
        <p:nvSpPr>
          <p:cNvPr id="68" name="Rectangle 3">
            <a:extLst>
              <a:ext uri="{FF2B5EF4-FFF2-40B4-BE49-F238E27FC236}">
                <a16:creationId xmlns:a16="http://schemas.microsoft.com/office/drawing/2014/main" id="{AE0F6699-BC13-C349-9AC1-8B36945FEAA0}"/>
              </a:ext>
            </a:extLst>
          </p:cNvPr>
          <p:cNvSpPr txBox="1">
            <a:spLocks noChangeArrowheads="1"/>
          </p:cNvSpPr>
          <p:nvPr/>
        </p:nvSpPr>
        <p:spPr bwMode="auto">
          <a:xfrm>
            <a:off x="798691" y="1183986"/>
            <a:ext cx="10965041" cy="232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process sends/receives messages to/from its </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socket analogous to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shoves message out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relies on transport infrastructure on other side of door to deliver message to socket at receiving process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sockets involved: one on each side</a:t>
            </a:r>
          </a:p>
        </p:txBody>
      </p:sp>
      <p:sp>
        <p:nvSpPr>
          <p:cNvPr id="69" name="Freeform 66">
            <a:extLst>
              <a:ext uri="{FF2B5EF4-FFF2-40B4-BE49-F238E27FC236}">
                <a16:creationId xmlns:a16="http://schemas.microsoft.com/office/drawing/2014/main" id="{C55660F8-73B5-034B-A597-DD5D87ECF66A}"/>
              </a:ext>
            </a:extLst>
          </p:cNvPr>
          <p:cNvSpPr>
            <a:spLocks/>
          </p:cNvSpPr>
          <p:nvPr/>
        </p:nvSpPr>
        <p:spPr bwMode="auto">
          <a:xfrm>
            <a:off x="8482481" y="4098352"/>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7">
            <a:extLst>
              <a:ext uri="{FF2B5EF4-FFF2-40B4-BE49-F238E27FC236}">
                <a16:creationId xmlns:a16="http://schemas.microsoft.com/office/drawing/2014/main" id="{ABAB43B4-03FC-2A42-98B9-913DD8EC77B7}"/>
              </a:ext>
            </a:extLst>
          </p:cNvPr>
          <p:cNvSpPr>
            <a:spLocks/>
          </p:cNvSpPr>
          <p:nvPr/>
        </p:nvSpPr>
        <p:spPr bwMode="auto">
          <a:xfrm>
            <a:off x="5167781" y="5395339"/>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Text Box 51">
            <a:extLst>
              <a:ext uri="{FF2B5EF4-FFF2-40B4-BE49-F238E27FC236}">
                <a16:creationId xmlns:a16="http://schemas.microsoft.com/office/drawing/2014/main" id="{66AD3E16-6743-CC4C-9091-25C6B0A95F7F}"/>
              </a:ext>
            </a:extLst>
          </p:cNvPr>
          <p:cNvSpPr txBox="1">
            <a:spLocks noChangeArrowheads="1"/>
          </p:cNvSpPr>
          <p:nvPr/>
        </p:nvSpPr>
        <p:spPr bwMode="auto">
          <a:xfrm>
            <a:off x="5605931" y="5527102"/>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72" name="Line 52">
            <a:extLst>
              <a:ext uri="{FF2B5EF4-FFF2-40B4-BE49-F238E27FC236}">
                <a16:creationId xmlns:a16="http://schemas.microsoft.com/office/drawing/2014/main" id="{2374F19B-E4B6-644E-AEE0-FC14C13C0183}"/>
              </a:ext>
            </a:extLst>
          </p:cNvPr>
          <p:cNvSpPr>
            <a:spLocks noChangeShapeType="1"/>
          </p:cNvSpPr>
          <p:nvPr/>
        </p:nvSpPr>
        <p:spPr bwMode="auto">
          <a:xfrm>
            <a:off x="4926481" y="5938264"/>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Text Box 53">
            <a:extLst>
              <a:ext uri="{FF2B5EF4-FFF2-40B4-BE49-F238E27FC236}">
                <a16:creationId xmlns:a16="http://schemas.microsoft.com/office/drawing/2014/main" id="{AD6E6CB7-7739-BE4D-84DA-1BBDF2D16B38}"/>
              </a:ext>
            </a:extLst>
          </p:cNvPr>
          <p:cNvSpPr txBox="1">
            <a:spLocks noChangeArrowheads="1"/>
          </p:cNvSpPr>
          <p:nvPr/>
        </p:nvSpPr>
        <p:spPr bwMode="auto">
          <a:xfrm>
            <a:off x="8947618" y="5163564"/>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Text Box 56">
            <a:extLst>
              <a:ext uri="{FF2B5EF4-FFF2-40B4-BE49-F238E27FC236}">
                <a16:creationId xmlns:a16="http://schemas.microsoft.com/office/drawing/2014/main" id="{20BE946D-C7D0-4A45-83B1-1480163BA20F}"/>
              </a:ext>
            </a:extLst>
          </p:cNvPr>
          <p:cNvSpPr txBox="1">
            <a:spLocks noChangeArrowheads="1"/>
          </p:cNvSpPr>
          <p:nvPr/>
        </p:nvSpPr>
        <p:spPr bwMode="auto">
          <a:xfrm>
            <a:off x="8925393" y="4263452"/>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75" name="Freeform 45">
            <a:extLst>
              <a:ext uri="{FF2B5EF4-FFF2-40B4-BE49-F238E27FC236}">
                <a16:creationId xmlns:a16="http://schemas.microsoft.com/office/drawing/2014/main" id="{6780AD31-F16D-1B4A-BC72-926F1B2A7FE8}"/>
              </a:ext>
            </a:extLst>
          </p:cNvPr>
          <p:cNvSpPr>
            <a:spLocks/>
          </p:cNvSpPr>
          <p:nvPr/>
        </p:nvSpPr>
        <p:spPr bwMode="auto">
          <a:xfrm>
            <a:off x="2742081" y="4161852"/>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Rectangle 23">
            <a:extLst>
              <a:ext uri="{FF2B5EF4-FFF2-40B4-BE49-F238E27FC236}">
                <a16:creationId xmlns:a16="http://schemas.microsoft.com/office/drawing/2014/main" id="{F7C1C383-CE46-7C44-B7F2-94606E877EF3}"/>
              </a:ext>
            </a:extLst>
          </p:cNvPr>
          <p:cNvSpPr>
            <a:spLocks noChangeArrowheads="1"/>
          </p:cNvSpPr>
          <p:nvPr/>
        </p:nvSpPr>
        <p:spPr bwMode="auto">
          <a:xfrm>
            <a:off x="3545356" y="4117402"/>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7" name="Rectangle 24">
            <a:extLst>
              <a:ext uri="{FF2B5EF4-FFF2-40B4-BE49-F238E27FC236}">
                <a16:creationId xmlns:a16="http://schemas.microsoft.com/office/drawing/2014/main" id="{FD8D123C-B8FD-A64F-9AD3-86943A5D550B}"/>
              </a:ext>
            </a:extLst>
          </p:cNvPr>
          <p:cNvSpPr>
            <a:spLocks noChangeArrowheads="1"/>
          </p:cNvSpPr>
          <p:nvPr/>
        </p:nvSpPr>
        <p:spPr bwMode="auto">
          <a:xfrm>
            <a:off x="3507256" y="4171377"/>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Line 25">
            <a:extLst>
              <a:ext uri="{FF2B5EF4-FFF2-40B4-BE49-F238E27FC236}">
                <a16:creationId xmlns:a16="http://schemas.microsoft.com/office/drawing/2014/main" id="{A30BEE8C-0165-984E-888C-91DC647B6A97}"/>
              </a:ext>
            </a:extLst>
          </p:cNvPr>
          <p:cNvSpPr>
            <a:spLocks noChangeShapeType="1"/>
          </p:cNvSpPr>
          <p:nvPr/>
        </p:nvSpPr>
        <p:spPr bwMode="auto">
          <a:xfrm>
            <a:off x="3516781" y="49317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Text Box 26">
            <a:extLst>
              <a:ext uri="{FF2B5EF4-FFF2-40B4-BE49-F238E27FC236}">
                <a16:creationId xmlns:a16="http://schemas.microsoft.com/office/drawing/2014/main" id="{4E5CE7E7-BE20-B242-B8AA-2C5D479929F4}"/>
              </a:ext>
            </a:extLst>
          </p:cNvPr>
          <p:cNvSpPr txBox="1">
            <a:spLocks noChangeArrowheads="1"/>
          </p:cNvSpPr>
          <p:nvPr/>
        </p:nvSpPr>
        <p:spPr bwMode="auto">
          <a:xfrm>
            <a:off x="3473918" y="49143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80" name="Line 27">
            <a:extLst>
              <a:ext uri="{FF2B5EF4-FFF2-40B4-BE49-F238E27FC236}">
                <a16:creationId xmlns:a16="http://schemas.microsoft.com/office/drawing/2014/main" id="{9AB6E7C8-3093-D94D-9D3B-10F5749B7340}"/>
              </a:ext>
            </a:extLst>
          </p:cNvPr>
          <p:cNvSpPr>
            <a:spLocks noChangeShapeType="1"/>
          </p:cNvSpPr>
          <p:nvPr/>
        </p:nvSpPr>
        <p:spPr bwMode="auto">
          <a:xfrm>
            <a:off x="3524718" y="525246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8">
            <a:extLst>
              <a:ext uri="{FF2B5EF4-FFF2-40B4-BE49-F238E27FC236}">
                <a16:creationId xmlns:a16="http://schemas.microsoft.com/office/drawing/2014/main" id="{2F4C67B7-677F-C84F-B3B7-01AAFB2AD3B3}"/>
              </a:ext>
            </a:extLst>
          </p:cNvPr>
          <p:cNvSpPr>
            <a:spLocks noChangeShapeType="1"/>
          </p:cNvSpPr>
          <p:nvPr/>
        </p:nvSpPr>
        <p:spPr bwMode="auto">
          <a:xfrm>
            <a:off x="3510431" y="556202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9">
            <a:extLst>
              <a:ext uri="{FF2B5EF4-FFF2-40B4-BE49-F238E27FC236}">
                <a16:creationId xmlns:a16="http://schemas.microsoft.com/office/drawing/2014/main" id="{3E1AB729-CEED-FF4B-AB94-DA2863E62F5F}"/>
              </a:ext>
            </a:extLst>
          </p:cNvPr>
          <p:cNvSpPr>
            <a:spLocks noChangeShapeType="1"/>
          </p:cNvSpPr>
          <p:nvPr/>
        </p:nvSpPr>
        <p:spPr bwMode="auto">
          <a:xfrm>
            <a:off x="3510431" y="584777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6">
            <a:extLst>
              <a:ext uri="{FF2B5EF4-FFF2-40B4-BE49-F238E27FC236}">
                <a16:creationId xmlns:a16="http://schemas.microsoft.com/office/drawing/2014/main" id="{B3BC3B01-336B-B648-9417-1795AE45E555}"/>
              </a:ext>
            </a:extLst>
          </p:cNvPr>
          <p:cNvSpPr txBox="1">
            <a:spLocks noChangeArrowheads="1"/>
          </p:cNvSpPr>
          <p:nvPr/>
        </p:nvSpPr>
        <p:spPr bwMode="auto">
          <a:xfrm>
            <a:off x="3508843" y="41618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84" name="Text Box 26">
            <a:extLst>
              <a:ext uri="{FF2B5EF4-FFF2-40B4-BE49-F238E27FC236}">
                <a16:creationId xmlns:a16="http://schemas.microsoft.com/office/drawing/2014/main" id="{DC97EC39-5ADE-8D46-9FEE-DBDD51FDB394}"/>
              </a:ext>
            </a:extLst>
          </p:cNvPr>
          <p:cNvSpPr txBox="1">
            <a:spLocks noChangeArrowheads="1"/>
          </p:cNvSpPr>
          <p:nvPr/>
        </p:nvSpPr>
        <p:spPr bwMode="auto">
          <a:xfrm>
            <a:off x="3464393" y="58192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85" name="Text Box 26">
            <a:extLst>
              <a:ext uri="{FF2B5EF4-FFF2-40B4-BE49-F238E27FC236}">
                <a16:creationId xmlns:a16="http://schemas.microsoft.com/office/drawing/2014/main" id="{8C832346-4F39-4844-8091-F736554D8A35}"/>
              </a:ext>
            </a:extLst>
          </p:cNvPr>
          <p:cNvSpPr txBox="1">
            <a:spLocks noChangeArrowheads="1"/>
          </p:cNvSpPr>
          <p:nvPr/>
        </p:nvSpPr>
        <p:spPr bwMode="auto">
          <a:xfrm>
            <a:off x="3483443" y="55334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86" name="Text Box 26">
            <a:extLst>
              <a:ext uri="{FF2B5EF4-FFF2-40B4-BE49-F238E27FC236}">
                <a16:creationId xmlns:a16="http://schemas.microsoft.com/office/drawing/2014/main" id="{68FADC82-2C08-DB43-951D-4FB06FD5E788}"/>
              </a:ext>
            </a:extLst>
          </p:cNvPr>
          <p:cNvSpPr txBox="1">
            <a:spLocks noChangeArrowheads="1"/>
          </p:cNvSpPr>
          <p:nvPr/>
        </p:nvSpPr>
        <p:spPr bwMode="auto">
          <a:xfrm>
            <a:off x="3473918" y="52381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87" name="Oval 57">
            <a:extLst>
              <a:ext uri="{FF2B5EF4-FFF2-40B4-BE49-F238E27FC236}">
                <a16:creationId xmlns:a16="http://schemas.microsoft.com/office/drawing/2014/main" id="{FBC4E611-49B5-5546-8E93-C03CEF4C030E}"/>
              </a:ext>
            </a:extLst>
          </p:cNvPr>
          <p:cNvSpPr>
            <a:spLocks noChangeArrowheads="1"/>
          </p:cNvSpPr>
          <p:nvPr/>
        </p:nvSpPr>
        <p:spPr bwMode="auto">
          <a:xfrm>
            <a:off x="3642193" y="4436489"/>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88" name="Group 58">
            <a:extLst>
              <a:ext uri="{FF2B5EF4-FFF2-40B4-BE49-F238E27FC236}">
                <a16:creationId xmlns:a16="http://schemas.microsoft.com/office/drawing/2014/main" id="{BDB7A80F-EA2D-2740-83B7-DE5AFE13D157}"/>
              </a:ext>
            </a:extLst>
          </p:cNvPr>
          <p:cNvGrpSpPr>
            <a:grpSpLocks/>
          </p:cNvGrpSpPr>
          <p:nvPr/>
        </p:nvGrpSpPr>
        <p:grpSpPr bwMode="auto">
          <a:xfrm>
            <a:off x="3889843" y="4796852"/>
            <a:ext cx="546100" cy="225425"/>
            <a:chOff x="1287" y="2524"/>
            <a:chExt cx="260" cy="100"/>
          </a:xfrm>
        </p:grpSpPr>
        <p:sp>
          <p:nvSpPr>
            <p:cNvPr id="89" name="Rectangle 59">
              <a:extLst>
                <a:ext uri="{FF2B5EF4-FFF2-40B4-BE49-F238E27FC236}">
                  <a16:creationId xmlns:a16="http://schemas.microsoft.com/office/drawing/2014/main" id="{DE66C40C-3B9D-EF46-85B9-52614CA50C61}"/>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60">
              <a:extLst>
                <a:ext uri="{FF2B5EF4-FFF2-40B4-BE49-F238E27FC236}">
                  <a16:creationId xmlns:a16="http://schemas.microsoft.com/office/drawing/2014/main" id="{BB035EC9-3E84-A147-B1F1-334CDBA3D785}"/>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61">
              <a:extLst>
                <a:ext uri="{FF2B5EF4-FFF2-40B4-BE49-F238E27FC236}">
                  <a16:creationId xmlns:a16="http://schemas.microsoft.com/office/drawing/2014/main" id="{A4F869EE-C3F1-524C-9E52-D9CF58C69BA9}"/>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62">
              <a:extLst>
                <a:ext uri="{FF2B5EF4-FFF2-40B4-BE49-F238E27FC236}">
                  <a16:creationId xmlns:a16="http://schemas.microsoft.com/office/drawing/2014/main" id="{58E3BF21-8802-5F4C-9E24-B71F07259B07}"/>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3" name="Rectangle 23">
            <a:extLst>
              <a:ext uri="{FF2B5EF4-FFF2-40B4-BE49-F238E27FC236}">
                <a16:creationId xmlns:a16="http://schemas.microsoft.com/office/drawing/2014/main" id="{EA6D85FB-86B2-B745-ADFD-3765EC14F8AD}"/>
              </a:ext>
            </a:extLst>
          </p:cNvPr>
          <p:cNvSpPr>
            <a:spLocks noChangeArrowheads="1"/>
          </p:cNvSpPr>
          <p:nvPr/>
        </p:nvSpPr>
        <p:spPr bwMode="auto">
          <a:xfrm>
            <a:off x="7207718" y="4088827"/>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4" name="Rectangle 24">
            <a:extLst>
              <a:ext uri="{FF2B5EF4-FFF2-40B4-BE49-F238E27FC236}">
                <a16:creationId xmlns:a16="http://schemas.microsoft.com/office/drawing/2014/main" id="{A1355835-1546-1740-B9B8-CC9141EB37F1}"/>
              </a:ext>
            </a:extLst>
          </p:cNvPr>
          <p:cNvSpPr>
            <a:spLocks noChangeArrowheads="1"/>
          </p:cNvSpPr>
          <p:nvPr/>
        </p:nvSpPr>
        <p:spPr bwMode="auto">
          <a:xfrm>
            <a:off x="7169618" y="4142802"/>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5" name="Line 25">
            <a:extLst>
              <a:ext uri="{FF2B5EF4-FFF2-40B4-BE49-F238E27FC236}">
                <a16:creationId xmlns:a16="http://schemas.microsoft.com/office/drawing/2014/main" id="{22344C4F-F96A-944B-9A5E-6962A9AC2F9D}"/>
              </a:ext>
            </a:extLst>
          </p:cNvPr>
          <p:cNvSpPr>
            <a:spLocks noChangeShapeType="1"/>
          </p:cNvSpPr>
          <p:nvPr/>
        </p:nvSpPr>
        <p:spPr bwMode="auto">
          <a:xfrm>
            <a:off x="7179143" y="490321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Text Box 26">
            <a:extLst>
              <a:ext uri="{FF2B5EF4-FFF2-40B4-BE49-F238E27FC236}">
                <a16:creationId xmlns:a16="http://schemas.microsoft.com/office/drawing/2014/main" id="{93E8ABA8-42C2-C44C-8972-76E2C7AD813D}"/>
              </a:ext>
            </a:extLst>
          </p:cNvPr>
          <p:cNvSpPr txBox="1">
            <a:spLocks noChangeArrowheads="1"/>
          </p:cNvSpPr>
          <p:nvPr/>
        </p:nvSpPr>
        <p:spPr bwMode="auto">
          <a:xfrm>
            <a:off x="7136281" y="48857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97" name="Line 27">
            <a:extLst>
              <a:ext uri="{FF2B5EF4-FFF2-40B4-BE49-F238E27FC236}">
                <a16:creationId xmlns:a16="http://schemas.microsoft.com/office/drawing/2014/main" id="{4C22E15D-78C1-E143-93B3-4A31B8A2541D}"/>
              </a:ext>
            </a:extLst>
          </p:cNvPr>
          <p:cNvSpPr>
            <a:spLocks noChangeShapeType="1"/>
          </p:cNvSpPr>
          <p:nvPr/>
        </p:nvSpPr>
        <p:spPr bwMode="auto">
          <a:xfrm>
            <a:off x="7187081" y="52238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28">
            <a:extLst>
              <a:ext uri="{FF2B5EF4-FFF2-40B4-BE49-F238E27FC236}">
                <a16:creationId xmlns:a16="http://schemas.microsoft.com/office/drawing/2014/main" id="{5648F986-3546-E545-A6F7-3CF9C2DDADF0}"/>
              </a:ext>
            </a:extLst>
          </p:cNvPr>
          <p:cNvSpPr>
            <a:spLocks noChangeShapeType="1"/>
          </p:cNvSpPr>
          <p:nvPr/>
        </p:nvSpPr>
        <p:spPr bwMode="auto">
          <a:xfrm>
            <a:off x="7172793" y="553345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Line 29">
            <a:extLst>
              <a:ext uri="{FF2B5EF4-FFF2-40B4-BE49-F238E27FC236}">
                <a16:creationId xmlns:a16="http://schemas.microsoft.com/office/drawing/2014/main" id="{55B6D46E-D326-D64F-A181-AB7274FEB64E}"/>
              </a:ext>
            </a:extLst>
          </p:cNvPr>
          <p:cNvSpPr>
            <a:spLocks noChangeShapeType="1"/>
          </p:cNvSpPr>
          <p:nvPr/>
        </p:nvSpPr>
        <p:spPr bwMode="auto">
          <a:xfrm>
            <a:off x="7172793" y="581920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26">
            <a:extLst>
              <a:ext uri="{FF2B5EF4-FFF2-40B4-BE49-F238E27FC236}">
                <a16:creationId xmlns:a16="http://schemas.microsoft.com/office/drawing/2014/main" id="{704444CB-075A-0948-9F82-6F49A25E3EAD}"/>
              </a:ext>
            </a:extLst>
          </p:cNvPr>
          <p:cNvSpPr txBox="1">
            <a:spLocks noChangeArrowheads="1"/>
          </p:cNvSpPr>
          <p:nvPr/>
        </p:nvSpPr>
        <p:spPr bwMode="auto">
          <a:xfrm>
            <a:off x="7171206" y="41332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01" name="Text Box 26">
            <a:extLst>
              <a:ext uri="{FF2B5EF4-FFF2-40B4-BE49-F238E27FC236}">
                <a16:creationId xmlns:a16="http://schemas.microsoft.com/office/drawing/2014/main" id="{40B8469F-1FF4-FE40-9A71-D5EC33D37348}"/>
              </a:ext>
            </a:extLst>
          </p:cNvPr>
          <p:cNvSpPr txBox="1">
            <a:spLocks noChangeArrowheads="1"/>
          </p:cNvSpPr>
          <p:nvPr/>
        </p:nvSpPr>
        <p:spPr bwMode="auto">
          <a:xfrm>
            <a:off x="7126756" y="57906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02" name="Text Box 26">
            <a:extLst>
              <a:ext uri="{FF2B5EF4-FFF2-40B4-BE49-F238E27FC236}">
                <a16:creationId xmlns:a16="http://schemas.microsoft.com/office/drawing/2014/main" id="{713E03C4-58F2-5D42-92BD-0578A2D33BD2}"/>
              </a:ext>
            </a:extLst>
          </p:cNvPr>
          <p:cNvSpPr txBox="1">
            <a:spLocks noChangeArrowheads="1"/>
          </p:cNvSpPr>
          <p:nvPr/>
        </p:nvSpPr>
        <p:spPr bwMode="auto">
          <a:xfrm>
            <a:off x="7145806" y="55048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03" name="Text Box 26">
            <a:extLst>
              <a:ext uri="{FF2B5EF4-FFF2-40B4-BE49-F238E27FC236}">
                <a16:creationId xmlns:a16="http://schemas.microsoft.com/office/drawing/2014/main" id="{76001FF3-4EB3-9E44-B006-298749345144}"/>
              </a:ext>
            </a:extLst>
          </p:cNvPr>
          <p:cNvSpPr txBox="1">
            <a:spLocks noChangeArrowheads="1"/>
          </p:cNvSpPr>
          <p:nvPr/>
        </p:nvSpPr>
        <p:spPr bwMode="auto">
          <a:xfrm>
            <a:off x="7136281" y="52096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04" name="Oval 78">
            <a:extLst>
              <a:ext uri="{FF2B5EF4-FFF2-40B4-BE49-F238E27FC236}">
                <a16:creationId xmlns:a16="http://schemas.microsoft.com/office/drawing/2014/main" id="{8A13F36B-8768-0745-9E90-83E8FC5EE560}"/>
              </a:ext>
            </a:extLst>
          </p:cNvPr>
          <p:cNvSpPr>
            <a:spLocks noChangeArrowheads="1"/>
          </p:cNvSpPr>
          <p:nvPr/>
        </p:nvSpPr>
        <p:spPr bwMode="auto">
          <a:xfrm>
            <a:off x="7304556" y="4407914"/>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105" name="Group 79">
            <a:extLst>
              <a:ext uri="{FF2B5EF4-FFF2-40B4-BE49-F238E27FC236}">
                <a16:creationId xmlns:a16="http://schemas.microsoft.com/office/drawing/2014/main" id="{535443B2-390F-4D43-AFF5-FF5F8E34F3A9}"/>
              </a:ext>
            </a:extLst>
          </p:cNvPr>
          <p:cNvGrpSpPr>
            <a:grpSpLocks/>
          </p:cNvGrpSpPr>
          <p:nvPr/>
        </p:nvGrpSpPr>
        <p:grpSpPr bwMode="auto">
          <a:xfrm>
            <a:off x="7552206" y="4768277"/>
            <a:ext cx="546100" cy="225425"/>
            <a:chOff x="1287" y="2524"/>
            <a:chExt cx="260" cy="100"/>
          </a:xfrm>
        </p:grpSpPr>
        <p:sp>
          <p:nvSpPr>
            <p:cNvPr id="106" name="Rectangle 80">
              <a:extLst>
                <a:ext uri="{FF2B5EF4-FFF2-40B4-BE49-F238E27FC236}">
                  <a16:creationId xmlns:a16="http://schemas.microsoft.com/office/drawing/2014/main" id="{160B4F41-7E38-6E47-B7F6-C6AA76DC2EAA}"/>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81">
              <a:extLst>
                <a:ext uri="{FF2B5EF4-FFF2-40B4-BE49-F238E27FC236}">
                  <a16:creationId xmlns:a16="http://schemas.microsoft.com/office/drawing/2014/main" id="{28B3876F-4677-0D4D-AF89-6E06B2B3CD7D}"/>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Rectangle 82">
              <a:extLst>
                <a:ext uri="{FF2B5EF4-FFF2-40B4-BE49-F238E27FC236}">
                  <a16:creationId xmlns:a16="http://schemas.microsoft.com/office/drawing/2014/main" id="{51611D2E-921B-804E-9775-6922F75F41D7}"/>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Rectangle 83">
              <a:extLst>
                <a:ext uri="{FF2B5EF4-FFF2-40B4-BE49-F238E27FC236}">
                  <a16:creationId xmlns:a16="http://schemas.microsoft.com/office/drawing/2014/main" id="{CBFB6CF2-1A50-F741-BAE7-97F8AF134DB5}"/>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0" name="Line 88">
            <a:extLst>
              <a:ext uri="{FF2B5EF4-FFF2-40B4-BE49-F238E27FC236}">
                <a16:creationId xmlns:a16="http://schemas.microsoft.com/office/drawing/2014/main" id="{EAAA0F7C-765D-CD49-B290-164DB9D3A19B}"/>
              </a:ext>
            </a:extLst>
          </p:cNvPr>
          <p:cNvSpPr>
            <a:spLocks noChangeShapeType="1"/>
          </p:cNvSpPr>
          <p:nvPr/>
        </p:nvSpPr>
        <p:spPr bwMode="auto">
          <a:xfrm flipH="1">
            <a:off x="8361831" y="4539677"/>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89">
            <a:extLst>
              <a:ext uri="{FF2B5EF4-FFF2-40B4-BE49-F238E27FC236}">
                <a16:creationId xmlns:a16="http://schemas.microsoft.com/office/drawing/2014/main" id="{D2CD81D4-6282-5749-AF3E-B0E55816CDA4}"/>
              </a:ext>
            </a:extLst>
          </p:cNvPr>
          <p:cNvSpPr>
            <a:spLocks noChangeShapeType="1"/>
          </p:cNvSpPr>
          <p:nvPr/>
        </p:nvSpPr>
        <p:spPr bwMode="auto">
          <a:xfrm>
            <a:off x="8587256" y="4965127"/>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90">
            <a:extLst>
              <a:ext uri="{FF2B5EF4-FFF2-40B4-BE49-F238E27FC236}">
                <a16:creationId xmlns:a16="http://schemas.microsoft.com/office/drawing/2014/main" id="{86899CB5-FD7D-A644-9755-2DA9E5F4AA77}"/>
              </a:ext>
            </a:extLst>
          </p:cNvPr>
          <p:cNvSpPr>
            <a:spLocks noChangeShapeType="1"/>
          </p:cNvSpPr>
          <p:nvPr/>
        </p:nvSpPr>
        <p:spPr bwMode="auto">
          <a:xfrm flipH="1">
            <a:off x="8611068" y="5465189"/>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Text Box 56">
            <a:extLst>
              <a:ext uri="{FF2B5EF4-FFF2-40B4-BE49-F238E27FC236}">
                <a16:creationId xmlns:a16="http://schemas.microsoft.com/office/drawing/2014/main" id="{2CFC877C-1B09-8849-95D0-2EBA259C9E78}"/>
              </a:ext>
            </a:extLst>
          </p:cNvPr>
          <p:cNvSpPr txBox="1">
            <a:spLocks noChangeArrowheads="1"/>
          </p:cNvSpPr>
          <p:nvPr/>
        </p:nvSpPr>
        <p:spPr bwMode="auto">
          <a:xfrm>
            <a:off x="5524968" y="4220589"/>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14" name="Line 92">
            <a:extLst>
              <a:ext uri="{FF2B5EF4-FFF2-40B4-BE49-F238E27FC236}">
                <a16:creationId xmlns:a16="http://schemas.microsoft.com/office/drawing/2014/main" id="{F5883250-9436-014C-B8FA-7F184F4516E0}"/>
              </a:ext>
            </a:extLst>
          </p:cNvPr>
          <p:cNvSpPr>
            <a:spLocks noChangeShapeType="1"/>
          </p:cNvSpPr>
          <p:nvPr/>
        </p:nvSpPr>
        <p:spPr bwMode="auto">
          <a:xfrm flipV="1">
            <a:off x="4528018" y="4420614"/>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93">
            <a:extLst>
              <a:ext uri="{FF2B5EF4-FFF2-40B4-BE49-F238E27FC236}">
                <a16:creationId xmlns:a16="http://schemas.microsoft.com/office/drawing/2014/main" id="{F83582A8-D082-E24D-9637-B677A079F014}"/>
              </a:ext>
            </a:extLst>
          </p:cNvPr>
          <p:cNvSpPr>
            <a:spLocks noChangeShapeType="1"/>
          </p:cNvSpPr>
          <p:nvPr/>
        </p:nvSpPr>
        <p:spPr bwMode="auto">
          <a:xfrm flipH="1" flipV="1">
            <a:off x="6463181" y="4409502"/>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 name="Group 96">
            <a:extLst>
              <a:ext uri="{FF2B5EF4-FFF2-40B4-BE49-F238E27FC236}">
                <a16:creationId xmlns:a16="http://schemas.microsoft.com/office/drawing/2014/main" id="{A4EC689D-3AE5-AC42-8E9A-D41B31DF26A0}"/>
              </a:ext>
            </a:extLst>
          </p:cNvPr>
          <p:cNvGrpSpPr>
            <a:grpSpLocks/>
          </p:cNvGrpSpPr>
          <p:nvPr/>
        </p:nvGrpSpPr>
        <p:grpSpPr bwMode="auto">
          <a:xfrm>
            <a:off x="2318218" y="5474714"/>
            <a:ext cx="719138" cy="773113"/>
            <a:chOff x="-44" y="1473"/>
            <a:chExt cx="981" cy="1105"/>
          </a:xfrm>
        </p:grpSpPr>
        <p:pic>
          <p:nvPicPr>
            <p:cNvPr id="117" name="Picture 97" descr="desktop_computer_stylized_medium">
              <a:extLst>
                <a:ext uri="{FF2B5EF4-FFF2-40B4-BE49-F238E27FC236}">
                  <a16:creationId xmlns:a16="http://schemas.microsoft.com/office/drawing/2014/main" id="{4EAFAA9B-1FE4-8048-AEF5-4600C1CB33F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Freeform 98">
              <a:extLst>
                <a:ext uri="{FF2B5EF4-FFF2-40B4-BE49-F238E27FC236}">
                  <a16:creationId xmlns:a16="http://schemas.microsoft.com/office/drawing/2014/main" id="{88B1BD01-DE89-6A4D-A050-0D8D405A8F9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9" name="Group 99">
            <a:extLst>
              <a:ext uri="{FF2B5EF4-FFF2-40B4-BE49-F238E27FC236}">
                <a16:creationId xmlns:a16="http://schemas.microsoft.com/office/drawing/2014/main" id="{13D0F484-888E-5342-9E3B-6B702B522B88}"/>
              </a:ext>
            </a:extLst>
          </p:cNvPr>
          <p:cNvGrpSpPr>
            <a:grpSpLocks/>
          </p:cNvGrpSpPr>
          <p:nvPr/>
        </p:nvGrpSpPr>
        <p:grpSpPr bwMode="auto">
          <a:xfrm flipH="1">
            <a:off x="9014293" y="5669977"/>
            <a:ext cx="719138" cy="773112"/>
            <a:chOff x="-44" y="1473"/>
            <a:chExt cx="981" cy="1105"/>
          </a:xfrm>
        </p:grpSpPr>
        <p:pic>
          <p:nvPicPr>
            <p:cNvPr id="120" name="Picture 100" descr="desktop_computer_stylized_medium">
              <a:extLst>
                <a:ext uri="{FF2B5EF4-FFF2-40B4-BE49-F238E27FC236}">
                  <a16:creationId xmlns:a16="http://schemas.microsoft.com/office/drawing/2014/main" id="{A3C739BC-E497-6E4F-8AF0-1E359C6228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
              <a:extLst>
                <a:ext uri="{FF2B5EF4-FFF2-40B4-BE49-F238E27FC236}">
                  <a16:creationId xmlns:a16="http://schemas.microsoft.com/office/drawing/2014/main" id="{34D4BA65-175D-534B-96CE-35055DA62B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7" name="Slide Number Placeholder 2">
            <a:extLst>
              <a:ext uri="{FF2B5EF4-FFF2-40B4-BE49-F238E27FC236}">
                <a16:creationId xmlns:a16="http://schemas.microsoft.com/office/drawing/2014/main" id="{4F8ECF08-A4D3-AC44-87C7-BD50757B39D8}"/>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18</a:t>
            </a:fld>
            <a:endParaRPr lang="en-US" dirty="0"/>
          </a:p>
        </p:txBody>
      </p:sp>
    </p:spTree>
    <p:extLst>
      <p:ext uri="{BB962C8B-B14F-4D97-AF65-F5344CB8AC3E}">
        <p14:creationId xmlns:p14="http://schemas.microsoft.com/office/powerpoint/2010/main" val="2306501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8">
                                            <p:txEl>
                                              <p:pRg st="1" end="1"/>
                                            </p:txEl>
                                          </p:spTgt>
                                        </p:tgtEl>
                                        <p:attrNameLst>
                                          <p:attrName>style.visibility</p:attrName>
                                        </p:attrNameLst>
                                      </p:cBhvr>
                                      <p:to>
                                        <p:strVal val="visible"/>
                                      </p:to>
                                    </p:set>
                                    <p:animEffect transition="in" filter="dissolve">
                                      <p:cBhvr>
                                        <p:cTn id="7" dur="500"/>
                                        <p:tgtEl>
                                          <p:spTgt spid="6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8">
                                            <p:txEl>
                                              <p:pRg st="2" end="2"/>
                                            </p:txEl>
                                          </p:spTgt>
                                        </p:tgtEl>
                                        <p:attrNameLst>
                                          <p:attrName>style.visibility</p:attrName>
                                        </p:attrNameLst>
                                      </p:cBhvr>
                                      <p:to>
                                        <p:strVal val="visible"/>
                                      </p:to>
                                    </p:set>
                                    <p:animEffect transition="in" filter="dissolve">
                                      <p:cBhvr>
                                        <p:cTn id="12" dur="500"/>
                                        <p:tgtEl>
                                          <p:spTgt spid="6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8">
                                            <p:txEl>
                                              <p:pRg st="3" end="3"/>
                                            </p:txEl>
                                          </p:spTgt>
                                        </p:tgtEl>
                                        <p:attrNameLst>
                                          <p:attrName>style.visibility</p:attrName>
                                        </p:attrNameLst>
                                      </p:cBhvr>
                                      <p:to>
                                        <p:strVal val="visible"/>
                                      </p:to>
                                    </p:set>
                                    <p:animEffect transition="in" filter="dissolve">
                                      <p:cBhvr>
                                        <p:cTn id="17" dur="500"/>
                                        <p:tgtEl>
                                          <p:spTgt spid="68">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8">
                                            <p:txEl>
                                              <p:pRg st="4" end="4"/>
                                            </p:txEl>
                                          </p:spTgt>
                                        </p:tgtEl>
                                        <p:attrNameLst>
                                          <p:attrName>style.visibility</p:attrName>
                                        </p:attrNameLst>
                                      </p:cBhvr>
                                      <p:to>
                                        <p:strVal val="visible"/>
                                      </p:to>
                                    </p:set>
                                    <p:animEffect transition="in" filter="dissolve">
                                      <p:cBhvr>
                                        <p:cTn id="22" dur="500"/>
                                        <p:tgtEl>
                                          <p:spTgt spid="6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Addressing processes</a:t>
            </a:r>
            <a:endParaRPr lang="en-US" sz="4400" dirty="0"/>
          </a:p>
        </p:txBody>
      </p:sp>
      <p:sp>
        <p:nvSpPr>
          <p:cNvPr id="61" name="Rectangle 3">
            <a:extLst>
              <a:ext uri="{FF2B5EF4-FFF2-40B4-BE49-F238E27FC236}">
                <a16:creationId xmlns:a16="http://schemas.microsoft.com/office/drawing/2014/main" id="{4B0603A7-FD76-E142-950F-40A4CCA78957}"/>
              </a:ext>
            </a:extLst>
          </p:cNvPr>
          <p:cNvSpPr txBox="1">
            <a:spLocks noChangeArrowheads="1"/>
          </p:cNvSpPr>
          <p:nvPr/>
        </p:nvSpPr>
        <p:spPr>
          <a:xfrm>
            <a:off x="695101" y="1464896"/>
            <a:ext cx="496447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receive messages, process  must have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device has unique 32-bit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does  IP address of host on which process runs suffice for identifying the process?</a:t>
            </a:r>
          </a:p>
        </p:txBody>
      </p:sp>
      <p:sp>
        <p:nvSpPr>
          <p:cNvPr id="62" name="Rectangle 4">
            <a:extLst>
              <a:ext uri="{FF2B5EF4-FFF2-40B4-BE49-F238E27FC236}">
                <a16:creationId xmlns:a16="http://schemas.microsoft.com/office/drawing/2014/main" id="{3FB47D89-608E-6B48-B260-00596EFC3969}"/>
              </a:ext>
            </a:extLst>
          </p:cNvPr>
          <p:cNvSpPr txBox="1">
            <a:spLocks noChangeArrowheads="1"/>
          </p:cNvSpPr>
          <p:nvPr/>
        </p:nvSpPr>
        <p:spPr>
          <a:xfrm>
            <a:off x="6056491" y="1464896"/>
            <a:ext cx="5573224" cy="5218112"/>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includes both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associated with process on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port numbers: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server: 80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25</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send HTTP message to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gaia.cs.umass.edu</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web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128.119.245.12</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80</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shortly…</a:t>
            </a:r>
          </a:p>
        </p:txBody>
      </p:sp>
      <p:sp>
        <p:nvSpPr>
          <p:cNvPr id="63" name="Rectangle 3">
            <a:extLst>
              <a:ext uri="{FF2B5EF4-FFF2-40B4-BE49-F238E27FC236}">
                <a16:creationId xmlns:a16="http://schemas.microsoft.com/office/drawing/2014/main" id="{E09403B9-43A8-5149-B58E-34440F6ABEAA}"/>
              </a:ext>
            </a:extLst>
          </p:cNvPr>
          <p:cNvSpPr>
            <a:spLocks noChangeArrowheads="1"/>
          </p:cNvSpPr>
          <p:nvPr/>
        </p:nvSpPr>
        <p:spPr bwMode="auto">
          <a:xfrm>
            <a:off x="562285" y="4507034"/>
            <a:ext cx="4314515"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742950" marR="0" lvl="1" indent="-285750" algn="l" defTabSz="914400" rtl="0" eaLnBrk="1" fontAlgn="auto" latinLnBrk="0" hangingPunct="1">
              <a:lnSpc>
                <a:spcPct val="85000"/>
              </a:lnSpc>
              <a:spcBef>
                <a:spcPts val="0"/>
              </a:spcBef>
              <a:spcAft>
                <a:spcPts val="0"/>
              </a:spcAft>
              <a:buClr>
                <a:srgbClr val="000099"/>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processes can be running on same host</a:t>
            </a:r>
          </a:p>
        </p:txBody>
      </p:sp>
      <p:sp>
        <p:nvSpPr>
          <p:cNvPr id="6" name="Slide Number Placeholder 2">
            <a:extLst>
              <a:ext uri="{FF2B5EF4-FFF2-40B4-BE49-F238E27FC236}">
                <a16:creationId xmlns:a16="http://schemas.microsoft.com/office/drawing/2014/main" id="{21946457-0440-7A46-8315-47A8A412F958}"/>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19</a:t>
            </a:fld>
            <a:endParaRPr lang="en-US" dirty="0"/>
          </a:p>
        </p:txBody>
      </p:sp>
    </p:spTree>
    <p:extLst>
      <p:ext uri="{BB962C8B-B14F-4D97-AF65-F5344CB8AC3E}">
        <p14:creationId xmlns:p14="http://schemas.microsoft.com/office/powerpoint/2010/main" val="811476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1">
                                            <p:txEl>
                                              <p:pRg st="2" end="2"/>
                                            </p:txEl>
                                          </p:spTgt>
                                        </p:tgtEl>
                                        <p:attrNameLst>
                                          <p:attrName>style.visibility</p:attrName>
                                        </p:attrNameLst>
                                      </p:cBhvr>
                                      <p:to>
                                        <p:strVal val="visible"/>
                                      </p:to>
                                    </p:set>
                                    <p:animEffect transition="in" filter="dissolve">
                                      <p:cBhvr>
                                        <p:cTn id="7" dur="500"/>
                                        <p:tgtEl>
                                          <p:spTgt spid="61">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3">
                                            <p:txEl>
                                              <p:pRg st="0" end="0"/>
                                            </p:txEl>
                                          </p:spTgt>
                                        </p:tgtEl>
                                        <p:attrNameLst>
                                          <p:attrName>style.visibility</p:attrName>
                                        </p:attrNameLst>
                                      </p:cBhvr>
                                      <p:to>
                                        <p:strVal val="visible"/>
                                      </p:to>
                                    </p:set>
                                    <p:animEffect transition="in" filter="dissolve">
                                      <p:cBhvr>
                                        <p:cTn id="12" dur="500"/>
                                        <p:tgtEl>
                                          <p:spTgt spid="63">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2">
                                            <p:txEl>
                                              <p:pRg st="0" end="0"/>
                                            </p:txEl>
                                          </p:spTgt>
                                        </p:tgtEl>
                                        <p:attrNameLst>
                                          <p:attrName>style.visibility</p:attrName>
                                        </p:attrNameLst>
                                      </p:cBhvr>
                                      <p:to>
                                        <p:strVal val="visible"/>
                                      </p:to>
                                    </p:set>
                                    <p:animEffect transition="in" filter="dissolve">
                                      <p:cBhvr>
                                        <p:cTn id="17" dur="500"/>
                                        <p:tgtEl>
                                          <p:spTgt spid="62">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
                                            <p:txEl>
                                              <p:pRg st="1" end="1"/>
                                            </p:txEl>
                                          </p:spTgt>
                                        </p:tgtEl>
                                        <p:attrNameLst>
                                          <p:attrName>style.visibility</p:attrName>
                                        </p:attrNameLst>
                                      </p:cBhvr>
                                      <p:to>
                                        <p:strVal val="visible"/>
                                      </p:to>
                                    </p:set>
                                    <p:animEffect transition="in" filter="dissolve">
                                      <p:cBhvr>
                                        <p:cTn id="22" dur="500"/>
                                        <p:tgtEl>
                                          <p:spTgt spid="62">
                                            <p:txEl>
                                              <p:pRg st="1" end="1"/>
                                            </p:txEl>
                                          </p:spTgt>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xEl>
                                              <p:pRg st="2" end="2"/>
                                            </p:txEl>
                                          </p:spTgt>
                                        </p:tgtEl>
                                        <p:attrNameLst>
                                          <p:attrName>style.visibility</p:attrName>
                                        </p:attrNameLst>
                                      </p:cBhvr>
                                      <p:to>
                                        <p:strVal val="visible"/>
                                      </p:to>
                                    </p:set>
                                    <p:animEffect transition="in" filter="dissolve">
                                      <p:cBhvr>
                                        <p:cTn id="25" dur="500"/>
                                        <p:tgtEl>
                                          <p:spTgt spid="62">
                                            <p:txEl>
                                              <p:pRg st="2" end="2"/>
                                            </p:txEl>
                                          </p:spTgt>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62">
                                            <p:txEl>
                                              <p:pRg st="3" end="3"/>
                                            </p:txEl>
                                          </p:spTgt>
                                        </p:tgtEl>
                                        <p:attrNameLst>
                                          <p:attrName>style.visibility</p:attrName>
                                        </p:attrNameLst>
                                      </p:cBhvr>
                                      <p:to>
                                        <p:strVal val="visible"/>
                                      </p:to>
                                    </p:set>
                                    <p:animEffect transition="in" filter="dissolve">
                                      <p:cBhvr>
                                        <p:cTn id="28" dur="500"/>
                                        <p:tgtEl>
                                          <p:spTgt spid="62">
                                            <p:txEl>
                                              <p:pRg st="3" end="3"/>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62">
                                            <p:txEl>
                                              <p:pRg st="4" end="4"/>
                                            </p:txEl>
                                          </p:spTgt>
                                        </p:tgtEl>
                                        <p:attrNameLst>
                                          <p:attrName>style.visibility</p:attrName>
                                        </p:attrNameLst>
                                      </p:cBhvr>
                                      <p:to>
                                        <p:strVal val="visible"/>
                                      </p:to>
                                    </p:set>
                                    <p:animEffect transition="in" filter="dissolve">
                                      <p:cBhvr>
                                        <p:cTn id="33" dur="500"/>
                                        <p:tgtEl>
                                          <p:spTgt spid="62">
                                            <p:txEl>
                                              <p:pRg st="4" end="4"/>
                                            </p:txEl>
                                          </p:spTgt>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62">
                                            <p:txEl>
                                              <p:pRg st="5" end="5"/>
                                            </p:txEl>
                                          </p:spTgt>
                                        </p:tgtEl>
                                        <p:attrNameLst>
                                          <p:attrName>style.visibility</p:attrName>
                                        </p:attrNameLst>
                                      </p:cBhvr>
                                      <p:to>
                                        <p:strVal val="visible"/>
                                      </p:to>
                                    </p:set>
                                    <p:animEffect transition="in" filter="dissolve">
                                      <p:cBhvr>
                                        <p:cTn id="36" dur="500"/>
                                        <p:tgtEl>
                                          <p:spTgt spid="62">
                                            <p:txEl>
                                              <p:pRg st="5" end="5"/>
                                            </p:txEl>
                                          </p:spTgt>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62">
                                            <p:txEl>
                                              <p:pRg st="6" end="6"/>
                                            </p:txEl>
                                          </p:spTgt>
                                        </p:tgtEl>
                                        <p:attrNameLst>
                                          <p:attrName>style.visibility</p:attrName>
                                        </p:attrNameLst>
                                      </p:cBhvr>
                                      <p:to>
                                        <p:strVal val="visible"/>
                                      </p:to>
                                    </p:set>
                                    <p:animEffect transition="in" filter="dissolve">
                                      <p:cBhvr>
                                        <p:cTn id="39" dur="500"/>
                                        <p:tgtEl>
                                          <p:spTgt spid="62">
                                            <p:txEl>
                                              <p:pRg st="6" end="6"/>
                                            </p:txEl>
                                          </p:spTgt>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ntr" presetSubtype="0" fill="hold" grpId="0" nodeType="clickEffect">
                                  <p:stCondLst>
                                    <p:cond delay="0"/>
                                  </p:stCondLst>
                                  <p:childTnLst>
                                    <p:set>
                                      <p:cBhvr>
                                        <p:cTn id="43" dur="1" fill="hold">
                                          <p:stCondLst>
                                            <p:cond delay="0"/>
                                          </p:stCondLst>
                                        </p:cTn>
                                        <p:tgtEl>
                                          <p:spTgt spid="62">
                                            <p:txEl>
                                              <p:pRg st="7" end="7"/>
                                            </p:txEl>
                                          </p:spTgt>
                                        </p:tgtEl>
                                        <p:attrNameLst>
                                          <p:attrName>style.visibility</p:attrName>
                                        </p:attrNameLst>
                                      </p:cBhvr>
                                      <p:to>
                                        <p:strVal val="visible"/>
                                      </p:to>
                                    </p:set>
                                    <p:animEffect transition="in" filter="dissolve">
                                      <p:cBhvr>
                                        <p:cTn id="44" dur="500"/>
                                        <p:tgtEl>
                                          <p:spTgt spid="6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An application-layer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rotocol </a:t>
            </a:r>
            <a:r>
              <a:rPr lang="en-US" altLang="en-US" dirty="0">
                <a:ea typeface="ＭＳ Ｐゴシック" panose="020B0600070205080204" pitchFamily="34" charset="-128"/>
              </a:rPr>
              <a:t>d</a:t>
            </a:r>
            <a:r>
              <a:rPr lang="en-US" altLang="en-US" sz="4400" dirty="0">
                <a:ea typeface="ＭＳ Ｐゴシック" panose="020B0600070205080204" pitchFamily="34" charset="-128"/>
              </a:rPr>
              <a:t>efines:</a:t>
            </a:r>
            <a:endParaRPr lang="en-US" sz="4400" dirty="0"/>
          </a:p>
        </p:txBody>
      </p:sp>
      <p:sp>
        <p:nvSpPr>
          <p:cNvPr id="7" name="Rectangle 3">
            <a:extLst>
              <a:ext uri="{FF2B5EF4-FFF2-40B4-BE49-F238E27FC236}">
                <a16:creationId xmlns:a16="http://schemas.microsoft.com/office/drawing/2014/main" id="{8251B37A-10ED-6C4A-A5F1-4B1BE824E86A}"/>
              </a:ext>
            </a:extLst>
          </p:cNvPr>
          <p:cNvSpPr txBox="1">
            <a:spLocks noChangeArrowheads="1"/>
          </p:cNvSpPr>
          <p:nvPr/>
        </p:nvSpPr>
        <p:spPr>
          <a:xfrm>
            <a:off x="759182" y="1464838"/>
            <a:ext cx="529730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types of messages exchanged,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request, response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syntax: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fields in messages &amp; how fields are delineated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semantics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meaning of information in fields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rules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when and how processes send &amp; respond to messages</a:t>
            </a:r>
          </a:p>
        </p:txBody>
      </p:sp>
      <p:sp>
        <p:nvSpPr>
          <p:cNvPr id="8" name="Rectangle 4">
            <a:extLst>
              <a:ext uri="{FF2B5EF4-FFF2-40B4-BE49-F238E27FC236}">
                <a16:creationId xmlns:a16="http://schemas.microsoft.com/office/drawing/2014/main" id="{E3FA004C-2235-334F-8814-1F36401D2A86}"/>
              </a:ext>
            </a:extLst>
          </p:cNvPr>
          <p:cNvSpPr txBox="1">
            <a:spLocks noChangeArrowheads="1"/>
          </p:cNvSpPr>
          <p:nvPr/>
        </p:nvSpPr>
        <p:spPr>
          <a:xfrm>
            <a:off x="6555631" y="1474670"/>
            <a:ext cx="475866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open protocols: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in RFCs, everyone has access to protocol definition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allows for interoperability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HTTP,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proprietary protocols: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Skype, Zoom</a:t>
            </a:r>
          </a:p>
        </p:txBody>
      </p:sp>
      <p:sp>
        <p:nvSpPr>
          <p:cNvPr id="5" name="Slide Number Placeholder 2">
            <a:extLst>
              <a:ext uri="{FF2B5EF4-FFF2-40B4-BE49-F238E27FC236}">
                <a16:creationId xmlns:a16="http://schemas.microsoft.com/office/drawing/2014/main" id="{2BFE3DF4-2D02-7D4F-B76E-99CD4324F96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20</a:t>
            </a:fld>
            <a:endParaRPr lang="en-US" dirty="0"/>
          </a:p>
        </p:txBody>
      </p:sp>
    </p:spTree>
    <p:extLst>
      <p:ext uri="{BB962C8B-B14F-4D97-AF65-F5344CB8AC3E}">
        <p14:creationId xmlns:p14="http://schemas.microsoft.com/office/powerpoint/2010/main" val="511336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7">
                                            <p:txEl>
                                              <p:pRg st="4" end="4"/>
                                            </p:txEl>
                                          </p:spTgt>
                                        </p:tgtEl>
                                        <p:attrNameLst>
                                          <p:attrName>style.visibility</p:attrName>
                                        </p:attrNameLst>
                                      </p:cBhvr>
                                      <p:to>
                                        <p:strVal val="visible"/>
                                      </p:to>
                                    </p:set>
                                    <p:animEffect transition="in" filter="dissolve">
                                      <p:cBhvr>
                                        <p:cTn id="13" dur="500"/>
                                        <p:tgtEl>
                                          <p:spTgt spid="7">
                                            <p:txEl>
                                              <p:pRg st="4" end="4"/>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7">
                                            <p:txEl>
                                              <p:pRg st="5" end="5"/>
                                            </p:txEl>
                                          </p:spTgt>
                                        </p:tgtEl>
                                        <p:attrNameLst>
                                          <p:attrName>style.visibility</p:attrName>
                                        </p:attrNameLst>
                                      </p:cBhvr>
                                      <p:to>
                                        <p:strVal val="visible"/>
                                      </p:to>
                                    </p:set>
                                    <p:animEffect transition="in" filter="dissolve">
                                      <p:cBhvr>
                                        <p:cTn id="16" dur="500"/>
                                        <p:tgtEl>
                                          <p:spTgt spid="7">
                                            <p:txEl>
                                              <p:pRg st="5" end="5"/>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7">
                                            <p:txEl>
                                              <p:pRg st="6" end="6"/>
                                            </p:txEl>
                                          </p:spTgt>
                                        </p:tgtEl>
                                        <p:attrNameLst>
                                          <p:attrName>style.visibility</p:attrName>
                                        </p:attrNameLst>
                                      </p:cBhvr>
                                      <p:to>
                                        <p:strVal val="visible"/>
                                      </p:to>
                                    </p:set>
                                    <p:animEffect transition="in" filter="dissolve">
                                      <p:cBhvr>
                                        <p:cTn id="21" dur="500"/>
                                        <p:tgtEl>
                                          <p:spTgt spid="7">
                                            <p:txEl>
                                              <p:pRg st="6" end="6"/>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8">
                                            <p:txEl>
                                              <p:pRg st="0" end="0"/>
                                            </p:txEl>
                                          </p:spTgt>
                                        </p:tgtEl>
                                        <p:attrNameLst>
                                          <p:attrName>style.visibility</p:attrName>
                                        </p:attrNameLst>
                                      </p:cBhvr>
                                      <p:to>
                                        <p:strVal val="visible"/>
                                      </p:to>
                                    </p:set>
                                    <p:animEffect transition="in" filter="dissolve">
                                      <p:cBhvr>
                                        <p:cTn id="26" dur="500"/>
                                        <p:tgtEl>
                                          <p:spTgt spid="8">
                                            <p:txEl>
                                              <p:pRg st="0" end="0"/>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8">
                                            <p:txEl>
                                              <p:pRg st="1" end="1"/>
                                            </p:txEl>
                                          </p:spTgt>
                                        </p:tgtEl>
                                        <p:attrNameLst>
                                          <p:attrName>style.visibility</p:attrName>
                                        </p:attrNameLst>
                                      </p:cBhvr>
                                      <p:to>
                                        <p:strVal val="visible"/>
                                      </p:to>
                                    </p:set>
                                    <p:animEffect transition="in" filter="dissolve">
                                      <p:cBhvr>
                                        <p:cTn id="29" dur="500"/>
                                        <p:tgtEl>
                                          <p:spTgt spid="8">
                                            <p:txEl>
                                              <p:pRg st="1" end="1"/>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8">
                                            <p:txEl>
                                              <p:pRg st="2" end="2"/>
                                            </p:txEl>
                                          </p:spTgt>
                                        </p:tgtEl>
                                        <p:attrNameLst>
                                          <p:attrName>style.visibility</p:attrName>
                                        </p:attrNameLst>
                                      </p:cBhvr>
                                      <p:to>
                                        <p:strVal val="visible"/>
                                      </p:to>
                                    </p:set>
                                    <p:animEffect transition="in" filter="dissolve">
                                      <p:cBhvr>
                                        <p:cTn id="32" dur="500"/>
                                        <p:tgtEl>
                                          <p:spTgt spid="8">
                                            <p:txEl>
                                              <p:pRg st="2" end="2"/>
                                            </p:txEl>
                                          </p:spTgt>
                                        </p:tgtEl>
                                      </p:cBhvr>
                                    </p:animEffect>
                                  </p:childTnLst>
                                </p:cTn>
                              </p:par>
                              <p:par>
                                <p:cTn id="33" presetID="9" presetClass="entr" presetSubtype="0" fill="hold" nodeType="withEffect">
                                  <p:stCondLst>
                                    <p:cond delay="0"/>
                                  </p:stCondLst>
                                  <p:childTnLst>
                                    <p:set>
                                      <p:cBhvr>
                                        <p:cTn id="34" dur="1" fill="hold">
                                          <p:stCondLst>
                                            <p:cond delay="0"/>
                                          </p:stCondLst>
                                        </p:cTn>
                                        <p:tgtEl>
                                          <p:spTgt spid="8">
                                            <p:txEl>
                                              <p:pRg st="3" end="3"/>
                                            </p:txEl>
                                          </p:spTgt>
                                        </p:tgtEl>
                                        <p:attrNameLst>
                                          <p:attrName>style.visibility</p:attrName>
                                        </p:attrNameLst>
                                      </p:cBhvr>
                                      <p:to>
                                        <p:strVal val="visible"/>
                                      </p:to>
                                    </p:set>
                                    <p:animEffect transition="in" filter="dissolve">
                                      <p:cBhvr>
                                        <p:cTn id="35" dur="500"/>
                                        <p:tgtEl>
                                          <p:spTgt spid="8">
                                            <p:txEl>
                                              <p:pRg st="3" end="3"/>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
                                            <p:txEl>
                                              <p:pRg st="4" end="4"/>
                                            </p:txEl>
                                          </p:spTgt>
                                        </p:tgtEl>
                                        <p:attrNameLst>
                                          <p:attrName>style.visibility</p:attrName>
                                        </p:attrNameLst>
                                      </p:cBhvr>
                                      <p:to>
                                        <p:strVal val="visible"/>
                                      </p:to>
                                    </p:set>
                                    <p:animEffect transition="in" filter="dissolve">
                                      <p:cBhvr>
                                        <p:cTn id="40" dur="500"/>
                                        <p:tgtEl>
                                          <p:spTgt spid="8">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5" end="5"/>
                                            </p:txEl>
                                          </p:spTgt>
                                        </p:tgtEl>
                                        <p:attrNameLst>
                                          <p:attrName>style.visibility</p:attrName>
                                        </p:attrNameLst>
                                      </p:cBhvr>
                                      <p:to>
                                        <p:strVal val="visible"/>
                                      </p:to>
                                    </p:set>
                                    <p:animEffect transition="in" filter="dissolve">
                                      <p:cBhvr>
                                        <p:cTn id="43" dur="500"/>
                                        <p:tgtEl>
                                          <p:spTgt spid="8">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Web and HTTP</a:t>
            </a:r>
            <a:endParaRPr lang="en-US" sz="4400" dirty="0"/>
          </a:p>
        </p:txBody>
      </p:sp>
      <p:sp>
        <p:nvSpPr>
          <p:cNvPr id="8" name="Rectangle 3">
            <a:extLst>
              <a:ext uri="{FF2B5EF4-FFF2-40B4-BE49-F238E27FC236}">
                <a16:creationId xmlns:a16="http://schemas.microsoft.com/office/drawing/2014/main" id="{2AB7AFB9-05B7-8F45-B2AB-A2B2DBC22CCE}"/>
              </a:ext>
            </a:extLst>
          </p:cNvPr>
          <p:cNvSpPr txBox="1">
            <a:spLocks noChangeArrowheads="1"/>
          </p:cNvSpPr>
          <p:nvPr/>
        </p:nvSpPr>
        <p:spPr>
          <a:xfrm>
            <a:off x="669395" y="1559756"/>
            <a:ext cx="10774192"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First, a quick review…</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objects,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each of</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which can be stored on different Web servers</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 can be HTML file, JPEG image, Java applet, audio file,…</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base HTML-file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which includes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several referenced objects, each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addressable by a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URL,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3" name="Group 10">
            <a:extLst>
              <a:ext uri="{FF2B5EF4-FFF2-40B4-BE49-F238E27FC236}">
                <a16:creationId xmlns:a16="http://schemas.microsoft.com/office/drawing/2014/main" id="{A0C8A734-DC35-F347-AF3E-C7E64B7D785E}"/>
              </a:ext>
            </a:extLst>
          </p:cNvPr>
          <p:cNvGrpSpPr>
            <a:grpSpLocks/>
          </p:cNvGrpSpPr>
          <p:nvPr/>
        </p:nvGrpSpPr>
        <p:grpSpPr bwMode="auto">
          <a:xfrm>
            <a:off x="2463366" y="4853073"/>
            <a:ext cx="6835775" cy="1144588"/>
            <a:chOff x="788" y="2955"/>
            <a:chExt cx="4306" cy="721"/>
          </a:xfrm>
        </p:grpSpPr>
        <p:sp>
          <p:nvSpPr>
            <p:cNvPr id="14" name="Text Box 5">
              <a:extLst>
                <a:ext uri="{FF2B5EF4-FFF2-40B4-BE49-F238E27FC236}">
                  <a16:creationId xmlns:a16="http://schemas.microsoft.com/office/drawing/2014/main" id="{07B49400-3628-264C-8D3A-69378F85C8C1}"/>
                </a:ext>
              </a:extLst>
            </p:cNvPr>
            <p:cNvSpPr txBox="1">
              <a:spLocks noChangeArrowheads="1"/>
            </p:cNvSpPr>
            <p:nvPr/>
          </p:nvSpPr>
          <p:spPr bwMode="auto">
            <a:xfrm>
              <a:off x="788" y="2955"/>
              <a:ext cx="41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a:t>
              </a:r>
              <a:r>
                <a:rPr kumimoji="0" lang="en-US" altLang="en-US" sz="24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t>
              </a:r>
              <a:r>
                <a:rPr kumimoji="0" lang="en-US" altLang="en-US" sz="2400" b="0"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someDept</a:t>
              </a:r>
              <a:r>
                <a:rPr kumimoji="0" lang="en-US" altLang="en-US" sz="24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t>
              </a:r>
              <a:r>
                <a:rPr kumimoji="0" lang="en-US" altLang="en-US" sz="2400" b="0"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pic.gif</a:t>
              </a:r>
              <a:endParaRPr kumimoji="0" lang="en-US" altLang="en-US" sz="24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p:txBody>
        </p:sp>
        <p:sp>
          <p:nvSpPr>
            <p:cNvPr id="15" name="AutoShape 6">
              <a:extLst>
                <a:ext uri="{FF2B5EF4-FFF2-40B4-BE49-F238E27FC236}">
                  <a16:creationId xmlns:a16="http://schemas.microsoft.com/office/drawing/2014/main" id="{5B0BF68B-EFB6-904F-A81E-8D4DB716D3BA}"/>
                </a:ext>
              </a:extLst>
            </p:cNvPr>
            <p:cNvSpPr>
              <a:spLocks/>
            </p:cNvSpPr>
            <p:nvPr/>
          </p:nvSpPr>
          <p:spPr bwMode="auto">
            <a:xfrm rot="-5400000">
              <a:off x="1821" y="2281"/>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6" name="AutoShape 7">
              <a:extLst>
                <a:ext uri="{FF2B5EF4-FFF2-40B4-BE49-F238E27FC236}">
                  <a16:creationId xmlns:a16="http://schemas.microsoft.com/office/drawing/2014/main" id="{BF004AC2-43AC-6449-B799-0D73A5E5822D}"/>
                </a:ext>
              </a:extLst>
            </p:cNvPr>
            <p:cNvSpPr>
              <a:spLocks/>
            </p:cNvSpPr>
            <p:nvPr/>
          </p:nvSpPr>
          <p:spPr bwMode="auto">
            <a:xfrm rot="-5400000">
              <a:off x="4024" y="2277"/>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8">
              <a:extLst>
                <a:ext uri="{FF2B5EF4-FFF2-40B4-BE49-F238E27FC236}">
                  <a16:creationId xmlns:a16="http://schemas.microsoft.com/office/drawing/2014/main" id="{4D5B851A-267A-1546-B45E-931C3F7AF0F8}"/>
                </a:ext>
              </a:extLst>
            </p:cNvPr>
            <p:cNvSpPr txBox="1">
              <a:spLocks noChangeArrowheads="1"/>
            </p:cNvSpPr>
            <p:nvPr/>
          </p:nvSpPr>
          <p:spPr bwMode="auto">
            <a:xfrm>
              <a:off x="1389" y="3388"/>
              <a:ext cx="10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host name</a:t>
              </a:r>
            </a:p>
          </p:txBody>
        </p:sp>
        <p:sp>
          <p:nvSpPr>
            <p:cNvPr id="18" name="Text Box 9">
              <a:extLst>
                <a:ext uri="{FF2B5EF4-FFF2-40B4-BE49-F238E27FC236}">
                  <a16:creationId xmlns:a16="http://schemas.microsoft.com/office/drawing/2014/main" id="{4EA9C80E-6BB3-B44E-A522-3C7B027B4CFC}"/>
                </a:ext>
              </a:extLst>
            </p:cNvPr>
            <p:cNvSpPr txBox="1">
              <a:spLocks noChangeArrowheads="1"/>
            </p:cNvSpPr>
            <p:nvPr/>
          </p:nvSpPr>
          <p:spPr bwMode="auto">
            <a:xfrm>
              <a:off x="3485" y="3338"/>
              <a:ext cx="10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path</a:t>
              </a:r>
              <a:r>
                <a:rPr kumimoji="0" lang="en-US" altLang="en-US" sz="2400" b="0" i="0" u="none" strike="noStrike" kern="1200" cap="none" spc="0" normalizeH="0" baseline="0" noProof="0">
                  <a:ln>
                    <a:noFill/>
                  </a:ln>
                  <a:solidFill>
                    <a:prstClr val="black"/>
                  </a:solidFill>
                  <a:effectLst/>
                  <a:uLnTx/>
                  <a:uFillTx/>
                  <a:latin typeface="Comic Sans MS" panose="030F0902030302020204" pitchFamily="66" charset="0"/>
                  <a:ea typeface="ＭＳ Ｐゴシック" panose="020B0600070205080204" pitchFamily="34" charset="-128"/>
                  <a:cs typeface="+mn-cs"/>
                </a:rPr>
                <a:t> </a:t>
              </a:r>
              <a:r>
                <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name</a:t>
              </a:r>
            </a:p>
          </p:txBody>
        </p:sp>
      </p:grpSp>
      <p:sp>
        <p:nvSpPr>
          <p:cNvPr id="10" name="Slide Number Placeholder 2">
            <a:extLst>
              <a:ext uri="{FF2B5EF4-FFF2-40B4-BE49-F238E27FC236}">
                <a16:creationId xmlns:a16="http://schemas.microsoft.com/office/drawing/2014/main" id="{31E9D565-6810-E44B-9B1D-6FAB7B7F8E1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21</a:t>
            </a:fld>
            <a:endParaRPr lang="en-US" dirty="0"/>
          </a:p>
        </p:txBody>
      </p:sp>
    </p:spTree>
    <p:extLst>
      <p:ext uri="{BB962C8B-B14F-4D97-AF65-F5344CB8AC3E}">
        <p14:creationId xmlns:p14="http://schemas.microsoft.com/office/powerpoint/2010/main" val="636725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2" end="2"/>
                                            </p:txEl>
                                          </p:spTgt>
                                        </p:tgtEl>
                                        <p:attrNameLst>
                                          <p:attrName>style.visibility</p:attrName>
                                        </p:attrNameLst>
                                      </p:cBhvr>
                                      <p:to>
                                        <p:strVal val="visible"/>
                                      </p:to>
                                    </p:set>
                                    <p:animEffect transition="in" filter="dissolve">
                                      <p:cBhvr>
                                        <p:cTn id="7" dur="500"/>
                                        <p:tgtEl>
                                          <p:spTgt spid="8">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xEl>
                                              <p:pRg st="3" end="3"/>
                                            </p:txEl>
                                          </p:spTgt>
                                        </p:tgtEl>
                                        <p:attrNameLst>
                                          <p:attrName>style.visibility</p:attrName>
                                        </p:attrNameLst>
                                      </p:cBhvr>
                                      <p:to>
                                        <p:strVal val="visible"/>
                                      </p:to>
                                    </p:set>
                                    <p:animEffect transition="in" filter="dissolve">
                                      <p:cBhvr>
                                        <p:cTn id="12" dur="500"/>
                                        <p:tgtEl>
                                          <p:spTgt spid="8">
                                            <p:txEl>
                                              <p:pRg st="3" end="3"/>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dissolve">
                                      <p:cBhvr>
                                        <p:cTn id="1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a:t>
            </a:r>
            <a:endParaRPr lang="en-US" sz="4400" dirty="0"/>
          </a:p>
        </p:txBody>
      </p:sp>
      <p:sp>
        <p:nvSpPr>
          <p:cNvPr id="71" name="Rectangle 3">
            <a:extLst>
              <a:ext uri="{FF2B5EF4-FFF2-40B4-BE49-F238E27FC236}">
                <a16:creationId xmlns:a16="http://schemas.microsoft.com/office/drawing/2014/main" id="{D0A9535F-9718-644A-A429-D02A2397C27B}"/>
              </a:ext>
            </a:extLst>
          </p:cNvPr>
          <p:cNvSpPr txBox="1">
            <a:spLocks noChangeArrowheads="1"/>
          </p:cNvSpPr>
          <p:nvPr/>
        </p:nvSpPr>
        <p:spPr bwMode="auto">
          <a:xfrm>
            <a:off x="791849" y="1608374"/>
            <a:ext cx="5988172"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0"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HTTP: hypertext transfer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Web’</a:t>
            </a:r>
            <a:r>
              <a:rPr kumimoji="0" lang="en-US" altLang="ja-JP"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application-layer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client/server model:</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a:t>
            </a:r>
            <a:r>
              <a:rPr kumimoji="0" lang="en-US" altLang="en-US" sz="2800" b="0" i="1" u="none" strike="noStrike" kern="0" cap="none" spc="0" normalizeH="0" baseline="0" noProof="0" dirty="0">
                <a:ln>
                  <a:noFill/>
                </a:ln>
                <a:solidFill>
                  <a:srgbClr val="FF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browser that requests, receives, (using HTTP protocol) and </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displays</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objects </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server sends (using HTTP protocol) objects in response to requests</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endPar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75" name="Group 35">
            <a:extLst>
              <a:ext uri="{FF2B5EF4-FFF2-40B4-BE49-F238E27FC236}">
                <a16:creationId xmlns:a16="http://schemas.microsoft.com/office/drawing/2014/main" id="{9F18C3DA-1F75-254F-8252-0752283DD6D8}"/>
              </a:ext>
            </a:extLst>
          </p:cNvPr>
          <p:cNvGrpSpPr>
            <a:grpSpLocks/>
          </p:cNvGrpSpPr>
          <p:nvPr/>
        </p:nvGrpSpPr>
        <p:grpSpPr bwMode="auto">
          <a:xfrm>
            <a:off x="8129954" y="2391117"/>
            <a:ext cx="2101850" cy="946150"/>
            <a:chOff x="3640" y="1346"/>
            <a:chExt cx="1324" cy="596"/>
          </a:xfrm>
        </p:grpSpPr>
        <p:sp>
          <p:nvSpPr>
            <p:cNvPr id="76" name="Line 19">
              <a:extLst>
                <a:ext uri="{FF2B5EF4-FFF2-40B4-BE49-F238E27FC236}">
                  <a16:creationId xmlns:a16="http://schemas.microsoft.com/office/drawing/2014/main" id="{32A5B725-224A-8641-84D7-5E247267A891}"/>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24">
              <a:extLst>
                <a:ext uri="{FF2B5EF4-FFF2-40B4-BE49-F238E27FC236}">
                  <a16:creationId xmlns:a16="http://schemas.microsoft.com/office/drawing/2014/main" id="{AFF1AA49-1EC5-FD4D-A4C7-4E97FBE86C40}"/>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8" name="Group 36">
            <a:extLst>
              <a:ext uri="{FF2B5EF4-FFF2-40B4-BE49-F238E27FC236}">
                <a16:creationId xmlns:a16="http://schemas.microsoft.com/office/drawing/2014/main" id="{CCF7DC4F-F784-E14E-9279-0C9C13F3B891}"/>
              </a:ext>
            </a:extLst>
          </p:cNvPr>
          <p:cNvGrpSpPr>
            <a:grpSpLocks/>
          </p:cNvGrpSpPr>
          <p:nvPr/>
        </p:nvGrpSpPr>
        <p:grpSpPr bwMode="auto">
          <a:xfrm>
            <a:off x="8241079" y="2599080"/>
            <a:ext cx="1971675" cy="904875"/>
            <a:chOff x="4141" y="394"/>
            <a:chExt cx="1242" cy="570"/>
          </a:xfrm>
        </p:grpSpPr>
        <p:sp>
          <p:nvSpPr>
            <p:cNvPr id="79" name="Line 20">
              <a:extLst>
                <a:ext uri="{FF2B5EF4-FFF2-40B4-BE49-F238E27FC236}">
                  <a16:creationId xmlns:a16="http://schemas.microsoft.com/office/drawing/2014/main" id="{162E51BA-C1E2-004B-832B-C97F73DD43E5}"/>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8A281BFE-8385-CA42-BA62-2631AB1C4BEF}"/>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1" name="Group 37">
            <a:extLst>
              <a:ext uri="{FF2B5EF4-FFF2-40B4-BE49-F238E27FC236}">
                <a16:creationId xmlns:a16="http://schemas.microsoft.com/office/drawing/2014/main" id="{75AC8EC6-FB97-154F-8581-1A51362C9E51}"/>
              </a:ext>
            </a:extLst>
          </p:cNvPr>
          <p:cNvGrpSpPr>
            <a:grpSpLocks/>
          </p:cNvGrpSpPr>
          <p:nvPr/>
        </p:nvGrpSpPr>
        <p:grpSpPr bwMode="auto">
          <a:xfrm rot="-3183056">
            <a:off x="8106142" y="3884955"/>
            <a:ext cx="2101850" cy="946150"/>
            <a:chOff x="3640" y="1346"/>
            <a:chExt cx="1324" cy="596"/>
          </a:xfrm>
        </p:grpSpPr>
        <p:sp>
          <p:nvSpPr>
            <p:cNvPr id="82" name="Line 19">
              <a:extLst>
                <a:ext uri="{FF2B5EF4-FFF2-40B4-BE49-F238E27FC236}">
                  <a16:creationId xmlns:a16="http://schemas.microsoft.com/office/drawing/2014/main" id="{69FABD09-8D01-A244-A69C-7220481CAE7B}"/>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4">
              <a:extLst>
                <a:ext uri="{FF2B5EF4-FFF2-40B4-BE49-F238E27FC236}">
                  <a16:creationId xmlns:a16="http://schemas.microsoft.com/office/drawing/2014/main" id="{96F64D17-51D6-0A4A-BDA6-07C403F43898}"/>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40">
            <a:extLst>
              <a:ext uri="{FF2B5EF4-FFF2-40B4-BE49-F238E27FC236}">
                <a16:creationId xmlns:a16="http://schemas.microsoft.com/office/drawing/2014/main" id="{B9736B82-D8C5-DA43-B8F2-093DA6AB6E5D}"/>
              </a:ext>
            </a:extLst>
          </p:cNvPr>
          <p:cNvGrpSpPr>
            <a:grpSpLocks/>
          </p:cNvGrpSpPr>
          <p:nvPr/>
        </p:nvGrpSpPr>
        <p:grpSpPr bwMode="auto">
          <a:xfrm rot="-3264937">
            <a:off x="8152179" y="4124667"/>
            <a:ext cx="1971675" cy="904875"/>
            <a:chOff x="4141" y="394"/>
            <a:chExt cx="1242" cy="570"/>
          </a:xfrm>
        </p:grpSpPr>
        <p:sp>
          <p:nvSpPr>
            <p:cNvPr id="85" name="Line 20">
              <a:extLst>
                <a:ext uri="{FF2B5EF4-FFF2-40B4-BE49-F238E27FC236}">
                  <a16:creationId xmlns:a16="http://schemas.microsoft.com/office/drawing/2014/main" id="{1D55C3D5-A428-CC44-8B43-7C6CB47D04C9}"/>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26">
              <a:extLst>
                <a:ext uri="{FF2B5EF4-FFF2-40B4-BE49-F238E27FC236}">
                  <a16:creationId xmlns:a16="http://schemas.microsoft.com/office/drawing/2014/main" id="{98847E99-AF68-1F43-AC46-9AD80D6458C5}"/>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067724E3-B9EF-784C-81CF-0208D90CEEBE}"/>
              </a:ext>
            </a:extLst>
          </p:cNvPr>
          <p:cNvGrpSpPr/>
          <p:nvPr/>
        </p:nvGrpSpPr>
        <p:grpSpPr>
          <a:xfrm>
            <a:off x="7021423" y="4477962"/>
            <a:ext cx="2210665" cy="1578194"/>
            <a:chOff x="7046475" y="4540592"/>
            <a:chExt cx="2210665" cy="1578194"/>
          </a:xfrm>
        </p:grpSpPr>
        <p:sp>
          <p:nvSpPr>
            <p:cNvPr id="74" name="Text Box 23">
              <a:extLst>
                <a:ext uri="{FF2B5EF4-FFF2-40B4-BE49-F238E27FC236}">
                  <a16:creationId xmlns:a16="http://schemas.microsoft.com/office/drawing/2014/main" id="{61B2A806-9EFC-9449-97BE-336492E83009}"/>
                </a:ext>
              </a:extLst>
            </p:cNvPr>
            <p:cNvSpPr txBox="1">
              <a:spLocks noChangeArrowheads="1"/>
            </p:cNvSpPr>
            <p:nvPr/>
          </p:nvSpPr>
          <p:spPr bwMode="auto">
            <a:xfrm>
              <a:off x="7046475" y="5472455"/>
              <a:ext cx="221066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iPhone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Safari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pic>
          <p:nvPicPr>
            <p:cNvPr id="87" name="Picture 43" descr="iphone_stylized_small">
              <a:extLst>
                <a:ext uri="{FF2B5EF4-FFF2-40B4-BE49-F238E27FC236}">
                  <a16:creationId xmlns:a16="http://schemas.microsoft.com/office/drawing/2014/main" id="{D1E934F1-FF6C-B341-A221-38110724AC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44179" y="4540592"/>
              <a:ext cx="382588" cy="917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 name="Group 1">
            <a:extLst>
              <a:ext uri="{FF2B5EF4-FFF2-40B4-BE49-F238E27FC236}">
                <a16:creationId xmlns:a16="http://schemas.microsoft.com/office/drawing/2014/main" id="{E5E3F8E5-5BB6-9F4D-BD7D-96E3FCFF937E}"/>
              </a:ext>
            </a:extLst>
          </p:cNvPr>
          <p:cNvGrpSpPr/>
          <p:nvPr/>
        </p:nvGrpSpPr>
        <p:grpSpPr>
          <a:xfrm>
            <a:off x="6584832" y="1722780"/>
            <a:ext cx="2270564" cy="1610628"/>
            <a:chOff x="6584832" y="1722780"/>
            <a:chExt cx="2270564" cy="1610628"/>
          </a:xfrm>
        </p:grpSpPr>
        <p:sp>
          <p:nvSpPr>
            <p:cNvPr id="72" name="Text Box 7">
              <a:extLst>
                <a:ext uri="{FF2B5EF4-FFF2-40B4-BE49-F238E27FC236}">
                  <a16:creationId xmlns:a16="http://schemas.microsoft.com/office/drawing/2014/main" id="{EE5DED9F-E1C4-F34D-899C-5E5BAFDADC9E}"/>
                </a:ext>
              </a:extLst>
            </p:cNvPr>
            <p:cNvSpPr txBox="1">
              <a:spLocks noChangeArrowheads="1"/>
            </p:cNvSpPr>
            <p:nvPr/>
          </p:nvSpPr>
          <p:spPr bwMode="auto">
            <a:xfrm>
              <a:off x="6584832" y="2687077"/>
              <a:ext cx="227056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PC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Firefox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88" name="Group 44">
              <a:extLst>
                <a:ext uri="{FF2B5EF4-FFF2-40B4-BE49-F238E27FC236}">
                  <a16:creationId xmlns:a16="http://schemas.microsoft.com/office/drawing/2014/main" id="{9EAD6FC3-A72E-8241-AA6C-FE53B680C4A5}"/>
                </a:ext>
              </a:extLst>
            </p:cNvPr>
            <p:cNvGrpSpPr>
              <a:grpSpLocks/>
            </p:cNvGrpSpPr>
            <p:nvPr/>
          </p:nvGrpSpPr>
          <p:grpSpPr bwMode="auto">
            <a:xfrm>
              <a:off x="7109192" y="1722780"/>
              <a:ext cx="1066800" cy="1079500"/>
              <a:chOff x="-44" y="1473"/>
              <a:chExt cx="981" cy="1105"/>
            </a:xfrm>
          </p:grpSpPr>
          <p:pic>
            <p:nvPicPr>
              <p:cNvPr id="89" name="Picture 45" descr="desktop_computer_stylized_medium">
                <a:extLst>
                  <a:ext uri="{FF2B5EF4-FFF2-40B4-BE49-F238E27FC236}">
                    <a16:creationId xmlns:a16="http://schemas.microsoft.com/office/drawing/2014/main" id="{1ADDC1FA-6D07-3F4E-8F74-21843504B2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46">
                <a:extLst>
                  <a:ext uri="{FF2B5EF4-FFF2-40B4-BE49-F238E27FC236}">
                    <a16:creationId xmlns:a16="http://schemas.microsoft.com/office/drawing/2014/main" id="{42A6104A-05E4-B94E-8AC8-1F8524B85F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3" name="Group 2">
            <a:extLst>
              <a:ext uri="{FF2B5EF4-FFF2-40B4-BE49-F238E27FC236}">
                <a16:creationId xmlns:a16="http://schemas.microsoft.com/office/drawing/2014/main" id="{046FA54E-9DBE-BF46-9FA4-0BD5D56FE85D}"/>
              </a:ext>
            </a:extLst>
          </p:cNvPr>
          <p:cNvGrpSpPr/>
          <p:nvPr/>
        </p:nvGrpSpPr>
        <p:grpSpPr>
          <a:xfrm>
            <a:off x="9655810" y="2888005"/>
            <a:ext cx="2414547" cy="2197950"/>
            <a:chOff x="9655810" y="2888005"/>
            <a:chExt cx="2414547" cy="2197950"/>
          </a:xfrm>
        </p:grpSpPr>
        <p:sp>
          <p:nvSpPr>
            <p:cNvPr id="73" name="Text Box 9">
              <a:extLst>
                <a:ext uri="{FF2B5EF4-FFF2-40B4-BE49-F238E27FC236}">
                  <a16:creationId xmlns:a16="http://schemas.microsoft.com/office/drawing/2014/main" id="{1DB0406D-8424-A242-88CD-CF99DD0C8226}"/>
                </a:ext>
              </a:extLst>
            </p:cNvPr>
            <p:cNvSpPr txBox="1">
              <a:spLocks noChangeArrowheads="1"/>
            </p:cNvSpPr>
            <p:nvPr/>
          </p:nvSpPr>
          <p:spPr bwMode="auto">
            <a:xfrm>
              <a:off x="9655810" y="4162625"/>
              <a:ext cx="241454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Apache Web</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91" name="Group 47">
              <a:extLst>
                <a:ext uri="{FF2B5EF4-FFF2-40B4-BE49-F238E27FC236}">
                  <a16:creationId xmlns:a16="http://schemas.microsoft.com/office/drawing/2014/main" id="{1578750D-9ADE-FF47-A035-3F58F7F95E77}"/>
                </a:ext>
              </a:extLst>
            </p:cNvPr>
            <p:cNvGrpSpPr>
              <a:grpSpLocks/>
            </p:cNvGrpSpPr>
            <p:nvPr/>
          </p:nvGrpSpPr>
          <p:grpSpPr bwMode="auto">
            <a:xfrm>
              <a:off x="10230217" y="2888005"/>
              <a:ext cx="695325" cy="1282700"/>
              <a:chOff x="4140" y="429"/>
              <a:chExt cx="1425" cy="2396"/>
            </a:xfrm>
          </p:grpSpPr>
          <p:sp>
            <p:nvSpPr>
              <p:cNvPr id="92" name="Freeform 48">
                <a:extLst>
                  <a:ext uri="{FF2B5EF4-FFF2-40B4-BE49-F238E27FC236}">
                    <a16:creationId xmlns:a16="http://schemas.microsoft.com/office/drawing/2014/main" id="{30FC1D0E-933E-6B40-9A42-0E971723843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49">
                <a:extLst>
                  <a:ext uri="{FF2B5EF4-FFF2-40B4-BE49-F238E27FC236}">
                    <a16:creationId xmlns:a16="http://schemas.microsoft.com/office/drawing/2014/main" id="{B5655423-6CF0-CD49-B3A9-063B782C1F8A}"/>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 name="Freeform 50">
                <a:extLst>
                  <a:ext uri="{FF2B5EF4-FFF2-40B4-BE49-F238E27FC236}">
                    <a16:creationId xmlns:a16="http://schemas.microsoft.com/office/drawing/2014/main" id="{A0AC0D67-FA58-B147-A1DC-191134726C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Freeform 51">
                <a:extLst>
                  <a:ext uri="{FF2B5EF4-FFF2-40B4-BE49-F238E27FC236}">
                    <a16:creationId xmlns:a16="http://schemas.microsoft.com/office/drawing/2014/main" id="{DE00B670-08D8-5142-A593-67DE6409B9C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52">
                <a:extLst>
                  <a:ext uri="{FF2B5EF4-FFF2-40B4-BE49-F238E27FC236}">
                    <a16:creationId xmlns:a16="http://schemas.microsoft.com/office/drawing/2014/main" id="{C0F46C25-0562-1D41-A932-B4DCFBC60F32}"/>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7" name="Group 53">
                <a:extLst>
                  <a:ext uri="{FF2B5EF4-FFF2-40B4-BE49-F238E27FC236}">
                    <a16:creationId xmlns:a16="http://schemas.microsoft.com/office/drawing/2014/main" id="{42D2ADD9-FBDF-B348-8727-B1428057A192}"/>
                  </a:ext>
                </a:extLst>
              </p:cNvPr>
              <p:cNvGrpSpPr>
                <a:grpSpLocks/>
              </p:cNvGrpSpPr>
              <p:nvPr/>
            </p:nvGrpSpPr>
            <p:grpSpPr bwMode="auto">
              <a:xfrm>
                <a:off x="4749" y="668"/>
                <a:ext cx="581" cy="145"/>
                <a:chOff x="614" y="2568"/>
                <a:chExt cx="725" cy="139"/>
              </a:xfrm>
            </p:grpSpPr>
            <p:sp>
              <p:nvSpPr>
                <p:cNvPr id="122" name="AutoShape 54">
                  <a:extLst>
                    <a:ext uri="{FF2B5EF4-FFF2-40B4-BE49-F238E27FC236}">
                      <a16:creationId xmlns:a16="http://schemas.microsoft.com/office/drawing/2014/main" id="{B3A024BC-0571-B343-B957-96A9956CB100}"/>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AutoShape 55">
                  <a:extLst>
                    <a:ext uri="{FF2B5EF4-FFF2-40B4-BE49-F238E27FC236}">
                      <a16:creationId xmlns:a16="http://schemas.microsoft.com/office/drawing/2014/main" id="{BCE631BE-5109-0446-9778-CCBD1DF0A6B3}"/>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8" name="Rectangle 56">
                <a:extLst>
                  <a:ext uri="{FF2B5EF4-FFF2-40B4-BE49-F238E27FC236}">
                    <a16:creationId xmlns:a16="http://schemas.microsoft.com/office/drawing/2014/main" id="{5D3DFADC-1C8D-AF4C-85AA-0F7A2C55C87C}"/>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9" name="Group 57">
                <a:extLst>
                  <a:ext uri="{FF2B5EF4-FFF2-40B4-BE49-F238E27FC236}">
                    <a16:creationId xmlns:a16="http://schemas.microsoft.com/office/drawing/2014/main" id="{C1D33EC1-1E29-8544-B98D-73191F02F73D}"/>
                  </a:ext>
                </a:extLst>
              </p:cNvPr>
              <p:cNvGrpSpPr>
                <a:grpSpLocks/>
              </p:cNvGrpSpPr>
              <p:nvPr/>
            </p:nvGrpSpPr>
            <p:grpSpPr bwMode="auto">
              <a:xfrm>
                <a:off x="4747" y="994"/>
                <a:ext cx="581" cy="134"/>
                <a:chOff x="614" y="2568"/>
                <a:chExt cx="725" cy="139"/>
              </a:xfrm>
            </p:grpSpPr>
            <p:sp>
              <p:nvSpPr>
                <p:cNvPr id="120" name="AutoShape 58">
                  <a:extLst>
                    <a:ext uri="{FF2B5EF4-FFF2-40B4-BE49-F238E27FC236}">
                      <a16:creationId xmlns:a16="http://schemas.microsoft.com/office/drawing/2014/main" id="{82D153A1-613C-9C4E-A2C0-B1C929BC01CE}"/>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AutoShape 59">
                  <a:extLst>
                    <a:ext uri="{FF2B5EF4-FFF2-40B4-BE49-F238E27FC236}">
                      <a16:creationId xmlns:a16="http://schemas.microsoft.com/office/drawing/2014/main" id="{F147FCC4-6131-8F44-A906-F0D80C4D7263}"/>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0" name="Rectangle 60">
                <a:extLst>
                  <a:ext uri="{FF2B5EF4-FFF2-40B4-BE49-F238E27FC236}">
                    <a16:creationId xmlns:a16="http://schemas.microsoft.com/office/drawing/2014/main" id="{85C735FA-9571-F248-9BA5-6CDBDBE01BD6}"/>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61">
                <a:extLst>
                  <a:ext uri="{FF2B5EF4-FFF2-40B4-BE49-F238E27FC236}">
                    <a16:creationId xmlns:a16="http://schemas.microsoft.com/office/drawing/2014/main" id="{5812C6A4-3EC0-A249-9E63-F46527542665}"/>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2" name="Group 62">
                <a:extLst>
                  <a:ext uri="{FF2B5EF4-FFF2-40B4-BE49-F238E27FC236}">
                    <a16:creationId xmlns:a16="http://schemas.microsoft.com/office/drawing/2014/main" id="{7E620A9B-CBE1-F240-88FD-585574663314}"/>
                  </a:ext>
                </a:extLst>
              </p:cNvPr>
              <p:cNvGrpSpPr>
                <a:grpSpLocks/>
              </p:cNvGrpSpPr>
              <p:nvPr/>
            </p:nvGrpSpPr>
            <p:grpSpPr bwMode="auto">
              <a:xfrm>
                <a:off x="4735" y="1627"/>
                <a:ext cx="582" cy="151"/>
                <a:chOff x="614" y="2568"/>
                <a:chExt cx="725" cy="139"/>
              </a:xfrm>
            </p:grpSpPr>
            <p:sp>
              <p:nvSpPr>
                <p:cNvPr id="118" name="AutoShape 63">
                  <a:extLst>
                    <a:ext uri="{FF2B5EF4-FFF2-40B4-BE49-F238E27FC236}">
                      <a16:creationId xmlns:a16="http://schemas.microsoft.com/office/drawing/2014/main" id="{042898BA-1F4B-D343-83D2-32F6B871E166}"/>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AutoShape 64">
                  <a:extLst>
                    <a:ext uri="{FF2B5EF4-FFF2-40B4-BE49-F238E27FC236}">
                      <a16:creationId xmlns:a16="http://schemas.microsoft.com/office/drawing/2014/main" id="{43D7819E-9A5B-E741-ACC4-82E6487AE398}"/>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3" name="Freeform 65">
                <a:extLst>
                  <a:ext uri="{FF2B5EF4-FFF2-40B4-BE49-F238E27FC236}">
                    <a16:creationId xmlns:a16="http://schemas.microsoft.com/office/drawing/2014/main" id="{7CC2BA69-A482-5D4B-8CA5-B5AC73726D7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4" name="Group 66">
                <a:extLst>
                  <a:ext uri="{FF2B5EF4-FFF2-40B4-BE49-F238E27FC236}">
                    <a16:creationId xmlns:a16="http://schemas.microsoft.com/office/drawing/2014/main" id="{F21B3CA3-EDB9-ED4A-9790-00B6351372FF}"/>
                  </a:ext>
                </a:extLst>
              </p:cNvPr>
              <p:cNvGrpSpPr>
                <a:grpSpLocks/>
              </p:cNvGrpSpPr>
              <p:nvPr/>
            </p:nvGrpSpPr>
            <p:grpSpPr bwMode="auto">
              <a:xfrm>
                <a:off x="4739" y="1327"/>
                <a:ext cx="582" cy="139"/>
                <a:chOff x="614" y="2568"/>
                <a:chExt cx="725" cy="139"/>
              </a:xfrm>
            </p:grpSpPr>
            <p:sp>
              <p:nvSpPr>
                <p:cNvPr id="116" name="AutoShape 67">
                  <a:extLst>
                    <a:ext uri="{FF2B5EF4-FFF2-40B4-BE49-F238E27FC236}">
                      <a16:creationId xmlns:a16="http://schemas.microsoft.com/office/drawing/2014/main" id="{9EDB1FCF-F653-F642-8D80-BF382D9E0C35}"/>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AutoShape 68">
                  <a:extLst>
                    <a:ext uri="{FF2B5EF4-FFF2-40B4-BE49-F238E27FC236}">
                      <a16:creationId xmlns:a16="http://schemas.microsoft.com/office/drawing/2014/main" id="{609BFCAD-4861-EE43-8362-EA6C48556301}"/>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5" name="Rectangle 69">
                <a:extLst>
                  <a:ext uri="{FF2B5EF4-FFF2-40B4-BE49-F238E27FC236}">
                    <a16:creationId xmlns:a16="http://schemas.microsoft.com/office/drawing/2014/main" id="{5D47278C-43D3-204F-86FD-15B20209028D}"/>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Freeform 70">
                <a:extLst>
                  <a:ext uri="{FF2B5EF4-FFF2-40B4-BE49-F238E27FC236}">
                    <a16:creationId xmlns:a16="http://schemas.microsoft.com/office/drawing/2014/main" id="{C4685EB6-AA09-4243-9AED-1759E88D18E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Freeform 71">
                <a:extLst>
                  <a:ext uri="{FF2B5EF4-FFF2-40B4-BE49-F238E27FC236}">
                    <a16:creationId xmlns:a16="http://schemas.microsoft.com/office/drawing/2014/main" id="{F8013113-6639-D746-8787-464D70E731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BAF4B182-B231-9044-AFF9-C80B2E27F7A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Freeform 73">
                <a:extLst>
                  <a:ext uri="{FF2B5EF4-FFF2-40B4-BE49-F238E27FC236}">
                    <a16:creationId xmlns:a16="http://schemas.microsoft.com/office/drawing/2014/main" id="{5BF1720C-9B23-A442-9078-1CB2D3EAD126}"/>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AutoShape 74">
                <a:extLst>
                  <a:ext uri="{FF2B5EF4-FFF2-40B4-BE49-F238E27FC236}">
                    <a16:creationId xmlns:a16="http://schemas.microsoft.com/office/drawing/2014/main" id="{5C72D219-90B2-E948-8C51-2DF4C76E6710}"/>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75">
                <a:extLst>
                  <a:ext uri="{FF2B5EF4-FFF2-40B4-BE49-F238E27FC236}">
                    <a16:creationId xmlns:a16="http://schemas.microsoft.com/office/drawing/2014/main" id="{83107432-CCDD-3F4A-A673-5C965AB6622C}"/>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Oval 76">
                <a:extLst>
                  <a:ext uri="{FF2B5EF4-FFF2-40B4-BE49-F238E27FC236}">
                    <a16:creationId xmlns:a16="http://schemas.microsoft.com/office/drawing/2014/main" id="{93D83AE9-CB35-4043-B0A0-1FFA790871DB}"/>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Oval 77">
                <a:extLst>
                  <a:ext uri="{FF2B5EF4-FFF2-40B4-BE49-F238E27FC236}">
                    <a16:creationId xmlns:a16="http://schemas.microsoft.com/office/drawing/2014/main" id="{C8BA1D5C-380B-5844-9DFE-FB0350399A3E}"/>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14" name="Oval 78">
                <a:extLst>
                  <a:ext uri="{FF2B5EF4-FFF2-40B4-BE49-F238E27FC236}">
                    <a16:creationId xmlns:a16="http://schemas.microsoft.com/office/drawing/2014/main" id="{EF0EACD3-D07B-0F4F-BB94-4F2D6391297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79">
                <a:extLst>
                  <a:ext uri="{FF2B5EF4-FFF2-40B4-BE49-F238E27FC236}">
                    <a16:creationId xmlns:a16="http://schemas.microsoft.com/office/drawing/2014/main" id="{C545DB8D-EFCD-9A46-858D-A246B93C7BA5}"/>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9" name="Slide Number Placeholder 2">
            <a:extLst>
              <a:ext uri="{FF2B5EF4-FFF2-40B4-BE49-F238E27FC236}">
                <a16:creationId xmlns:a16="http://schemas.microsoft.com/office/drawing/2014/main" id="{C473C8CC-FB59-904B-86D0-BFB6A614029E}"/>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22</a:t>
            </a:fld>
            <a:endParaRPr lang="en-US" dirty="0"/>
          </a:p>
        </p:txBody>
      </p:sp>
    </p:spTree>
    <p:extLst>
      <p:ext uri="{BB962C8B-B14F-4D97-AF65-F5344CB8AC3E}">
        <p14:creationId xmlns:p14="http://schemas.microsoft.com/office/powerpoint/2010/main" val="3754433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1">
                                            <p:txEl>
                                              <p:pRg st="3" end="3"/>
                                            </p:txEl>
                                          </p:spTgt>
                                        </p:tgtEl>
                                        <p:attrNameLst>
                                          <p:attrName>style.visibility</p:attrName>
                                        </p:attrNameLst>
                                      </p:cBhvr>
                                      <p:to>
                                        <p:strVal val="visible"/>
                                      </p:to>
                                    </p:set>
                                    <p:animEffect transition="in" filter="dissolve">
                                      <p:cBhvr>
                                        <p:cTn id="7" dur="500"/>
                                        <p:tgtEl>
                                          <p:spTgt spid="71">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1">
                                            <p:txEl>
                                              <p:pRg st="4" end="4"/>
                                            </p:txEl>
                                          </p:spTgt>
                                        </p:tgtEl>
                                        <p:attrNameLst>
                                          <p:attrName>style.visibility</p:attrName>
                                        </p:attrNameLst>
                                      </p:cBhvr>
                                      <p:to>
                                        <p:strVal val="visible"/>
                                      </p:to>
                                    </p:set>
                                    <p:animEffect transition="in" filter="dissolve">
                                      <p:cBhvr>
                                        <p:cTn id="12" dur="500"/>
                                        <p:tgtEl>
                                          <p:spTgt spid="71">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par>
                                <p:cTn id="18" presetID="9" presetClass="entr" presetSubtype="0" fill="hold" nodeType="with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par>
                                <p:cTn id="21" presetID="9" presetClass="entr" presetSubtype="0"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5"/>
                                        </p:tgtEl>
                                        <p:attrNameLst>
                                          <p:attrName>style.visibility</p:attrName>
                                        </p:attrNameLst>
                                      </p:cBhvr>
                                      <p:to>
                                        <p:strVal val="visible"/>
                                      </p:to>
                                    </p:set>
                                    <p:animEffect transition="in" filter="wipe(left)">
                                      <p:cBhvr>
                                        <p:cTn id="28" dur="500"/>
                                        <p:tgtEl>
                                          <p:spTgt spid="75"/>
                                        </p:tgtEl>
                                      </p:cBhvr>
                                    </p:animEffect>
                                  </p:childTnLst>
                                </p:cTn>
                              </p:par>
                            </p:childTnLst>
                          </p:cTn>
                        </p:par>
                        <p:par>
                          <p:cTn id="29" fill="hold">
                            <p:stCondLst>
                              <p:cond delay="500"/>
                            </p:stCondLst>
                            <p:childTnLst>
                              <p:par>
                                <p:cTn id="30" presetID="22" presetClass="entr" presetSubtype="2" fill="hold" nodeType="afterEffect">
                                  <p:stCondLst>
                                    <p:cond delay="0"/>
                                  </p:stCondLst>
                                  <p:childTnLst>
                                    <p:set>
                                      <p:cBhvr>
                                        <p:cTn id="31" dur="1" fill="hold">
                                          <p:stCondLst>
                                            <p:cond delay="0"/>
                                          </p:stCondLst>
                                        </p:cTn>
                                        <p:tgtEl>
                                          <p:spTgt spid="78"/>
                                        </p:tgtEl>
                                        <p:attrNameLst>
                                          <p:attrName>style.visibility</p:attrName>
                                        </p:attrNameLst>
                                      </p:cBhvr>
                                      <p:to>
                                        <p:strVal val="visible"/>
                                      </p:to>
                                    </p:set>
                                    <p:animEffect transition="in" filter="wipe(right)">
                                      <p:cBhvr>
                                        <p:cTn id="32" dur="500"/>
                                        <p:tgtEl>
                                          <p:spTgt spid="78"/>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81"/>
                                        </p:tgtEl>
                                        <p:attrNameLst>
                                          <p:attrName>style.visibility</p:attrName>
                                        </p:attrNameLst>
                                      </p:cBhvr>
                                      <p:to>
                                        <p:strVal val="visible"/>
                                      </p:to>
                                    </p:set>
                                    <p:animEffect transition="in" filter="wipe(left)">
                                      <p:cBhvr>
                                        <p:cTn id="37" dur="500"/>
                                        <p:tgtEl>
                                          <p:spTgt spid="81"/>
                                        </p:tgtEl>
                                      </p:cBhvr>
                                    </p:animEffect>
                                  </p:childTnLst>
                                </p:cTn>
                              </p:par>
                            </p:childTnLst>
                          </p:cTn>
                        </p:par>
                        <p:par>
                          <p:cTn id="38" fill="hold">
                            <p:stCondLst>
                              <p:cond delay="500"/>
                            </p:stCondLst>
                            <p:childTnLst>
                              <p:par>
                                <p:cTn id="39" presetID="22" presetClass="entr" presetSubtype="2" fill="hold" nodeType="afterEffect">
                                  <p:stCondLst>
                                    <p:cond delay="0"/>
                                  </p:stCondLst>
                                  <p:childTnLst>
                                    <p:set>
                                      <p:cBhvr>
                                        <p:cTn id="40" dur="1" fill="hold">
                                          <p:stCondLst>
                                            <p:cond delay="0"/>
                                          </p:stCondLst>
                                        </p:cTn>
                                        <p:tgtEl>
                                          <p:spTgt spid="84"/>
                                        </p:tgtEl>
                                        <p:attrNameLst>
                                          <p:attrName>style.visibility</p:attrName>
                                        </p:attrNameLst>
                                      </p:cBhvr>
                                      <p:to>
                                        <p:strVal val="visible"/>
                                      </p:to>
                                    </p:set>
                                    <p:animEffect transition="in" filter="wipe(right)">
                                      <p:cBhvr>
                                        <p:cTn id="41"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 (continued)</a:t>
            </a:r>
            <a:endParaRPr lang="en-US" sz="4400" dirty="0"/>
          </a:p>
        </p:txBody>
      </p:sp>
      <p:sp>
        <p:nvSpPr>
          <p:cNvPr id="64" name="Rectangle 3">
            <a:extLst>
              <a:ext uri="{FF2B5EF4-FFF2-40B4-BE49-F238E27FC236}">
                <a16:creationId xmlns:a16="http://schemas.microsoft.com/office/drawing/2014/main" id="{FA4476ED-595B-8542-B50D-C134553D5523}"/>
              </a:ext>
            </a:extLst>
          </p:cNvPr>
          <p:cNvSpPr txBox="1">
            <a:spLocks noChangeArrowheads="1"/>
          </p:cNvSpPr>
          <p:nvPr/>
        </p:nvSpPr>
        <p:spPr bwMode="auto">
          <a:xfrm>
            <a:off x="947614" y="1548630"/>
            <a:ext cx="5551487"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0"/>
              <a:buNone/>
              <a:tabLst/>
              <a:defRPr/>
            </a:pPr>
            <a:r>
              <a:rPr kumimoji="0" lang="en-US" sz="3200" b="0" i="1" u="none" strike="noStrike" kern="0" cap="none" spc="0" normalizeH="0" baseline="0" noProof="0" dirty="0">
                <a:ln>
                  <a:noFill/>
                </a:ln>
                <a:solidFill>
                  <a:srgbClr val="CC0000"/>
                </a:solidFill>
                <a:effectLst/>
                <a:uLnTx/>
                <a:uFillTx/>
                <a:latin typeface="Calibri"/>
                <a:ea typeface="ＭＳ Ｐゴシック" charset="0"/>
              </a:rPr>
              <a:t>HTTP uses TCP:</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client initiates TCP connection (creates socket) to server,  port 80</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server accepts TCP connection from client</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HTTP messages (application-layer protocol messages) exchanged between browser (HTTP client) and Web server (HTTP server)</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TCP connection closed</a:t>
            </a:r>
          </a:p>
        </p:txBody>
      </p:sp>
      <p:sp>
        <p:nvSpPr>
          <p:cNvPr id="65" name="Rectangle 4">
            <a:extLst>
              <a:ext uri="{FF2B5EF4-FFF2-40B4-BE49-F238E27FC236}">
                <a16:creationId xmlns:a16="http://schemas.microsoft.com/office/drawing/2014/main" id="{1CC4B9E5-1262-0749-B776-9A1B21976CBD}"/>
              </a:ext>
            </a:extLst>
          </p:cNvPr>
          <p:cNvSpPr txBox="1">
            <a:spLocks noChangeArrowheads="1"/>
          </p:cNvSpPr>
          <p:nvPr/>
        </p:nvSpPr>
        <p:spPr bwMode="auto">
          <a:xfrm>
            <a:off x="6909801" y="1582098"/>
            <a:ext cx="5053013" cy="170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HTTP is </a:t>
            </a:r>
            <a:r>
              <a:rPr kumimoji="0" lang="ja-JP" altLang="en-US" sz="3200" b="0" i="1" u="none" strike="noStrike" kern="0" cap="none" spc="0" normalizeH="0" baseline="0" noProof="0">
                <a:ln>
                  <a:noFill/>
                </a:ln>
                <a:solidFill>
                  <a:srgbClr val="CC0000"/>
                </a:solidFill>
                <a:effectLst/>
                <a:uLnTx/>
                <a:uFillTx/>
                <a:latin typeface="Calibri"/>
                <a:ea typeface="ＭＳ Ｐゴシック" panose="020B0600070205080204" pitchFamily="34" charset="-128"/>
              </a:rPr>
              <a:t>“</a:t>
            </a:r>
            <a:r>
              <a:rPr kumimoji="0" lang="en-US" altLang="ja-JP"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stateless</a:t>
            </a:r>
            <a:r>
              <a:rPr kumimoji="0" lang="ja-JP" altLang="en-US" sz="3200" b="0" i="1" u="none" strike="noStrike" kern="0" cap="none" spc="0" normalizeH="0" baseline="0" noProof="0">
                <a:ln>
                  <a:noFill/>
                </a:ln>
                <a:solidFill>
                  <a:srgbClr val="CC0000"/>
                </a:solidFill>
                <a:effectLst/>
                <a:uLnTx/>
                <a:uFillTx/>
                <a:latin typeface="Calibri"/>
                <a:ea typeface="ＭＳ Ｐゴシック" panose="020B0600070205080204" pitchFamily="34" charset="-128"/>
              </a:rPr>
              <a:t>”</a:t>
            </a:r>
            <a:endParaRPr kumimoji="0" lang="en-US" altLang="ja-JP"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server maintains</a:t>
            </a:r>
            <a:r>
              <a:rPr kumimoji="0" lang="en-US" altLang="en-US" sz="2800" b="0" i="1" u="none" strike="noStrike" kern="0" cap="none" spc="0" normalizeH="0" baseline="0" noProof="0" dirty="0">
                <a:ln>
                  <a:noFill/>
                </a:ln>
                <a:solidFill>
                  <a:prstClr val="black"/>
                </a:solidFill>
                <a:effectLst/>
                <a:uLnTx/>
                <a:uFillTx/>
                <a:latin typeface="Calibri"/>
                <a:ea typeface="ＭＳ Ｐゴシック" panose="020B0600070205080204" pitchFamily="34" charset="-128"/>
              </a:rPr>
              <a:t> no </a:t>
            </a: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information about past client requests</a:t>
            </a:r>
          </a:p>
        </p:txBody>
      </p:sp>
      <p:grpSp>
        <p:nvGrpSpPr>
          <p:cNvPr id="2" name="Group 1">
            <a:extLst>
              <a:ext uri="{FF2B5EF4-FFF2-40B4-BE49-F238E27FC236}">
                <a16:creationId xmlns:a16="http://schemas.microsoft.com/office/drawing/2014/main" id="{4594DB0D-84CB-6F41-9F45-5FA35ED2C87F}"/>
              </a:ext>
            </a:extLst>
          </p:cNvPr>
          <p:cNvGrpSpPr/>
          <p:nvPr/>
        </p:nvGrpSpPr>
        <p:grpSpPr>
          <a:xfrm>
            <a:off x="6909802" y="3209500"/>
            <a:ext cx="5282198" cy="3248103"/>
            <a:chOff x="6909802" y="3209500"/>
            <a:chExt cx="5282198" cy="3248103"/>
          </a:xfrm>
        </p:grpSpPr>
        <p:sp>
          <p:nvSpPr>
            <p:cNvPr id="63" name="Rectangle 9">
              <a:extLst>
                <a:ext uri="{FF2B5EF4-FFF2-40B4-BE49-F238E27FC236}">
                  <a16:creationId xmlns:a16="http://schemas.microsoft.com/office/drawing/2014/main" id="{74F3501A-F7F5-FD47-A745-1E00F8869416}"/>
                </a:ext>
              </a:extLst>
            </p:cNvPr>
            <p:cNvSpPr>
              <a:spLocks noChangeArrowheads="1"/>
            </p:cNvSpPr>
            <p:nvPr/>
          </p:nvSpPr>
          <p:spPr bwMode="auto">
            <a:xfrm>
              <a:off x="10186403" y="3383184"/>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24" name="Rectangle 7">
              <a:extLst>
                <a:ext uri="{FF2B5EF4-FFF2-40B4-BE49-F238E27FC236}">
                  <a16:creationId xmlns:a16="http://schemas.microsoft.com/office/drawing/2014/main" id="{21466037-84B8-2C47-8046-BD516C96CDEE}"/>
                </a:ext>
              </a:extLst>
            </p:cNvPr>
            <p:cNvSpPr>
              <a:spLocks noChangeArrowheads="1"/>
            </p:cNvSpPr>
            <p:nvPr/>
          </p:nvSpPr>
          <p:spPr bwMode="auto">
            <a:xfrm>
              <a:off x="6909802" y="3449212"/>
              <a:ext cx="5053013" cy="2847974"/>
            </a:xfrm>
            <a:prstGeom prst="rect">
              <a:avLst/>
            </a:prstGeom>
            <a:solidFill>
              <a:srgbClr val="FFFFFF"/>
            </a:solidFill>
            <a:ln w="19050">
              <a:solidFill>
                <a:srgbClr val="CC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25" name="Rectangle 9">
              <a:extLst>
                <a:ext uri="{FF2B5EF4-FFF2-40B4-BE49-F238E27FC236}">
                  <a16:creationId xmlns:a16="http://schemas.microsoft.com/office/drawing/2014/main" id="{132EE02F-99A4-C148-8E27-84A38CF87F2F}"/>
                </a:ext>
              </a:extLst>
            </p:cNvPr>
            <p:cNvSpPr>
              <a:spLocks noChangeArrowheads="1"/>
            </p:cNvSpPr>
            <p:nvPr/>
          </p:nvSpPr>
          <p:spPr bwMode="auto">
            <a:xfrm>
              <a:off x="9795878" y="3287287"/>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26" name="Rectangle 6">
              <a:extLst>
                <a:ext uri="{FF2B5EF4-FFF2-40B4-BE49-F238E27FC236}">
                  <a16:creationId xmlns:a16="http://schemas.microsoft.com/office/drawing/2014/main" id="{64A41E8B-84D6-BE48-B3C9-3F388FD9B677}"/>
                </a:ext>
              </a:extLst>
            </p:cNvPr>
            <p:cNvSpPr>
              <a:spLocks noChangeArrowheads="1"/>
            </p:cNvSpPr>
            <p:nvPr/>
          </p:nvSpPr>
          <p:spPr bwMode="auto">
            <a:xfrm>
              <a:off x="7138987" y="3609628"/>
              <a:ext cx="5053013" cy="284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3333CC"/>
                </a:buClr>
                <a:buSzPct val="85000"/>
                <a:buFont typeface="ZapfDingbats" charset="2"/>
                <a:buNone/>
                <a:tabLst/>
                <a:defRPr/>
              </a:pPr>
              <a:r>
                <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protocols that maintain </a:t>
              </a:r>
              <a:r>
                <a:rPr kumimoji="0" lang="ja-JP" altLang="en-US" sz="2800" b="0" i="0" u="none" strike="noStrike" kern="1200" cap="none" spc="0" normalizeH="0" baseline="0" noProof="0">
                  <a:ln>
                    <a:noFill/>
                  </a:ln>
                  <a:solidFill>
                    <a:srgbClr val="000099"/>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state</a:t>
              </a:r>
              <a:r>
                <a:rPr kumimoji="0" lang="ja-JP" altLang="en-US" sz="2800" b="0" i="0" u="none" strike="noStrike" kern="1200" cap="none" spc="0" normalizeH="0" baseline="0" noProof="0">
                  <a:ln>
                    <a:noFill/>
                  </a:ln>
                  <a:solidFill>
                    <a:srgbClr val="000099"/>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 are complex!</a:t>
              </a:r>
            </a:p>
            <a:p>
              <a:pPr marL="342900" marR="0" lvl="0" indent="-342900"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past history (state) must be maintained</a:t>
              </a:r>
            </a:p>
            <a:p>
              <a:pPr marL="342900" marR="0" lvl="0" indent="-342900"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if server/client crashes, their views of </a:t>
              </a:r>
              <a:r>
                <a:rPr kumimoji="0" lang="ja-JP" altLang="en-US" sz="24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mn-cs"/>
                </a:rPr>
                <a:t>“</a:t>
              </a:r>
              <a:r>
                <a:rPr kumimoji="0" lang="en-US" altLang="ja-JP"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state</a:t>
              </a:r>
              <a:r>
                <a:rPr kumimoji="0" lang="ja-JP" altLang="en-US" sz="24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mn-cs"/>
                </a:rPr>
                <a:t>”</a:t>
              </a:r>
              <a:r>
                <a:rPr kumimoji="0" lang="en-US" altLang="ja-JP"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 may be inconsistent, must be reconciled</a:t>
              </a:r>
            </a:p>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Char char="r"/>
                <a:tabLst/>
                <a:defRPr/>
              </a:pPr>
              <a:endPar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Text Box 8">
              <a:extLst>
                <a:ext uri="{FF2B5EF4-FFF2-40B4-BE49-F238E27FC236}">
                  <a16:creationId xmlns:a16="http://schemas.microsoft.com/office/drawing/2014/main" id="{ADCE3EE0-3E4E-7741-A055-6E8599605060}"/>
                </a:ext>
              </a:extLst>
            </p:cNvPr>
            <p:cNvSpPr txBox="1">
              <a:spLocks noChangeArrowheads="1"/>
            </p:cNvSpPr>
            <p:nvPr/>
          </p:nvSpPr>
          <p:spPr bwMode="auto">
            <a:xfrm>
              <a:off x="9716532" y="3209500"/>
              <a:ext cx="9460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aside</a:t>
              </a:r>
            </a:p>
          </p:txBody>
        </p:sp>
      </p:grpSp>
      <p:sp>
        <p:nvSpPr>
          <p:cNvPr id="11" name="Slide Number Placeholder 2">
            <a:extLst>
              <a:ext uri="{FF2B5EF4-FFF2-40B4-BE49-F238E27FC236}">
                <a16:creationId xmlns:a16="http://schemas.microsoft.com/office/drawing/2014/main" id="{F43C0D7C-054F-1B4F-AC91-25A09EF9905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23</a:t>
            </a:fld>
            <a:endParaRPr lang="en-US" dirty="0"/>
          </a:p>
        </p:txBody>
      </p:sp>
    </p:spTree>
    <p:extLst>
      <p:ext uri="{BB962C8B-B14F-4D97-AF65-F5344CB8AC3E}">
        <p14:creationId xmlns:p14="http://schemas.microsoft.com/office/powerpoint/2010/main" val="826131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dissolv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connections: two types</a:t>
            </a:r>
            <a:endParaRPr lang="en-US" sz="4400" dirty="0"/>
          </a:p>
        </p:txBody>
      </p:sp>
      <p:sp>
        <p:nvSpPr>
          <p:cNvPr id="11" name="Rectangle 3">
            <a:extLst>
              <a:ext uri="{FF2B5EF4-FFF2-40B4-BE49-F238E27FC236}">
                <a16:creationId xmlns:a16="http://schemas.microsoft.com/office/drawing/2014/main" id="{D0F92E26-A453-3745-8C0F-BF92C1E3A8B6}"/>
              </a:ext>
            </a:extLst>
          </p:cNvPr>
          <p:cNvSpPr txBox="1">
            <a:spLocks noChangeArrowheads="1"/>
          </p:cNvSpPr>
          <p:nvPr/>
        </p:nvSpPr>
        <p:spPr>
          <a:xfrm>
            <a:off x="798690"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Non-persistent HTTP</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most one object sent over TCP connection</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downloading multiple objects required multiple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2" name="Rectangle 4">
            <a:extLst>
              <a:ext uri="{FF2B5EF4-FFF2-40B4-BE49-F238E27FC236}">
                <a16:creationId xmlns:a16="http://schemas.microsoft.com/office/drawing/2014/main" id="{7E46F3CB-B7A2-6C4C-B085-55F383976BB8}"/>
              </a:ext>
            </a:extLst>
          </p:cNvPr>
          <p:cNvSpPr txBox="1">
            <a:spLocks noChangeArrowheads="1"/>
          </p:cNvSpPr>
          <p:nvPr/>
        </p:nvSpPr>
        <p:spPr>
          <a:xfrm>
            <a:off x="6781215"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Persistent HTTP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 to a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multiple objects can be sent over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single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TCP connection between client, and that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55A10CF-7248-164C-A5EF-FC5AA96E9417}"/>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24</a:t>
            </a:fld>
            <a:endParaRPr lang="en-US" dirty="0"/>
          </a:p>
        </p:txBody>
      </p:sp>
    </p:spTree>
    <p:extLst>
      <p:ext uri="{BB962C8B-B14F-4D97-AF65-F5344CB8AC3E}">
        <p14:creationId xmlns:p14="http://schemas.microsoft.com/office/powerpoint/2010/main" val="1141566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2" end="2"/>
                                            </p:txEl>
                                          </p:spTgt>
                                        </p:tgtEl>
                                        <p:attrNameLst>
                                          <p:attrName>style.visibility</p:attrName>
                                        </p:attrNameLst>
                                      </p:cBhvr>
                                      <p:to>
                                        <p:strVal val="visible"/>
                                      </p:to>
                                    </p:set>
                                    <p:animEffect transition="in" filter="dissolve">
                                      <p:cBhvr>
                                        <p:cTn id="10" dur="500"/>
                                        <p:tgtEl>
                                          <p:spTgt spid="11">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3" end="3"/>
                                            </p:txEl>
                                          </p:spTgt>
                                        </p:tgtEl>
                                        <p:attrNameLst>
                                          <p:attrName>style.visibility</p:attrName>
                                        </p:attrNameLst>
                                      </p:cBhvr>
                                      <p:to>
                                        <p:strVal val="visible"/>
                                      </p:to>
                                    </p:set>
                                    <p:animEffect transition="in" filter="dissolve">
                                      <p:cBhvr>
                                        <p:cTn id="13" dur="500"/>
                                        <p:tgtEl>
                                          <p:spTgt spid="11">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4" end="4"/>
                                            </p:txEl>
                                          </p:spTgt>
                                        </p:tgtEl>
                                        <p:attrNameLst>
                                          <p:attrName>style.visibility</p:attrName>
                                        </p:attrNameLst>
                                      </p:cBhvr>
                                      <p:to>
                                        <p:strVal val="visible"/>
                                      </p:to>
                                    </p:set>
                                    <p:animEffect transition="in" filter="dissolve">
                                      <p:cBhvr>
                                        <p:cTn id="16" dur="500"/>
                                        <p:tgtEl>
                                          <p:spTgt spid="11">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2">
                                            <p:txEl>
                                              <p:pRg st="1" end="1"/>
                                            </p:txEl>
                                          </p:spTgt>
                                        </p:tgtEl>
                                        <p:attrNameLst>
                                          <p:attrName>style.visibility</p:attrName>
                                        </p:attrNameLst>
                                      </p:cBhvr>
                                      <p:to>
                                        <p:strVal val="visible"/>
                                      </p:to>
                                    </p:set>
                                    <p:animEffect transition="in" filter="dissolve">
                                      <p:cBhvr>
                                        <p:cTn id="21" dur="500"/>
                                        <p:tgtEl>
                                          <p:spTgt spid="12">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2" end="2"/>
                                            </p:txEl>
                                          </p:spTgt>
                                        </p:tgtEl>
                                        <p:attrNameLst>
                                          <p:attrName>style.visibility</p:attrName>
                                        </p:attrNameLst>
                                      </p:cBhvr>
                                      <p:to>
                                        <p:strVal val="visible"/>
                                      </p:to>
                                    </p:set>
                                    <p:animEffect transition="in" filter="dissolve">
                                      <p:cBhvr>
                                        <p:cTn id="24" dur="500"/>
                                        <p:tgtEl>
                                          <p:spTgt spid="12">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
                                            <p:txEl>
                                              <p:pRg st="3" end="3"/>
                                            </p:txEl>
                                          </p:spTgt>
                                        </p:tgtEl>
                                        <p:attrNameLst>
                                          <p:attrName>style.visibility</p:attrName>
                                        </p:attrNameLst>
                                      </p:cBhvr>
                                      <p:to>
                                        <p:strVal val="visible"/>
                                      </p:to>
                                    </p:set>
                                    <p:animEffect transition="in" filter="dissolve">
                                      <p:cBhvr>
                                        <p:cTn id="27" dur="500"/>
                                        <p:tgtEl>
                                          <p:spTgt spid="1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a:t>
            </a:r>
            <a:endParaRPr lang="en-US" sz="4400" dirty="0"/>
          </a:p>
        </p:txBody>
      </p:sp>
      <p:sp>
        <p:nvSpPr>
          <p:cNvPr id="6" name="Line 11">
            <a:extLst>
              <a:ext uri="{FF2B5EF4-FFF2-40B4-BE49-F238E27FC236}">
                <a16:creationId xmlns:a16="http://schemas.microsoft.com/office/drawing/2014/main" id="{67AC580C-18A4-D247-92B5-6D862101F771}"/>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7" name="Rectangle 13">
            <a:extLst>
              <a:ext uri="{FF2B5EF4-FFF2-40B4-BE49-F238E27FC236}">
                <a16:creationId xmlns:a16="http://schemas.microsoft.com/office/drawing/2014/main" id="{1301A620-3B2F-B341-BCAC-A3E4F12C85AA}"/>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10" name="Rectangle 4">
            <a:extLst>
              <a:ext uri="{FF2B5EF4-FFF2-40B4-BE49-F238E27FC236}">
                <a16:creationId xmlns:a16="http://schemas.microsoft.com/office/drawing/2014/main" id="{8E22C996-6035-504C-97CC-082C3EAD4AF4}"/>
              </a:ext>
            </a:extLst>
          </p:cNvPr>
          <p:cNvSpPr txBox="1">
            <a:spLocks noChangeArrowheads="1"/>
          </p:cNvSpPr>
          <p:nvPr/>
        </p:nvSpPr>
        <p:spPr>
          <a:xfrm>
            <a:off x="944384" y="2447251"/>
            <a:ext cx="4850242"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1a</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initiates TCP connection to HTTP server (process) at </a:t>
            </a:r>
            <a:r>
              <a:rPr kumimoji="0" lang="en-US" altLang="en-US" sz="2000" b="0" i="0" u="none" strike="noStrike" kern="1200" cap="none" spc="0" normalizeH="0" baseline="0" noProof="0" dirty="0" err="1">
                <a:ln>
                  <a:noFill/>
                </a:ln>
                <a:solidFill>
                  <a:prstClr val="black"/>
                </a:solidFill>
                <a:effectLst/>
                <a:uLnTx/>
                <a:uFillTx/>
                <a:latin typeface="Calibri"/>
                <a:ea typeface="ＭＳ Ｐゴシック" panose="020B0600070205080204" pitchFamily="34" charset="-128"/>
                <a:cs typeface="+mn-cs"/>
              </a:rPr>
              <a:t>www.someSchool.edu</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 port 80</a:t>
            </a:r>
          </a:p>
        </p:txBody>
      </p:sp>
      <p:sp>
        <p:nvSpPr>
          <p:cNvPr id="13" name="Rectangle 5">
            <a:extLst>
              <a:ext uri="{FF2B5EF4-FFF2-40B4-BE49-F238E27FC236}">
                <a16:creationId xmlns:a16="http://schemas.microsoft.com/office/drawing/2014/main" id="{4518B9B7-A17A-DD48-BBA8-A1AC04589450}"/>
              </a:ext>
            </a:extLst>
          </p:cNvPr>
          <p:cNvSpPr>
            <a:spLocks noChangeArrowheads="1"/>
          </p:cNvSpPr>
          <p:nvPr/>
        </p:nvSpPr>
        <p:spPr bwMode="auto">
          <a:xfrm>
            <a:off x="1172983" y="4077834"/>
            <a:ext cx="421653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sends HTTP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URL) into TCP connection socket. Message indicates that client wants object </a:t>
            </a:r>
            <a:r>
              <a:rPr kumimoji="0" lang="en-US" altLang="en-US" sz="2000" b="0" i="0" u="none" strike="noStrike" kern="1200" cap="none" spc="0" normalizeH="0" baseline="0" noProof="0" dirty="0" err="1">
                <a:ln>
                  <a:noFill/>
                </a:ln>
                <a:solidFill>
                  <a:prstClr val="black"/>
                </a:solidFill>
                <a:effectLst/>
                <a:uLnTx/>
                <a:uFillTx/>
                <a:latin typeface="Calibri"/>
                <a:ea typeface="ＭＳ Ｐゴシック" panose="020B0600070205080204" pitchFamily="34" charset="-128"/>
                <a:cs typeface="+mn-cs"/>
              </a:rPr>
              <a:t>someDepartment</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a:r>
            <a:r>
              <a:rPr kumimoji="0" lang="en-US" altLang="en-US" sz="2000" b="0" i="0" u="none" strike="noStrike" kern="1200" cap="none" spc="0" normalizeH="0" baseline="0" noProof="0" dirty="0" err="1">
                <a:ln>
                  <a:noFill/>
                </a:ln>
                <a:solidFill>
                  <a:prstClr val="black"/>
                </a:solidFill>
                <a:effectLst/>
                <a:uLnTx/>
                <a:uFillTx/>
                <a:latin typeface="Calibri"/>
                <a:ea typeface="ＭＳ Ｐゴシック" panose="020B0600070205080204" pitchFamily="34" charset="-128"/>
                <a:cs typeface="+mn-cs"/>
              </a:rPr>
              <a:t>home.index</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4" name="Rectangle 6">
            <a:extLst>
              <a:ext uri="{FF2B5EF4-FFF2-40B4-BE49-F238E27FC236}">
                <a16:creationId xmlns:a16="http://schemas.microsoft.com/office/drawing/2014/main" id="{AC1983CF-C4CB-FF47-A69D-3E65B8C96824}"/>
              </a:ext>
            </a:extLst>
          </p:cNvPr>
          <p:cNvSpPr>
            <a:spLocks noChangeArrowheads="1"/>
          </p:cNvSpPr>
          <p:nvPr/>
        </p:nvSpPr>
        <p:spPr bwMode="auto">
          <a:xfrm>
            <a:off x="6717018" y="2733157"/>
            <a:ext cx="5389528" cy="150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1b</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at host </a:t>
            </a:r>
            <a:r>
              <a:rPr kumimoji="0" lang="en-US" altLang="en-US" sz="2000" b="0" i="0" u="none" strike="noStrike" kern="1200" cap="none" spc="0" normalizeH="0" baseline="0" noProof="0" dirty="0" err="1">
                <a:ln>
                  <a:noFill/>
                </a:ln>
                <a:solidFill>
                  <a:prstClr val="black"/>
                </a:solidFill>
                <a:effectLst/>
                <a:uLnTx/>
                <a:uFillTx/>
                <a:latin typeface="Calibri"/>
                <a:ea typeface="ＭＳ Ｐゴシック" panose="020B0600070205080204" pitchFamily="34" charset="-128"/>
                <a:cs typeface="+mn-cs"/>
              </a:rPr>
              <a:t>www.someSchool.edu</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waiting for TCP connection at port 80  </a:t>
            </a:r>
            <a:r>
              <a:rPr kumimoji="0" lang="ja-JP"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accepts</a:t>
            </a:r>
            <a:r>
              <a:rPr kumimoji="0" lang="ja-JP"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connection, notifying 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5" name="Rectangle 7">
            <a:extLst>
              <a:ext uri="{FF2B5EF4-FFF2-40B4-BE49-F238E27FC236}">
                <a16:creationId xmlns:a16="http://schemas.microsoft.com/office/drawing/2014/main" id="{0B2B9504-D191-9144-8C84-929183C16C80}"/>
              </a:ext>
            </a:extLst>
          </p:cNvPr>
          <p:cNvSpPr>
            <a:spLocks noChangeArrowheads="1"/>
          </p:cNvSpPr>
          <p:nvPr/>
        </p:nvSpPr>
        <p:spPr bwMode="auto">
          <a:xfrm>
            <a:off x="6843976" y="4739906"/>
            <a:ext cx="5394870"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a:t>
            </a:r>
            <a:r>
              <a:rPr kumimoji="0" lang="en-US" altLang="en-US" sz="20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server receives request message, forms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response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requested object, and sends message into its socket</a:t>
            </a: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Line 9">
            <a:extLst>
              <a:ext uri="{FF2B5EF4-FFF2-40B4-BE49-F238E27FC236}">
                <a16:creationId xmlns:a16="http://schemas.microsoft.com/office/drawing/2014/main" id="{B4DAFA34-3C73-6F47-8061-690804DAF277}"/>
              </a:ext>
            </a:extLst>
          </p:cNvPr>
          <p:cNvSpPr>
            <a:spLocks noChangeShapeType="1"/>
          </p:cNvSpPr>
          <p:nvPr/>
        </p:nvSpPr>
        <p:spPr bwMode="auto">
          <a:xfrm>
            <a:off x="5102530" y="4961816"/>
            <a:ext cx="1800180" cy="60195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7" name="Line 10">
            <a:extLst>
              <a:ext uri="{FF2B5EF4-FFF2-40B4-BE49-F238E27FC236}">
                <a16:creationId xmlns:a16="http://schemas.microsoft.com/office/drawing/2014/main" id="{0A9DB4DB-78BB-C14F-903C-4C820480B188}"/>
              </a:ext>
            </a:extLst>
          </p:cNvPr>
          <p:cNvSpPr>
            <a:spLocks noChangeShapeType="1"/>
          </p:cNvSpPr>
          <p:nvPr/>
        </p:nvSpPr>
        <p:spPr bwMode="auto">
          <a:xfrm flipH="1">
            <a:off x="5389517" y="5671992"/>
            <a:ext cx="1410287" cy="89186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8" name="Text Box 12">
            <a:extLst>
              <a:ext uri="{FF2B5EF4-FFF2-40B4-BE49-F238E27FC236}">
                <a16:creationId xmlns:a16="http://schemas.microsoft.com/office/drawing/2014/main" id="{27BF3D34-DFF2-A04F-84F9-CBAE80221F3D}"/>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19" name="Line 8">
            <a:extLst>
              <a:ext uri="{FF2B5EF4-FFF2-40B4-BE49-F238E27FC236}">
                <a16:creationId xmlns:a16="http://schemas.microsoft.com/office/drawing/2014/main" id="{8D8A0BF5-72E5-9E41-A2AE-DE0F79C9B132}"/>
              </a:ext>
            </a:extLst>
          </p:cNvPr>
          <p:cNvSpPr>
            <a:spLocks noChangeShapeType="1"/>
          </p:cNvSpPr>
          <p:nvPr/>
        </p:nvSpPr>
        <p:spPr bwMode="auto">
          <a:xfrm>
            <a:off x="5156851" y="2779258"/>
            <a:ext cx="155102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0" name="Line 14">
            <a:extLst>
              <a:ext uri="{FF2B5EF4-FFF2-40B4-BE49-F238E27FC236}">
                <a16:creationId xmlns:a16="http://schemas.microsoft.com/office/drawing/2014/main" id="{054521BF-054B-B342-A343-164F3CB503B3}"/>
              </a:ext>
            </a:extLst>
          </p:cNvPr>
          <p:cNvSpPr>
            <a:spLocks noChangeShapeType="1"/>
          </p:cNvSpPr>
          <p:nvPr/>
        </p:nvSpPr>
        <p:spPr bwMode="auto">
          <a:xfrm flipH="1">
            <a:off x="5102530" y="3366635"/>
            <a:ext cx="1551026" cy="1006986"/>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a:t>
            </a: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t>
            </a:r>
            <a:r>
              <a:rPr kumimoji="0" lang="en-US" altLang="en-US" sz="20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someDepartment</a:t>
            </a: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t>
            </a:r>
            <a:r>
              <a:rPr kumimoji="0" lang="en-US" altLang="en-US" sz="20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home.index</a:t>
            </a:r>
            <a:endPar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Slide Number Placeholder 2">
            <a:extLst>
              <a:ext uri="{FF2B5EF4-FFF2-40B4-BE49-F238E27FC236}">
                <a16:creationId xmlns:a16="http://schemas.microsoft.com/office/drawing/2014/main" id="{FD2215CF-ECE6-6746-8DE5-3833EE2398C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25</a:t>
            </a:fld>
            <a:endParaRPr lang="en-US" dirty="0"/>
          </a:p>
        </p:txBody>
      </p:sp>
    </p:spTree>
    <p:extLst>
      <p:ext uri="{BB962C8B-B14F-4D97-AF65-F5344CB8AC3E}">
        <p14:creationId xmlns:p14="http://schemas.microsoft.com/office/powerpoint/2010/main" val="3805243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dissolve">
                                      <p:cBhvr>
                                        <p:cTn id="15" dur="500"/>
                                        <p:tgtEl>
                                          <p:spTgt spid="14"/>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wipe(right)">
                                      <p:cBhvr>
                                        <p:cTn id="19" dur="500"/>
                                        <p:tgtEl>
                                          <p:spTgt spid="20"/>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dissolve">
                                      <p:cBhvr>
                                        <p:cTn id="24" dur="500"/>
                                        <p:tgtEl>
                                          <p:spTgt spid="13"/>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left)">
                                      <p:cBhvr>
                                        <p:cTn id="28" dur="500"/>
                                        <p:tgtEl>
                                          <p:spTgt spid="16"/>
                                        </p:tgtEl>
                                      </p:cBhvr>
                                    </p:animEffect>
                                  </p:childTnLst>
                                </p:cTn>
                              </p:par>
                            </p:childTnLst>
                          </p:cTn>
                        </p:par>
                        <p:par>
                          <p:cTn id="29" fill="hold">
                            <p:stCondLst>
                              <p:cond delay="1000"/>
                            </p:stCondLst>
                            <p:childTnLst>
                              <p:par>
                                <p:cTn id="30" presetID="9" presetClass="entr" presetSubtype="0"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par>
                          <p:cTn id="33" fill="hold">
                            <p:stCondLst>
                              <p:cond delay="1500"/>
                            </p:stCondLst>
                            <p:childTnLst>
                              <p:par>
                                <p:cTn id="34" presetID="22" presetClass="entr" presetSubtype="2" fill="hold" nodeType="after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wipe(right)">
                                      <p:cBhvr>
                                        <p:cTn id="3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uild="p"/>
      <p:bldP spid="13" grpId="0"/>
      <p:bldP spid="14" grpId="0"/>
      <p:bldP spid="15"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 (cont.)</a:t>
            </a:r>
            <a:endParaRPr lang="en-US" sz="4400" dirty="0"/>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a:t>
            </a: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t>
            </a:r>
            <a:r>
              <a:rPr kumimoji="0" lang="en-US" altLang="en-US" sz="20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someDepartment</a:t>
            </a: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t>
            </a:r>
            <a:r>
              <a:rPr kumimoji="0" lang="en-US" altLang="en-US" sz="20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home.index</a:t>
            </a:r>
            <a:endPar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Rectangle 6">
            <a:extLst>
              <a:ext uri="{FF2B5EF4-FFF2-40B4-BE49-F238E27FC236}">
                <a16:creationId xmlns:a16="http://schemas.microsoft.com/office/drawing/2014/main" id="{F5ECC14E-6AC7-4243-86F2-25BD5F2B8464}"/>
              </a:ext>
            </a:extLst>
          </p:cNvPr>
          <p:cNvSpPr txBox="1">
            <a:spLocks noChangeArrowheads="1"/>
          </p:cNvSpPr>
          <p:nvPr/>
        </p:nvSpPr>
        <p:spPr>
          <a:xfrm>
            <a:off x="798691" y="3200188"/>
            <a:ext cx="5085273" cy="201012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a:t>
            </a: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receives response message containing html file, displays html.  Parsing html file, finds 10 referenced jpeg  objects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
            <a:extLst>
              <a:ext uri="{FF2B5EF4-FFF2-40B4-BE49-F238E27FC236}">
                <a16:creationId xmlns:a16="http://schemas.microsoft.com/office/drawing/2014/main" id="{D3260771-3905-E24E-8B12-64D566C6B98F}"/>
              </a:ext>
            </a:extLst>
          </p:cNvPr>
          <p:cNvSpPr>
            <a:spLocks noChangeArrowheads="1"/>
          </p:cNvSpPr>
          <p:nvPr/>
        </p:nvSpPr>
        <p:spPr bwMode="auto">
          <a:xfrm>
            <a:off x="970480" y="4851930"/>
            <a:ext cx="3810000"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6.</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Steps 1-5 repeated for each of 10 jpeg objects</a:t>
            </a:r>
          </a:p>
        </p:txBody>
      </p:sp>
      <p:sp>
        <p:nvSpPr>
          <p:cNvPr id="61" name="Rectangle 8">
            <a:extLst>
              <a:ext uri="{FF2B5EF4-FFF2-40B4-BE49-F238E27FC236}">
                <a16:creationId xmlns:a16="http://schemas.microsoft.com/office/drawing/2014/main" id="{9E1B76BD-C8EB-7245-9B75-E2D499F3E682}"/>
              </a:ext>
            </a:extLst>
          </p:cNvPr>
          <p:cNvSpPr>
            <a:spLocks noChangeArrowheads="1"/>
          </p:cNvSpPr>
          <p:nvPr/>
        </p:nvSpPr>
        <p:spPr bwMode="auto">
          <a:xfrm>
            <a:off x="6706580" y="2782360"/>
            <a:ext cx="3810000" cy="73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4.</a:t>
            </a:r>
            <a:r>
              <a:rPr kumimoji="0" lang="en-US"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 HTTP server closes TCP connection. </a:t>
            </a:r>
          </a:p>
        </p:txBody>
      </p:sp>
      <p:sp>
        <p:nvSpPr>
          <p:cNvPr id="65" name="Line 17">
            <a:extLst>
              <a:ext uri="{FF2B5EF4-FFF2-40B4-BE49-F238E27FC236}">
                <a16:creationId xmlns:a16="http://schemas.microsoft.com/office/drawing/2014/main" id="{4F85C1F3-F91B-C04C-B746-8E5570895A91}"/>
              </a:ext>
            </a:extLst>
          </p:cNvPr>
          <p:cNvSpPr>
            <a:spLocks noChangeShapeType="1"/>
          </p:cNvSpPr>
          <p:nvPr/>
        </p:nvSpPr>
        <p:spPr bwMode="auto">
          <a:xfrm flipH="1">
            <a:off x="5587465" y="3200187"/>
            <a:ext cx="109537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a:ea typeface="+mn-ea"/>
              <a:cs typeface="+mn-cs"/>
            </a:endParaRPr>
          </a:p>
        </p:txBody>
      </p:sp>
      <p:sp>
        <p:nvSpPr>
          <p:cNvPr id="66" name="Line 11">
            <a:extLst>
              <a:ext uri="{FF2B5EF4-FFF2-40B4-BE49-F238E27FC236}">
                <a16:creationId xmlns:a16="http://schemas.microsoft.com/office/drawing/2014/main" id="{F8CE636E-DC4B-BA4E-A771-E70EE904FB25}"/>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67" name="Rectangle 13">
            <a:extLst>
              <a:ext uri="{FF2B5EF4-FFF2-40B4-BE49-F238E27FC236}">
                <a16:creationId xmlns:a16="http://schemas.microsoft.com/office/drawing/2014/main" id="{3787AF32-7BD3-C144-BD02-222C4290083B}"/>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8" name="Text Box 12">
            <a:extLst>
              <a:ext uri="{FF2B5EF4-FFF2-40B4-BE49-F238E27FC236}">
                <a16:creationId xmlns:a16="http://schemas.microsoft.com/office/drawing/2014/main" id="{B3CFBAD8-5CBD-8B48-A941-3E86D5E65FF6}"/>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62" name="Slide Number Placeholder 2">
            <a:extLst>
              <a:ext uri="{FF2B5EF4-FFF2-40B4-BE49-F238E27FC236}">
                <a16:creationId xmlns:a16="http://schemas.microsoft.com/office/drawing/2014/main" id="{805F15D5-7E9E-E54C-BDFB-FEFBBAA1DBA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26</a:t>
            </a:fld>
            <a:endParaRPr lang="en-US" dirty="0"/>
          </a:p>
        </p:txBody>
      </p:sp>
    </p:spTree>
    <p:extLst>
      <p:ext uri="{BB962C8B-B14F-4D97-AF65-F5344CB8AC3E}">
        <p14:creationId xmlns:p14="http://schemas.microsoft.com/office/powerpoint/2010/main" val="2163266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dissolve">
                                      <p:cBhvr>
                                        <p:cTn id="7" dur="500"/>
                                        <p:tgtEl>
                                          <p:spTgt spid="61"/>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right)">
                                      <p:cBhvr>
                                        <p:cTn id="11" dur="500"/>
                                        <p:tgtEl>
                                          <p:spTgt spid="65"/>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9">
                                            <p:txEl>
                                              <p:pRg st="0" end="0"/>
                                            </p:txEl>
                                          </p:spTgt>
                                        </p:tgtEl>
                                        <p:attrNameLst>
                                          <p:attrName>style.visibility</p:attrName>
                                        </p:attrNameLst>
                                      </p:cBhvr>
                                      <p:to>
                                        <p:strVal val="visible"/>
                                      </p:to>
                                    </p:set>
                                    <p:animEffect transition="in" filter="dissolve">
                                      <p:cBhvr>
                                        <p:cTn id="15" dur="500"/>
                                        <p:tgtEl>
                                          <p:spTgt spid="59">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60">
                                            <p:txEl>
                                              <p:pRg st="0" end="0"/>
                                            </p:txEl>
                                          </p:spTgt>
                                        </p:tgtEl>
                                        <p:attrNameLst>
                                          <p:attrName>style.visibility</p:attrName>
                                        </p:attrNameLst>
                                      </p:cBhvr>
                                      <p:to>
                                        <p:strVal val="visible"/>
                                      </p:to>
                                    </p:set>
                                    <p:animEffect transition="in" filter="dissolve">
                                      <p:cBhvr>
                                        <p:cTn id="20" dur="500"/>
                                        <p:tgtEl>
                                          <p:spTgt spid="6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build="p"/>
      <p:bldP spid="61"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response time</a:t>
            </a:r>
            <a:endParaRPr lang="en-US" sz="4400" dirty="0"/>
          </a:p>
        </p:txBody>
      </p:sp>
      <p:sp>
        <p:nvSpPr>
          <p:cNvPr id="62" name="Rectangle 3">
            <a:extLst>
              <a:ext uri="{FF2B5EF4-FFF2-40B4-BE49-F238E27FC236}">
                <a16:creationId xmlns:a16="http://schemas.microsoft.com/office/drawing/2014/main" id="{6FDB6615-546D-6440-BBC8-3C06990BF0E4}"/>
              </a:ext>
            </a:extLst>
          </p:cNvPr>
          <p:cNvSpPr txBox="1">
            <a:spLocks noChangeArrowheads="1"/>
          </p:cNvSpPr>
          <p:nvPr/>
        </p:nvSpPr>
        <p:spPr>
          <a:xfrm>
            <a:off x="736393" y="1919178"/>
            <a:ext cx="5683502" cy="33373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RTT (definition):</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time for a small packet to travel from client to server and back</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 time (per object):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to initiate TCP connection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for HTTP request and first few bytes of HTTP response to return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object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/file transmission time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Line 15">
            <a:extLst>
              <a:ext uri="{FF2B5EF4-FFF2-40B4-BE49-F238E27FC236}">
                <a16:creationId xmlns:a16="http://schemas.microsoft.com/office/drawing/2014/main" id="{4929D219-0DD0-EE4D-B40F-3D0B3F80F653}"/>
              </a:ext>
            </a:extLst>
          </p:cNvPr>
          <p:cNvSpPr>
            <a:spLocks noChangeShapeType="1"/>
          </p:cNvSpPr>
          <p:nvPr/>
        </p:nvSpPr>
        <p:spPr bwMode="auto">
          <a:xfrm>
            <a:off x="8197229" y="2671284"/>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64" name="Line 16">
            <a:extLst>
              <a:ext uri="{FF2B5EF4-FFF2-40B4-BE49-F238E27FC236}">
                <a16:creationId xmlns:a16="http://schemas.microsoft.com/office/drawing/2014/main" id="{8CAAC30A-AACE-CA43-94F8-6356C7DBF909}"/>
              </a:ext>
            </a:extLst>
          </p:cNvPr>
          <p:cNvSpPr>
            <a:spLocks noChangeShapeType="1"/>
          </p:cNvSpPr>
          <p:nvPr/>
        </p:nvSpPr>
        <p:spPr bwMode="auto">
          <a:xfrm>
            <a:off x="9887916" y="2664934"/>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69" name="Line 17">
            <a:extLst>
              <a:ext uri="{FF2B5EF4-FFF2-40B4-BE49-F238E27FC236}">
                <a16:creationId xmlns:a16="http://schemas.microsoft.com/office/drawing/2014/main" id="{AF42B5BB-493F-1A4F-A479-A45F6B47212F}"/>
              </a:ext>
            </a:extLst>
          </p:cNvPr>
          <p:cNvSpPr>
            <a:spLocks noChangeShapeType="1"/>
          </p:cNvSpPr>
          <p:nvPr/>
        </p:nvSpPr>
        <p:spPr bwMode="auto">
          <a:xfrm>
            <a:off x="8211516" y="290305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70" name="Line 18">
            <a:extLst>
              <a:ext uri="{FF2B5EF4-FFF2-40B4-BE49-F238E27FC236}">
                <a16:creationId xmlns:a16="http://schemas.microsoft.com/office/drawing/2014/main" id="{C9AE042D-B868-CC49-B9F2-374B1A84C6CD}"/>
              </a:ext>
            </a:extLst>
          </p:cNvPr>
          <p:cNvSpPr>
            <a:spLocks noChangeShapeType="1"/>
          </p:cNvSpPr>
          <p:nvPr/>
        </p:nvSpPr>
        <p:spPr bwMode="auto">
          <a:xfrm flipH="1">
            <a:off x="8197229" y="334120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71" name="Line 19">
            <a:extLst>
              <a:ext uri="{FF2B5EF4-FFF2-40B4-BE49-F238E27FC236}">
                <a16:creationId xmlns:a16="http://schemas.microsoft.com/office/drawing/2014/main" id="{99C22C7D-D82A-5C41-99D1-EA13F124371E}"/>
              </a:ext>
            </a:extLst>
          </p:cNvPr>
          <p:cNvSpPr>
            <a:spLocks noChangeShapeType="1"/>
          </p:cNvSpPr>
          <p:nvPr/>
        </p:nvSpPr>
        <p:spPr bwMode="auto">
          <a:xfrm>
            <a:off x="8205166" y="384920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73" name="AutoShape 21">
            <a:extLst>
              <a:ext uri="{FF2B5EF4-FFF2-40B4-BE49-F238E27FC236}">
                <a16:creationId xmlns:a16="http://schemas.microsoft.com/office/drawing/2014/main" id="{DD02DF36-65CF-F14E-88DF-53BB17EBFDA7}"/>
              </a:ext>
            </a:extLst>
          </p:cNvPr>
          <p:cNvSpPr>
            <a:spLocks/>
          </p:cNvSpPr>
          <p:nvPr/>
        </p:nvSpPr>
        <p:spPr bwMode="auto">
          <a:xfrm>
            <a:off x="9903942" y="4249143"/>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74" name="Text Box 22">
            <a:extLst>
              <a:ext uri="{FF2B5EF4-FFF2-40B4-BE49-F238E27FC236}">
                <a16:creationId xmlns:a16="http://schemas.microsoft.com/office/drawing/2014/main" id="{CCB0A876-D266-4A45-A302-8A1ECD42C715}"/>
              </a:ext>
            </a:extLst>
          </p:cNvPr>
          <p:cNvSpPr txBox="1">
            <a:spLocks noChangeArrowheads="1"/>
          </p:cNvSpPr>
          <p:nvPr/>
        </p:nvSpPr>
        <p:spPr bwMode="auto">
          <a:xfrm>
            <a:off x="9997454" y="3944459"/>
            <a:ext cx="1123577" cy="87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time to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transmit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file</a:t>
            </a:r>
          </a:p>
        </p:txBody>
      </p:sp>
      <p:sp>
        <p:nvSpPr>
          <p:cNvPr id="75" name="Line 23">
            <a:extLst>
              <a:ext uri="{FF2B5EF4-FFF2-40B4-BE49-F238E27FC236}">
                <a16:creationId xmlns:a16="http://schemas.microsoft.com/office/drawing/2014/main" id="{5718D752-EA30-EF40-828E-5D0FFEB1DBD8}"/>
              </a:ext>
            </a:extLst>
          </p:cNvPr>
          <p:cNvSpPr>
            <a:spLocks noChangeShapeType="1"/>
          </p:cNvSpPr>
          <p:nvPr/>
        </p:nvSpPr>
        <p:spPr bwMode="auto">
          <a:xfrm>
            <a:off x="7806704" y="2877659"/>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76" name="Text Box 24">
            <a:extLst>
              <a:ext uri="{FF2B5EF4-FFF2-40B4-BE49-F238E27FC236}">
                <a16:creationId xmlns:a16="http://schemas.microsoft.com/office/drawing/2014/main" id="{8BC58F30-FF48-FF4E-819B-1E40B909576D}"/>
              </a:ext>
            </a:extLst>
          </p:cNvPr>
          <p:cNvSpPr txBox="1">
            <a:spLocks noChangeArrowheads="1"/>
          </p:cNvSpPr>
          <p:nvPr/>
        </p:nvSpPr>
        <p:spPr bwMode="auto">
          <a:xfrm>
            <a:off x="6516660" y="2563010"/>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initiate TCP</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connection</a:t>
            </a:r>
          </a:p>
        </p:txBody>
      </p:sp>
      <p:sp>
        <p:nvSpPr>
          <p:cNvPr id="77" name="AutoShape 25">
            <a:extLst>
              <a:ext uri="{FF2B5EF4-FFF2-40B4-BE49-F238E27FC236}">
                <a16:creationId xmlns:a16="http://schemas.microsoft.com/office/drawing/2014/main" id="{1676996C-B2C6-6440-BDFC-70D850B75C3C}"/>
              </a:ext>
            </a:extLst>
          </p:cNvPr>
          <p:cNvSpPr>
            <a:spLocks/>
          </p:cNvSpPr>
          <p:nvPr/>
        </p:nvSpPr>
        <p:spPr bwMode="auto">
          <a:xfrm>
            <a:off x="7941641" y="2928459"/>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78" name="Text Box 26">
            <a:extLst>
              <a:ext uri="{FF2B5EF4-FFF2-40B4-BE49-F238E27FC236}">
                <a16:creationId xmlns:a16="http://schemas.microsoft.com/office/drawing/2014/main" id="{86DB8643-EF07-8F4F-9625-5A4CA4A150AE}"/>
              </a:ext>
            </a:extLst>
          </p:cNvPr>
          <p:cNvSpPr txBox="1">
            <a:spLocks noChangeArrowheads="1"/>
          </p:cNvSpPr>
          <p:nvPr/>
        </p:nvSpPr>
        <p:spPr bwMode="auto">
          <a:xfrm>
            <a:off x="7459041" y="3139596"/>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RTT</a:t>
            </a:r>
          </a:p>
        </p:txBody>
      </p:sp>
      <p:sp>
        <p:nvSpPr>
          <p:cNvPr id="79" name="Line 27">
            <a:extLst>
              <a:ext uri="{FF2B5EF4-FFF2-40B4-BE49-F238E27FC236}">
                <a16:creationId xmlns:a16="http://schemas.microsoft.com/office/drawing/2014/main" id="{981309A0-6209-8843-8011-139102021A78}"/>
              </a:ext>
            </a:extLst>
          </p:cNvPr>
          <p:cNvSpPr>
            <a:spLocks noChangeShapeType="1"/>
          </p:cNvSpPr>
          <p:nvPr/>
        </p:nvSpPr>
        <p:spPr bwMode="auto">
          <a:xfrm>
            <a:off x="7855916" y="3782534"/>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80" name="Text Box 28">
            <a:extLst>
              <a:ext uri="{FF2B5EF4-FFF2-40B4-BE49-F238E27FC236}">
                <a16:creationId xmlns:a16="http://schemas.microsoft.com/office/drawing/2014/main" id="{F8F4F9A2-8F8A-0A49-A582-7B28C50C8027}"/>
              </a:ext>
            </a:extLst>
          </p:cNvPr>
          <p:cNvSpPr txBox="1">
            <a:spLocks noChangeArrowheads="1"/>
          </p:cNvSpPr>
          <p:nvPr/>
        </p:nvSpPr>
        <p:spPr bwMode="auto">
          <a:xfrm>
            <a:off x="6493113" y="3589815"/>
            <a:ext cx="1969956"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 file</a:t>
            </a:r>
          </a:p>
        </p:txBody>
      </p:sp>
      <p:sp>
        <p:nvSpPr>
          <p:cNvPr id="81" name="AutoShape 29">
            <a:extLst>
              <a:ext uri="{FF2B5EF4-FFF2-40B4-BE49-F238E27FC236}">
                <a16:creationId xmlns:a16="http://schemas.microsoft.com/office/drawing/2014/main" id="{38B5D7F5-BB3A-C042-A65C-E340A56B8131}"/>
              </a:ext>
            </a:extLst>
          </p:cNvPr>
          <p:cNvSpPr>
            <a:spLocks/>
          </p:cNvSpPr>
          <p:nvPr/>
        </p:nvSpPr>
        <p:spPr bwMode="auto">
          <a:xfrm>
            <a:off x="7947991" y="3838096"/>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82" name="Text Box 30">
            <a:extLst>
              <a:ext uri="{FF2B5EF4-FFF2-40B4-BE49-F238E27FC236}">
                <a16:creationId xmlns:a16="http://schemas.microsoft.com/office/drawing/2014/main" id="{F6FF37B4-B442-4047-946B-77B07E91C983}"/>
              </a:ext>
            </a:extLst>
          </p:cNvPr>
          <p:cNvSpPr txBox="1">
            <a:spLocks noChangeArrowheads="1"/>
          </p:cNvSpPr>
          <p:nvPr/>
        </p:nvSpPr>
        <p:spPr bwMode="auto">
          <a:xfrm>
            <a:off x="7478091" y="4061934"/>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RTT</a:t>
            </a:r>
          </a:p>
        </p:txBody>
      </p:sp>
      <p:sp>
        <p:nvSpPr>
          <p:cNvPr id="83" name="Line 35">
            <a:extLst>
              <a:ext uri="{FF2B5EF4-FFF2-40B4-BE49-F238E27FC236}">
                <a16:creationId xmlns:a16="http://schemas.microsoft.com/office/drawing/2014/main" id="{1D97958B-3B35-E742-B7C6-848FC7C172D7}"/>
              </a:ext>
            </a:extLst>
          </p:cNvPr>
          <p:cNvSpPr>
            <a:spLocks noChangeShapeType="1"/>
          </p:cNvSpPr>
          <p:nvPr/>
        </p:nvSpPr>
        <p:spPr bwMode="auto">
          <a:xfrm flipH="1">
            <a:off x="7818988" y="4805006"/>
            <a:ext cx="361323" cy="22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84" name="Text Box 36">
            <a:extLst>
              <a:ext uri="{FF2B5EF4-FFF2-40B4-BE49-F238E27FC236}">
                <a16:creationId xmlns:a16="http://schemas.microsoft.com/office/drawing/2014/main" id="{24A3B2D9-8989-434A-9FC2-223A7BF47D9C}"/>
              </a:ext>
            </a:extLst>
          </p:cNvPr>
          <p:cNvSpPr txBox="1">
            <a:spLocks noChangeArrowheads="1"/>
          </p:cNvSpPr>
          <p:nvPr/>
        </p:nvSpPr>
        <p:spPr bwMode="auto">
          <a:xfrm>
            <a:off x="6405684" y="4617233"/>
            <a:ext cx="1647627"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 received</a:t>
            </a:r>
          </a:p>
        </p:txBody>
      </p:sp>
      <p:sp>
        <p:nvSpPr>
          <p:cNvPr id="85" name="Text Box 37">
            <a:extLst>
              <a:ext uri="{FF2B5EF4-FFF2-40B4-BE49-F238E27FC236}">
                <a16:creationId xmlns:a16="http://schemas.microsoft.com/office/drawing/2014/main" id="{5F7EC06B-E293-DF46-888B-439F61ED3140}"/>
              </a:ext>
            </a:extLst>
          </p:cNvPr>
          <p:cNvSpPr txBox="1">
            <a:spLocks noChangeArrowheads="1"/>
          </p:cNvSpPr>
          <p:nvPr/>
        </p:nvSpPr>
        <p:spPr bwMode="auto">
          <a:xfrm>
            <a:off x="7971804" y="5517671"/>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time</a:t>
            </a:r>
          </a:p>
        </p:txBody>
      </p:sp>
      <p:sp>
        <p:nvSpPr>
          <p:cNvPr id="86" name="Text Box 38">
            <a:extLst>
              <a:ext uri="{FF2B5EF4-FFF2-40B4-BE49-F238E27FC236}">
                <a16:creationId xmlns:a16="http://schemas.microsoft.com/office/drawing/2014/main" id="{29F1D00D-DC1A-684B-8E6D-3829DD416398}"/>
              </a:ext>
            </a:extLst>
          </p:cNvPr>
          <p:cNvSpPr txBox="1">
            <a:spLocks noChangeArrowheads="1"/>
          </p:cNvSpPr>
          <p:nvPr/>
        </p:nvSpPr>
        <p:spPr bwMode="auto">
          <a:xfrm>
            <a:off x="9649791" y="5500209"/>
            <a:ext cx="6639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time</a:t>
            </a:r>
          </a:p>
        </p:txBody>
      </p:sp>
      <p:grpSp>
        <p:nvGrpSpPr>
          <p:cNvPr id="87" name="Group 43">
            <a:extLst>
              <a:ext uri="{FF2B5EF4-FFF2-40B4-BE49-F238E27FC236}">
                <a16:creationId xmlns:a16="http://schemas.microsoft.com/office/drawing/2014/main" id="{541F6086-47C8-874D-8AA5-F7E42EE4D031}"/>
              </a:ext>
            </a:extLst>
          </p:cNvPr>
          <p:cNvGrpSpPr>
            <a:grpSpLocks/>
          </p:cNvGrpSpPr>
          <p:nvPr/>
        </p:nvGrpSpPr>
        <p:grpSpPr bwMode="auto">
          <a:xfrm>
            <a:off x="9687891" y="1898171"/>
            <a:ext cx="423863" cy="684213"/>
            <a:chOff x="4140" y="429"/>
            <a:chExt cx="1425" cy="2396"/>
          </a:xfrm>
        </p:grpSpPr>
        <p:sp>
          <p:nvSpPr>
            <p:cNvPr id="88" name="Freeform 44">
              <a:extLst>
                <a:ext uri="{FF2B5EF4-FFF2-40B4-BE49-F238E27FC236}">
                  <a16:creationId xmlns:a16="http://schemas.microsoft.com/office/drawing/2014/main" id="{6DAF6B62-B819-F74E-96B5-61332060022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89" name="Rectangle 45">
              <a:extLst>
                <a:ext uri="{FF2B5EF4-FFF2-40B4-BE49-F238E27FC236}">
                  <a16:creationId xmlns:a16="http://schemas.microsoft.com/office/drawing/2014/main" id="{50F7D37B-F313-5C49-8576-42FF33D8D98D}"/>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90" name="Freeform 46">
              <a:extLst>
                <a:ext uri="{FF2B5EF4-FFF2-40B4-BE49-F238E27FC236}">
                  <a16:creationId xmlns:a16="http://schemas.microsoft.com/office/drawing/2014/main" id="{87E40F45-93DC-2B4E-ADDC-55D37D40B97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91" name="Freeform 47">
              <a:extLst>
                <a:ext uri="{FF2B5EF4-FFF2-40B4-BE49-F238E27FC236}">
                  <a16:creationId xmlns:a16="http://schemas.microsoft.com/office/drawing/2014/main" id="{7B112D55-79F9-1F4D-B446-8C88751FFEC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92" name="Rectangle 48">
              <a:extLst>
                <a:ext uri="{FF2B5EF4-FFF2-40B4-BE49-F238E27FC236}">
                  <a16:creationId xmlns:a16="http://schemas.microsoft.com/office/drawing/2014/main" id="{956D8EF0-FF87-9E4B-887E-2B313EF776BD}"/>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93" name="Group 49">
              <a:extLst>
                <a:ext uri="{FF2B5EF4-FFF2-40B4-BE49-F238E27FC236}">
                  <a16:creationId xmlns:a16="http://schemas.microsoft.com/office/drawing/2014/main" id="{66F581E1-4301-C04A-BC92-0FE36983E299}"/>
                </a:ext>
              </a:extLst>
            </p:cNvPr>
            <p:cNvGrpSpPr>
              <a:grpSpLocks/>
            </p:cNvGrpSpPr>
            <p:nvPr/>
          </p:nvGrpSpPr>
          <p:grpSpPr bwMode="auto">
            <a:xfrm>
              <a:off x="4749" y="668"/>
              <a:ext cx="581" cy="145"/>
              <a:chOff x="614" y="2568"/>
              <a:chExt cx="725" cy="139"/>
            </a:xfrm>
          </p:grpSpPr>
          <p:sp>
            <p:nvSpPr>
              <p:cNvPr id="118" name="AutoShape 50">
                <a:extLst>
                  <a:ext uri="{FF2B5EF4-FFF2-40B4-BE49-F238E27FC236}">
                    <a16:creationId xmlns:a16="http://schemas.microsoft.com/office/drawing/2014/main" id="{060EE10F-40BB-F147-A18B-D592D49006F2}"/>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19" name="AutoShape 51">
                <a:extLst>
                  <a:ext uri="{FF2B5EF4-FFF2-40B4-BE49-F238E27FC236}">
                    <a16:creationId xmlns:a16="http://schemas.microsoft.com/office/drawing/2014/main" id="{964C81AE-2600-6248-820C-48DB107C0AC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94" name="Rectangle 52">
              <a:extLst>
                <a:ext uri="{FF2B5EF4-FFF2-40B4-BE49-F238E27FC236}">
                  <a16:creationId xmlns:a16="http://schemas.microsoft.com/office/drawing/2014/main" id="{0B3B5D85-0106-D947-B9AB-3DEF402BDE7F}"/>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95" name="Group 53">
              <a:extLst>
                <a:ext uri="{FF2B5EF4-FFF2-40B4-BE49-F238E27FC236}">
                  <a16:creationId xmlns:a16="http://schemas.microsoft.com/office/drawing/2014/main" id="{21E327E2-0D3F-BB45-88FA-94BE82472324}"/>
                </a:ext>
              </a:extLst>
            </p:cNvPr>
            <p:cNvGrpSpPr>
              <a:grpSpLocks/>
            </p:cNvGrpSpPr>
            <p:nvPr/>
          </p:nvGrpSpPr>
          <p:grpSpPr bwMode="auto">
            <a:xfrm>
              <a:off x="4747" y="994"/>
              <a:ext cx="581" cy="134"/>
              <a:chOff x="614" y="2568"/>
              <a:chExt cx="725" cy="139"/>
            </a:xfrm>
          </p:grpSpPr>
          <p:sp>
            <p:nvSpPr>
              <p:cNvPr id="116" name="AutoShape 54">
                <a:extLst>
                  <a:ext uri="{FF2B5EF4-FFF2-40B4-BE49-F238E27FC236}">
                    <a16:creationId xmlns:a16="http://schemas.microsoft.com/office/drawing/2014/main" id="{A09779CB-5E1C-FF46-9276-B827DEE6BD99}"/>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17" name="AutoShape 55">
                <a:extLst>
                  <a:ext uri="{FF2B5EF4-FFF2-40B4-BE49-F238E27FC236}">
                    <a16:creationId xmlns:a16="http://schemas.microsoft.com/office/drawing/2014/main" id="{67162A33-48AB-8447-8BA1-9899B1EFA707}"/>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96" name="Rectangle 56">
              <a:extLst>
                <a:ext uri="{FF2B5EF4-FFF2-40B4-BE49-F238E27FC236}">
                  <a16:creationId xmlns:a16="http://schemas.microsoft.com/office/drawing/2014/main" id="{C0727CA6-9309-D04B-829F-614EF5BEA353}"/>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97" name="Rectangle 57">
              <a:extLst>
                <a:ext uri="{FF2B5EF4-FFF2-40B4-BE49-F238E27FC236}">
                  <a16:creationId xmlns:a16="http://schemas.microsoft.com/office/drawing/2014/main" id="{17B7496E-619F-B745-A3B6-4EDDE39B5208}"/>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98" name="Group 58">
              <a:extLst>
                <a:ext uri="{FF2B5EF4-FFF2-40B4-BE49-F238E27FC236}">
                  <a16:creationId xmlns:a16="http://schemas.microsoft.com/office/drawing/2014/main" id="{B3F5CCBA-FB37-F741-A1BE-6A326312ABBC}"/>
                </a:ext>
              </a:extLst>
            </p:cNvPr>
            <p:cNvGrpSpPr>
              <a:grpSpLocks/>
            </p:cNvGrpSpPr>
            <p:nvPr/>
          </p:nvGrpSpPr>
          <p:grpSpPr bwMode="auto">
            <a:xfrm>
              <a:off x="4735" y="1627"/>
              <a:ext cx="582" cy="151"/>
              <a:chOff x="614" y="2568"/>
              <a:chExt cx="725" cy="139"/>
            </a:xfrm>
          </p:grpSpPr>
          <p:sp>
            <p:nvSpPr>
              <p:cNvPr id="114" name="AutoShape 59">
                <a:extLst>
                  <a:ext uri="{FF2B5EF4-FFF2-40B4-BE49-F238E27FC236}">
                    <a16:creationId xmlns:a16="http://schemas.microsoft.com/office/drawing/2014/main" id="{DEAAF06F-764B-A04C-A4F4-4AF808C89F0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15" name="AutoShape 60">
                <a:extLst>
                  <a:ext uri="{FF2B5EF4-FFF2-40B4-BE49-F238E27FC236}">
                    <a16:creationId xmlns:a16="http://schemas.microsoft.com/office/drawing/2014/main" id="{73A61CB6-ED08-FD4B-8F83-3336B8F8272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99" name="Freeform 61">
              <a:extLst>
                <a:ext uri="{FF2B5EF4-FFF2-40B4-BE49-F238E27FC236}">
                  <a16:creationId xmlns:a16="http://schemas.microsoft.com/office/drawing/2014/main" id="{1AB063BC-5497-FD41-9B58-4C27970B62E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grpSp>
          <p:nvGrpSpPr>
            <p:cNvPr id="100" name="Group 62">
              <a:extLst>
                <a:ext uri="{FF2B5EF4-FFF2-40B4-BE49-F238E27FC236}">
                  <a16:creationId xmlns:a16="http://schemas.microsoft.com/office/drawing/2014/main" id="{20634D40-DCFD-8449-B684-70B31A9B350D}"/>
                </a:ext>
              </a:extLst>
            </p:cNvPr>
            <p:cNvGrpSpPr>
              <a:grpSpLocks/>
            </p:cNvGrpSpPr>
            <p:nvPr/>
          </p:nvGrpSpPr>
          <p:grpSpPr bwMode="auto">
            <a:xfrm>
              <a:off x="4739" y="1327"/>
              <a:ext cx="582" cy="139"/>
              <a:chOff x="614" y="2568"/>
              <a:chExt cx="725" cy="139"/>
            </a:xfrm>
          </p:grpSpPr>
          <p:sp>
            <p:nvSpPr>
              <p:cNvPr id="112" name="AutoShape 63">
                <a:extLst>
                  <a:ext uri="{FF2B5EF4-FFF2-40B4-BE49-F238E27FC236}">
                    <a16:creationId xmlns:a16="http://schemas.microsoft.com/office/drawing/2014/main" id="{F58EC583-5702-1E4B-A6F2-1309BD877BAA}"/>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13" name="AutoShape 64">
                <a:extLst>
                  <a:ext uri="{FF2B5EF4-FFF2-40B4-BE49-F238E27FC236}">
                    <a16:creationId xmlns:a16="http://schemas.microsoft.com/office/drawing/2014/main" id="{DB3DA62B-8007-4E4C-93B9-0F102F104C19}"/>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101" name="Rectangle 65">
              <a:extLst>
                <a:ext uri="{FF2B5EF4-FFF2-40B4-BE49-F238E27FC236}">
                  <a16:creationId xmlns:a16="http://schemas.microsoft.com/office/drawing/2014/main" id="{C31A2516-63E0-E740-AE1D-B59F6C97699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02" name="Freeform 66">
              <a:extLst>
                <a:ext uri="{FF2B5EF4-FFF2-40B4-BE49-F238E27FC236}">
                  <a16:creationId xmlns:a16="http://schemas.microsoft.com/office/drawing/2014/main" id="{B8246D8C-6855-C044-A8BA-8F170062CBC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103" name="Freeform 67">
              <a:extLst>
                <a:ext uri="{FF2B5EF4-FFF2-40B4-BE49-F238E27FC236}">
                  <a16:creationId xmlns:a16="http://schemas.microsoft.com/office/drawing/2014/main" id="{924E847A-F4E0-DA4B-8D4E-A56FEAA6913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104" name="Oval 68">
              <a:extLst>
                <a:ext uri="{FF2B5EF4-FFF2-40B4-BE49-F238E27FC236}">
                  <a16:creationId xmlns:a16="http://schemas.microsoft.com/office/drawing/2014/main" id="{8CAE9087-3C8E-F24B-A512-CEB1940F02B6}"/>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05" name="Freeform 69">
              <a:extLst>
                <a:ext uri="{FF2B5EF4-FFF2-40B4-BE49-F238E27FC236}">
                  <a16:creationId xmlns:a16="http://schemas.microsoft.com/office/drawing/2014/main" id="{2AB5FE84-419E-EB41-B46F-B90EA8215F8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106" name="AutoShape 70">
              <a:extLst>
                <a:ext uri="{FF2B5EF4-FFF2-40B4-BE49-F238E27FC236}">
                  <a16:creationId xmlns:a16="http://schemas.microsoft.com/office/drawing/2014/main" id="{5044997C-6434-1F4E-951A-58848E528421}"/>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07" name="AutoShape 71">
              <a:extLst>
                <a:ext uri="{FF2B5EF4-FFF2-40B4-BE49-F238E27FC236}">
                  <a16:creationId xmlns:a16="http://schemas.microsoft.com/office/drawing/2014/main" id="{E0E22BAF-7B23-B44C-827B-153E00211A92}"/>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E772A220-7A72-DF4C-B4F3-72E6DDF1F7AC}"/>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09" name="Oval 73">
              <a:extLst>
                <a:ext uri="{FF2B5EF4-FFF2-40B4-BE49-F238E27FC236}">
                  <a16:creationId xmlns:a16="http://schemas.microsoft.com/office/drawing/2014/main" id="{E52F28FE-19A0-E943-AE0B-DEEA922220F8}"/>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10" name="Oval 74">
              <a:extLst>
                <a:ext uri="{FF2B5EF4-FFF2-40B4-BE49-F238E27FC236}">
                  <a16:creationId xmlns:a16="http://schemas.microsoft.com/office/drawing/2014/main" id="{679A21A4-960E-C240-991F-7A91E9D33D9E}"/>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11" name="Rectangle 75">
              <a:extLst>
                <a:ext uri="{FF2B5EF4-FFF2-40B4-BE49-F238E27FC236}">
                  <a16:creationId xmlns:a16="http://schemas.microsoft.com/office/drawing/2014/main" id="{5FE7BC29-1F3A-FC4D-B0A8-E7C985E2199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grpSp>
        <p:nvGrpSpPr>
          <p:cNvPr id="120" name="Group 76">
            <a:extLst>
              <a:ext uri="{FF2B5EF4-FFF2-40B4-BE49-F238E27FC236}">
                <a16:creationId xmlns:a16="http://schemas.microsoft.com/office/drawing/2014/main" id="{ACB35F9B-E584-6A4C-A928-821626F2884C}"/>
              </a:ext>
            </a:extLst>
          </p:cNvPr>
          <p:cNvGrpSpPr>
            <a:grpSpLocks/>
          </p:cNvGrpSpPr>
          <p:nvPr/>
        </p:nvGrpSpPr>
        <p:grpSpPr bwMode="auto">
          <a:xfrm>
            <a:off x="7686054" y="1920396"/>
            <a:ext cx="698500" cy="709613"/>
            <a:chOff x="-44" y="1473"/>
            <a:chExt cx="981" cy="1105"/>
          </a:xfrm>
        </p:grpSpPr>
        <p:pic>
          <p:nvPicPr>
            <p:cNvPr id="121" name="Picture 77" descr="desktop_computer_stylized_medium">
              <a:extLst>
                <a:ext uri="{FF2B5EF4-FFF2-40B4-BE49-F238E27FC236}">
                  <a16:creationId xmlns:a16="http://schemas.microsoft.com/office/drawing/2014/main" id="{C2C6AD66-1148-CD4D-99F7-5C6A689E28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78">
              <a:extLst>
                <a:ext uri="{FF2B5EF4-FFF2-40B4-BE49-F238E27FC236}">
                  <a16:creationId xmlns:a16="http://schemas.microsoft.com/office/drawing/2014/main" id="{40C43405-EE8F-6348-9658-64CCF319FF4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grpSp>
      <p:sp>
        <p:nvSpPr>
          <p:cNvPr id="2" name="Freeform 1">
            <a:extLst>
              <a:ext uri="{FF2B5EF4-FFF2-40B4-BE49-F238E27FC236}">
                <a16:creationId xmlns:a16="http://schemas.microsoft.com/office/drawing/2014/main" id="{2D3ED81E-7823-0B47-8E02-97411E72ACFD}"/>
              </a:ext>
            </a:extLst>
          </p:cNvPr>
          <p:cNvSpPr/>
          <p:nvPr/>
        </p:nvSpPr>
        <p:spPr>
          <a:xfrm>
            <a:off x="8188984" y="4246818"/>
            <a:ext cx="1700270" cy="558188"/>
          </a:xfrm>
          <a:custGeom>
            <a:avLst/>
            <a:gdLst>
              <a:gd name="connsiteX0" fmla="*/ 0 w 1700270"/>
              <a:gd name="connsiteY0" fmla="*/ 389262 h 543498"/>
              <a:gd name="connsiteX1" fmla="*/ 1700270 w 1700270"/>
              <a:gd name="connsiteY1" fmla="*/ 0 h 543498"/>
              <a:gd name="connsiteX2" fmla="*/ 1696598 w 1700270"/>
              <a:gd name="connsiteY2" fmla="*/ 176269 h 543498"/>
              <a:gd name="connsiteX3" fmla="*/ 0 w 1700270"/>
              <a:gd name="connsiteY3" fmla="*/ 543498 h 543498"/>
              <a:gd name="connsiteX4" fmla="*/ 0 w 1700270"/>
              <a:gd name="connsiteY4" fmla="*/ 389262 h 543498"/>
              <a:gd name="connsiteX0" fmla="*/ 0 w 1700270"/>
              <a:gd name="connsiteY0" fmla="*/ 389262 h 558188"/>
              <a:gd name="connsiteX1" fmla="*/ 1700270 w 1700270"/>
              <a:gd name="connsiteY1" fmla="*/ 0 h 558188"/>
              <a:gd name="connsiteX2" fmla="*/ 1696598 w 1700270"/>
              <a:gd name="connsiteY2" fmla="*/ 176269 h 558188"/>
              <a:gd name="connsiteX3" fmla="*/ 7344 w 1700270"/>
              <a:gd name="connsiteY3" fmla="*/ 558188 h 558188"/>
              <a:gd name="connsiteX4" fmla="*/ 0 w 1700270"/>
              <a:gd name="connsiteY4" fmla="*/ 389262 h 558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270" h="558188">
                <a:moveTo>
                  <a:pt x="0" y="389262"/>
                </a:moveTo>
                <a:lnTo>
                  <a:pt x="1700270" y="0"/>
                </a:lnTo>
                <a:lnTo>
                  <a:pt x="1696598" y="176269"/>
                </a:lnTo>
                <a:lnTo>
                  <a:pt x="7344" y="558188"/>
                </a:lnTo>
                <a:lnTo>
                  <a:pt x="0" y="389262"/>
                </a:lnTo>
                <a:close/>
              </a:path>
            </a:pathLst>
          </a:custGeom>
          <a:solidFill>
            <a:srgbClr val="0000A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3" name="AutoShape 21">
            <a:extLst>
              <a:ext uri="{FF2B5EF4-FFF2-40B4-BE49-F238E27FC236}">
                <a16:creationId xmlns:a16="http://schemas.microsoft.com/office/drawing/2014/main" id="{B46E8531-A1AB-F94F-83A6-88018FC274AE}"/>
              </a:ext>
            </a:extLst>
          </p:cNvPr>
          <p:cNvSpPr>
            <a:spLocks/>
          </p:cNvSpPr>
          <p:nvPr/>
        </p:nvSpPr>
        <p:spPr bwMode="auto">
          <a:xfrm flipH="1" flipV="1">
            <a:off x="8069711" y="4643267"/>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 name="TextBox 3">
            <a:extLst>
              <a:ext uri="{FF2B5EF4-FFF2-40B4-BE49-F238E27FC236}">
                <a16:creationId xmlns:a16="http://schemas.microsoft.com/office/drawing/2014/main" id="{C4BF7570-9992-2546-969B-3F60B086818E}"/>
              </a:ext>
            </a:extLst>
          </p:cNvPr>
          <p:cNvSpPr txBox="1"/>
          <p:nvPr/>
        </p:nvSpPr>
        <p:spPr>
          <a:xfrm>
            <a:off x="1056514" y="5919854"/>
            <a:ext cx="9257241"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Non-persistent HTTP response time =  2RTT+ file transmission  time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Slide Number Placeholder 2">
            <a:extLst>
              <a:ext uri="{FF2B5EF4-FFF2-40B4-BE49-F238E27FC236}">
                <a16:creationId xmlns:a16="http://schemas.microsoft.com/office/drawing/2014/main" id="{7E482904-1521-274F-AE73-DF7E96ACE75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27</a:t>
            </a:fld>
            <a:endParaRPr lang="en-US" dirty="0"/>
          </a:p>
        </p:txBody>
      </p:sp>
    </p:spTree>
    <p:extLst>
      <p:ext uri="{BB962C8B-B14F-4D97-AF65-F5344CB8AC3E}">
        <p14:creationId xmlns:p14="http://schemas.microsoft.com/office/powerpoint/2010/main" val="2874712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2">
                                            <p:txEl>
                                              <p:pRg st="2" end="2"/>
                                            </p:txEl>
                                          </p:spTgt>
                                        </p:tgtEl>
                                        <p:attrNameLst>
                                          <p:attrName>style.visibility</p:attrName>
                                        </p:attrNameLst>
                                      </p:cBhvr>
                                      <p:to>
                                        <p:strVal val="visible"/>
                                      </p:to>
                                    </p:set>
                                    <p:animEffect transition="in" filter="dissolve">
                                      <p:cBhvr>
                                        <p:cTn id="10" dur="500"/>
                                        <p:tgtEl>
                                          <p:spTgt spid="62">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2">
                                            <p:txEl>
                                              <p:pRg st="3" end="3"/>
                                            </p:txEl>
                                          </p:spTgt>
                                        </p:tgtEl>
                                        <p:attrNameLst>
                                          <p:attrName>style.visibility</p:attrName>
                                        </p:attrNameLst>
                                      </p:cBhvr>
                                      <p:to>
                                        <p:strVal val="visible"/>
                                      </p:to>
                                    </p:set>
                                    <p:animEffect transition="in" filter="dissolve">
                                      <p:cBhvr>
                                        <p:cTn id="13" dur="500"/>
                                        <p:tgtEl>
                                          <p:spTgt spid="62">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2">
                                            <p:txEl>
                                              <p:pRg st="4" end="4"/>
                                            </p:txEl>
                                          </p:spTgt>
                                        </p:tgtEl>
                                        <p:attrNameLst>
                                          <p:attrName>style.visibility</p:attrName>
                                        </p:attrNameLst>
                                      </p:cBhvr>
                                      <p:to>
                                        <p:strVal val="visible"/>
                                      </p:to>
                                    </p:set>
                                    <p:animEffect transition="in" filter="dissolve">
                                      <p:cBhvr>
                                        <p:cTn id="16" dur="500"/>
                                        <p:tgtEl>
                                          <p:spTgt spid="62">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Persistent HTTP </a:t>
            </a:r>
            <a:r>
              <a:rPr lang="en-US" altLang="en-US" sz="3200" dirty="0">
                <a:cs typeface="Calibri" panose="020F0502020204030204" pitchFamily="34" charset="0"/>
              </a:rPr>
              <a:t>(HTTP 1.1)</a:t>
            </a:r>
            <a:endParaRPr lang="en-US" sz="4400" dirty="0"/>
          </a:p>
        </p:txBody>
      </p:sp>
      <p:sp>
        <p:nvSpPr>
          <p:cNvPr id="6" name="Rectangle 3">
            <a:extLst>
              <a:ext uri="{FF2B5EF4-FFF2-40B4-BE49-F238E27FC236}">
                <a16:creationId xmlns:a16="http://schemas.microsoft.com/office/drawing/2014/main" id="{FB14C937-79C9-6642-8B0C-15F130B4AF98}"/>
              </a:ext>
            </a:extLst>
          </p:cNvPr>
          <p:cNvSpPr txBox="1">
            <a:spLocks noChangeArrowheads="1"/>
          </p:cNvSpPr>
          <p:nvPr/>
        </p:nvSpPr>
        <p:spPr>
          <a:xfrm>
            <a:off x="798691" y="1401764"/>
            <a:ext cx="516554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Non-persistent HTTP issues:</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requires 2 RTTs per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OS overhead for </a:t>
            </a:r>
            <a:r>
              <a:rPr kumimoji="0" lang="en-US" sz="2800" b="0" i="1" u="none" strike="noStrike" kern="1200" cap="none" spc="0" normalizeH="0" baseline="0" noProof="0" dirty="0">
                <a:ln>
                  <a:noFill/>
                </a:ln>
                <a:solidFill>
                  <a:prstClr val="black"/>
                </a:solidFill>
                <a:effectLst/>
                <a:uLnTx/>
                <a:uFillTx/>
                <a:latin typeface="Calibri"/>
                <a:ea typeface="+mn-ea"/>
                <a:cs typeface="+mn-cs"/>
              </a:rPr>
              <a:t>each</a:t>
            </a:r>
            <a:r>
              <a:rPr kumimoji="0" lang="en-US" sz="2800" b="0" i="0" u="none" strike="noStrike" kern="1200" cap="none" spc="0" normalizeH="0" baseline="0" noProof="0" dirty="0">
                <a:ln>
                  <a:noFill/>
                </a:ln>
                <a:solidFill>
                  <a:prstClr val="black"/>
                </a:solidFill>
                <a:effectLst/>
                <a:uLnTx/>
                <a:uFillTx/>
                <a:latin typeface="Calibri"/>
                <a:ea typeface="+mn-ea"/>
                <a:cs typeface="+mn-cs"/>
              </a:rPr>
              <a:t> TCP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browsers often open multiple parallel TCP connections to fetch referenced objects in parallel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0">
            <a:extLst>
              <a:ext uri="{FF2B5EF4-FFF2-40B4-BE49-F238E27FC236}">
                <a16:creationId xmlns:a16="http://schemas.microsoft.com/office/drawing/2014/main" id="{996C596E-CBDC-1641-AE54-06AC7ADF3759}"/>
              </a:ext>
            </a:extLst>
          </p:cNvPr>
          <p:cNvSpPr txBox="1">
            <a:spLocks noChangeArrowheads="1"/>
          </p:cNvSpPr>
          <p:nvPr/>
        </p:nvSpPr>
        <p:spPr>
          <a:xfrm>
            <a:off x="6227762" y="1414463"/>
            <a:ext cx="573505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Persistent  HTTP </a:t>
            </a:r>
            <a:r>
              <a:rPr kumimoji="0" lang="en-US" sz="2400" b="0" i="1" u="none" strike="noStrike" kern="1200" cap="none" spc="0" normalizeH="0" baseline="0" noProof="0" dirty="0">
                <a:ln>
                  <a:noFill/>
                </a:ln>
                <a:solidFill>
                  <a:srgbClr val="CC0000"/>
                </a:solidFill>
                <a:effectLst/>
                <a:uLnTx/>
                <a:uFillTx/>
                <a:latin typeface="Calibri"/>
                <a:ea typeface="+mn-ea"/>
                <a:cs typeface="+mn-cs"/>
              </a:rPr>
              <a:t>(HTTP1.1):</a:t>
            </a:r>
            <a:endParaRPr kumimoji="0" lang="en-US" sz="3200" b="0" i="1" u="none" strike="noStrike" kern="1200" cap="none" spc="0" normalizeH="0" baseline="0" noProof="0" dirty="0">
              <a:ln>
                <a:noFill/>
              </a:ln>
              <a:solidFill>
                <a:srgbClr val="CC0000"/>
              </a:solidFill>
              <a:effectLst/>
              <a:uLnTx/>
              <a:uFillTx/>
              <a:latin typeface="Calibri"/>
              <a:ea typeface="+mn-ea"/>
              <a:cs typeface="+mn-cs"/>
            </a:endParaRP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server leaves connection open after sending response</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subsequent HTTP messages  between same client/server sent over open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 sends requests as soon as it encounters a referenced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as little as one RTT for all the referenced objects (cutting response time in half)</a:t>
            </a:r>
          </a:p>
        </p:txBody>
      </p:sp>
      <p:sp>
        <p:nvSpPr>
          <p:cNvPr id="5" name="Slide Number Placeholder 2">
            <a:extLst>
              <a:ext uri="{FF2B5EF4-FFF2-40B4-BE49-F238E27FC236}">
                <a16:creationId xmlns:a16="http://schemas.microsoft.com/office/drawing/2014/main" id="{2C9DB959-15FC-7A47-B54E-965B407AAA5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28</a:t>
            </a:fld>
            <a:endParaRPr lang="en-US" dirty="0"/>
          </a:p>
        </p:txBody>
      </p:sp>
    </p:spTree>
    <p:extLst>
      <p:ext uri="{BB962C8B-B14F-4D97-AF65-F5344CB8AC3E}">
        <p14:creationId xmlns:p14="http://schemas.microsoft.com/office/powerpoint/2010/main" val="4262596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request </a:t>
            </a:r>
            <a:r>
              <a:rPr lang="en-US" altLang="en-US" dirty="0">
                <a:cs typeface="Calibri" panose="020F0502020204030204" pitchFamily="34" charset="0"/>
              </a:rPr>
              <a:t>m</a:t>
            </a:r>
            <a:r>
              <a:rPr lang="en-US" altLang="en-US" sz="4400" dirty="0">
                <a:cs typeface="Calibri" panose="020F0502020204030204" pitchFamily="34" charset="0"/>
              </a:rPr>
              <a:t>essage</a:t>
            </a:r>
            <a:endParaRPr lang="en-US" sz="4400" dirty="0"/>
          </a:p>
        </p:txBody>
      </p:sp>
      <p:sp>
        <p:nvSpPr>
          <p:cNvPr id="8" name="Rectangle 3">
            <a:extLst>
              <a:ext uri="{FF2B5EF4-FFF2-40B4-BE49-F238E27FC236}">
                <a16:creationId xmlns:a16="http://schemas.microsoft.com/office/drawing/2014/main" id="{321ECE79-BBE4-B646-A84C-F451AD02B983}"/>
              </a:ext>
            </a:extLst>
          </p:cNvPr>
          <p:cNvSpPr txBox="1">
            <a:spLocks noChangeArrowheads="1"/>
          </p:cNvSpPr>
          <p:nvPr/>
        </p:nvSpPr>
        <p:spPr>
          <a:xfrm>
            <a:off x="533400" y="1444625"/>
            <a:ext cx="11658600" cy="142920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two types of HTTP messages: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response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 message: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ASCII (human-readable format)</a:t>
            </a:r>
            <a:endParaRPr kumimoji="0" lang="en-US" altLang="en-US" sz="2400" b="0" i="0" u="none" strike="noStrike" kern="1200" cap="none" spc="0" normalizeH="0" baseline="0" noProof="0" dirty="0">
              <a:ln>
                <a:noFill/>
              </a:ln>
              <a:solidFill>
                <a:srgbClr val="ED7D31"/>
              </a:solidFill>
              <a:effectLst/>
              <a:uLnTx/>
              <a:uFillTx/>
              <a:latin typeface="Calibri"/>
              <a:ea typeface="ＭＳ Ｐゴシック" panose="020B0600070205080204" pitchFamily="34" charset="-128"/>
              <a:cs typeface="+mn-cs"/>
            </a:endParaRPr>
          </a:p>
        </p:txBody>
      </p:sp>
      <p:sp>
        <p:nvSpPr>
          <p:cNvPr id="13" name="Text Box 8">
            <a:extLst>
              <a:ext uri="{FF2B5EF4-FFF2-40B4-BE49-F238E27FC236}">
                <a16:creationId xmlns:a16="http://schemas.microsoft.com/office/drawing/2014/main" id="{9D189007-4005-564E-B421-909E89E9EF1D}"/>
              </a:ext>
            </a:extLst>
          </p:cNvPr>
          <p:cNvSpPr txBox="1">
            <a:spLocks noChangeArrowheads="1"/>
          </p:cNvSpPr>
          <p:nvPr/>
        </p:nvSpPr>
        <p:spPr bwMode="auto">
          <a:xfrm>
            <a:off x="2771677" y="4189643"/>
            <a:ext cx="1071127"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16" name="Text Box 16">
            <a:extLst>
              <a:ext uri="{FF2B5EF4-FFF2-40B4-BE49-F238E27FC236}">
                <a16:creationId xmlns:a16="http://schemas.microsoft.com/office/drawing/2014/main" id="{BFD47085-0DF5-F849-923F-6D72DB7EBE3F}"/>
              </a:ext>
            </a:extLst>
          </p:cNvPr>
          <p:cNvSpPr txBox="1">
            <a:spLocks noChangeArrowheads="1"/>
          </p:cNvSpPr>
          <p:nvPr/>
        </p:nvSpPr>
        <p:spPr bwMode="auto">
          <a:xfrm>
            <a:off x="4000046" y="3323999"/>
            <a:ext cx="7921878" cy="2342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GET /</a:t>
            </a:r>
            <a:r>
              <a:rPr kumimoji="0" lang="en-US" altLang="en-US" sz="1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index.html</a:t>
            </a: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HTTP/1.1\r\n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Host: www-</a:t>
            </a:r>
            <a:r>
              <a:rPr kumimoji="0" lang="en-US" altLang="en-US" sz="1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net.cs.umass.edu</a:t>
            </a: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User-Agent: Mozilla/5.0 (Macintosh; Intel Mac OS X 10.15; rv:80.0) Gecko/20100101 Firefox/80.0 \r\n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 text/</a:t>
            </a:r>
            <a:r>
              <a:rPr kumimoji="0" lang="en-US" altLang="en-US" sz="1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html,application</a:t>
            </a: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t>
            </a:r>
            <a:r>
              <a:rPr kumimoji="0" lang="en-US" altLang="en-US" sz="1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xhtml+xml</a:t>
            </a: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Accept-Language: </a:t>
            </a:r>
            <a:r>
              <a:rPr kumimoji="0" lang="en-US" altLang="en-US" sz="1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en-us,en;q</a:t>
            </a: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=0.5\r\n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Accept-Encoding: </a:t>
            </a:r>
            <a:r>
              <a:rPr kumimoji="0" lang="en-US" altLang="en-US" sz="1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gzip,deflate</a:t>
            </a: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Connection: keep-alive\r\n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p:txBody>
      </p:sp>
      <p:grpSp>
        <p:nvGrpSpPr>
          <p:cNvPr id="7" name="Group 6">
            <a:extLst>
              <a:ext uri="{FF2B5EF4-FFF2-40B4-BE49-F238E27FC236}">
                <a16:creationId xmlns:a16="http://schemas.microsoft.com/office/drawing/2014/main" id="{75C8212B-5FF3-1B41-8A79-6C4F774EA6B6}"/>
              </a:ext>
            </a:extLst>
          </p:cNvPr>
          <p:cNvGrpSpPr/>
          <p:nvPr/>
        </p:nvGrpSpPr>
        <p:grpSpPr>
          <a:xfrm>
            <a:off x="7524296" y="2623511"/>
            <a:ext cx="2834575" cy="849313"/>
            <a:chOff x="7524296" y="2554061"/>
            <a:chExt cx="2834575" cy="849313"/>
          </a:xfrm>
        </p:grpSpPr>
        <p:sp>
          <p:nvSpPr>
            <p:cNvPr id="17" name="Line 17">
              <a:extLst>
                <a:ext uri="{FF2B5EF4-FFF2-40B4-BE49-F238E27FC236}">
                  <a16:creationId xmlns:a16="http://schemas.microsoft.com/office/drawing/2014/main" id="{3F48C300-763A-B54F-B0A7-01186DC913C8}"/>
                </a:ext>
              </a:extLst>
            </p:cNvPr>
            <p:cNvSpPr>
              <a:spLocks noChangeShapeType="1"/>
            </p:cNvSpPr>
            <p:nvPr/>
          </p:nvSpPr>
          <p:spPr bwMode="auto">
            <a:xfrm flipH="1">
              <a:off x="7524296" y="2841399"/>
              <a:ext cx="166688" cy="514350"/>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8" name="Text Box 18">
              <a:extLst>
                <a:ext uri="{FF2B5EF4-FFF2-40B4-BE49-F238E27FC236}">
                  <a16:creationId xmlns:a16="http://schemas.microsoft.com/office/drawing/2014/main" id="{6AE4689D-D5B0-114C-898E-652FE1146212}"/>
                </a:ext>
              </a:extLst>
            </p:cNvPr>
            <p:cNvSpPr txBox="1">
              <a:spLocks noChangeArrowheads="1"/>
            </p:cNvSpPr>
            <p:nvPr/>
          </p:nvSpPr>
          <p:spPr bwMode="auto">
            <a:xfrm>
              <a:off x="7575096" y="2554061"/>
              <a:ext cx="27837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carriage return character</a:t>
              </a:r>
            </a:p>
          </p:txBody>
        </p:sp>
        <p:sp>
          <p:nvSpPr>
            <p:cNvPr id="19" name="Text Box 19">
              <a:extLst>
                <a:ext uri="{FF2B5EF4-FFF2-40B4-BE49-F238E27FC236}">
                  <a16:creationId xmlns:a16="http://schemas.microsoft.com/office/drawing/2014/main" id="{BF17A6F8-488B-914D-8FD5-D0101F59C47F}"/>
                </a:ext>
              </a:extLst>
            </p:cNvPr>
            <p:cNvSpPr txBox="1">
              <a:spLocks noChangeArrowheads="1"/>
            </p:cNvSpPr>
            <p:nvPr/>
          </p:nvSpPr>
          <p:spPr bwMode="auto">
            <a:xfrm>
              <a:off x="7727496" y="2850924"/>
              <a:ext cx="21493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line-feed character</a:t>
              </a:r>
            </a:p>
          </p:txBody>
        </p:sp>
        <p:sp>
          <p:nvSpPr>
            <p:cNvPr id="20" name="Line 20">
              <a:extLst>
                <a:ext uri="{FF2B5EF4-FFF2-40B4-BE49-F238E27FC236}">
                  <a16:creationId xmlns:a16="http://schemas.microsoft.com/office/drawing/2014/main" id="{36550CDC-D06A-104F-8EAA-1F14B32B7AF9}"/>
                </a:ext>
              </a:extLst>
            </p:cNvPr>
            <p:cNvSpPr>
              <a:spLocks noChangeShapeType="1"/>
            </p:cNvSpPr>
            <p:nvPr/>
          </p:nvSpPr>
          <p:spPr bwMode="auto">
            <a:xfrm flipH="1">
              <a:off x="7805284" y="3150961"/>
              <a:ext cx="80962" cy="252413"/>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3" name="Group 2">
            <a:extLst>
              <a:ext uri="{FF2B5EF4-FFF2-40B4-BE49-F238E27FC236}">
                <a16:creationId xmlns:a16="http://schemas.microsoft.com/office/drawing/2014/main" id="{7D1DA586-D2C5-594D-BC4F-D63F85BDFA27}"/>
              </a:ext>
            </a:extLst>
          </p:cNvPr>
          <p:cNvGrpSpPr/>
          <p:nvPr/>
        </p:nvGrpSpPr>
        <p:grpSpPr>
          <a:xfrm>
            <a:off x="304572" y="3050979"/>
            <a:ext cx="3691165" cy="830997"/>
            <a:chOff x="304572" y="3050979"/>
            <a:chExt cx="3691165" cy="830997"/>
          </a:xfrm>
        </p:grpSpPr>
        <p:sp>
          <p:nvSpPr>
            <p:cNvPr id="10" name="Text Box 5">
              <a:extLst>
                <a:ext uri="{FF2B5EF4-FFF2-40B4-BE49-F238E27FC236}">
                  <a16:creationId xmlns:a16="http://schemas.microsoft.com/office/drawing/2014/main" id="{B6C3DB56-846D-8E43-9453-A014201ECCAE}"/>
                </a:ext>
              </a:extLst>
            </p:cNvPr>
            <p:cNvSpPr txBox="1">
              <a:spLocks noChangeArrowheads="1"/>
            </p:cNvSpPr>
            <p:nvPr/>
          </p:nvSpPr>
          <p:spPr bwMode="auto">
            <a:xfrm>
              <a:off x="304572" y="3050979"/>
              <a:ext cx="316315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line (GET, POST,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 commands)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EF472D7-7102-3D4F-8FB9-8F68234EDD8D}"/>
                </a:ext>
              </a:extLst>
            </p:cNvPr>
            <p:cNvCxnSpPr>
              <a:cxnSpLocks/>
            </p:cNvCxnSpPr>
            <p:nvPr/>
          </p:nvCxnSpPr>
          <p:spPr>
            <a:xfrm>
              <a:off x="2558822" y="3471412"/>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A7CEE239-9E6A-4845-9F03-74B240F246F8}"/>
              </a:ext>
            </a:extLst>
          </p:cNvPr>
          <p:cNvGrpSpPr/>
          <p:nvPr/>
        </p:nvGrpSpPr>
        <p:grpSpPr>
          <a:xfrm>
            <a:off x="743905" y="5548787"/>
            <a:ext cx="7763054" cy="1145473"/>
            <a:chOff x="743905" y="5548787"/>
            <a:chExt cx="7763054" cy="1145473"/>
          </a:xfrm>
        </p:grpSpPr>
        <p:sp>
          <p:nvSpPr>
            <p:cNvPr id="14" name="Line 10">
              <a:extLst>
                <a:ext uri="{FF2B5EF4-FFF2-40B4-BE49-F238E27FC236}">
                  <a16:creationId xmlns:a16="http://schemas.microsoft.com/office/drawing/2014/main" id="{6CA9B985-18B2-6347-8689-E6656C025475}"/>
                </a:ext>
              </a:extLst>
            </p:cNvPr>
            <p:cNvSpPr>
              <a:spLocks noChangeShapeType="1"/>
            </p:cNvSpPr>
            <p:nvPr/>
          </p:nvSpPr>
          <p:spPr bwMode="auto">
            <a:xfrm>
              <a:off x="3499984" y="5710011"/>
              <a:ext cx="511175" cy="0"/>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5" name="Text Box 11">
              <a:extLst>
                <a:ext uri="{FF2B5EF4-FFF2-40B4-BE49-F238E27FC236}">
                  <a16:creationId xmlns:a16="http://schemas.microsoft.com/office/drawing/2014/main" id="{DED6E2F1-61E7-E241-8E2D-ADEC5E8A8091}"/>
                </a:ext>
              </a:extLst>
            </p:cNvPr>
            <p:cNvSpPr txBox="1">
              <a:spLocks noChangeArrowheads="1"/>
            </p:cNvSpPr>
            <p:nvPr/>
          </p:nvSpPr>
          <p:spPr bwMode="auto">
            <a:xfrm>
              <a:off x="743905" y="5548787"/>
              <a:ext cx="277163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carriage return, line feed at start of line indicates end of header lines</a:t>
              </a:r>
              <a:endPar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21" name="TextBox 1">
              <a:extLst>
                <a:ext uri="{FF2B5EF4-FFF2-40B4-BE49-F238E27FC236}">
                  <a16:creationId xmlns:a16="http://schemas.microsoft.com/office/drawing/2014/main" id="{EF5DEF07-DC95-F343-B9CA-F9BD40638A1C}"/>
                </a:ext>
              </a:extLst>
            </p:cNvPr>
            <p:cNvSpPr txBox="1">
              <a:spLocks noChangeArrowheads="1"/>
            </p:cNvSpPr>
            <p:nvPr/>
          </p:nvSpPr>
          <p:spPr bwMode="auto">
            <a:xfrm>
              <a:off x="4000046" y="6171973"/>
              <a:ext cx="450691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gaia.cs.umass.edu</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kurose_ross</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/interactive/</a:t>
              </a:r>
            </a:p>
          </p:txBody>
        </p:sp>
      </p:grpSp>
      <p:sp>
        <p:nvSpPr>
          <p:cNvPr id="5" name="Left Brace 4">
            <a:extLst>
              <a:ext uri="{FF2B5EF4-FFF2-40B4-BE49-F238E27FC236}">
                <a16:creationId xmlns:a16="http://schemas.microsoft.com/office/drawing/2014/main" id="{36B9FB67-1AD8-6146-8926-BFEB803718A3}"/>
              </a:ext>
            </a:extLst>
          </p:cNvPr>
          <p:cNvSpPr/>
          <p:nvPr/>
        </p:nvSpPr>
        <p:spPr>
          <a:xfrm>
            <a:off x="3812583" y="3704095"/>
            <a:ext cx="217442" cy="1797803"/>
          </a:xfrm>
          <a:prstGeom prst="leftBrace">
            <a:avLst/>
          </a:prstGeom>
          <a:ln w="19050">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5F809E13-4068-2140-8EEF-80CD03B5F69C}"/>
              </a:ext>
            </a:extLst>
          </p:cNvPr>
          <p:cNvSpPr/>
          <p:nvPr/>
        </p:nvSpPr>
        <p:spPr>
          <a:xfrm>
            <a:off x="4019515" y="3331027"/>
            <a:ext cx="6620718" cy="3021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4" name="Rectangle 23">
            <a:extLst>
              <a:ext uri="{FF2B5EF4-FFF2-40B4-BE49-F238E27FC236}">
                <a16:creationId xmlns:a16="http://schemas.microsoft.com/office/drawing/2014/main" id="{95D7502B-9EA4-9D49-A251-DB91BDC6BB3C}"/>
              </a:ext>
            </a:extLst>
          </p:cNvPr>
          <p:cNvSpPr/>
          <p:nvPr/>
        </p:nvSpPr>
        <p:spPr>
          <a:xfrm>
            <a:off x="2726871" y="3599519"/>
            <a:ext cx="8392886" cy="1968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 name="Slide Number Placeholder 2">
            <a:extLst>
              <a:ext uri="{FF2B5EF4-FFF2-40B4-BE49-F238E27FC236}">
                <a16:creationId xmlns:a16="http://schemas.microsoft.com/office/drawing/2014/main" id="{C3381709-4DCC-204B-A742-66F4884C7AF0}"/>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29</a:t>
            </a:fld>
            <a:endParaRPr lang="en-US" dirty="0"/>
          </a:p>
        </p:txBody>
      </p:sp>
    </p:spTree>
    <p:extLst>
      <p:ext uri="{BB962C8B-B14F-4D97-AF65-F5344CB8AC3E}">
        <p14:creationId xmlns:p14="http://schemas.microsoft.com/office/powerpoint/2010/main" val="1958584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dissolve">
                                      <p:cBhvr>
                                        <p:cTn id="10" dur="500"/>
                                        <p:tgtEl>
                                          <p:spTgt spid="3"/>
                                        </p:tgtEl>
                                      </p:cBhvr>
                                    </p:animEffect>
                                  </p:childTnLst>
                                </p:cTn>
                              </p:par>
                              <p:par>
                                <p:cTn id="11" presetID="9" presetClass="exit" presetSubtype="0" fill="hold" grpId="0" nodeType="withEffect">
                                  <p:stCondLst>
                                    <p:cond delay="0"/>
                                  </p:stCondLst>
                                  <p:childTnLst>
                                    <p:animEffect transition="out" filter="dissolve">
                                      <p:cBhvr>
                                        <p:cTn id="12" dur="500"/>
                                        <p:tgtEl>
                                          <p:spTgt spid="2"/>
                                        </p:tgtEl>
                                      </p:cBhvr>
                                    </p:animEffect>
                                    <p:set>
                                      <p:cBhvr>
                                        <p:cTn id="13" dur="1" fill="hold">
                                          <p:stCondLst>
                                            <p:cond delay="499"/>
                                          </p:stCondLst>
                                        </p:cTn>
                                        <p:tgtEl>
                                          <p:spTgt spid="2"/>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grpId="0" nodeType="clickEffect">
                                  <p:stCondLst>
                                    <p:cond delay="0"/>
                                  </p:stCondLst>
                                  <p:childTnLst>
                                    <p:animEffect transition="out" filter="dissolve">
                                      <p:cBhvr>
                                        <p:cTn id="17" dur="500"/>
                                        <p:tgtEl>
                                          <p:spTgt spid="24"/>
                                        </p:tgtEl>
                                      </p:cBhvr>
                                    </p:animEffect>
                                    <p:set>
                                      <p:cBhvr>
                                        <p:cTn id="18" dur="1" fill="hold">
                                          <p:stCondLst>
                                            <p:cond delay="499"/>
                                          </p:stCondLst>
                                        </p:cTn>
                                        <p:tgtEl>
                                          <p:spTgt spid="24"/>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dissolv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4"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request message: general format</a:t>
            </a:r>
            <a:endParaRPr lang="en-US" sz="4400" dirty="0"/>
          </a:p>
        </p:txBody>
      </p:sp>
      <p:sp>
        <p:nvSpPr>
          <p:cNvPr id="22" name="Text Box 9">
            <a:extLst>
              <a:ext uri="{FF2B5EF4-FFF2-40B4-BE49-F238E27FC236}">
                <a16:creationId xmlns:a16="http://schemas.microsoft.com/office/drawing/2014/main" id="{CAB95007-032C-1849-B460-3E4D669013E8}"/>
              </a:ext>
            </a:extLst>
          </p:cNvPr>
          <p:cNvSpPr txBox="1">
            <a:spLocks noChangeArrowheads="1"/>
          </p:cNvSpPr>
          <p:nvPr/>
        </p:nvSpPr>
        <p:spPr bwMode="auto">
          <a:xfrm>
            <a:off x="8704472" y="1752600"/>
            <a:ext cx="1030287"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request</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line</a:t>
            </a:r>
          </a:p>
        </p:txBody>
      </p:sp>
      <p:sp>
        <p:nvSpPr>
          <p:cNvPr id="23" name="Text Box 11">
            <a:extLst>
              <a:ext uri="{FF2B5EF4-FFF2-40B4-BE49-F238E27FC236}">
                <a16:creationId xmlns:a16="http://schemas.microsoft.com/office/drawing/2014/main" id="{0CB38CB5-45F7-C847-AE71-4F4C5B6FDC22}"/>
              </a:ext>
            </a:extLst>
          </p:cNvPr>
          <p:cNvSpPr txBox="1">
            <a:spLocks noChangeArrowheads="1"/>
          </p:cNvSpPr>
          <p:nvPr/>
        </p:nvSpPr>
        <p:spPr bwMode="auto">
          <a:xfrm>
            <a:off x="8699709" y="2768600"/>
            <a:ext cx="974725"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header</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lines</a:t>
            </a:r>
          </a:p>
        </p:txBody>
      </p:sp>
      <p:sp>
        <p:nvSpPr>
          <p:cNvPr id="24" name="Rectangle 12">
            <a:extLst>
              <a:ext uri="{FF2B5EF4-FFF2-40B4-BE49-F238E27FC236}">
                <a16:creationId xmlns:a16="http://schemas.microsoft.com/office/drawing/2014/main" id="{E645219C-0302-5E46-AE15-64BD65153E7E}"/>
              </a:ext>
            </a:extLst>
          </p:cNvPr>
          <p:cNvSpPr>
            <a:spLocks noChangeArrowheads="1"/>
          </p:cNvSpPr>
          <p:nvPr/>
        </p:nvSpPr>
        <p:spPr bwMode="auto">
          <a:xfrm>
            <a:off x="8315534" y="2338387"/>
            <a:ext cx="346075" cy="1819275"/>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13">
            <a:extLst>
              <a:ext uri="{FF2B5EF4-FFF2-40B4-BE49-F238E27FC236}">
                <a16:creationId xmlns:a16="http://schemas.microsoft.com/office/drawing/2014/main" id="{CAFB1EEC-4EBF-6E41-B9CB-E4B01F156EAB}"/>
              </a:ext>
            </a:extLst>
          </p:cNvPr>
          <p:cNvSpPr>
            <a:spLocks noChangeArrowheads="1"/>
          </p:cNvSpPr>
          <p:nvPr/>
        </p:nvSpPr>
        <p:spPr bwMode="auto">
          <a:xfrm>
            <a:off x="8182184" y="2287587"/>
            <a:ext cx="290513" cy="20177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15">
            <a:extLst>
              <a:ext uri="{FF2B5EF4-FFF2-40B4-BE49-F238E27FC236}">
                <a16:creationId xmlns:a16="http://schemas.microsoft.com/office/drawing/2014/main" id="{009CBE09-CA75-A245-B675-9042959F169C}"/>
              </a:ext>
            </a:extLst>
          </p:cNvPr>
          <p:cNvSpPr>
            <a:spLocks noChangeArrowheads="1"/>
          </p:cNvSpPr>
          <p:nvPr/>
        </p:nvSpPr>
        <p:spPr bwMode="auto">
          <a:xfrm>
            <a:off x="8550484" y="4394200"/>
            <a:ext cx="712788" cy="12160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Text Box 16">
            <a:extLst>
              <a:ext uri="{FF2B5EF4-FFF2-40B4-BE49-F238E27FC236}">
                <a16:creationId xmlns:a16="http://schemas.microsoft.com/office/drawing/2014/main" id="{548D8BC5-234B-1340-9AE4-2B7B4CCDF55A}"/>
              </a:ext>
            </a:extLst>
          </p:cNvPr>
          <p:cNvSpPr txBox="1">
            <a:spLocks noChangeArrowheads="1"/>
          </p:cNvSpPr>
          <p:nvPr/>
        </p:nvSpPr>
        <p:spPr bwMode="auto">
          <a:xfrm>
            <a:off x="8701297" y="4959350"/>
            <a:ext cx="735012" cy="3667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body</a:t>
            </a:r>
          </a:p>
        </p:txBody>
      </p:sp>
      <p:sp>
        <p:nvSpPr>
          <p:cNvPr id="28" name="Rectangle 20">
            <a:extLst>
              <a:ext uri="{FF2B5EF4-FFF2-40B4-BE49-F238E27FC236}">
                <a16:creationId xmlns:a16="http://schemas.microsoft.com/office/drawing/2014/main" id="{8BE22D39-29E3-DB4E-8BB7-B366225B441F}"/>
              </a:ext>
            </a:extLst>
          </p:cNvPr>
          <p:cNvSpPr>
            <a:spLocks noChangeArrowheads="1"/>
          </p:cNvSpPr>
          <p:nvPr/>
        </p:nvSpPr>
        <p:spPr bwMode="auto">
          <a:xfrm>
            <a:off x="2879934" y="1789112"/>
            <a:ext cx="5638800" cy="446088"/>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9" name="Line 22">
            <a:extLst>
              <a:ext uri="{FF2B5EF4-FFF2-40B4-BE49-F238E27FC236}">
                <a16:creationId xmlns:a16="http://schemas.microsoft.com/office/drawing/2014/main" id="{E517253E-A702-9F4B-B692-C2D297AE8C56}"/>
              </a:ext>
            </a:extLst>
          </p:cNvPr>
          <p:cNvSpPr>
            <a:spLocks noChangeShapeType="1"/>
          </p:cNvSpPr>
          <p:nvPr/>
        </p:nvSpPr>
        <p:spPr bwMode="auto">
          <a:xfrm>
            <a:off x="41880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0" name="Line 23">
            <a:extLst>
              <a:ext uri="{FF2B5EF4-FFF2-40B4-BE49-F238E27FC236}">
                <a16:creationId xmlns:a16="http://schemas.microsoft.com/office/drawing/2014/main" id="{9A3ED2FB-B252-C14F-B645-419D36E7F292}"/>
              </a:ext>
            </a:extLst>
          </p:cNvPr>
          <p:cNvSpPr>
            <a:spLocks noChangeShapeType="1"/>
          </p:cNvSpPr>
          <p:nvPr/>
        </p:nvSpPr>
        <p:spPr bwMode="auto">
          <a:xfrm>
            <a:off x="46325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1" name="Line 24">
            <a:extLst>
              <a:ext uri="{FF2B5EF4-FFF2-40B4-BE49-F238E27FC236}">
                <a16:creationId xmlns:a16="http://schemas.microsoft.com/office/drawing/2014/main" id="{B2B62443-11E1-2B43-9DCA-4AE37C7E4636}"/>
              </a:ext>
            </a:extLst>
          </p:cNvPr>
          <p:cNvSpPr>
            <a:spLocks noChangeShapeType="1"/>
          </p:cNvSpPr>
          <p:nvPr/>
        </p:nvSpPr>
        <p:spPr bwMode="auto">
          <a:xfrm>
            <a:off x="59406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2" name="Line 25">
            <a:extLst>
              <a:ext uri="{FF2B5EF4-FFF2-40B4-BE49-F238E27FC236}">
                <a16:creationId xmlns:a16="http://schemas.microsoft.com/office/drawing/2014/main" id="{04CD6AC7-3A8A-D448-ACDB-A1CAAAE45847}"/>
              </a:ext>
            </a:extLst>
          </p:cNvPr>
          <p:cNvSpPr>
            <a:spLocks noChangeShapeType="1"/>
          </p:cNvSpPr>
          <p:nvPr/>
        </p:nvSpPr>
        <p:spPr bwMode="auto">
          <a:xfrm>
            <a:off x="6366084" y="178593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3" name="Line 26">
            <a:extLst>
              <a:ext uri="{FF2B5EF4-FFF2-40B4-BE49-F238E27FC236}">
                <a16:creationId xmlns:a16="http://schemas.microsoft.com/office/drawing/2014/main" id="{116D6361-9C6F-384A-940A-DBEE668B1738}"/>
              </a:ext>
            </a:extLst>
          </p:cNvPr>
          <p:cNvSpPr>
            <a:spLocks noChangeShapeType="1"/>
          </p:cNvSpPr>
          <p:nvPr/>
        </p:nvSpPr>
        <p:spPr bwMode="auto">
          <a:xfrm>
            <a:off x="76678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4" name="Line 27">
            <a:extLst>
              <a:ext uri="{FF2B5EF4-FFF2-40B4-BE49-F238E27FC236}">
                <a16:creationId xmlns:a16="http://schemas.microsoft.com/office/drawing/2014/main" id="{66F44111-14E6-9047-91A5-35A207202184}"/>
              </a:ext>
            </a:extLst>
          </p:cNvPr>
          <p:cNvSpPr>
            <a:spLocks noChangeShapeType="1"/>
          </p:cNvSpPr>
          <p:nvPr/>
        </p:nvSpPr>
        <p:spPr bwMode="auto">
          <a:xfrm>
            <a:off x="810598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5" name="Text Box 28">
            <a:extLst>
              <a:ext uri="{FF2B5EF4-FFF2-40B4-BE49-F238E27FC236}">
                <a16:creationId xmlns:a16="http://schemas.microsoft.com/office/drawing/2014/main" id="{101CD148-0CB6-B64C-B622-686BDB7E0577}"/>
              </a:ext>
            </a:extLst>
          </p:cNvPr>
          <p:cNvSpPr txBox="1">
            <a:spLocks noChangeArrowheads="1"/>
          </p:cNvSpPr>
          <p:nvPr/>
        </p:nvSpPr>
        <p:spPr bwMode="auto">
          <a:xfrm>
            <a:off x="3003759" y="1816100"/>
            <a:ext cx="10302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method</a:t>
            </a:r>
          </a:p>
        </p:txBody>
      </p:sp>
      <p:sp>
        <p:nvSpPr>
          <p:cNvPr id="36" name="Text Box 29">
            <a:extLst>
              <a:ext uri="{FF2B5EF4-FFF2-40B4-BE49-F238E27FC236}">
                <a16:creationId xmlns:a16="http://schemas.microsoft.com/office/drawing/2014/main" id="{803519B0-4DBB-0446-BBAE-FAAA993CE334}"/>
              </a:ext>
            </a:extLst>
          </p:cNvPr>
          <p:cNvSpPr txBox="1">
            <a:spLocks noChangeArrowheads="1"/>
          </p:cNvSpPr>
          <p:nvPr/>
        </p:nvSpPr>
        <p:spPr bwMode="auto">
          <a:xfrm>
            <a:off x="4165809" y="179705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7" name="Text Box 30">
            <a:extLst>
              <a:ext uri="{FF2B5EF4-FFF2-40B4-BE49-F238E27FC236}">
                <a16:creationId xmlns:a16="http://schemas.microsoft.com/office/drawing/2014/main" id="{2AE14B96-40BF-C44D-B226-47487039EDC0}"/>
              </a:ext>
            </a:extLst>
          </p:cNvPr>
          <p:cNvSpPr txBox="1">
            <a:spLocks noChangeArrowheads="1"/>
          </p:cNvSpPr>
          <p:nvPr/>
        </p:nvSpPr>
        <p:spPr bwMode="auto">
          <a:xfrm>
            <a:off x="5931109" y="180340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8" name="Text Box 31">
            <a:extLst>
              <a:ext uri="{FF2B5EF4-FFF2-40B4-BE49-F238E27FC236}">
                <a16:creationId xmlns:a16="http://schemas.microsoft.com/office/drawing/2014/main" id="{499F11E0-2AAF-FC46-939A-844BDA8F36F0}"/>
              </a:ext>
            </a:extLst>
          </p:cNvPr>
          <p:cNvSpPr txBox="1">
            <a:spLocks noChangeArrowheads="1"/>
          </p:cNvSpPr>
          <p:nvPr/>
        </p:nvSpPr>
        <p:spPr bwMode="auto">
          <a:xfrm>
            <a:off x="7683709" y="1809750"/>
            <a:ext cx="403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39" name="Text Box 32">
            <a:extLst>
              <a:ext uri="{FF2B5EF4-FFF2-40B4-BE49-F238E27FC236}">
                <a16:creationId xmlns:a16="http://schemas.microsoft.com/office/drawing/2014/main" id="{74D4C75B-57F6-FC40-A95F-1EA89717E27F}"/>
              </a:ext>
            </a:extLst>
          </p:cNvPr>
          <p:cNvSpPr txBox="1">
            <a:spLocks noChangeArrowheads="1"/>
          </p:cNvSpPr>
          <p:nvPr/>
        </p:nvSpPr>
        <p:spPr bwMode="auto">
          <a:xfrm>
            <a:off x="8153609" y="1820862"/>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40" name="Text Box 33">
            <a:extLst>
              <a:ext uri="{FF2B5EF4-FFF2-40B4-BE49-F238E27FC236}">
                <a16:creationId xmlns:a16="http://schemas.microsoft.com/office/drawing/2014/main" id="{D3CF33E6-800C-C34A-9A2F-34E6C60D755D}"/>
              </a:ext>
            </a:extLst>
          </p:cNvPr>
          <p:cNvSpPr txBox="1">
            <a:spLocks noChangeArrowheads="1"/>
          </p:cNvSpPr>
          <p:nvPr/>
        </p:nvSpPr>
        <p:spPr bwMode="auto">
          <a:xfrm>
            <a:off x="6521659" y="1803400"/>
            <a:ext cx="10033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version</a:t>
            </a:r>
          </a:p>
        </p:txBody>
      </p:sp>
      <p:sp>
        <p:nvSpPr>
          <p:cNvPr id="41" name="Text Box 34">
            <a:extLst>
              <a:ext uri="{FF2B5EF4-FFF2-40B4-BE49-F238E27FC236}">
                <a16:creationId xmlns:a16="http://schemas.microsoft.com/office/drawing/2014/main" id="{064EF9BF-C55B-3041-B970-830A38934793}"/>
              </a:ext>
            </a:extLst>
          </p:cNvPr>
          <p:cNvSpPr txBox="1">
            <a:spLocks noChangeArrowheads="1"/>
          </p:cNvSpPr>
          <p:nvPr/>
        </p:nvSpPr>
        <p:spPr bwMode="auto">
          <a:xfrm>
            <a:off x="4896059" y="1816100"/>
            <a:ext cx="6937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URL</a:t>
            </a:r>
          </a:p>
        </p:txBody>
      </p:sp>
      <p:grpSp>
        <p:nvGrpSpPr>
          <p:cNvPr id="42" name="Group 45">
            <a:extLst>
              <a:ext uri="{FF2B5EF4-FFF2-40B4-BE49-F238E27FC236}">
                <a16:creationId xmlns:a16="http://schemas.microsoft.com/office/drawing/2014/main" id="{BF6F8085-A891-0844-94E6-578F3AFB50F3}"/>
              </a:ext>
            </a:extLst>
          </p:cNvPr>
          <p:cNvGrpSpPr>
            <a:grpSpLocks/>
          </p:cNvGrpSpPr>
          <p:nvPr/>
        </p:nvGrpSpPr>
        <p:grpSpPr bwMode="auto">
          <a:xfrm>
            <a:off x="2879934" y="2233612"/>
            <a:ext cx="4565650" cy="446088"/>
            <a:chOff x="192" y="1894"/>
            <a:chExt cx="2876" cy="281"/>
          </a:xfrm>
        </p:grpSpPr>
        <p:sp>
          <p:nvSpPr>
            <p:cNvPr id="43" name="Rectangle 35">
              <a:extLst>
                <a:ext uri="{FF2B5EF4-FFF2-40B4-BE49-F238E27FC236}">
                  <a16:creationId xmlns:a16="http://schemas.microsoft.com/office/drawing/2014/main" id="{37CAD855-2626-9B4A-87B5-BBFB2178C732}"/>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4" name="Line 36">
              <a:extLst>
                <a:ext uri="{FF2B5EF4-FFF2-40B4-BE49-F238E27FC236}">
                  <a16:creationId xmlns:a16="http://schemas.microsoft.com/office/drawing/2014/main" id="{3882514C-0ADC-584D-AAA4-E4882A2DEA38}"/>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45" name="Line 37">
              <a:extLst>
                <a:ext uri="{FF2B5EF4-FFF2-40B4-BE49-F238E27FC236}">
                  <a16:creationId xmlns:a16="http://schemas.microsoft.com/office/drawing/2014/main" id="{688D6AB7-0894-2D4A-9EE3-CF8BFFA30627}"/>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46" name="Line 39">
              <a:extLst>
                <a:ext uri="{FF2B5EF4-FFF2-40B4-BE49-F238E27FC236}">
                  <a16:creationId xmlns:a16="http://schemas.microsoft.com/office/drawing/2014/main" id="{8B2EC183-EB51-C64D-B126-461EEABB1EBF}"/>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47" name="Line 40">
              <a:extLst>
                <a:ext uri="{FF2B5EF4-FFF2-40B4-BE49-F238E27FC236}">
                  <a16:creationId xmlns:a16="http://schemas.microsoft.com/office/drawing/2014/main" id="{4DE50D57-00F5-134E-8F40-FDF96483157C}"/>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48" name="Text Box 41">
              <a:extLst>
                <a:ext uri="{FF2B5EF4-FFF2-40B4-BE49-F238E27FC236}">
                  <a16:creationId xmlns:a16="http://schemas.microsoft.com/office/drawing/2014/main" id="{54D07A27-F429-7046-9310-3A09B05FC60A}"/>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49" name="Text Box 42">
              <a:extLst>
                <a:ext uri="{FF2B5EF4-FFF2-40B4-BE49-F238E27FC236}">
                  <a16:creationId xmlns:a16="http://schemas.microsoft.com/office/drawing/2014/main" id="{C2EDB89B-2549-D34E-89E0-D083A1B07D60}"/>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50" name="Text Box 43">
              <a:extLst>
                <a:ext uri="{FF2B5EF4-FFF2-40B4-BE49-F238E27FC236}">
                  <a16:creationId xmlns:a16="http://schemas.microsoft.com/office/drawing/2014/main" id="{C7C20190-6015-D24C-8172-D12AE7AC2A4E}"/>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51" name="Text Box 44">
              <a:extLst>
                <a:ext uri="{FF2B5EF4-FFF2-40B4-BE49-F238E27FC236}">
                  <a16:creationId xmlns:a16="http://schemas.microsoft.com/office/drawing/2014/main" id="{9D74CC94-6309-9D4E-AC17-7834303D292A}"/>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grpSp>
        <p:nvGrpSpPr>
          <p:cNvPr id="52" name="Group 46">
            <a:extLst>
              <a:ext uri="{FF2B5EF4-FFF2-40B4-BE49-F238E27FC236}">
                <a16:creationId xmlns:a16="http://schemas.microsoft.com/office/drawing/2014/main" id="{F763EEE1-8E7B-574B-9B12-C02141AD6CEE}"/>
              </a:ext>
            </a:extLst>
          </p:cNvPr>
          <p:cNvGrpSpPr>
            <a:grpSpLocks/>
          </p:cNvGrpSpPr>
          <p:nvPr/>
        </p:nvGrpSpPr>
        <p:grpSpPr bwMode="auto">
          <a:xfrm>
            <a:off x="2876759" y="3709987"/>
            <a:ext cx="4565650" cy="446088"/>
            <a:chOff x="192" y="1894"/>
            <a:chExt cx="2876" cy="281"/>
          </a:xfrm>
        </p:grpSpPr>
        <p:sp>
          <p:nvSpPr>
            <p:cNvPr id="53" name="Rectangle 47">
              <a:extLst>
                <a:ext uri="{FF2B5EF4-FFF2-40B4-BE49-F238E27FC236}">
                  <a16:creationId xmlns:a16="http://schemas.microsoft.com/office/drawing/2014/main" id="{03037660-A975-AC41-9666-AFCCB3A0B935}"/>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4" name="Line 48">
              <a:extLst>
                <a:ext uri="{FF2B5EF4-FFF2-40B4-BE49-F238E27FC236}">
                  <a16:creationId xmlns:a16="http://schemas.microsoft.com/office/drawing/2014/main" id="{7DAB01D5-4A4C-0848-8E97-EACA6A36C3AD}"/>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5" name="Line 49">
              <a:extLst>
                <a:ext uri="{FF2B5EF4-FFF2-40B4-BE49-F238E27FC236}">
                  <a16:creationId xmlns:a16="http://schemas.microsoft.com/office/drawing/2014/main" id="{12F13F26-AF12-FB44-9B51-D0B6944C6D9C}"/>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6" name="Line 50">
              <a:extLst>
                <a:ext uri="{FF2B5EF4-FFF2-40B4-BE49-F238E27FC236}">
                  <a16:creationId xmlns:a16="http://schemas.microsoft.com/office/drawing/2014/main" id="{781CA89B-E86B-F843-A1BF-431E5679227B}"/>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7" name="Line 51">
              <a:extLst>
                <a:ext uri="{FF2B5EF4-FFF2-40B4-BE49-F238E27FC236}">
                  <a16:creationId xmlns:a16="http://schemas.microsoft.com/office/drawing/2014/main" id="{74911CA3-EBEB-B142-B4CE-F45E577120E5}"/>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8" name="Text Box 52">
              <a:extLst>
                <a:ext uri="{FF2B5EF4-FFF2-40B4-BE49-F238E27FC236}">
                  <a16:creationId xmlns:a16="http://schemas.microsoft.com/office/drawing/2014/main" id="{D0CB791B-5400-C244-A515-F158CF9A23BC}"/>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59" name="Text Box 53">
              <a:extLst>
                <a:ext uri="{FF2B5EF4-FFF2-40B4-BE49-F238E27FC236}">
                  <a16:creationId xmlns:a16="http://schemas.microsoft.com/office/drawing/2014/main" id="{E5D6E821-F80C-7046-BF97-7FA229C97D7C}"/>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60" name="Text Box 54">
              <a:extLst>
                <a:ext uri="{FF2B5EF4-FFF2-40B4-BE49-F238E27FC236}">
                  <a16:creationId xmlns:a16="http://schemas.microsoft.com/office/drawing/2014/main" id="{5F6B0327-AD11-4545-B4F6-735084B855B5}"/>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61" name="Text Box 55">
              <a:extLst>
                <a:ext uri="{FF2B5EF4-FFF2-40B4-BE49-F238E27FC236}">
                  <a16:creationId xmlns:a16="http://schemas.microsoft.com/office/drawing/2014/main" id="{95580CF6-5A42-2640-82F1-B4775A0714B8}"/>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sp>
        <p:nvSpPr>
          <p:cNvPr id="62" name="Line 56">
            <a:extLst>
              <a:ext uri="{FF2B5EF4-FFF2-40B4-BE49-F238E27FC236}">
                <a16:creationId xmlns:a16="http://schemas.microsoft.com/office/drawing/2014/main" id="{923CEA11-D6DF-1C46-A3A4-FD9F81E7CBE9}"/>
              </a:ext>
            </a:extLst>
          </p:cNvPr>
          <p:cNvSpPr>
            <a:spLocks noChangeShapeType="1"/>
          </p:cNvSpPr>
          <p:nvPr/>
        </p:nvSpPr>
        <p:spPr bwMode="auto">
          <a:xfrm>
            <a:off x="2879934" y="26812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63" name="Group 61">
            <a:extLst>
              <a:ext uri="{FF2B5EF4-FFF2-40B4-BE49-F238E27FC236}">
                <a16:creationId xmlns:a16="http://schemas.microsoft.com/office/drawing/2014/main" id="{331FDA17-3586-0A4D-9D97-B7C360855EC7}"/>
              </a:ext>
            </a:extLst>
          </p:cNvPr>
          <p:cNvGrpSpPr>
            <a:grpSpLocks/>
          </p:cNvGrpSpPr>
          <p:nvPr/>
        </p:nvGrpSpPr>
        <p:grpSpPr bwMode="auto">
          <a:xfrm>
            <a:off x="2711659" y="2905125"/>
            <a:ext cx="331788" cy="461962"/>
            <a:chOff x="462" y="1727"/>
            <a:chExt cx="209" cy="291"/>
          </a:xfrm>
        </p:grpSpPr>
        <p:sp>
          <p:nvSpPr>
            <p:cNvPr id="64" name="Rectangle 59">
              <a:extLst>
                <a:ext uri="{FF2B5EF4-FFF2-40B4-BE49-F238E27FC236}">
                  <a16:creationId xmlns:a16="http://schemas.microsoft.com/office/drawing/2014/main" id="{C1850415-E4E6-744B-A59A-4CBBE0004E2D}"/>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5" name="Text Box 57">
              <a:extLst>
                <a:ext uri="{FF2B5EF4-FFF2-40B4-BE49-F238E27FC236}">
                  <a16:creationId xmlns:a16="http://schemas.microsoft.com/office/drawing/2014/main" id="{26A802CD-661F-6548-9B20-03447D673761}"/>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66" name="Text Box 58">
              <a:extLst>
                <a:ext uri="{FF2B5EF4-FFF2-40B4-BE49-F238E27FC236}">
                  <a16:creationId xmlns:a16="http://schemas.microsoft.com/office/drawing/2014/main" id="{5857CADE-C5FA-4D45-86A4-A527BB0999C5}"/>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67" name="Line 62">
            <a:extLst>
              <a:ext uri="{FF2B5EF4-FFF2-40B4-BE49-F238E27FC236}">
                <a16:creationId xmlns:a16="http://schemas.microsoft.com/office/drawing/2014/main" id="{4AD99966-51D9-144F-843E-CA57BB5A97E5}"/>
              </a:ext>
            </a:extLst>
          </p:cNvPr>
          <p:cNvSpPr>
            <a:spLocks noChangeShapeType="1"/>
          </p:cNvSpPr>
          <p:nvPr/>
        </p:nvSpPr>
        <p:spPr bwMode="auto">
          <a:xfrm>
            <a:off x="7443997" y="26685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68" name="Group 63">
            <a:extLst>
              <a:ext uri="{FF2B5EF4-FFF2-40B4-BE49-F238E27FC236}">
                <a16:creationId xmlns:a16="http://schemas.microsoft.com/office/drawing/2014/main" id="{21BE7B05-C0E3-2847-AA19-1D559561D8E0}"/>
              </a:ext>
            </a:extLst>
          </p:cNvPr>
          <p:cNvGrpSpPr>
            <a:grpSpLocks/>
          </p:cNvGrpSpPr>
          <p:nvPr/>
        </p:nvGrpSpPr>
        <p:grpSpPr bwMode="auto">
          <a:xfrm>
            <a:off x="7275722" y="2892425"/>
            <a:ext cx="331787" cy="461962"/>
            <a:chOff x="462" y="1727"/>
            <a:chExt cx="209" cy="291"/>
          </a:xfrm>
        </p:grpSpPr>
        <p:sp>
          <p:nvSpPr>
            <p:cNvPr id="69" name="Rectangle 64">
              <a:extLst>
                <a:ext uri="{FF2B5EF4-FFF2-40B4-BE49-F238E27FC236}">
                  <a16:creationId xmlns:a16="http://schemas.microsoft.com/office/drawing/2014/main" id="{1068B7F8-AE57-0A4E-92E6-32182A78CA31}"/>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 name="Text Box 65">
              <a:extLst>
                <a:ext uri="{FF2B5EF4-FFF2-40B4-BE49-F238E27FC236}">
                  <a16:creationId xmlns:a16="http://schemas.microsoft.com/office/drawing/2014/main" id="{304BAA75-EDF9-3049-8146-D4E3B77D4E55}"/>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1" name="Text Box 66">
              <a:extLst>
                <a:ext uri="{FF2B5EF4-FFF2-40B4-BE49-F238E27FC236}">
                  <a16:creationId xmlns:a16="http://schemas.microsoft.com/office/drawing/2014/main" id="{7B98EC85-B737-7A4A-B367-0CDBC6B02392}"/>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72" name="Group 77">
            <a:extLst>
              <a:ext uri="{FF2B5EF4-FFF2-40B4-BE49-F238E27FC236}">
                <a16:creationId xmlns:a16="http://schemas.microsoft.com/office/drawing/2014/main" id="{3F072947-4F12-CC4D-A114-F6AA680D477F}"/>
              </a:ext>
            </a:extLst>
          </p:cNvPr>
          <p:cNvGrpSpPr>
            <a:grpSpLocks/>
          </p:cNvGrpSpPr>
          <p:nvPr/>
        </p:nvGrpSpPr>
        <p:grpSpPr bwMode="auto">
          <a:xfrm>
            <a:off x="2875172" y="4156075"/>
            <a:ext cx="963612" cy="446087"/>
            <a:chOff x="3105" y="2650"/>
            <a:chExt cx="607" cy="281"/>
          </a:xfrm>
        </p:grpSpPr>
        <p:sp>
          <p:nvSpPr>
            <p:cNvPr id="73" name="Rectangle 68">
              <a:extLst>
                <a:ext uri="{FF2B5EF4-FFF2-40B4-BE49-F238E27FC236}">
                  <a16:creationId xmlns:a16="http://schemas.microsoft.com/office/drawing/2014/main" id="{B30322FD-E3EE-8748-B949-5646BF3FDFC8}"/>
                </a:ext>
              </a:extLst>
            </p:cNvPr>
            <p:cNvSpPr>
              <a:spLocks noChangeArrowheads="1"/>
            </p:cNvSpPr>
            <p:nvPr/>
          </p:nvSpPr>
          <p:spPr bwMode="auto">
            <a:xfrm>
              <a:off x="3105" y="2650"/>
              <a:ext cx="607"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 name="Line 72">
              <a:extLst>
                <a:ext uri="{FF2B5EF4-FFF2-40B4-BE49-F238E27FC236}">
                  <a16:creationId xmlns:a16="http://schemas.microsoft.com/office/drawing/2014/main" id="{48E1F9CF-9FEF-5347-B932-F18E52F7D062}"/>
                </a:ext>
              </a:extLst>
            </p:cNvPr>
            <p:cNvSpPr>
              <a:spLocks noChangeShapeType="1"/>
            </p:cNvSpPr>
            <p:nvPr/>
          </p:nvSpPr>
          <p:spPr bwMode="auto">
            <a:xfrm>
              <a:off x="3406" y="2652"/>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75" name="Text Box 73">
              <a:extLst>
                <a:ext uri="{FF2B5EF4-FFF2-40B4-BE49-F238E27FC236}">
                  <a16:creationId xmlns:a16="http://schemas.microsoft.com/office/drawing/2014/main" id="{3F1DCBAA-5080-0B49-ADD4-12FFFAF8A808}"/>
                </a:ext>
              </a:extLst>
            </p:cNvPr>
            <p:cNvSpPr txBox="1">
              <a:spLocks noChangeArrowheads="1"/>
            </p:cNvSpPr>
            <p:nvPr/>
          </p:nvSpPr>
          <p:spPr bwMode="auto">
            <a:xfrm>
              <a:off x="3140" y="2663"/>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76" name="Text Box 74">
              <a:extLst>
                <a:ext uri="{FF2B5EF4-FFF2-40B4-BE49-F238E27FC236}">
                  <a16:creationId xmlns:a16="http://schemas.microsoft.com/office/drawing/2014/main" id="{30F8DE49-8702-8242-B74B-8F1C10B8D2BE}"/>
                </a:ext>
              </a:extLst>
            </p:cNvPr>
            <p:cNvSpPr txBox="1">
              <a:spLocks noChangeArrowheads="1"/>
            </p:cNvSpPr>
            <p:nvPr/>
          </p:nvSpPr>
          <p:spPr bwMode="auto">
            <a:xfrm>
              <a:off x="3436" y="2670"/>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grpSp>
      <p:sp>
        <p:nvSpPr>
          <p:cNvPr id="77" name="Rectangle 78">
            <a:extLst>
              <a:ext uri="{FF2B5EF4-FFF2-40B4-BE49-F238E27FC236}">
                <a16:creationId xmlns:a16="http://schemas.microsoft.com/office/drawing/2014/main" id="{6229F0FB-98BB-B944-85C4-25A52FBA6CCF}"/>
              </a:ext>
            </a:extLst>
          </p:cNvPr>
          <p:cNvSpPr>
            <a:spLocks noChangeArrowheads="1"/>
          </p:cNvSpPr>
          <p:nvPr/>
        </p:nvSpPr>
        <p:spPr bwMode="auto">
          <a:xfrm>
            <a:off x="2875172" y="4603750"/>
            <a:ext cx="5170487" cy="1120775"/>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Text Box 80">
            <a:extLst>
              <a:ext uri="{FF2B5EF4-FFF2-40B4-BE49-F238E27FC236}">
                <a16:creationId xmlns:a16="http://schemas.microsoft.com/office/drawing/2014/main" id="{15C2EA86-0F4F-3247-A569-CE038874C470}"/>
              </a:ext>
            </a:extLst>
          </p:cNvPr>
          <p:cNvSpPr txBox="1">
            <a:spLocks noChangeArrowheads="1"/>
          </p:cNvSpPr>
          <p:nvPr/>
        </p:nvSpPr>
        <p:spPr bwMode="auto">
          <a:xfrm>
            <a:off x="4811922" y="4927600"/>
            <a:ext cx="14112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entity body</a:t>
            </a:r>
          </a:p>
        </p:txBody>
      </p:sp>
      <p:grpSp>
        <p:nvGrpSpPr>
          <p:cNvPr id="79" name="Group 81">
            <a:extLst>
              <a:ext uri="{FF2B5EF4-FFF2-40B4-BE49-F238E27FC236}">
                <a16:creationId xmlns:a16="http://schemas.microsoft.com/office/drawing/2014/main" id="{FBD71B37-ADDE-7A46-9420-5D7F558DE36A}"/>
              </a:ext>
            </a:extLst>
          </p:cNvPr>
          <p:cNvGrpSpPr>
            <a:grpSpLocks/>
          </p:cNvGrpSpPr>
          <p:nvPr/>
        </p:nvGrpSpPr>
        <p:grpSpPr bwMode="auto">
          <a:xfrm>
            <a:off x="2711659" y="4941887"/>
            <a:ext cx="331788" cy="461963"/>
            <a:chOff x="462" y="1727"/>
            <a:chExt cx="209" cy="291"/>
          </a:xfrm>
        </p:grpSpPr>
        <p:sp>
          <p:nvSpPr>
            <p:cNvPr id="80" name="Rectangle 82">
              <a:extLst>
                <a:ext uri="{FF2B5EF4-FFF2-40B4-BE49-F238E27FC236}">
                  <a16:creationId xmlns:a16="http://schemas.microsoft.com/office/drawing/2014/main" id="{EB685F5D-49A7-714D-B0CE-A681FE471FBF}"/>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1" name="Text Box 83">
              <a:extLst>
                <a:ext uri="{FF2B5EF4-FFF2-40B4-BE49-F238E27FC236}">
                  <a16:creationId xmlns:a16="http://schemas.microsoft.com/office/drawing/2014/main" id="{F39503FA-5AF7-1343-97ED-74063A1F12A0}"/>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2" name="Text Box 84">
              <a:extLst>
                <a:ext uri="{FF2B5EF4-FFF2-40B4-BE49-F238E27FC236}">
                  <a16:creationId xmlns:a16="http://schemas.microsoft.com/office/drawing/2014/main" id="{65445F71-0392-1545-8E73-EFFA475F763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83" name="Group 85">
            <a:extLst>
              <a:ext uri="{FF2B5EF4-FFF2-40B4-BE49-F238E27FC236}">
                <a16:creationId xmlns:a16="http://schemas.microsoft.com/office/drawing/2014/main" id="{948FB213-CBD1-754F-9A31-92B73ABB091D}"/>
              </a:ext>
            </a:extLst>
          </p:cNvPr>
          <p:cNvGrpSpPr>
            <a:grpSpLocks/>
          </p:cNvGrpSpPr>
          <p:nvPr/>
        </p:nvGrpSpPr>
        <p:grpSpPr bwMode="auto">
          <a:xfrm>
            <a:off x="7871034" y="4932362"/>
            <a:ext cx="331788" cy="461963"/>
            <a:chOff x="462" y="1727"/>
            <a:chExt cx="209" cy="291"/>
          </a:xfrm>
        </p:grpSpPr>
        <p:sp>
          <p:nvSpPr>
            <p:cNvPr id="84" name="Rectangle 86">
              <a:extLst>
                <a:ext uri="{FF2B5EF4-FFF2-40B4-BE49-F238E27FC236}">
                  <a16:creationId xmlns:a16="http://schemas.microsoft.com/office/drawing/2014/main" id="{2099BE28-2CBD-FA47-A576-86B1CF474263}"/>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5" name="Text Box 87">
              <a:extLst>
                <a:ext uri="{FF2B5EF4-FFF2-40B4-BE49-F238E27FC236}">
                  <a16:creationId xmlns:a16="http://schemas.microsoft.com/office/drawing/2014/main" id="{94AB5515-CA17-A64C-8C42-F0741024357D}"/>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6" name="Text Box 88">
              <a:extLst>
                <a:ext uri="{FF2B5EF4-FFF2-40B4-BE49-F238E27FC236}">
                  <a16:creationId xmlns:a16="http://schemas.microsoft.com/office/drawing/2014/main" id="{157CE15D-905D-5B44-91B2-249371FA4B1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87" name="Slide Number Placeholder 2">
            <a:extLst>
              <a:ext uri="{FF2B5EF4-FFF2-40B4-BE49-F238E27FC236}">
                <a16:creationId xmlns:a16="http://schemas.microsoft.com/office/drawing/2014/main" id="{09896B4E-767E-074F-8EDA-CDA62F29047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30</a:t>
            </a:fld>
            <a:endParaRPr lang="en-US" dirty="0"/>
          </a:p>
        </p:txBody>
      </p:sp>
    </p:spTree>
    <p:extLst>
      <p:ext uri="{BB962C8B-B14F-4D97-AF65-F5344CB8AC3E}">
        <p14:creationId xmlns:p14="http://schemas.microsoft.com/office/powerpoint/2010/main" val="371936590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Other HTTP request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essages</a:t>
            </a:r>
            <a:endParaRPr lang="en-US" sz="4400" dirty="0"/>
          </a:p>
        </p:txBody>
      </p:sp>
      <p:sp>
        <p:nvSpPr>
          <p:cNvPr id="87" name="Rectangle 3">
            <a:extLst>
              <a:ext uri="{FF2B5EF4-FFF2-40B4-BE49-F238E27FC236}">
                <a16:creationId xmlns:a16="http://schemas.microsoft.com/office/drawing/2014/main" id="{25316CA5-99B5-7F45-AFB7-B3A2CBFABDDC}"/>
              </a:ext>
            </a:extLst>
          </p:cNvPr>
          <p:cNvSpPr txBox="1">
            <a:spLocks noChangeArrowheads="1"/>
          </p:cNvSpPr>
          <p:nvPr/>
        </p:nvSpPr>
        <p:spPr>
          <a:xfrm>
            <a:off x="685573" y="1727394"/>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POST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web page often includes form input</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user input sent from client to server in entity body of HTTP POST request message</a:t>
            </a:r>
          </a:p>
        </p:txBody>
      </p:sp>
      <p:sp>
        <p:nvSpPr>
          <p:cNvPr id="88" name="Rectangle 3">
            <a:extLst>
              <a:ext uri="{FF2B5EF4-FFF2-40B4-BE49-F238E27FC236}">
                <a16:creationId xmlns:a16="http://schemas.microsoft.com/office/drawing/2014/main" id="{EC7D421B-4EDF-C343-AB2D-4624467F5415}"/>
              </a:ext>
            </a:extLst>
          </p:cNvPr>
          <p:cNvSpPr txBox="1">
            <a:spLocks noChangeArrowheads="1"/>
          </p:cNvSpPr>
          <p:nvPr/>
        </p:nvSpPr>
        <p:spPr>
          <a:xfrm>
            <a:off x="685573" y="4466964"/>
            <a:ext cx="5541055"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GET method </a:t>
            </a:r>
            <a:r>
              <a:rPr kumimoji="0" lang="en-US" sz="2400" b="0" i="0" u="none" strike="noStrike" kern="1200" cap="none" spc="0" normalizeH="0" baseline="0" noProof="0" dirty="0">
                <a:ln>
                  <a:noFill/>
                </a:ln>
                <a:solidFill>
                  <a:prstClr val="black"/>
                </a:solidFill>
                <a:effectLst/>
                <a:uLnTx/>
                <a:uFillTx/>
                <a:latin typeface="Calibri"/>
                <a:ea typeface="+mn-ea"/>
                <a:cs typeface="+mn-cs"/>
              </a:rPr>
              <a:t>(for sending data to server):</a:t>
            </a: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include user data in URL field of HTTP GET request message (following a ‘?’):</a:t>
            </a:r>
          </a:p>
        </p:txBody>
      </p:sp>
      <p:sp>
        <p:nvSpPr>
          <p:cNvPr id="89" name="Text Box 5">
            <a:extLst>
              <a:ext uri="{FF2B5EF4-FFF2-40B4-BE49-F238E27FC236}">
                <a16:creationId xmlns:a16="http://schemas.microsoft.com/office/drawing/2014/main" id="{B785588B-2DEA-474F-89CA-2613413F7528}"/>
              </a:ext>
            </a:extLst>
          </p:cNvPr>
          <p:cNvSpPr txBox="1">
            <a:spLocks noChangeArrowheads="1"/>
          </p:cNvSpPr>
          <p:nvPr/>
        </p:nvSpPr>
        <p:spPr bwMode="auto">
          <a:xfrm>
            <a:off x="798692" y="5806133"/>
            <a:ext cx="62801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www.somesite.com</a:t>
            </a: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t>
            </a:r>
            <a:r>
              <a:rPr kumimoji="0" lang="en-US" altLang="en-US" sz="1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animalsearch?monkeys&amp;banana</a:t>
            </a:r>
            <a:endPar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p:txBody>
      </p:sp>
      <p:sp>
        <p:nvSpPr>
          <p:cNvPr id="90" name="Rectangle 3">
            <a:extLst>
              <a:ext uri="{FF2B5EF4-FFF2-40B4-BE49-F238E27FC236}">
                <a16:creationId xmlns:a16="http://schemas.microsoft.com/office/drawing/2014/main" id="{F9FB5262-4D63-A149-A391-3CDD424427AC}"/>
              </a:ext>
            </a:extLst>
          </p:cNvPr>
          <p:cNvSpPr txBox="1">
            <a:spLocks noChangeArrowheads="1"/>
          </p:cNvSpPr>
          <p:nvPr/>
        </p:nvSpPr>
        <p:spPr>
          <a:xfrm>
            <a:off x="6991758" y="1752600"/>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HEAD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requests headers (only) that would be returned</a:t>
            </a:r>
            <a:r>
              <a:rPr kumimoji="0" lang="en-US" sz="2400" b="0" i="1" u="none" strike="noStrike" kern="1200" cap="none" spc="0" normalizeH="0" baseline="0" noProof="0" dirty="0">
                <a:ln>
                  <a:noFill/>
                </a:ln>
                <a:solidFill>
                  <a:prstClr val="black"/>
                </a:solidFill>
                <a:effectLst/>
                <a:uLnTx/>
                <a:uFillTx/>
                <a:latin typeface="Calibri"/>
                <a:ea typeface="+mn-ea"/>
                <a:cs typeface="+mn-cs"/>
              </a:rPr>
              <a:t> if </a:t>
            </a:r>
            <a:r>
              <a:rPr kumimoji="0" lang="en-US" sz="2400" b="0" i="0" u="none" strike="noStrike" kern="1200" cap="none" spc="0" normalizeH="0" baseline="0" noProof="0" dirty="0">
                <a:ln>
                  <a:noFill/>
                </a:ln>
                <a:solidFill>
                  <a:prstClr val="black"/>
                </a:solidFill>
                <a:effectLst/>
                <a:uLnTx/>
                <a:uFillTx/>
                <a:latin typeface="Calibri"/>
                <a:ea typeface="+mn-ea"/>
                <a:cs typeface="+mn-cs"/>
              </a:rPr>
              <a:t>specified URL were requested  with an HTTP GET method. </a:t>
            </a:r>
          </a:p>
        </p:txBody>
      </p:sp>
      <p:sp>
        <p:nvSpPr>
          <p:cNvPr id="91" name="Rectangle 3">
            <a:extLst>
              <a:ext uri="{FF2B5EF4-FFF2-40B4-BE49-F238E27FC236}">
                <a16:creationId xmlns:a16="http://schemas.microsoft.com/office/drawing/2014/main" id="{2D3C6453-B336-C04B-8A91-4E7D3B632FEB}"/>
              </a:ext>
            </a:extLst>
          </p:cNvPr>
          <p:cNvSpPr txBox="1">
            <a:spLocks noChangeArrowheads="1"/>
          </p:cNvSpPr>
          <p:nvPr/>
        </p:nvSpPr>
        <p:spPr>
          <a:xfrm>
            <a:off x="6993371" y="3839527"/>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PUT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uploads new file (object) to server</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completely replaces file that exists at specified URL with content in entity body of POST HTTP request message</a:t>
            </a:r>
          </a:p>
        </p:txBody>
      </p:sp>
      <p:sp>
        <p:nvSpPr>
          <p:cNvPr id="8" name="Slide Number Placeholder 2">
            <a:extLst>
              <a:ext uri="{FF2B5EF4-FFF2-40B4-BE49-F238E27FC236}">
                <a16:creationId xmlns:a16="http://schemas.microsoft.com/office/drawing/2014/main" id="{40C538BA-1C71-0F4D-B753-A7D597D981F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31</a:t>
            </a:fld>
            <a:endParaRPr lang="en-US" dirty="0"/>
          </a:p>
        </p:txBody>
      </p:sp>
    </p:spTree>
    <p:extLst>
      <p:ext uri="{BB962C8B-B14F-4D97-AF65-F5344CB8AC3E}">
        <p14:creationId xmlns:p14="http://schemas.microsoft.com/office/powerpoint/2010/main" val="3691248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par>
                                <p:cTn id="8" presetID="9" presetClass="entr" presetSubtype="0" fill="hold" grpId="0" nodeType="withEffect">
                                  <p:stCondLst>
                                    <p:cond delay="0"/>
                                  </p:stCondLst>
                                  <p:childTnLst>
                                    <p:set>
                                      <p:cBhvr>
                                        <p:cTn id="9" dur="1" fill="hold">
                                          <p:stCondLst>
                                            <p:cond delay="0"/>
                                          </p:stCondLst>
                                        </p:cTn>
                                        <p:tgtEl>
                                          <p:spTgt spid="90"/>
                                        </p:tgtEl>
                                        <p:attrNameLst>
                                          <p:attrName>style.visibility</p:attrName>
                                        </p:attrNameLst>
                                      </p:cBhvr>
                                      <p:to>
                                        <p:strVal val="visible"/>
                                      </p:to>
                                    </p:set>
                                    <p:animEffect transition="in" filter="dissolve">
                                      <p:cBhvr>
                                        <p:cTn id="10"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91"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a:t>
            </a:r>
            <a:endParaRPr lang="en-US" sz="4400" dirty="0"/>
          </a:p>
        </p:txBody>
      </p:sp>
      <p:sp>
        <p:nvSpPr>
          <p:cNvPr id="87" name="Text Box 5">
            <a:extLst>
              <a:ext uri="{FF2B5EF4-FFF2-40B4-BE49-F238E27FC236}">
                <a16:creationId xmlns:a16="http://schemas.microsoft.com/office/drawing/2014/main" id="{A994AECC-DC16-7847-B8EE-F2F612ABB287}"/>
              </a:ext>
            </a:extLst>
          </p:cNvPr>
          <p:cNvSpPr txBox="1">
            <a:spLocks noChangeArrowheads="1"/>
          </p:cNvSpPr>
          <p:nvPr/>
        </p:nvSpPr>
        <p:spPr bwMode="auto">
          <a:xfrm>
            <a:off x="889630" y="1555730"/>
            <a:ext cx="405611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line (protocol</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code status phrase)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0" name="Text Box 8">
            <a:extLst>
              <a:ext uri="{FF2B5EF4-FFF2-40B4-BE49-F238E27FC236}">
                <a16:creationId xmlns:a16="http://schemas.microsoft.com/office/drawing/2014/main" id="{9695B2A1-768B-CE41-87A1-8D564F953877}"/>
              </a:ext>
            </a:extLst>
          </p:cNvPr>
          <p:cNvSpPr txBox="1">
            <a:spLocks noChangeArrowheads="1"/>
          </p:cNvSpPr>
          <p:nvPr/>
        </p:nvSpPr>
        <p:spPr bwMode="auto">
          <a:xfrm>
            <a:off x="3979618" y="2984961"/>
            <a:ext cx="107112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2" name="Text Box 10">
            <a:extLst>
              <a:ext uri="{FF2B5EF4-FFF2-40B4-BE49-F238E27FC236}">
                <a16:creationId xmlns:a16="http://schemas.microsoft.com/office/drawing/2014/main" id="{71D3CD43-9088-2144-992C-3A77F783A6D7}"/>
              </a:ext>
            </a:extLst>
          </p:cNvPr>
          <p:cNvSpPr txBox="1">
            <a:spLocks noChangeArrowheads="1"/>
          </p:cNvSpPr>
          <p:nvPr/>
        </p:nvSpPr>
        <p:spPr bwMode="auto">
          <a:xfrm>
            <a:off x="828397" y="4607159"/>
            <a:ext cx="360288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data, e.g.,  requested</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HTML file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3" name="Rectangle 15">
            <a:extLst>
              <a:ext uri="{FF2B5EF4-FFF2-40B4-BE49-F238E27FC236}">
                <a16:creationId xmlns:a16="http://schemas.microsoft.com/office/drawing/2014/main" id="{AE1D96B5-48F4-B842-9424-43BC570F6345}"/>
              </a:ext>
            </a:extLst>
          </p:cNvPr>
          <p:cNvSpPr>
            <a:spLocks noChangeArrowheads="1"/>
          </p:cNvSpPr>
          <p:nvPr/>
        </p:nvSpPr>
        <p:spPr bwMode="auto">
          <a:xfrm>
            <a:off x="5131481" y="1710879"/>
            <a:ext cx="6311900" cy="3490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HTTP/1.1 200 OK</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Date: Tue, 08 Sep 2020 00:53:20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Server: Apache/2.4.6 (CentOS) OpenSSL/1.0.2k-fips PHP/7.4.9 </a:t>
            </a:r>
            <a:r>
              <a:rPr kumimoji="0" lang="en-US" sz="1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mod_perl</a:t>
            </a: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/2.0.11 Perl/v5.16.3</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Last-Modified: Tue, 01 Mar 2016 18:57:50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ETag</a:t>
            </a: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 "a5b-52d015789ee9e"</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Accept-Ranges: bytes</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Content-Length: 2651</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Content-Type: text/html; charset=UTF-8</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it-IT"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data data data data data ... </a:t>
            </a:r>
            <a:endPar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p:txBody>
      </p:sp>
      <p:cxnSp>
        <p:nvCxnSpPr>
          <p:cNvPr id="94" name="Straight Arrow Connector 93">
            <a:extLst>
              <a:ext uri="{FF2B5EF4-FFF2-40B4-BE49-F238E27FC236}">
                <a16:creationId xmlns:a16="http://schemas.microsoft.com/office/drawing/2014/main" id="{81248C33-8978-FA4A-B68D-07F7345C9C4D}"/>
              </a:ext>
            </a:extLst>
          </p:cNvPr>
          <p:cNvCxnSpPr>
            <a:cxnSpLocks/>
          </p:cNvCxnSpPr>
          <p:nvPr/>
        </p:nvCxnSpPr>
        <p:spPr>
          <a:xfrm>
            <a:off x="3593872" y="1845820"/>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A1C1D39C-E830-C840-962A-5EF5A5C89548}"/>
              </a:ext>
            </a:extLst>
          </p:cNvPr>
          <p:cNvCxnSpPr>
            <a:cxnSpLocks/>
          </p:cNvCxnSpPr>
          <p:nvPr/>
        </p:nvCxnSpPr>
        <p:spPr>
          <a:xfrm>
            <a:off x="3642857" y="4850277"/>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sp>
        <p:nvSpPr>
          <p:cNvPr id="96" name="TextBox 1">
            <a:extLst>
              <a:ext uri="{FF2B5EF4-FFF2-40B4-BE49-F238E27FC236}">
                <a16:creationId xmlns:a16="http://schemas.microsoft.com/office/drawing/2014/main" id="{2551C779-9290-AD4E-91BD-E60A7E927A95}"/>
              </a:ext>
            </a:extLst>
          </p:cNvPr>
          <p:cNvSpPr txBox="1">
            <a:spLocks noChangeArrowheads="1"/>
          </p:cNvSpPr>
          <p:nvPr/>
        </p:nvSpPr>
        <p:spPr bwMode="auto">
          <a:xfrm>
            <a:off x="889630" y="6155251"/>
            <a:ext cx="952137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gaia.cs.umass.edu</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kurose_ross</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/interactive/</a:t>
            </a:r>
          </a:p>
        </p:txBody>
      </p:sp>
      <p:sp>
        <p:nvSpPr>
          <p:cNvPr id="12" name="Rectangle 11">
            <a:extLst>
              <a:ext uri="{FF2B5EF4-FFF2-40B4-BE49-F238E27FC236}">
                <a16:creationId xmlns:a16="http://schemas.microsoft.com/office/drawing/2014/main" id="{C9A44120-8306-2742-A6C5-833CF39C2053}"/>
              </a:ext>
            </a:extLst>
          </p:cNvPr>
          <p:cNvSpPr/>
          <p:nvPr/>
        </p:nvSpPr>
        <p:spPr>
          <a:xfrm>
            <a:off x="506185" y="4724398"/>
            <a:ext cx="10733315" cy="1894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 name="Left Brace 2">
            <a:extLst>
              <a:ext uri="{FF2B5EF4-FFF2-40B4-BE49-F238E27FC236}">
                <a16:creationId xmlns:a16="http://schemas.microsoft.com/office/drawing/2014/main" id="{7B4A04F6-6325-3B46-B996-B1257F5CC1D8}"/>
              </a:ext>
            </a:extLst>
          </p:cNvPr>
          <p:cNvSpPr/>
          <p:nvPr/>
        </p:nvSpPr>
        <p:spPr>
          <a:xfrm>
            <a:off x="4963885" y="2057400"/>
            <a:ext cx="261258" cy="2694214"/>
          </a:xfrm>
          <a:prstGeom prst="leftBrace">
            <a:avLst/>
          </a:prstGeom>
          <a:ln w="22225">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73B0BCB5-3B5E-AE49-AE9B-AE6FFB902BA8}"/>
              </a:ext>
            </a:extLst>
          </p:cNvPr>
          <p:cNvSpPr/>
          <p:nvPr/>
        </p:nvSpPr>
        <p:spPr>
          <a:xfrm>
            <a:off x="4359729" y="2041072"/>
            <a:ext cx="7151914" cy="29826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Rectangle 14">
            <a:extLst>
              <a:ext uri="{FF2B5EF4-FFF2-40B4-BE49-F238E27FC236}">
                <a16:creationId xmlns:a16="http://schemas.microsoft.com/office/drawing/2014/main" id="{DB7232E2-6D04-AD43-8E7F-3073A3A01F08}"/>
              </a:ext>
            </a:extLst>
          </p:cNvPr>
          <p:cNvSpPr/>
          <p:nvPr/>
        </p:nvSpPr>
        <p:spPr>
          <a:xfrm>
            <a:off x="3858986" y="2939143"/>
            <a:ext cx="7151914" cy="13552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Slide Number Placeholder 2">
            <a:extLst>
              <a:ext uri="{FF2B5EF4-FFF2-40B4-BE49-F238E27FC236}">
                <a16:creationId xmlns:a16="http://schemas.microsoft.com/office/drawing/2014/main" id="{1A72BEEE-6164-8340-B1FC-05E6C79CF76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32</a:t>
            </a:fld>
            <a:endParaRPr lang="en-US" dirty="0"/>
          </a:p>
        </p:txBody>
      </p:sp>
    </p:spTree>
    <p:extLst>
      <p:ext uri="{BB962C8B-B14F-4D97-AF65-F5344CB8AC3E}">
        <p14:creationId xmlns:p14="http://schemas.microsoft.com/office/powerpoint/2010/main" val="716890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par>
                                <p:cTn id="8" presetID="9" presetClass="exit" presetSubtype="0" fill="hold" grpId="0" nodeType="withEffect">
                                  <p:stCondLst>
                                    <p:cond delay="0"/>
                                  </p:stCondLst>
                                  <p:childTnLst>
                                    <p:animEffect transition="out" filter="dissolve">
                                      <p:cBhvr>
                                        <p:cTn id="9" dur="500"/>
                                        <p:tgtEl>
                                          <p:spTgt spid="15"/>
                                        </p:tgtEl>
                                      </p:cBhvr>
                                    </p:animEffect>
                                    <p:set>
                                      <p:cBhvr>
                                        <p:cTn id="10" dur="1" fill="hold">
                                          <p:stCondLst>
                                            <p:cond delay="499"/>
                                          </p:stCondLst>
                                        </p:cTn>
                                        <p:tgtEl>
                                          <p:spTgt spid="15"/>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0" nodeType="clickEffect">
                                  <p:stCondLst>
                                    <p:cond delay="0"/>
                                  </p:stCondLst>
                                  <p:childTnLst>
                                    <p:animEffect transition="out" filter="dissolve">
                                      <p:cBhvr>
                                        <p:cTn id="14" dur="500"/>
                                        <p:tgtEl>
                                          <p:spTgt spid="12"/>
                                        </p:tgtEl>
                                      </p:cBhvr>
                                    </p:animEffect>
                                    <p:set>
                                      <p:cBhvr>
                                        <p:cTn id="15"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animBg="1"/>
      <p:bldP spid="15"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tatus </a:t>
            </a:r>
            <a:r>
              <a:rPr lang="en-US" altLang="en-US" dirty="0">
                <a:ea typeface="ＭＳ Ｐゴシック" panose="020B0600070205080204" pitchFamily="34" charset="-128"/>
              </a:rPr>
              <a:t>c</a:t>
            </a:r>
            <a:r>
              <a:rPr lang="en-US" altLang="en-US" sz="4400" dirty="0">
                <a:ea typeface="ＭＳ Ｐゴシック" panose="020B0600070205080204" pitchFamily="34" charset="-128"/>
              </a:rPr>
              <a:t>odes</a:t>
            </a:r>
            <a:endParaRPr lang="en-US" sz="4400" dirty="0"/>
          </a:p>
        </p:txBody>
      </p:sp>
      <p:sp>
        <p:nvSpPr>
          <p:cNvPr id="12" name="Rectangle 3">
            <a:extLst>
              <a:ext uri="{FF2B5EF4-FFF2-40B4-BE49-F238E27FC236}">
                <a16:creationId xmlns:a16="http://schemas.microsoft.com/office/drawing/2014/main" id="{D7D9FAF8-ACB6-2648-AF49-4F1CA2DD361E}"/>
              </a:ext>
            </a:extLst>
          </p:cNvPr>
          <p:cNvSpPr txBox="1">
            <a:spLocks noChangeArrowheads="1"/>
          </p:cNvSpPr>
          <p:nvPr/>
        </p:nvSpPr>
        <p:spPr>
          <a:xfrm>
            <a:off x="1179871" y="2274314"/>
            <a:ext cx="10678300" cy="4168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200 OK</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succeeded, requested object later in this message</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301 Moved Permanently</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object moved, new location specified later in this message (in Location: field)</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400 Bad Request</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msg not understood by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404 Not Found</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document not found on this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505 HTTP Version Not Supported</a:t>
            </a:r>
          </a:p>
        </p:txBody>
      </p:sp>
      <p:sp>
        <p:nvSpPr>
          <p:cNvPr id="13" name="Rectangle 5">
            <a:extLst>
              <a:ext uri="{FF2B5EF4-FFF2-40B4-BE49-F238E27FC236}">
                <a16:creationId xmlns:a16="http://schemas.microsoft.com/office/drawing/2014/main" id="{8C98F9E3-E57A-7844-89F3-A6331B046576}"/>
              </a:ext>
            </a:extLst>
          </p:cNvPr>
          <p:cNvSpPr>
            <a:spLocks noChangeArrowheads="1"/>
          </p:cNvSpPr>
          <p:nvPr/>
        </p:nvSpPr>
        <p:spPr bwMode="auto">
          <a:xfrm>
            <a:off x="798691" y="1325562"/>
            <a:ext cx="10856280" cy="51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50838" indent="-350838">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0838" marR="0" lvl="0" indent="-350838"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status code appears in 1st line in server-to-client response message.</a:t>
            </a:r>
          </a:p>
          <a:p>
            <a:pPr marL="350838" marR="0" lvl="0" indent="-350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 sample codes</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a:r>
          </a:p>
        </p:txBody>
      </p:sp>
      <p:sp>
        <p:nvSpPr>
          <p:cNvPr id="5" name="Slide Number Placeholder 2">
            <a:extLst>
              <a:ext uri="{FF2B5EF4-FFF2-40B4-BE49-F238E27FC236}">
                <a16:creationId xmlns:a16="http://schemas.microsoft.com/office/drawing/2014/main" id="{2F3EBF3D-1991-B942-BC94-7A161F52592B}"/>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33</a:t>
            </a:fld>
            <a:endParaRPr lang="en-US" dirty="0"/>
          </a:p>
        </p:txBody>
      </p:sp>
    </p:spTree>
    <p:extLst>
      <p:ext uri="{BB962C8B-B14F-4D97-AF65-F5344CB8AC3E}">
        <p14:creationId xmlns:p14="http://schemas.microsoft.com/office/powerpoint/2010/main" val="420651581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12" name="Rectangle 3">
            <a:extLst>
              <a:ext uri="{FF2B5EF4-FFF2-40B4-BE49-F238E27FC236}">
                <a16:creationId xmlns:a16="http://schemas.microsoft.com/office/drawing/2014/main" id="{3635EFC9-A521-0240-B257-CD458B330808}"/>
              </a:ext>
            </a:extLst>
          </p:cNvPr>
          <p:cNvSpPr txBox="1">
            <a:spLocks noChangeArrowheads="1"/>
          </p:cNvSpPr>
          <p:nvPr/>
        </p:nvSpPr>
        <p:spPr>
          <a:xfrm>
            <a:off x="751523" y="1368109"/>
            <a:ext cx="5877880" cy="483674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Recall:  HTTP GET/response interaction is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stateless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notion of multi-step exchanges of HTTP messages to complete a Web “transaction”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track “state” of multi-step exchange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all HTTP requests are independent of each other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“recover” from a partially-completed-but-never-completely-completed transaction</a:t>
            </a:r>
          </a:p>
        </p:txBody>
      </p:sp>
      <p:sp>
        <p:nvSpPr>
          <p:cNvPr id="2" name="TextBox 1">
            <a:extLst>
              <a:ext uri="{FF2B5EF4-FFF2-40B4-BE49-F238E27FC236}">
                <a16:creationId xmlns:a16="http://schemas.microsoft.com/office/drawing/2014/main" id="{F81F961A-6387-0345-9591-6D8E9EDB9801}"/>
              </a:ext>
            </a:extLst>
          </p:cNvPr>
          <p:cNvSpPr txBox="1"/>
          <p:nvPr/>
        </p:nvSpPr>
        <p:spPr>
          <a:xfrm>
            <a:off x="7777183" y="1266045"/>
            <a:ext cx="3347349"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A3"/>
                </a:solidFill>
                <a:effectLst/>
                <a:uLnTx/>
                <a:uFillTx/>
                <a:latin typeface="Calibri"/>
                <a:ea typeface="+mn-ea"/>
                <a:cs typeface="+mn-cs"/>
              </a:rPr>
              <a:t>a stateful protocol: </a:t>
            </a:r>
            <a:r>
              <a:rPr kumimoji="0" lang="en-US" sz="1800" b="0" i="0" u="none" strike="noStrike" kern="1200" cap="none" spc="0" normalizeH="0" baseline="0" noProof="0" dirty="0">
                <a:ln>
                  <a:noFill/>
                </a:ln>
                <a:solidFill>
                  <a:prstClr val="black"/>
                </a:solidFill>
                <a:effectLst/>
                <a:uLnTx/>
                <a:uFillTx/>
                <a:latin typeface="Calibri"/>
                <a:ea typeface="+mn-ea"/>
                <a:cs typeface="+mn-cs"/>
              </a:rPr>
              <a:t>client makes two changes to X, or none at all</a:t>
            </a:r>
          </a:p>
        </p:txBody>
      </p:sp>
      <p:sp>
        <p:nvSpPr>
          <p:cNvPr id="14" name="Line 15">
            <a:extLst>
              <a:ext uri="{FF2B5EF4-FFF2-40B4-BE49-F238E27FC236}">
                <a16:creationId xmlns:a16="http://schemas.microsoft.com/office/drawing/2014/main" id="{E1896121-77D8-FD42-BC74-F51FD18D8659}"/>
              </a:ext>
            </a:extLst>
          </p:cNvPr>
          <p:cNvSpPr>
            <a:spLocks noChangeShapeType="1"/>
          </p:cNvSpPr>
          <p:nvPr/>
        </p:nvSpPr>
        <p:spPr bwMode="auto">
          <a:xfrm>
            <a:off x="8211743" y="2818375"/>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17" name="Line 16">
            <a:extLst>
              <a:ext uri="{FF2B5EF4-FFF2-40B4-BE49-F238E27FC236}">
                <a16:creationId xmlns:a16="http://schemas.microsoft.com/office/drawing/2014/main" id="{7668C468-5627-F641-A1D5-CCCD71D47636}"/>
              </a:ext>
            </a:extLst>
          </p:cNvPr>
          <p:cNvSpPr>
            <a:spLocks noChangeShapeType="1"/>
          </p:cNvSpPr>
          <p:nvPr/>
        </p:nvSpPr>
        <p:spPr bwMode="auto">
          <a:xfrm>
            <a:off x="9902430" y="2812025"/>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34" name="Text Box 37">
            <a:extLst>
              <a:ext uri="{FF2B5EF4-FFF2-40B4-BE49-F238E27FC236}">
                <a16:creationId xmlns:a16="http://schemas.microsoft.com/office/drawing/2014/main" id="{4D29A06D-1A18-BA46-8999-A8C319B0650D}"/>
              </a:ext>
            </a:extLst>
          </p:cNvPr>
          <p:cNvSpPr txBox="1">
            <a:spLocks noChangeArrowheads="1"/>
          </p:cNvSpPr>
          <p:nvPr/>
        </p:nvSpPr>
        <p:spPr bwMode="auto">
          <a:xfrm>
            <a:off x="7986318" y="5664762"/>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35" name="Text Box 38">
            <a:extLst>
              <a:ext uri="{FF2B5EF4-FFF2-40B4-BE49-F238E27FC236}">
                <a16:creationId xmlns:a16="http://schemas.microsoft.com/office/drawing/2014/main" id="{27466D26-729A-A04F-8FFC-34F73F8EF342}"/>
              </a:ext>
            </a:extLst>
          </p:cNvPr>
          <p:cNvSpPr txBox="1">
            <a:spLocks noChangeArrowheads="1"/>
          </p:cNvSpPr>
          <p:nvPr/>
        </p:nvSpPr>
        <p:spPr bwMode="auto">
          <a:xfrm>
            <a:off x="9664305" y="5647300"/>
            <a:ext cx="5196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a:ln>
                  <a:noFill/>
                </a:ln>
                <a:solidFill>
                  <a:prstClr val="white">
                    <a:lumMod val="65000"/>
                  </a:prstClr>
                </a:solidFill>
                <a:effectLst/>
                <a:uLnTx/>
                <a:uFillTx/>
                <a:latin typeface="Calibri"/>
                <a:ea typeface="ＭＳ Ｐゴシック" panose="020B0600070205080204" pitchFamily="34" charset="-128"/>
                <a:cs typeface="+mn-cs"/>
              </a:rPr>
              <a:t>time</a:t>
            </a:r>
          </a:p>
        </p:txBody>
      </p:sp>
      <p:grpSp>
        <p:nvGrpSpPr>
          <p:cNvPr id="36" name="Group 43">
            <a:extLst>
              <a:ext uri="{FF2B5EF4-FFF2-40B4-BE49-F238E27FC236}">
                <a16:creationId xmlns:a16="http://schemas.microsoft.com/office/drawing/2014/main" id="{FAE9785A-4169-E940-B94F-671A4AB9F406}"/>
              </a:ext>
            </a:extLst>
          </p:cNvPr>
          <p:cNvGrpSpPr>
            <a:grpSpLocks/>
          </p:cNvGrpSpPr>
          <p:nvPr/>
        </p:nvGrpSpPr>
        <p:grpSpPr bwMode="auto">
          <a:xfrm>
            <a:off x="9702405" y="2045262"/>
            <a:ext cx="423863" cy="684213"/>
            <a:chOff x="4140" y="429"/>
            <a:chExt cx="1425" cy="2396"/>
          </a:xfrm>
        </p:grpSpPr>
        <p:sp>
          <p:nvSpPr>
            <p:cNvPr id="37" name="Freeform 44">
              <a:extLst>
                <a:ext uri="{FF2B5EF4-FFF2-40B4-BE49-F238E27FC236}">
                  <a16:creationId xmlns:a16="http://schemas.microsoft.com/office/drawing/2014/main" id="{6CED6B20-429D-A742-A5A8-C560D22732C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38" name="Rectangle 45">
              <a:extLst>
                <a:ext uri="{FF2B5EF4-FFF2-40B4-BE49-F238E27FC236}">
                  <a16:creationId xmlns:a16="http://schemas.microsoft.com/office/drawing/2014/main" id="{3217673F-28F2-7F49-B23F-A3ED64A0570B}"/>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9" name="Freeform 46">
              <a:extLst>
                <a:ext uri="{FF2B5EF4-FFF2-40B4-BE49-F238E27FC236}">
                  <a16:creationId xmlns:a16="http://schemas.microsoft.com/office/drawing/2014/main" id="{2C8F4947-7476-8140-9308-A091DA1251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40" name="Freeform 47">
              <a:extLst>
                <a:ext uri="{FF2B5EF4-FFF2-40B4-BE49-F238E27FC236}">
                  <a16:creationId xmlns:a16="http://schemas.microsoft.com/office/drawing/2014/main" id="{C324215D-D2F8-D640-866A-AD06AEA388E7}"/>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41" name="Rectangle 48">
              <a:extLst>
                <a:ext uri="{FF2B5EF4-FFF2-40B4-BE49-F238E27FC236}">
                  <a16:creationId xmlns:a16="http://schemas.microsoft.com/office/drawing/2014/main" id="{AF16B93D-625D-BF47-B9C3-3122406F6C90}"/>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42" name="Group 49">
              <a:extLst>
                <a:ext uri="{FF2B5EF4-FFF2-40B4-BE49-F238E27FC236}">
                  <a16:creationId xmlns:a16="http://schemas.microsoft.com/office/drawing/2014/main" id="{E5823F1D-E46B-E542-BA9A-BE7B2ADB2B86}"/>
                </a:ext>
              </a:extLst>
            </p:cNvPr>
            <p:cNvGrpSpPr>
              <a:grpSpLocks/>
            </p:cNvGrpSpPr>
            <p:nvPr/>
          </p:nvGrpSpPr>
          <p:grpSpPr bwMode="auto">
            <a:xfrm>
              <a:off x="4749" y="668"/>
              <a:ext cx="581" cy="145"/>
              <a:chOff x="614" y="2568"/>
              <a:chExt cx="725" cy="139"/>
            </a:xfrm>
          </p:grpSpPr>
          <p:sp>
            <p:nvSpPr>
              <p:cNvPr id="67" name="AutoShape 50">
                <a:extLst>
                  <a:ext uri="{FF2B5EF4-FFF2-40B4-BE49-F238E27FC236}">
                    <a16:creationId xmlns:a16="http://schemas.microsoft.com/office/drawing/2014/main" id="{5EDFB4BA-9ECC-1D4B-9DE1-6892D81BDDEF}"/>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8" name="AutoShape 51">
                <a:extLst>
                  <a:ext uri="{FF2B5EF4-FFF2-40B4-BE49-F238E27FC236}">
                    <a16:creationId xmlns:a16="http://schemas.microsoft.com/office/drawing/2014/main" id="{322B0365-5AB5-FB41-8CFB-D0A89CDC6CD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43" name="Rectangle 52">
              <a:extLst>
                <a:ext uri="{FF2B5EF4-FFF2-40B4-BE49-F238E27FC236}">
                  <a16:creationId xmlns:a16="http://schemas.microsoft.com/office/drawing/2014/main" id="{29C26A51-8119-1C45-B765-0A6FDC420497}"/>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44" name="Group 53">
              <a:extLst>
                <a:ext uri="{FF2B5EF4-FFF2-40B4-BE49-F238E27FC236}">
                  <a16:creationId xmlns:a16="http://schemas.microsoft.com/office/drawing/2014/main" id="{A0E07450-02B5-944A-993E-ED4E720D6C10}"/>
                </a:ext>
              </a:extLst>
            </p:cNvPr>
            <p:cNvGrpSpPr>
              <a:grpSpLocks/>
            </p:cNvGrpSpPr>
            <p:nvPr/>
          </p:nvGrpSpPr>
          <p:grpSpPr bwMode="auto">
            <a:xfrm>
              <a:off x="4747" y="994"/>
              <a:ext cx="581" cy="134"/>
              <a:chOff x="614" y="2568"/>
              <a:chExt cx="725" cy="139"/>
            </a:xfrm>
          </p:grpSpPr>
          <p:sp>
            <p:nvSpPr>
              <p:cNvPr id="65" name="AutoShape 54">
                <a:extLst>
                  <a:ext uri="{FF2B5EF4-FFF2-40B4-BE49-F238E27FC236}">
                    <a16:creationId xmlns:a16="http://schemas.microsoft.com/office/drawing/2014/main" id="{B895EECE-8814-364B-ABEF-BDFDB5B6907F}"/>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6" name="AutoShape 55">
                <a:extLst>
                  <a:ext uri="{FF2B5EF4-FFF2-40B4-BE49-F238E27FC236}">
                    <a16:creationId xmlns:a16="http://schemas.microsoft.com/office/drawing/2014/main" id="{19862CEA-43CD-F949-9939-14C77DA0F5D1}"/>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45" name="Rectangle 56">
              <a:extLst>
                <a:ext uri="{FF2B5EF4-FFF2-40B4-BE49-F238E27FC236}">
                  <a16:creationId xmlns:a16="http://schemas.microsoft.com/office/drawing/2014/main" id="{AF3B098B-3C77-8047-942A-938B768ECD31}"/>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6" name="Rectangle 57">
              <a:extLst>
                <a:ext uri="{FF2B5EF4-FFF2-40B4-BE49-F238E27FC236}">
                  <a16:creationId xmlns:a16="http://schemas.microsoft.com/office/drawing/2014/main" id="{B55EF1A5-9C91-874D-A21C-9283813B9454}"/>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47" name="Group 58">
              <a:extLst>
                <a:ext uri="{FF2B5EF4-FFF2-40B4-BE49-F238E27FC236}">
                  <a16:creationId xmlns:a16="http://schemas.microsoft.com/office/drawing/2014/main" id="{4BE447F1-4065-604D-9C52-935316AF9073}"/>
                </a:ext>
              </a:extLst>
            </p:cNvPr>
            <p:cNvGrpSpPr>
              <a:grpSpLocks/>
            </p:cNvGrpSpPr>
            <p:nvPr/>
          </p:nvGrpSpPr>
          <p:grpSpPr bwMode="auto">
            <a:xfrm>
              <a:off x="4735" y="1627"/>
              <a:ext cx="582" cy="151"/>
              <a:chOff x="614" y="2568"/>
              <a:chExt cx="725" cy="139"/>
            </a:xfrm>
          </p:grpSpPr>
          <p:sp>
            <p:nvSpPr>
              <p:cNvPr id="63" name="AutoShape 59">
                <a:extLst>
                  <a:ext uri="{FF2B5EF4-FFF2-40B4-BE49-F238E27FC236}">
                    <a16:creationId xmlns:a16="http://schemas.microsoft.com/office/drawing/2014/main" id="{B6AF28E0-3DFD-B648-BA8B-C954368CED3E}"/>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4" name="AutoShape 60">
                <a:extLst>
                  <a:ext uri="{FF2B5EF4-FFF2-40B4-BE49-F238E27FC236}">
                    <a16:creationId xmlns:a16="http://schemas.microsoft.com/office/drawing/2014/main" id="{CD352178-7C9F-9247-ADEE-3A9C5EEDD12B}"/>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48" name="Freeform 61">
              <a:extLst>
                <a:ext uri="{FF2B5EF4-FFF2-40B4-BE49-F238E27FC236}">
                  <a16:creationId xmlns:a16="http://schemas.microsoft.com/office/drawing/2014/main" id="{167E2C73-34F7-5443-B80D-3E31BC266850}"/>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grpSp>
          <p:nvGrpSpPr>
            <p:cNvPr id="49" name="Group 62">
              <a:extLst>
                <a:ext uri="{FF2B5EF4-FFF2-40B4-BE49-F238E27FC236}">
                  <a16:creationId xmlns:a16="http://schemas.microsoft.com/office/drawing/2014/main" id="{FD3C1C1A-4BE2-8A4D-B7D1-6FE82CCD5E7C}"/>
                </a:ext>
              </a:extLst>
            </p:cNvPr>
            <p:cNvGrpSpPr>
              <a:grpSpLocks/>
            </p:cNvGrpSpPr>
            <p:nvPr/>
          </p:nvGrpSpPr>
          <p:grpSpPr bwMode="auto">
            <a:xfrm>
              <a:off x="4739" y="1327"/>
              <a:ext cx="582" cy="139"/>
              <a:chOff x="614" y="2568"/>
              <a:chExt cx="725" cy="139"/>
            </a:xfrm>
          </p:grpSpPr>
          <p:sp>
            <p:nvSpPr>
              <p:cNvPr id="61" name="AutoShape 63">
                <a:extLst>
                  <a:ext uri="{FF2B5EF4-FFF2-40B4-BE49-F238E27FC236}">
                    <a16:creationId xmlns:a16="http://schemas.microsoft.com/office/drawing/2014/main" id="{37F891D2-79F1-BA40-9E94-2CB7F92C3A86}"/>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2" name="AutoShape 64">
                <a:extLst>
                  <a:ext uri="{FF2B5EF4-FFF2-40B4-BE49-F238E27FC236}">
                    <a16:creationId xmlns:a16="http://schemas.microsoft.com/office/drawing/2014/main" id="{A6F14F93-50F0-1D44-A328-C58C4810E50F}"/>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50" name="Rectangle 65">
              <a:extLst>
                <a:ext uri="{FF2B5EF4-FFF2-40B4-BE49-F238E27FC236}">
                  <a16:creationId xmlns:a16="http://schemas.microsoft.com/office/drawing/2014/main" id="{002C4B61-E0A4-9947-A2B8-C5E4A183D58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1" name="Freeform 66">
              <a:extLst>
                <a:ext uri="{FF2B5EF4-FFF2-40B4-BE49-F238E27FC236}">
                  <a16:creationId xmlns:a16="http://schemas.microsoft.com/office/drawing/2014/main" id="{03750C04-4651-264E-A820-846CC991E1D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52" name="Freeform 67">
              <a:extLst>
                <a:ext uri="{FF2B5EF4-FFF2-40B4-BE49-F238E27FC236}">
                  <a16:creationId xmlns:a16="http://schemas.microsoft.com/office/drawing/2014/main" id="{8FAC3F30-F8EF-E042-AB16-84DEBD8CDD05}"/>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53" name="Oval 68">
              <a:extLst>
                <a:ext uri="{FF2B5EF4-FFF2-40B4-BE49-F238E27FC236}">
                  <a16:creationId xmlns:a16="http://schemas.microsoft.com/office/drawing/2014/main" id="{0AC7D83A-6568-AE4B-9387-52663F18F9CB}"/>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4" name="Freeform 69">
              <a:extLst>
                <a:ext uri="{FF2B5EF4-FFF2-40B4-BE49-F238E27FC236}">
                  <a16:creationId xmlns:a16="http://schemas.microsoft.com/office/drawing/2014/main" id="{1F36BF90-AD45-4E43-863B-F70935197C4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55" name="AutoShape 70">
              <a:extLst>
                <a:ext uri="{FF2B5EF4-FFF2-40B4-BE49-F238E27FC236}">
                  <a16:creationId xmlns:a16="http://schemas.microsoft.com/office/drawing/2014/main" id="{F5B54DD4-D0E2-AF41-9405-9DCDB2D7E8B8}"/>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6" name="AutoShape 71">
              <a:extLst>
                <a:ext uri="{FF2B5EF4-FFF2-40B4-BE49-F238E27FC236}">
                  <a16:creationId xmlns:a16="http://schemas.microsoft.com/office/drawing/2014/main" id="{23D73537-49F7-C342-B924-696A08B3BDD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7" name="Oval 72">
              <a:extLst>
                <a:ext uri="{FF2B5EF4-FFF2-40B4-BE49-F238E27FC236}">
                  <a16:creationId xmlns:a16="http://schemas.microsoft.com/office/drawing/2014/main" id="{BC45042D-B8F2-A44D-9D8F-FC3BBA5D975A}"/>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8" name="Oval 73">
              <a:extLst>
                <a:ext uri="{FF2B5EF4-FFF2-40B4-BE49-F238E27FC236}">
                  <a16:creationId xmlns:a16="http://schemas.microsoft.com/office/drawing/2014/main" id="{B9F22805-FC3E-6544-AABA-20E89AF95906}"/>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9" name="Oval 74">
              <a:extLst>
                <a:ext uri="{FF2B5EF4-FFF2-40B4-BE49-F238E27FC236}">
                  <a16:creationId xmlns:a16="http://schemas.microsoft.com/office/drawing/2014/main" id="{EB68854B-BAC2-D941-B3A2-A5819DC3E9EC}"/>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0" name="Rectangle 75">
              <a:extLst>
                <a:ext uri="{FF2B5EF4-FFF2-40B4-BE49-F238E27FC236}">
                  <a16:creationId xmlns:a16="http://schemas.microsoft.com/office/drawing/2014/main" id="{D02DEB6D-1661-D243-AA4D-D82ACE64AE4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grpSp>
        <p:nvGrpSpPr>
          <p:cNvPr id="69" name="Group 76">
            <a:extLst>
              <a:ext uri="{FF2B5EF4-FFF2-40B4-BE49-F238E27FC236}">
                <a16:creationId xmlns:a16="http://schemas.microsoft.com/office/drawing/2014/main" id="{DCF55C78-47F8-BB4D-B7DC-932793317724}"/>
              </a:ext>
            </a:extLst>
          </p:cNvPr>
          <p:cNvGrpSpPr>
            <a:grpSpLocks/>
          </p:cNvGrpSpPr>
          <p:nvPr/>
        </p:nvGrpSpPr>
        <p:grpSpPr bwMode="auto">
          <a:xfrm>
            <a:off x="7700568" y="2067487"/>
            <a:ext cx="698500" cy="709613"/>
            <a:chOff x="-44" y="1473"/>
            <a:chExt cx="981" cy="1105"/>
          </a:xfrm>
        </p:grpSpPr>
        <p:pic>
          <p:nvPicPr>
            <p:cNvPr id="70" name="Picture 77" descr="desktop_computer_stylized_medium">
              <a:extLst>
                <a:ext uri="{FF2B5EF4-FFF2-40B4-BE49-F238E27FC236}">
                  <a16:creationId xmlns:a16="http://schemas.microsoft.com/office/drawing/2014/main" id="{DA88C7F5-3379-274A-B44E-AF12E56C274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Freeform 78">
              <a:extLst>
                <a:ext uri="{FF2B5EF4-FFF2-40B4-BE49-F238E27FC236}">
                  <a16:creationId xmlns:a16="http://schemas.microsoft.com/office/drawing/2014/main" id="{FAA003F1-DCEB-8040-A71C-4C8DD7155DD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E2F7DE24-824D-8B4E-BB5F-5FEDF024EC8E}"/>
              </a:ext>
            </a:extLst>
          </p:cNvPr>
          <p:cNvGrpSpPr/>
          <p:nvPr/>
        </p:nvGrpSpPr>
        <p:grpSpPr>
          <a:xfrm>
            <a:off x="8211743" y="3942941"/>
            <a:ext cx="1673225" cy="337184"/>
            <a:chOff x="8211743" y="3942941"/>
            <a:chExt cx="1673225" cy="337184"/>
          </a:xfrm>
        </p:grpSpPr>
        <p:sp>
          <p:nvSpPr>
            <p:cNvPr id="77" name="Line 18">
              <a:extLst>
                <a:ext uri="{FF2B5EF4-FFF2-40B4-BE49-F238E27FC236}">
                  <a16:creationId xmlns:a16="http://schemas.microsoft.com/office/drawing/2014/main" id="{3D07B504-4294-484D-A15A-873F55BFA7A5}"/>
                </a:ext>
              </a:extLst>
            </p:cNvPr>
            <p:cNvSpPr>
              <a:spLocks noChangeShapeType="1"/>
            </p:cNvSpPr>
            <p:nvPr/>
          </p:nvSpPr>
          <p:spPr bwMode="auto">
            <a:xfrm flipH="1">
              <a:off x="8211743" y="3942941"/>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78" name="TextBox 77">
              <a:extLst>
                <a:ext uri="{FF2B5EF4-FFF2-40B4-BE49-F238E27FC236}">
                  <a16:creationId xmlns:a16="http://schemas.microsoft.com/office/drawing/2014/main" id="{DC44DF33-D418-CB41-BFC5-96705F979CCC}"/>
                </a:ext>
              </a:extLst>
            </p:cNvPr>
            <p:cNvSpPr txBox="1"/>
            <p:nvPr/>
          </p:nvSpPr>
          <p:spPr>
            <a:xfrm rot="21106037">
              <a:off x="9382305" y="3972348"/>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9C6582D8-E5C3-E94C-91FA-DD082657187F}"/>
              </a:ext>
            </a:extLst>
          </p:cNvPr>
          <p:cNvGrpSpPr/>
          <p:nvPr/>
        </p:nvGrpSpPr>
        <p:grpSpPr>
          <a:xfrm>
            <a:off x="8220565" y="4654247"/>
            <a:ext cx="1673225" cy="307777"/>
            <a:chOff x="8220565" y="4654247"/>
            <a:chExt cx="1673225" cy="307777"/>
          </a:xfrm>
        </p:grpSpPr>
        <p:sp>
          <p:nvSpPr>
            <p:cNvPr id="82" name="Line 18">
              <a:extLst>
                <a:ext uri="{FF2B5EF4-FFF2-40B4-BE49-F238E27FC236}">
                  <a16:creationId xmlns:a16="http://schemas.microsoft.com/office/drawing/2014/main" id="{4C9BF12C-724F-3C4B-9FC7-C0EB27409192}"/>
                </a:ext>
              </a:extLst>
            </p:cNvPr>
            <p:cNvSpPr>
              <a:spLocks noChangeShapeType="1"/>
            </p:cNvSpPr>
            <p:nvPr/>
          </p:nvSpPr>
          <p:spPr bwMode="auto">
            <a:xfrm flipH="1">
              <a:off x="8220565" y="465532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83" name="TextBox 82">
              <a:extLst>
                <a:ext uri="{FF2B5EF4-FFF2-40B4-BE49-F238E27FC236}">
                  <a16:creationId xmlns:a16="http://schemas.microsoft.com/office/drawing/2014/main" id="{DF7DB85B-1569-344D-AC0D-B969F2CD0B87}"/>
                </a:ext>
              </a:extLst>
            </p:cNvPr>
            <p:cNvSpPr txBox="1"/>
            <p:nvPr/>
          </p:nvSpPr>
          <p:spPr>
            <a:xfrm rot="21106037">
              <a:off x="9360647" y="465424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6AAF2513-9DD5-1A4B-B41D-1AFE8BDB247D}"/>
              </a:ext>
            </a:extLst>
          </p:cNvPr>
          <p:cNvGrpSpPr/>
          <p:nvPr/>
        </p:nvGrpSpPr>
        <p:grpSpPr>
          <a:xfrm>
            <a:off x="8226030" y="4881121"/>
            <a:ext cx="1684338" cy="344172"/>
            <a:chOff x="8226030" y="4881121"/>
            <a:chExt cx="1684338" cy="344172"/>
          </a:xfrm>
        </p:grpSpPr>
        <p:sp>
          <p:nvSpPr>
            <p:cNvPr id="86" name="Line 17">
              <a:extLst>
                <a:ext uri="{FF2B5EF4-FFF2-40B4-BE49-F238E27FC236}">
                  <a16:creationId xmlns:a16="http://schemas.microsoft.com/office/drawing/2014/main" id="{33143F67-A599-EE4C-988D-1E52584BCBD9}"/>
                </a:ext>
              </a:extLst>
            </p:cNvPr>
            <p:cNvSpPr>
              <a:spLocks noChangeShapeType="1"/>
            </p:cNvSpPr>
            <p:nvPr/>
          </p:nvSpPr>
          <p:spPr bwMode="auto">
            <a:xfrm>
              <a:off x="8226030" y="499071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88" name="TextBox 87">
              <a:extLst>
                <a:ext uri="{FF2B5EF4-FFF2-40B4-BE49-F238E27FC236}">
                  <a16:creationId xmlns:a16="http://schemas.microsoft.com/office/drawing/2014/main" id="{6F421034-4844-1843-9EDF-80D2D2191FFC}"/>
                </a:ext>
              </a:extLst>
            </p:cNvPr>
            <p:cNvSpPr txBox="1"/>
            <p:nvPr/>
          </p:nvSpPr>
          <p:spPr>
            <a:xfrm rot="460210">
              <a:off x="8601378" y="4881121"/>
              <a:ext cx="112698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unlock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grpSp>
        <p:nvGrpSpPr>
          <p:cNvPr id="129" name="Group 128">
            <a:extLst>
              <a:ext uri="{FF2B5EF4-FFF2-40B4-BE49-F238E27FC236}">
                <a16:creationId xmlns:a16="http://schemas.microsoft.com/office/drawing/2014/main" id="{02E6B42D-EC51-CD42-8E76-639F17FF9C82}"/>
              </a:ext>
            </a:extLst>
          </p:cNvPr>
          <p:cNvGrpSpPr/>
          <p:nvPr/>
        </p:nvGrpSpPr>
        <p:grpSpPr>
          <a:xfrm>
            <a:off x="8211743" y="5253900"/>
            <a:ext cx="1673225" cy="336684"/>
            <a:chOff x="8211743" y="5253900"/>
            <a:chExt cx="1673225" cy="336684"/>
          </a:xfrm>
        </p:grpSpPr>
        <p:sp>
          <p:nvSpPr>
            <p:cNvPr id="87" name="Line 18">
              <a:extLst>
                <a:ext uri="{FF2B5EF4-FFF2-40B4-BE49-F238E27FC236}">
                  <a16:creationId xmlns:a16="http://schemas.microsoft.com/office/drawing/2014/main" id="{981C6A97-493C-1541-8F46-FB6401EE6D04}"/>
                </a:ext>
              </a:extLst>
            </p:cNvPr>
            <p:cNvSpPr>
              <a:spLocks noChangeShapeType="1"/>
            </p:cNvSpPr>
            <p:nvPr/>
          </p:nvSpPr>
          <p:spPr bwMode="auto">
            <a:xfrm flipH="1">
              <a:off x="8211743" y="525390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89" name="TextBox 88">
              <a:extLst>
                <a:ext uri="{FF2B5EF4-FFF2-40B4-BE49-F238E27FC236}">
                  <a16:creationId xmlns:a16="http://schemas.microsoft.com/office/drawing/2014/main" id="{4E6BC057-143C-EA4C-9758-617A540239BE}"/>
                </a:ext>
              </a:extLst>
            </p:cNvPr>
            <p:cNvSpPr txBox="1"/>
            <p:nvPr/>
          </p:nvSpPr>
          <p:spPr>
            <a:xfrm rot="21106037">
              <a:off x="9373746" y="528280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812585BB-270F-6343-8338-140BA89C7E52}"/>
              </a:ext>
            </a:extLst>
          </p:cNvPr>
          <p:cNvGrpSpPr/>
          <p:nvPr/>
        </p:nvGrpSpPr>
        <p:grpSpPr>
          <a:xfrm>
            <a:off x="8226030" y="3575737"/>
            <a:ext cx="1696234" cy="338597"/>
            <a:chOff x="8226030" y="3575737"/>
            <a:chExt cx="1696234" cy="338597"/>
          </a:xfrm>
        </p:grpSpPr>
        <p:sp>
          <p:nvSpPr>
            <p:cNvPr id="76" name="Line 17">
              <a:extLst>
                <a:ext uri="{FF2B5EF4-FFF2-40B4-BE49-F238E27FC236}">
                  <a16:creationId xmlns:a16="http://schemas.microsoft.com/office/drawing/2014/main" id="{06976B72-BDF3-7C48-82E3-924EF74F53B8}"/>
                </a:ext>
              </a:extLst>
            </p:cNvPr>
            <p:cNvSpPr>
              <a:spLocks noChangeShapeType="1"/>
            </p:cNvSpPr>
            <p:nvPr/>
          </p:nvSpPr>
          <p:spPr bwMode="auto">
            <a:xfrm>
              <a:off x="8226030" y="3679752"/>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A7D38CDC-448B-6D46-8D67-92FCAC24452A}"/>
                </a:ext>
              </a:extLst>
            </p:cNvPr>
            <p:cNvSpPr txBox="1"/>
            <p:nvPr/>
          </p:nvSpPr>
          <p:spPr>
            <a:xfrm rot="460210">
              <a:off x="8589335" y="3575737"/>
              <a:ext cx="13329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2" name="Straight Arrow Connector 91">
              <a:extLst>
                <a:ext uri="{FF2B5EF4-FFF2-40B4-BE49-F238E27FC236}">
                  <a16:creationId xmlns:a16="http://schemas.microsoft.com/office/drawing/2014/main" id="{196C1467-1B22-FD48-8EA3-AAA9DBA798B4}"/>
                </a:ext>
              </a:extLst>
            </p:cNvPr>
            <p:cNvCxnSpPr>
              <a:cxnSpLocks/>
            </p:cNvCxnSpPr>
            <p:nvPr/>
          </p:nvCxnSpPr>
          <p:spPr>
            <a:xfrm flipH="1" flipV="1">
              <a:off x="9331367" y="3750644"/>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0BE549BD-AAEC-8444-851F-3374194952CD}"/>
              </a:ext>
            </a:extLst>
          </p:cNvPr>
          <p:cNvGrpSpPr/>
          <p:nvPr/>
        </p:nvGrpSpPr>
        <p:grpSpPr>
          <a:xfrm>
            <a:off x="8234852" y="4259764"/>
            <a:ext cx="1684338" cy="366949"/>
            <a:chOff x="8234852" y="4259764"/>
            <a:chExt cx="1684338" cy="366949"/>
          </a:xfrm>
        </p:grpSpPr>
        <p:sp>
          <p:nvSpPr>
            <p:cNvPr id="81" name="Line 17">
              <a:extLst>
                <a:ext uri="{FF2B5EF4-FFF2-40B4-BE49-F238E27FC236}">
                  <a16:creationId xmlns:a16="http://schemas.microsoft.com/office/drawing/2014/main" id="{BD9CD2B5-5BAD-F64E-ABCA-CBF632B90A4C}"/>
                </a:ext>
              </a:extLst>
            </p:cNvPr>
            <p:cNvSpPr>
              <a:spLocks noChangeShapeType="1"/>
            </p:cNvSpPr>
            <p:nvPr/>
          </p:nvSpPr>
          <p:spPr bwMode="auto">
            <a:xfrm>
              <a:off x="8234852" y="439213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84" name="TextBox 83">
              <a:extLst>
                <a:ext uri="{FF2B5EF4-FFF2-40B4-BE49-F238E27FC236}">
                  <a16:creationId xmlns:a16="http://schemas.microsoft.com/office/drawing/2014/main" id="{9C94E783-4022-4840-9168-04845DD3C6E1}"/>
                </a:ext>
              </a:extLst>
            </p:cNvPr>
            <p:cNvSpPr txBox="1"/>
            <p:nvPr/>
          </p:nvSpPr>
          <p:spPr>
            <a:xfrm rot="460210">
              <a:off x="8600615" y="4259764"/>
              <a:ext cx="12570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6" name="Straight Arrow Connector 95">
              <a:extLst>
                <a:ext uri="{FF2B5EF4-FFF2-40B4-BE49-F238E27FC236}">
                  <a16:creationId xmlns:a16="http://schemas.microsoft.com/office/drawing/2014/main" id="{E91273DD-2DB7-7D46-A38E-BB2C165693F5}"/>
                </a:ext>
              </a:extLst>
            </p:cNvPr>
            <p:cNvCxnSpPr>
              <a:cxnSpLocks/>
            </p:cNvCxnSpPr>
            <p:nvPr/>
          </p:nvCxnSpPr>
          <p:spPr>
            <a:xfrm flipH="1" flipV="1">
              <a:off x="9339955" y="4436145"/>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1" name="Group 120">
            <a:extLst>
              <a:ext uri="{FF2B5EF4-FFF2-40B4-BE49-F238E27FC236}">
                <a16:creationId xmlns:a16="http://schemas.microsoft.com/office/drawing/2014/main" id="{67AF7376-17A3-D741-91E5-0D8534607D08}"/>
              </a:ext>
            </a:extLst>
          </p:cNvPr>
          <p:cNvGrpSpPr/>
          <p:nvPr/>
        </p:nvGrpSpPr>
        <p:grpSpPr>
          <a:xfrm>
            <a:off x="8226030" y="2820539"/>
            <a:ext cx="1684338" cy="362594"/>
            <a:chOff x="8226030" y="2820539"/>
            <a:chExt cx="1684338" cy="362594"/>
          </a:xfrm>
        </p:grpSpPr>
        <p:sp>
          <p:nvSpPr>
            <p:cNvPr id="5" name="TextBox 4">
              <a:extLst>
                <a:ext uri="{FF2B5EF4-FFF2-40B4-BE49-F238E27FC236}">
                  <a16:creationId xmlns:a16="http://schemas.microsoft.com/office/drawing/2014/main" id="{0770E437-30BF-E34D-A36A-B1465B8979C1}"/>
                </a:ext>
              </a:extLst>
            </p:cNvPr>
            <p:cNvSpPr txBox="1"/>
            <p:nvPr/>
          </p:nvSpPr>
          <p:spPr>
            <a:xfrm rot="460210">
              <a:off x="8283881" y="2820539"/>
              <a:ext cx="1560697"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lock data record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sp>
          <p:nvSpPr>
            <p:cNvPr id="18" name="Line 17">
              <a:extLst>
                <a:ext uri="{FF2B5EF4-FFF2-40B4-BE49-F238E27FC236}">
                  <a16:creationId xmlns:a16="http://schemas.microsoft.com/office/drawing/2014/main" id="{226EF0C1-2237-8E46-AB56-8D689EE5CD53}"/>
                </a:ext>
              </a:extLst>
            </p:cNvPr>
            <p:cNvSpPr>
              <a:spLocks noChangeShapeType="1"/>
            </p:cNvSpPr>
            <p:nvPr/>
          </p:nvSpPr>
          <p:spPr bwMode="auto">
            <a:xfrm>
              <a:off x="8226030" y="294855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23" name="Group 122">
            <a:extLst>
              <a:ext uri="{FF2B5EF4-FFF2-40B4-BE49-F238E27FC236}">
                <a16:creationId xmlns:a16="http://schemas.microsoft.com/office/drawing/2014/main" id="{6D140EC4-5DA8-F040-BC23-C3A90A90AE49}"/>
              </a:ext>
            </a:extLst>
          </p:cNvPr>
          <p:cNvGrpSpPr/>
          <p:nvPr/>
        </p:nvGrpSpPr>
        <p:grpSpPr>
          <a:xfrm>
            <a:off x="8211743" y="3211740"/>
            <a:ext cx="1673225" cy="326272"/>
            <a:chOff x="8211743" y="3211740"/>
            <a:chExt cx="1673225" cy="326272"/>
          </a:xfrm>
        </p:grpSpPr>
        <p:sp>
          <p:nvSpPr>
            <p:cNvPr id="20" name="Line 18">
              <a:extLst>
                <a:ext uri="{FF2B5EF4-FFF2-40B4-BE49-F238E27FC236}">
                  <a16:creationId xmlns:a16="http://schemas.microsoft.com/office/drawing/2014/main" id="{C78912E7-84E1-824B-B855-60DAC36E529C}"/>
                </a:ext>
              </a:extLst>
            </p:cNvPr>
            <p:cNvSpPr>
              <a:spLocks noChangeShapeType="1"/>
            </p:cNvSpPr>
            <p:nvPr/>
          </p:nvSpPr>
          <p:spPr bwMode="auto">
            <a:xfrm flipH="1">
              <a:off x="8211743" y="321174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74" name="TextBox 73">
              <a:extLst>
                <a:ext uri="{FF2B5EF4-FFF2-40B4-BE49-F238E27FC236}">
                  <a16:creationId xmlns:a16="http://schemas.microsoft.com/office/drawing/2014/main" id="{839CDE70-7C81-BB40-B7E7-D376841A3505}"/>
                </a:ext>
              </a:extLst>
            </p:cNvPr>
            <p:cNvSpPr txBox="1"/>
            <p:nvPr/>
          </p:nvSpPr>
          <p:spPr>
            <a:xfrm rot="21106037">
              <a:off x="9368027" y="3230235"/>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3FE3FF41-4F60-4C4F-85AB-4CC4494FF63A}"/>
              </a:ext>
            </a:extLst>
          </p:cNvPr>
          <p:cNvGrpSpPr/>
          <p:nvPr/>
        </p:nvGrpSpPr>
        <p:grpSpPr>
          <a:xfrm>
            <a:off x="10136156" y="2957082"/>
            <a:ext cx="522425" cy="400110"/>
            <a:chOff x="10136156" y="2957082"/>
            <a:chExt cx="522425" cy="400110"/>
          </a:xfrm>
        </p:grpSpPr>
        <p:sp>
          <p:nvSpPr>
            <p:cNvPr id="91" name="AutoShape 327">
              <a:extLst>
                <a:ext uri="{FF2B5EF4-FFF2-40B4-BE49-F238E27FC236}">
                  <a16:creationId xmlns:a16="http://schemas.microsoft.com/office/drawing/2014/main" id="{819E3430-D00B-DE4A-BF76-DA4F707FA9D4}"/>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97" name="TextBox 96">
              <a:extLst>
                <a:ext uri="{FF2B5EF4-FFF2-40B4-BE49-F238E27FC236}">
                  <a16:creationId xmlns:a16="http://schemas.microsoft.com/office/drawing/2014/main" id="{9A7AE3A8-B4B7-5D45-9040-2EECD223536E}"/>
                </a:ext>
              </a:extLst>
            </p:cNvPr>
            <p:cNvSpPr txBox="1"/>
            <p:nvPr/>
          </p:nvSpPr>
          <p:spPr>
            <a:xfrm>
              <a:off x="10364121" y="3049415"/>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1" name="Picture 100">
              <a:extLst>
                <a:ext uri="{FF2B5EF4-FFF2-40B4-BE49-F238E27FC236}">
                  <a16:creationId xmlns:a16="http://schemas.microsoft.com/office/drawing/2014/main" id="{E64171ED-8243-0748-A18D-E9E66AB8CC64}"/>
                </a:ext>
              </a:extLst>
            </p:cNvPr>
            <p:cNvPicPr>
              <a:picLocks noChangeAspect="1"/>
            </p:cNvPicPr>
            <p:nvPr/>
          </p:nvPicPr>
          <p:blipFill>
            <a:blip r:embed="rId4"/>
            <a:stretch>
              <a:fillRect/>
            </a:stretch>
          </p:blipFill>
          <p:spPr>
            <a:xfrm>
              <a:off x="10136156" y="2995160"/>
              <a:ext cx="307778" cy="307778"/>
            </a:xfrm>
            <a:prstGeom prst="rect">
              <a:avLst/>
            </a:prstGeom>
          </p:spPr>
        </p:pic>
      </p:grpSp>
      <p:sp>
        <p:nvSpPr>
          <p:cNvPr id="102" name="AutoShape 327">
            <a:extLst>
              <a:ext uri="{FF2B5EF4-FFF2-40B4-BE49-F238E27FC236}">
                <a16:creationId xmlns:a16="http://schemas.microsoft.com/office/drawing/2014/main" id="{94D2C5FA-36D2-234A-8CDE-D9DE43DC6B37}"/>
              </a:ext>
            </a:extLst>
          </p:cNvPr>
          <p:cNvSpPr>
            <a:spLocks noChangeArrowheads="1"/>
          </p:cNvSpPr>
          <p:nvPr/>
        </p:nvSpPr>
        <p:spPr bwMode="auto">
          <a:xfrm>
            <a:off x="10157378" y="2195369"/>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3" name="TextBox 102">
            <a:extLst>
              <a:ext uri="{FF2B5EF4-FFF2-40B4-BE49-F238E27FC236}">
                <a16:creationId xmlns:a16="http://schemas.microsoft.com/office/drawing/2014/main" id="{0E67923B-2554-D94F-98BF-5970F66E0A80}"/>
              </a:ext>
            </a:extLst>
          </p:cNvPr>
          <p:cNvSpPr txBox="1"/>
          <p:nvPr/>
        </p:nvSpPr>
        <p:spPr>
          <a:xfrm>
            <a:off x="10383166" y="2287702"/>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nvGrpSpPr>
          <p:cNvPr id="106" name="Group 105">
            <a:extLst>
              <a:ext uri="{FF2B5EF4-FFF2-40B4-BE49-F238E27FC236}">
                <a16:creationId xmlns:a16="http://schemas.microsoft.com/office/drawing/2014/main" id="{2B5B74FE-39C8-5B43-9432-6DE5518154FD}"/>
              </a:ext>
            </a:extLst>
          </p:cNvPr>
          <p:cNvGrpSpPr/>
          <p:nvPr/>
        </p:nvGrpSpPr>
        <p:grpSpPr>
          <a:xfrm>
            <a:off x="10132163" y="3702128"/>
            <a:ext cx="592569" cy="400110"/>
            <a:chOff x="10136156" y="2957082"/>
            <a:chExt cx="592569" cy="400110"/>
          </a:xfrm>
        </p:grpSpPr>
        <p:sp>
          <p:nvSpPr>
            <p:cNvPr id="107" name="AutoShape 327">
              <a:extLst>
                <a:ext uri="{FF2B5EF4-FFF2-40B4-BE49-F238E27FC236}">
                  <a16:creationId xmlns:a16="http://schemas.microsoft.com/office/drawing/2014/main" id="{8B16F450-5DEA-8B45-B210-945CA6750CB0}"/>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8" name="TextBox 107">
              <a:extLst>
                <a:ext uri="{FF2B5EF4-FFF2-40B4-BE49-F238E27FC236}">
                  <a16:creationId xmlns:a16="http://schemas.microsoft.com/office/drawing/2014/main" id="{72167ECA-B9B2-4E40-82B0-9F43976F24FE}"/>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9" name="Picture 108">
              <a:extLst>
                <a:ext uri="{FF2B5EF4-FFF2-40B4-BE49-F238E27FC236}">
                  <a16:creationId xmlns:a16="http://schemas.microsoft.com/office/drawing/2014/main" id="{06DE726C-08C5-5346-B762-9B140BCB8885}"/>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0" name="Group 109">
            <a:extLst>
              <a:ext uri="{FF2B5EF4-FFF2-40B4-BE49-F238E27FC236}">
                <a16:creationId xmlns:a16="http://schemas.microsoft.com/office/drawing/2014/main" id="{6E55A0D6-71A5-1D45-8A52-331867F92A1A}"/>
              </a:ext>
            </a:extLst>
          </p:cNvPr>
          <p:cNvGrpSpPr/>
          <p:nvPr/>
        </p:nvGrpSpPr>
        <p:grpSpPr>
          <a:xfrm>
            <a:off x="10128170" y="4447174"/>
            <a:ext cx="592569" cy="400110"/>
            <a:chOff x="10136156" y="2957082"/>
            <a:chExt cx="592569" cy="400110"/>
          </a:xfrm>
        </p:grpSpPr>
        <p:sp>
          <p:nvSpPr>
            <p:cNvPr id="111" name="AutoShape 327">
              <a:extLst>
                <a:ext uri="{FF2B5EF4-FFF2-40B4-BE49-F238E27FC236}">
                  <a16:creationId xmlns:a16="http://schemas.microsoft.com/office/drawing/2014/main" id="{AD90F81E-B5AA-6341-8460-5E051080AABB}"/>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2" name="TextBox 111">
              <a:extLst>
                <a:ext uri="{FF2B5EF4-FFF2-40B4-BE49-F238E27FC236}">
                  <a16:creationId xmlns:a16="http://schemas.microsoft.com/office/drawing/2014/main" id="{C02956FF-BB8D-6149-9012-24692DD7049D}"/>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13" name="Picture 112">
              <a:extLst>
                <a:ext uri="{FF2B5EF4-FFF2-40B4-BE49-F238E27FC236}">
                  <a16:creationId xmlns:a16="http://schemas.microsoft.com/office/drawing/2014/main" id="{7E37BA2D-D932-D14B-9FD2-5FE1BA0B7217}"/>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4" name="Group 113">
            <a:extLst>
              <a:ext uri="{FF2B5EF4-FFF2-40B4-BE49-F238E27FC236}">
                <a16:creationId xmlns:a16="http://schemas.microsoft.com/office/drawing/2014/main" id="{CEB7CAB0-F376-054D-A184-1987E69E5578}"/>
              </a:ext>
            </a:extLst>
          </p:cNvPr>
          <p:cNvGrpSpPr/>
          <p:nvPr/>
        </p:nvGrpSpPr>
        <p:grpSpPr>
          <a:xfrm>
            <a:off x="10126354" y="5192220"/>
            <a:ext cx="726072" cy="400110"/>
            <a:chOff x="10138333" y="2957082"/>
            <a:chExt cx="726072" cy="400110"/>
          </a:xfrm>
        </p:grpSpPr>
        <p:sp>
          <p:nvSpPr>
            <p:cNvPr id="115" name="AutoShape 327">
              <a:extLst>
                <a:ext uri="{FF2B5EF4-FFF2-40B4-BE49-F238E27FC236}">
                  <a16:creationId xmlns:a16="http://schemas.microsoft.com/office/drawing/2014/main" id="{0D7E10F2-D009-F14B-82D2-F08AB22187D5}"/>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6" name="TextBox 115">
              <a:extLst>
                <a:ext uri="{FF2B5EF4-FFF2-40B4-BE49-F238E27FC236}">
                  <a16:creationId xmlns:a16="http://schemas.microsoft.com/office/drawing/2014/main" id="{87935EAA-1BE1-5D4A-BB6F-A7C69F071ADD}"/>
                </a:ext>
              </a:extLst>
            </p:cNvPr>
            <p:cNvSpPr txBox="1"/>
            <p:nvPr/>
          </p:nvSpPr>
          <p:spPr>
            <a:xfrm>
              <a:off x="10364121" y="3049415"/>
              <a:ext cx="50028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sp>
        <p:nvSpPr>
          <p:cNvPr id="118" name="TextBox 117">
            <a:extLst>
              <a:ext uri="{FF2B5EF4-FFF2-40B4-BE49-F238E27FC236}">
                <a16:creationId xmlns:a16="http://schemas.microsoft.com/office/drawing/2014/main" id="{6F306746-EF4C-B446-9F1D-1D85D8A99FAC}"/>
              </a:ext>
            </a:extLst>
          </p:cNvPr>
          <p:cNvSpPr txBox="1"/>
          <p:nvPr/>
        </p:nvSpPr>
        <p:spPr>
          <a:xfrm>
            <a:off x="7895870" y="4140346"/>
            <a:ext cx="41429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000A3"/>
                </a:solidFill>
                <a:effectLst/>
                <a:uLnTx/>
                <a:uFillTx/>
                <a:latin typeface="Calibri"/>
                <a:ea typeface="+mn-ea"/>
                <a:cs typeface="+mn-cs"/>
              </a:rPr>
              <a:t>t’</a:t>
            </a:r>
            <a:endParaRPr kumimoji="0" lang="en-US" sz="1600" b="0" i="1" u="none" strike="noStrike" kern="1200" cap="none" spc="0" normalizeH="0" baseline="0" noProof="0" dirty="0">
              <a:ln>
                <a:noFill/>
              </a:ln>
              <a:solidFill>
                <a:prstClr val="black"/>
              </a:solidFill>
              <a:effectLst/>
              <a:uLnTx/>
              <a:uFillTx/>
              <a:latin typeface="Calibri"/>
              <a:ea typeface="+mn-ea"/>
              <a:cs typeface="+mn-cs"/>
            </a:endParaRPr>
          </a:p>
        </p:txBody>
      </p:sp>
      <p:sp>
        <p:nvSpPr>
          <p:cNvPr id="119" name="TextBox 118">
            <a:extLst>
              <a:ext uri="{FF2B5EF4-FFF2-40B4-BE49-F238E27FC236}">
                <a16:creationId xmlns:a16="http://schemas.microsoft.com/office/drawing/2014/main" id="{80C0AC55-7635-2346-85C0-10B75BF4C445}"/>
              </a:ext>
            </a:extLst>
          </p:cNvPr>
          <p:cNvSpPr txBox="1"/>
          <p:nvPr/>
        </p:nvSpPr>
        <p:spPr>
          <a:xfrm>
            <a:off x="7384517" y="5969340"/>
            <a:ext cx="4115505"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C00000"/>
                </a:solidFill>
                <a:effectLst/>
                <a:uLnTx/>
                <a:uFillTx/>
                <a:latin typeface="Calibri"/>
                <a:ea typeface="+mn-ea"/>
                <a:cs typeface="+mn-cs"/>
              </a:rPr>
              <a:t>Q: </a:t>
            </a:r>
            <a:r>
              <a:rPr kumimoji="0" lang="en-US" sz="1600" b="0" i="0" u="none" strike="noStrike" kern="1200" cap="none" spc="0" normalizeH="0" baseline="0" noProof="0" dirty="0">
                <a:ln>
                  <a:noFill/>
                </a:ln>
                <a:solidFill>
                  <a:prstClr val="black"/>
                </a:solidFill>
                <a:effectLst/>
                <a:uLnTx/>
                <a:uFillTx/>
                <a:latin typeface="Calibri"/>
                <a:ea typeface="+mn-ea"/>
                <a:cs typeface="+mn-cs"/>
              </a:rPr>
              <a:t>what happens if network connection or client crashes at </a:t>
            </a:r>
            <a:r>
              <a:rPr kumimoji="0" lang="en-US" sz="1600" b="0" i="1" u="none" strike="noStrike" kern="1200" cap="none" spc="0" normalizeH="0" baseline="0" noProof="0" dirty="0">
                <a:ln>
                  <a:noFill/>
                </a:ln>
                <a:solidFill>
                  <a:prstClr val="black"/>
                </a:solidFill>
                <a:effectLst/>
                <a:uLnTx/>
                <a:uFillTx/>
                <a:latin typeface="Calibri"/>
                <a:ea typeface="+mn-ea"/>
                <a:cs typeface="+mn-cs"/>
              </a:rPr>
              <a:t>t’ </a:t>
            </a:r>
            <a:r>
              <a:rPr kumimoji="0" lang="en-US" sz="1600" b="0" i="0" u="none" strike="noStrike" kern="1200" cap="none" spc="0" normalizeH="0" baseline="0" noProof="0" dirty="0">
                <a:ln>
                  <a:noFill/>
                </a:ln>
                <a:solidFill>
                  <a:prstClr val="black"/>
                </a:solidFill>
                <a:effectLst/>
                <a:uLnTx/>
                <a:uFillTx/>
                <a:latin typeface="Calibri"/>
                <a:ea typeface="+mn-ea"/>
                <a:cs typeface="+mn-cs"/>
              </a:rPr>
              <a:t>?</a:t>
            </a:r>
          </a:p>
        </p:txBody>
      </p:sp>
      <p:sp>
        <p:nvSpPr>
          <p:cNvPr id="90" name="Slide Number Placeholder 2">
            <a:extLst>
              <a:ext uri="{FF2B5EF4-FFF2-40B4-BE49-F238E27FC236}">
                <a16:creationId xmlns:a16="http://schemas.microsoft.com/office/drawing/2014/main" id="{FF729FF4-43F7-A040-B78F-BE4EC8E9855E}"/>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34</a:t>
            </a:fld>
            <a:endParaRPr lang="en-US" dirty="0"/>
          </a:p>
        </p:txBody>
      </p:sp>
    </p:spTree>
    <p:extLst>
      <p:ext uri="{BB962C8B-B14F-4D97-AF65-F5344CB8AC3E}">
        <p14:creationId xmlns:p14="http://schemas.microsoft.com/office/powerpoint/2010/main" val="2645911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dissolve">
                                      <p:cBhvr>
                                        <p:cTn id="11" dur="500"/>
                                        <p:tgtEl>
                                          <p:spTgt spid="122"/>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23"/>
                                        </p:tgtEl>
                                        <p:attrNameLst>
                                          <p:attrName>style.visibility</p:attrName>
                                        </p:attrNameLst>
                                      </p:cBhvr>
                                      <p:to>
                                        <p:strVal val="visible"/>
                                      </p:to>
                                    </p:set>
                                    <p:animEffect transition="in" filter="wipe(right)">
                                      <p:cBhvr>
                                        <p:cTn id="15" dur="500"/>
                                        <p:tgtEl>
                                          <p:spTgt spid="12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30"/>
                                        </p:tgtEl>
                                        <p:attrNameLst>
                                          <p:attrName>style.visibility</p:attrName>
                                        </p:attrNameLst>
                                      </p:cBhvr>
                                      <p:to>
                                        <p:strVal val="visible"/>
                                      </p:to>
                                    </p:set>
                                    <p:animEffect transition="in" filter="wipe(left)">
                                      <p:cBhvr>
                                        <p:cTn id="20" dur="500"/>
                                        <p:tgtEl>
                                          <p:spTgt spid="130"/>
                                        </p:tgtEl>
                                      </p:cBhvr>
                                    </p:animEffect>
                                  </p:childTnLst>
                                </p:cTn>
                              </p:par>
                            </p:childTnLst>
                          </p:cTn>
                        </p:par>
                        <p:par>
                          <p:cTn id="21" fill="hold">
                            <p:stCondLst>
                              <p:cond delay="500"/>
                            </p:stCondLst>
                            <p:childTnLst>
                              <p:par>
                                <p:cTn id="22" presetID="9" presetClass="entr" presetSubtype="0" fill="hold" nodeType="afterEffect">
                                  <p:stCondLst>
                                    <p:cond delay="0"/>
                                  </p:stCondLst>
                                  <p:childTnLst>
                                    <p:set>
                                      <p:cBhvr>
                                        <p:cTn id="23" dur="1" fill="hold">
                                          <p:stCondLst>
                                            <p:cond delay="0"/>
                                          </p:stCondLst>
                                        </p:cTn>
                                        <p:tgtEl>
                                          <p:spTgt spid="106"/>
                                        </p:tgtEl>
                                        <p:attrNameLst>
                                          <p:attrName>style.visibility</p:attrName>
                                        </p:attrNameLst>
                                      </p:cBhvr>
                                      <p:to>
                                        <p:strVal val="visible"/>
                                      </p:to>
                                    </p:set>
                                    <p:animEffect transition="in" filter="dissolve">
                                      <p:cBhvr>
                                        <p:cTn id="24" dur="500"/>
                                        <p:tgtEl>
                                          <p:spTgt spid="106"/>
                                        </p:tgtEl>
                                      </p:cBhvr>
                                    </p:animEffect>
                                  </p:childTnLst>
                                </p:cTn>
                              </p:par>
                            </p:childTnLst>
                          </p:cTn>
                        </p:par>
                        <p:par>
                          <p:cTn id="25" fill="hold">
                            <p:stCondLst>
                              <p:cond delay="1000"/>
                            </p:stCondLst>
                            <p:childTnLst>
                              <p:par>
                                <p:cTn id="26" presetID="22" presetClass="entr" presetSubtype="2" fill="hold" nodeType="afterEffect">
                                  <p:stCondLst>
                                    <p:cond delay="0"/>
                                  </p:stCondLst>
                                  <p:childTnLst>
                                    <p:set>
                                      <p:cBhvr>
                                        <p:cTn id="27" dur="1" fill="hold">
                                          <p:stCondLst>
                                            <p:cond delay="0"/>
                                          </p:stCondLst>
                                        </p:cTn>
                                        <p:tgtEl>
                                          <p:spTgt spid="125"/>
                                        </p:tgtEl>
                                        <p:attrNameLst>
                                          <p:attrName>style.visibility</p:attrName>
                                        </p:attrNameLst>
                                      </p:cBhvr>
                                      <p:to>
                                        <p:strVal val="visible"/>
                                      </p:to>
                                    </p:set>
                                    <p:animEffect transition="in" filter="wipe(right)">
                                      <p:cBhvr>
                                        <p:cTn id="28" dur="500"/>
                                        <p:tgtEl>
                                          <p:spTgt spid="125"/>
                                        </p:tgtEl>
                                      </p:cBhvr>
                                    </p:animEffect>
                                  </p:childTnLst>
                                </p:cTn>
                              </p:par>
                            </p:childTnLst>
                          </p:cTn>
                        </p:par>
                        <p:par>
                          <p:cTn id="29" fill="hold">
                            <p:stCondLst>
                              <p:cond delay="1500"/>
                            </p:stCondLst>
                            <p:childTnLst>
                              <p:par>
                                <p:cTn id="30" presetID="22" presetClass="entr" presetSubtype="8" fill="hold" nodeType="afterEffect">
                                  <p:stCondLst>
                                    <p:cond delay="0"/>
                                  </p:stCondLst>
                                  <p:childTnLst>
                                    <p:set>
                                      <p:cBhvr>
                                        <p:cTn id="31" dur="1" fill="hold">
                                          <p:stCondLst>
                                            <p:cond delay="0"/>
                                          </p:stCondLst>
                                        </p:cTn>
                                        <p:tgtEl>
                                          <p:spTgt spid="131"/>
                                        </p:tgtEl>
                                        <p:attrNameLst>
                                          <p:attrName>style.visibility</p:attrName>
                                        </p:attrNameLst>
                                      </p:cBhvr>
                                      <p:to>
                                        <p:strVal val="visible"/>
                                      </p:to>
                                    </p:set>
                                    <p:animEffect transition="in" filter="wipe(left)">
                                      <p:cBhvr>
                                        <p:cTn id="32" dur="500"/>
                                        <p:tgtEl>
                                          <p:spTgt spid="131"/>
                                        </p:tgtEl>
                                      </p:cBhvr>
                                    </p:animEffect>
                                  </p:childTnLst>
                                </p:cTn>
                              </p:par>
                            </p:childTnLst>
                          </p:cTn>
                        </p:par>
                        <p:par>
                          <p:cTn id="33" fill="hold">
                            <p:stCondLst>
                              <p:cond delay="2000"/>
                            </p:stCondLst>
                            <p:childTnLst>
                              <p:par>
                                <p:cTn id="34" presetID="9" presetClass="entr" presetSubtype="0" fill="hold" nodeType="after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dissolve">
                                      <p:cBhvr>
                                        <p:cTn id="36" dur="500"/>
                                        <p:tgtEl>
                                          <p:spTgt spid="110"/>
                                        </p:tgtEl>
                                      </p:cBhvr>
                                    </p:animEffect>
                                  </p:childTnLst>
                                </p:cTn>
                              </p:par>
                            </p:childTnLst>
                          </p:cTn>
                        </p:par>
                        <p:par>
                          <p:cTn id="37" fill="hold">
                            <p:stCondLst>
                              <p:cond delay="2500"/>
                            </p:stCondLst>
                            <p:childTnLst>
                              <p:par>
                                <p:cTn id="38" presetID="22" presetClass="entr" presetSubtype="2" fill="hold" nodeType="afterEffect">
                                  <p:stCondLst>
                                    <p:cond delay="0"/>
                                  </p:stCondLst>
                                  <p:childTnLst>
                                    <p:set>
                                      <p:cBhvr>
                                        <p:cTn id="39" dur="1" fill="hold">
                                          <p:stCondLst>
                                            <p:cond delay="0"/>
                                          </p:stCondLst>
                                        </p:cTn>
                                        <p:tgtEl>
                                          <p:spTgt spid="127"/>
                                        </p:tgtEl>
                                        <p:attrNameLst>
                                          <p:attrName>style.visibility</p:attrName>
                                        </p:attrNameLst>
                                      </p:cBhvr>
                                      <p:to>
                                        <p:strVal val="visible"/>
                                      </p:to>
                                    </p:set>
                                    <p:animEffect transition="in" filter="wipe(right)">
                                      <p:cBhvr>
                                        <p:cTn id="40" dur="500"/>
                                        <p:tgtEl>
                                          <p:spTgt spid="127"/>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128"/>
                                        </p:tgtEl>
                                        <p:attrNameLst>
                                          <p:attrName>style.visibility</p:attrName>
                                        </p:attrNameLst>
                                      </p:cBhvr>
                                      <p:to>
                                        <p:strVal val="visible"/>
                                      </p:to>
                                    </p:set>
                                    <p:animEffect transition="in" filter="wipe(left)">
                                      <p:cBhvr>
                                        <p:cTn id="45" dur="500"/>
                                        <p:tgtEl>
                                          <p:spTgt spid="128"/>
                                        </p:tgtEl>
                                      </p:cBhvr>
                                    </p:animEffect>
                                  </p:childTnLst>
                                </p:cTn>
                              </p:par>
                            </p:childTnLst>
                          </p:cTn>
                        </p:par>
                        <p:par>
                          <p:cTn id="46" fill="hold">
                            <p:stCondLst>
                              <p:cond delay="500"/>
                            </p:stCondLst>
                            <p:childTnLst>
                              <p:par>
                                <p:cTn id="47" presetID="9" presetClass="entr" presetSubtype="0" fill="hold" nodeType="afterEffect">
                                  <p:stCondLst>
                                    <p:cond delay="0"/>
                                  </p:stCondLst>
                                  <p:childTnLst>
                                    <p:set>
                                      <p:cBhvr>
                                        <p:cTn id="48" dur="1" fill="hold">
                                          <p:stCondLst>
                                            <p:cond delay="0"/>
                                          </p:stCondLst>
                                        </p:cTn>
                                        <p:tgtEl>
                                          <p:spTgt spid="114"/>
                                        </p:tgtEl>
                                        <p:attrNameLst>
                                          <p:attrName>style.visibility</p:attrName>
                                        </p:attrNameLst>
                                      </p:cBhvr>
                                      <p:to>
                                        <p:strVal val="visible"/>
                                      </p:to>
                                    </p:set>
                                    <p:animEffect transition="in" filter="dissolve">
                                      <p:cBhvr>
                                        <p:cTn id="49" dur="500"/>
                                        <p:tgtEl>
                                          <p:spTgt spid="114"/>
                                        </p:tgtEl>
                                      </p:cBhvr>
                                    </p:animEffect>
                                  </p:childTnLst>
                                </p:cTn>
                              </p:par>
                            </p:childTnLst>
                          </p:cTn>
                        </p:par>
                        <p:par>
                          <p:cTn id="50" fill="hold">
                            <p:stCondLst>
                              <p:cond delay="1000"/>
                            </p:stCondLst>
                            <p:childTnLst>
                              <p:par>
                                <p:cTn id="51" presetID="22" presetClass="entr" presetSubtype="2" fill="hold" nodeType="afterEffect">
                                  <p:stCondLst>
                                    <p:cond delay="0"/>
                                  </p:stCondLst>
                                  <p:childTnLst>
                                    <p:set>
                                      <p:cBhvr>
                                        <p:cTn id="52" dur="1" fill="hold">
                                          <p:stCondLst>
                                            <p:cond delay="0"/>
                                          </p:stCondLst>
                                        </p:cTn>
                                        <p:tgtEl>
                                          <p:spTgt spid="129"/>
                                        </p:tgtEl>
                                        <p:attrNameLst>
                                          <p:attrName>style.visibility</p:attrName>
                                        </p:attrNameLst>
                                      </p:cBhvr>
                                      <p:to>
                                        <p:strVal val="visible"/>
                                      </p:to>
                                    </p:set>
                                    <p:animEffect transition="in" filter="wipe(right)">
                                      <p:cBhvr>
                                        <p:cTn id="53" dur="500"/>
                                        <p:tgtEl>
                                          <p:spTgt spid="129"/>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9"/>
                                        </p:tgtEl>
                                        <p:attrNameLst>
                                          <p:attrName>style.visibility</p:attrName>
                                        </p:attrNameLst>
                                      </p:cBhvr>
                                      <p:to>
                                        <p:strVal val="visible"/>
                                      </p:to>
                                    </p:set>
                                    <p:animEffect transition="in" filter="dissolve">
                                      <p:cBhvr>
                                        <p:cTn id="58" dur="500"/>
                                        <p:tgtEl>
                                          <p:spTgt spid="11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12">
                                            <p:txEl>
                                              <p:pRg st="2" end="2"/>
                                            </p:txEl>
                                          </p:spTgt>
                                        </p:tgtEl>
                                        <p:attrNameLst>
                                          <p:attrName>style.visibility</p:attrName>
                                        </p:attrNameLst>
                                      </p:cBhvr>
                                      <p:to>
                                        <p:strVal val="visible"/>
                                      </p:to>
                                    </p:set>
                                    <p:animEffect transition="in" filter="dissolve">
                                      <p:cBhvr>
                                        <p:cTn id="63" dur="500"/>
                                        <p:tgtEl>
                                          <p:spTgt spid="12">
                                            <p:txEl>
                                              <p:pRg st="2" end="2"/>
                                            </p:txEl>
                                          </p:spTgt>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12">
                                            <p:txEl>
                                              <p:pRg st="3" end="3"/>
                                            </p:txEl>
                                          </p:spTgt>
                                        </p:tgtEl>
                                        <p:attrNameLst>
                                          <p:attrName>style.visibility</p:attrName>
                                        </p:attrNameLst>
                                      </p:cBhvr>
                                      <p:to>
                                        <p:strVal val="visible"/>
                                      </p:to>
                                    </p:set>
                                    <p:animEffect transition="in" filter="dissolve">
                                      <p:cBhvr>
                                        <p:cTn id="68" dur="500"/>
                                        <p:tgtEl>
                                          <p:spTgt spid="12">
                                            <p:txEl>
                                              <p:pRg st="3" end="3"/>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9" presetClass="entr" presetSubtype="0" fill="hold" nodeType="clickEffect">
                                  <p:stCondLst>
                                    <p:cond delay="0"/>
                                  </p:stCondLst>
                                  <p:childTnLst>
                                    <p:set>
                                      <p:cBhvr>
                                        <p:cTn id="72" dur="1" fill="hold">
                                          <p:stCondLst>
                                            <p:cond delay="0"/>
                                          </p:stCondLst>
                                        </p:cTn>
                                        <p:tgtEl>
                                          <p:spTgt spid="12">
                                            <p:txEl>
                                              <p:pRg st="4" end="4"/>
                                            </p:txEl>
                                          </p:spTgt>
                                        </p:tgtEl>
                                        <p:attrNameLst>
                                          <p:attrName>style.visibility</p:attrName>
                                        </p:attrNameLst>
                                      </p:cBhvr>
                                      <p:to>
                                        <p:strVal val="visible"/>
                                      </p:to>
                                    </p:set>
                                    <p:animEffect transition="in" filter="dissolve">
                                      <p:cBhvr>
                                        <p:cTn id="73" dur="500"/>
                                        <p:tgtEl>
                                          <p:spTgt spid="1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3" name="Rectangle 3">
            <a:extLst>
              <a:ext uri="{FF2B5EF4-FFF2-40B4-BE49-F238E27FC236}">
                <a16:creationId xmlns:a16="http://schemas.microsoft.com/office/drawing/2014/main" id="{044314F4-5E29-A342-9469-ED1D194C2BEE}"/>
              </a:ext>
            </a:extLst>
          </p:cNvPr>
          <p:cNvSpPr txBox="1">
            <a:spLocks noChangeArrowheads="1"/>
          </p:cNvSpPr>
          <p:nvPr/>
        </p:nvSpPr>
        <p:spPr>
          <a:xfrm>
            <a:off x="622608" y="1452389"/>
            <a:ext cx="6335547" cy="488791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sites and client browser  use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cookies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to maintain some state between transactions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four components: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cookie header line of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cookie header line in next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cookie file kept on user</a:t>
            </a:r>
            <a:r>
              <a:rPr kumimoji="0" lang="ja-JP"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host, managed by user</a:t>
            </a:r>
            <a:r>
              <a:rPr kumimoji="0" lang="ja-JP"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browser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 back-end database at Web site</a:t>
            </a:r>
          </a:p>
        </p:txBody>
      </p:sp>
      <p:sp>
        <p:nvSpPr>
          <p:cNvPr id="94" name="Rectangle 4">
            <a:extLst>
              <a:ext uri="{FF2B5EF4-FFF2-40B4-BE49-F238E27FC236}">
                <a16:creationId xmlns:a16="http://schemas.microsoft.com/office/drawing/2014/main" id="{26408C84-4366-9C43-B55D-97AC8C9FA33A}"/>
              </a:ext>
            </a:extLst>
          </p:cNvPr>
          <p:cNvSpPr txBox="1">
            <a:spLocks noChangeArrowheads="1"/>
          </p:cNvSpPr>
          <p:nvPr/>
        </p:nvSpPr>
        <p:spPr>
          <a:xfrm>
            <a:off x="7599363" y="1452389"/>
            <a:ext cx="4363453" cy="502573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111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A3"/>
                </a:solidFill>
                <a:effectLst/>
                <a:uLnTx/>
                <a:uFillTx/>
                <a:latin typeface="Calibri"/>
                <a:ea typeface="+mn-ea"/>
                <a:cs typeface="+mn-cs"/>
              </a:rPr>
              <a:t>Example: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Susan uses browser on laptop, visits specific e-commerce site for first time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when initial HTTP requests arrives at site, site creates: </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unique ID (aka “cookie”)</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entry in backend database for ID</a:t>
            </a:r>
          </a:p>
          <a:p>
            <a:pPr marL="342900" marR="0" lvl="0" indent="-228600" algn="l" defTabSz="914400" rtl="0" eaLnBrk="1" fontAlgn="auto" latinLnBrk="0" hangingPunct="1">
              <a:lnSpc>
                <a:spcPct val="90000"/>
              </a:lnSpc>
              <a:spcBef>
                <a:spcPts val="600"/>
              </a:spcBef>
              <a:spcAft>
                <a:spcPts val="0"/>
              </a:spcAft>
              <a:buClr>
                <a:srgbClr val="0000A3"/>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subsequent HTTP requests from Susan to this site will contain cookie ID value, allowing site to “identify” Susan</a:t>
            </a:r>
          </a:p>
        </p:txBody>
      </p:sp>
      <p:sp>
        <p:nvSpPr>
          <p:cNvPr id="5" name="Slide Number Placeholder 2">
            <a:extLst>
              <a:ext uri="{FF2B5EF4-FFF2-40B4-BE49-F238E27FC236}">
                <a16:creationId xmlns:a16="http://schemas.microsoft.com/office/drawing/2014/main" id="{A52BCA24-99F8-C342-B95E-EB6833D8CAE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35</a:t>
            </a:fld>
            <a:endParaRPr lang="en-US" dirty="0"/>
          </a:p>
        </p:txBody>
      </p:sp>
    </p:spTree>
    <p:extLst>
      <p:ext uri="{BB962C8B-B14F-4D97-AF65-F5344CB8AC3E}">
        <p14:creationId xmlns:p14="http://schemas.microsoft.com/office/powerpoint/2010/main" val="147584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3">
                                            <p:txEl>
                                              <p:pRg st="2" end="2"/>
                                            </p:txEl>
                                          </p:spTgt>
                                        </p:tgtEl>
                                        <p:attrNameLst>
                                          <p:attrName>style.visibility</p:attrName>
                                        </p:attrNameLst>
                                      </p:cBhvr>
                                      <p:to>
                                        <p:strVal val="visible"/>
                                      </p:to>
                                    </p:set>
                                    <p:animEffect transition="in" filter="dissolve">
                                      <p:cBhvr>
                                        <p:cTn id="7" dur="500"/>
                                        <p:tgtEl>
                                          <p:spTgt spid="93">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93">
                                            <p:txEl>
                                              <p:pRg st="3" end="3"/>
                                            </p:txEl>
                                          </p:spTgt>
                                        </p:tgtEl>
                                        <p:attrNameLst>
                                          <p:attrName>style.visibility</p:attrName>
                                        </p:attrNameLst>
                                      </p:cBhvr>
                                      <p:to>
                                        <p:strVal val="visible"/>
                                      </p:to>
                                    </p:set>
                                    <p:animEffect transition="in" filter="dissolve">
                                      <p:cBhvr>
                                        <p:cTn id="12" dur="500"/>
                                        <p:tgtEl>
                                          <p:spTgt spid="93">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93">
                                            <p:txEl>
                                              <p:pRg st="4" end="4"/>
                                            </p:txEl>
                                          </p:spTgt>
                                        </p:tgtEl>
                                        <p:attrNameLst>
                                          <p:attrName>style.visibility</p:attrName>
                                        </p:attrNameLst>
                                      </p:cBhvr>
                                      <p:to>
                                        <p:strVal val="visible"/>
                                      </p:to>
                                    </p:set>
                                    <p:animEffect transition="in" filter="dissolve">
                                      <p:cBhvr>
                                        <p:cTn id="17" dur="500"/>
                                        <p:tgtEl>
                                          <p:spTgt spid="93">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93">
                                            <p:txEl>
                                              <p:pRg st="5" end="5"/>
                                            </p:txEl>
                                          </p:spTgt>
                                        </p:tgtEl>
                                        <p:attrNameLst>
                                          <p:attrName>style.visibility</p:attrName>
                                        </p:attrNameLst>
                                      </p:cBhvr>
                                      <p:to>
                                        <p:strVal val="visible"/>
                                      </p:to>
                                    </p:set>
                                    <p:animEffect transition="in" filter="dissolve">
                                      <p:cBhvr>
                                        <p:cTn id="22" dur="500"/>
                                        <p:tgtEl>
                                          <p:spTgt spid="93">
                                            <p:txEl>
                                              <p:pRg st="5" end="5"/>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94"/>
                                        </p:tgtEl>
                                        <p:attrNameLst>
                                          <p:attrName>style.visibility</p:attrName>
                                        </p:attrNameLst>
                                      </p:cBhvr>
                                      <p:to>
                                        <p:strVal val="visible"/>
                                      </p:to>
                                    </p:set>
                                    <p:animEffect transition="in" filter="dissolve">
                                      <p:cBhvr>
                                        <p:cTn id="27"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6" name="Text Box 5">
            <a:extLst>
              <a:ext uri="{FF2B5EF4-FFF2-40B4-BE49-F238E27FC236}">
                <a16:creationId xmlns:a16="http://schemas.microsoft.com/office/drawing/2014/main" id="{BDD58876-57D5-6242-A5A0-1F4F57BBD486}"/>
              </a:ext>
            </a:extLst>
          </p:cNvPr>
          <p:cNvSpPr txBox="1">
            <a:spLocks noChangeArrowheads="1"/>
          </p:cNvSpPr>
          <p:nvPr/>
        </p:nvSpPr>
        <p:spPr bwMode="auto">
          <a:xfrm>
            <a:off x="2092674" y="1266659"/>
            <a:ext cx="8739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97" name="Text Box 6">
            <a:extLst>
              <a:ext uri="{FF2B5EF4-FFF2-40B4-BE49-F238E27FC236}">
                <a16:creationId xmlns:a16="http://schemas.microsoft.com/office/drawing/2014/main" id="{2C7DB634-32FD-8242-867E-9B9E0867E967}"/>
              </a:ext>
            </a:extLst>
          </p:cNvPr>
          <p:cNvSpPr txBox="1">
            <a:spLocks noChangeArrowheads="1"/>
          </p:cNvSpPr>
          <p:nvPr/>
        </p:nvSpPr>
        <p:spPr bwMode="auto">
          <a:xfrm>
            <a:off x="7072999" y="1555531"/>
            <a:ext cx="9669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98" name="Group 90">
            <a:extLst>
              <a:ext uri="{FF2B5EF4-FFF2-40B4-BE49-F238E27FC236}">
                <a16:creationId xmlns:a16="http://schemas.microsoft.com/office/drawing/2014/main" id="{94011BFB-FD4F-E449-8218-8F0FBC795682}"/>
              </a:ext>
            </a:extLst>
          </p:cNvPr>
          <p:cNvGrpSpPr>
            <a:grpSpLocks/>
          </p:cNvGrpSpPr>
          <p:nvPr/>
        </p:nvGrpSpPr>
        <p:grpSpPr bwMode="auto">
          <a:xfrm>
            <a:off x="2996806" y="4057653"/>
            <a:ext cx="3873500" cy="458788"/>
            <a:chOff x="1414" y="2657"/>
            <a:chExt cx="2440" cy="289"/>
          </a:xfrm>
        </p:grpSpPr>
        <p:sp>
          <p:nvSpPr>
            <p:cNvPr id="99" name="Line 16">
              <a:extLst>
                <a:ext uri="{FF2B5EF4-FFF2-40B4-BE49-F238E27FC236}">
                  <a16:creationId xmlns:a16="http://schemas.microsoft.com/office/drawing/2014/main" id="{88BDB1BC-CF22-D740-8FD0-3286D32A2A6C}"/>
                </a:ext>
              </a:extLst>
            </p:cNvPr>
            <p:cNvSpPr>
              <a:spLocks noChangeShapeType="1"/>
            </p:cNvSpPr>
            <p:nvPr/>
          </p:nvSpPr>
          <p:spPr bwMode="auto">
            <a:xfrm flipH="1">
              <a:off x="1414" y="2657"/>
              <a:ext cx="2440" cy="249"/>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00" name="Group 17">
              <a:extLst>
                <a:ext uri="{FF2B5EF4-FFF2-40B4-BE49-F238E27FC236}">
                  <a16:creationId xmlns:a16="http://schemas.microsoft.com/office/drawing/2014/main" id="{1663D802-36E9-1C4C-BFE3-BD3D0033505C}"/>
                </a:ext>
              </a:extLst>
            </p:cNvPr>
            <p:cNvGrpSpPr>
              <a:grpSpLocks/>
            </p:cNvGrpSpPr>
            <p:nvPr/>
          </p:nvGrpSpPr>
          <p:grpSpPr bwMode="auto">
            <a:xfrm>
              <a:off x="1553" y="2694"/>
              <a:ext cx="1897" cy="252"/>
              <a:chOff x="3268" y="2846"/>
              <a:chExt cx="1897" cy="252"/>
            </a:xfrm>
          </p:grpSpPr>
          <p:sp>
            <p:nvSpPr>
              <p:cNvPr id="101" name="Rectangle 18">
                <a:extLst>
                  <a:ext uri="{FF2B5EF4-FFF2-40B4-BE49-F238E27FC236}">
                    <a16:creationId xmlns:a16="http://schemas.microsoft.com/office/drawing/2014/main" id="{F3795387-184E-6040-B5E5-4A94444CF86C}"/>
                  </a:ext>
                </a:extLst>
              </p:cNvPr>
              <p:cNvSpPr>
                <a:spLocks noChangeArrowheads="1"/>
              </p:cNvSpPr>
              <p:nvPr/>
            </p:nvSpPr>
            <p:spPr bwMode="auto">
              <a:xfrm>
                <a:off x="3282" y="2856"/>
                <a:ext cx="1692" cy="198"/>
              </a:xfrm>
              <a:prstGeom prst="rect">
                <a:avLst/>
              </a:prstGeom>
              <a:solidFill>
                <a:srgbClr val="FFFFFF"/>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02" name="Text Box 19">
                <a:extLst>
                  <a:ext uri="{FF2B5EF4-FFF2-40B4-BE49-F238E27FC236}">
                    <a16:creationId xmlns:a16="http://schemas.microsoft.com/office/drawing/2014/main" id="{1E8E6531-8FF1-1C40-8C70-630F4E1475AD}"/>
                  </a:ext>
                </a:extLst>
              </p:cNvPr>
              <p:cNvSpPr txBox="1">
                <a:spLocks noChangeArrowheads="1"/>
              </p:cNvSpPr>
              <p:nvPr/>
            </p:nvSpPr>
            <p:spPr bwMode="auto">
              <a:xfrm>
                <a:off x="3268" y="2846"/>
                <a:ext cx="1897"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grpSp>
        <p:nvGrpSpPr>
          <p:cNvPr id="103" name="Group 94">
            <a:extLst>
              <a:ext uri="{FF2B5EF4-FFF2-40B4-BE49-F238E27FC236}">
                <a16:creationId xmlns:a16="http://schemas.microsoft.com/office/drawing/2014/main" id="{A02DFDF0-ACF5-0944-BB01-BEA857B2408F}"/>
              </a:ext>
            </a:extLst>
          </p:cNvPr>
          <p:cNvGrpSpPr>
            <a:grpSpLocks/>
          </p:cNvGrpSpPr>
          <p:nvPr/>
        </p:nvGrpSpPr>
        <p:grpSpPr bwMode="auto">
          <a:xfrm>
            <a:off x="3002432" y="5867498"/>
            <a:ext cx="3859213" cy="463549"/>
            <a:chOff x="1392" y="3579"/>
            <a:chExt cx="2431" cy="292"/>
          </a:xfrm>
        </p:grpSpPr>
        <p:sp>
          <p:nvSpPr>
            <p:cNvPr id="104" name="Line 24">
              <a:extLst>
                <a:ext uri="{FF2B5EF4-FFF2-40B4-BE49-F238E27FC236}">
                  <a16:creationId xmlns:a16="http://schemas.microsoft.com/office/drawing/2014/main" id="{EEB16C5E-89E3-9248-A0E9-068D3F51C40E}"/>
                </a:ext>
              </a:extLst>
            </p:cNvPr>
            <p:cNvSpPr>
              <a:spLocks noChangeShapeType="1"/>
            </p:cNvSpPr>
            <p:nvPr/>
          </p:nvSpPr>
          <p:spPr bwMode="auto">
            <a:xfrm flipH="1">
              <a:off x="1392" y="3579"/>
              <a:ext cx="2431" cy="266"/>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07" name="Text Box 27">
              <a:extLst>
                <a:ext uri="{FF2B5EF4-FFF2-40B4-BE49-F238E27FC236}">
                  <a16:creationId xmlns:a16="http://schemas.microsoft.com/office/drawing/2014/main" id="{474B7C25-022E-B449-BFB7-79520686A1C4}"/>
                </a:ext>
              </a:extLst>
            </p:cNvPr>
            <p:cNvSpPr txBox="1">
              <a:spLocks noChangeArrowheads="1"/>
            </p:cNvSpPr>
            <p:nvPr/>
          </p:nvSpPr>
          <p:spPr bwMode="auto">
            <a:xfrm>
              <a:off x="1598" y="3619"/>
              <a:ext cx="1852"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08" name="Text Box 59">
            <a:extLst>
              <a:ext uri="{FF2B5EF4-FFF2-40B4-BE49-F238E27FC236}">
                <a16:creationId xmlns:a16="http://schemas.microsoft.com/office/drawing/2014/main" id="{8FCE1392-BEBB-7649-A72C-5DBA317615AC}"/>
              </a:ext>
            </a:extLst>
          </p:cNvPr>
          <p:cNvSpPr txBox="1">
            <a:spLocks noChangeArrowheads="1"/>
          </p:cNvSpPr>
          <p:nvPr/>
        </p:nvSpPr>
        <p:spPr bwMode="auto">
          <a:xfrm>
            <a:off x="1733156" y="2293935"/>
            <a:ext cx="17875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rPr>
              <a:t>cookie file</a:t>
            </a:r>
          </a:p>
        </p:txBody>
      </p:sp>
      <p:sp>
        <p:nvSpPr>
          <p:cNvPr id="109" name="Text Box 66">
            <a:extLst>
              <a:ext uri="{FF2B5EF4-FFF2-40B4-BE49-F238E27FC236}">
                <a16:creationId xmlns:a16="http://schemas.microsoft.com/office/drawing/2014/main" id="{0A6A1E02-F6BE-5D46-AD20-D1F7027FB454}"/>
              </a:ext>
            </a:extLst>
          </p:cNvPr>
          <p:cNvSpPr txBox="1">
            <a:spLocks noChangeArrowheads="1"/>
          </p:cNvSpPr>
          <p:nvPr/>
        </p:nvSpPr>
        <p:spPr bwMode="auto">
          <a:xfrm>
            <a:off x="1550772" y="4672055"/>
            <a:ext cx="18101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one week later:</a:t>
            </a:r>
          </a:p>
        </p:txBody>
      </p:sp>
      <p:grpSp>
        <p:nvGrpSpPr>
          <p:cNvPr id="110" name="Group 89">
            <a:extLst>
              <a:ext uri="{FF2B5EF4-FFF2-40B4-BE49-F238E27FC236}">
                <a16:creationId xmlns:a16="http://schemas.microsoft.com/office/drawing/2014/main" id="{40D8E44C-8C6C-D542-9BE7-10406B51CDF5}"/>
              </a:ext>
            </a:extLst>
          </p:cNvPr>
          <p:cNvGrpSpPr>
            <a:grpSpLocks/>
          </p:cNvGrpSpPr>
          <p:nvPr/>
        </p:nvGrpSpPr>
        <p:grpSpPr bwMode="auto">
          <a:xfrm>
            <a:off x="2998327" y="3429000"/>
            <a:ext cx="6777024" cy="1128713"/>
            <a:chOff x="1411" y="2261"/>
            <a:chExt cx="3533" cy="711"/>
          </a:xfrm>
        </p:grpSpPr>
        <p:sp>
          <p:nvSpPr>
            <p:cNvPr id="111" name="Line 12">
              <a:extLst>
                <a:ext uri="{FF2B5EF4-FFF2-40B4-BE49-F238E27FC236}">
                  <a16:creationId xmlns:a16="http://schemas.microsoft.com/office/drawing/2014/main" id="{153DBCD9-AEFE-0D4C-84B4-A29E1AAACC2D}"/>
                </a:ext>
              </a:extLst>
            </p:cNvPr>
            <p:cNvSpPr>
              <a:spLocks noChangeShapeType="1"/>
            </p:cNvSpPr>
            <p:nvPr/>
          </p:nvSpPr>
          <p:spPr bwMode="auto">
            <a:xfrm>
              <a:off x="1411" y="2361"/>
              <a:ext cx="2016"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12" name="Text Box 15">
              <a:extLst>
                <a:ext uri="{FF2B5EF4-FFF2-40B4-BE49-F238E27FC236}">
                  <a16:creationId xmlns:a16="http://schemas.microsoft.com/office/drawing/2014/main" id="{B4EE3ACA-27BC-0046-99A0-E10CEAF86486}"/>
                </a:ext>
              </a:extLst>
            </p:cNvPr>
            <p:cNvSpPr txBox="1">
              <a:spLocks noChangeArrowheads="1"/>
            </p:cNvSpPr>
            <p:nvPr/>
          </p:nvSpPr>
          <p:spPr bwMode="auto">
            <a:xfrm>
              <a:off x="1548" y="2261"/>
              <a:ext cx="1689" cy="404"/>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13" name="Text Box 28">
              <a:extLst>
                <a:ext uri="{FF2B5EF4-FFF2-40B4-BE49-F238E27FC236}">
                  <a16:creationId xmlns:a16="http://schemas.microsoft.com/office/drawing/2014/main" id="{E0C8E058-016B-9643-8EC4-38404A2A2EE1}"/>
                </a:ext>
              </a:extLst>
            </p:cNvPr>
            <p:cNvSpPr txBox="1">
              <a:spLocks noChangeArrowheads="1"/>
            </p:cNvSpPr>
            <p:nvPr/>
          </p:nvSpPr>
          <p:spPr bwMode="auto">
            <a:xfrm>
              <a:off x="3549" y="233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14" name="Line 42">
              <a:extLst>
                <a:ext uri="{FF2B5EF4-FFF2-40B4-BE49-F238E27FC236}">
                  <a16:creationId xmlns:a16="http://schemas.microsoft.com/office/drawing/2014/main" id="{AEE1E959-6738-514B-BC11-A0C6268B0814}"/>
                </a:ext>
              </a:extLst>
            </p:cNvPr>
            <p:cNvSpPr>
              <a:spLocks noChangeShapeType="1"/>
            </p:cNvSpPr>
            <p:nvPr/>
          </p:nvSpPr>
          <p:spPr bwMode="auto">
            <a:xfrm flipV="1">
              <a:off x="4252" y="2367"/>
              <a:ext cx="692" cy="26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nvGrpSpPr>
            <p:cNvPr id="115" name="Group 83">
              <a:extLst>
                <a:ext uri="{FF2B5EF4-FFF2-40B4-BE49-F238E27FC236}">
                  <a16:creationId xmlns:a16="http://schemas.microsoft.com/office/drawing/2014/main" id="{B7857F88-08E3-E240-A20C-5162D296902E}"/>
                </a:ext>
              </a:extLst>
            </p:cNvPr>
            <p:cNvGrpSpPr>
              <a:grpSpLocks/>
            </p:cNvGrpSpPr>
            <p:nvPr/>
          </p:nvGrpSpPr>
          <p:grpSpPr bwMode="auto">
            <a:xfrm>
              <a:off x="4306" y="2363"/>
              <a:ext cx="539" cy="252"/>
              <a:chOff x="4306" y="2273"/>
              <a:chExt cx="539" cy="252"/>
            </a:xfrm>
          </p:grpSpPr>
          <p:sp>
            <p:nvSpPr>
              <p:cNvPr id="116" name="Rectangle 72">
                <a:extLst>
                  <a:ext uri="{FF2B5EF4-FFF2-40B4-BE49-F238E27FC236}">
                    <a16:creationId xmlns:a16="http://schemas.microsoft.com/office/drawing/2014/main" id="{597ACCEC-4FF2-6B40-8454-C2F1F6A7C109}"/>
                  </a:ext>
                </a:extLst>
              </p:cNvPr>
              <p:cNvSpPr>
                <a:spLocks noChangeArrowheads="1"/>
              </p:cNvSpPr>
              <p:nvPr/>
            </p:nvSpPr>
            <p:spPr bwMode="auto">
              <a:xfrm>
                <a:off x="4409" y="2365"/>
                <a:ext cx="384" cy="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17" name="Text Box 43">
                <a:extLst>
                  <a:ext uri="{FF2B5EF4-FFF2-40B4-BE49-F238E27FC236}">
                    <a16:creationId xmlns:a16="http://schemas.microsoft.com/office/drawing/2014/main" id="{361D7D30-A4D4-5C44-878A-9FE3CEA44145}"/>
                  </a:ext>
                </a:extLst>
              </p:cNvPr>
              <p:cNvSpPr txBox="1">
                <a:spLocks noChangeArrowheads="1"/>
              </p:cNvSpPr>
              <p:nvPr/>
            </p:nvSpPr>
            <p:spPr bwMode="auto">
              <a:xfrm>
                <a:off x="4306" y="2273"/>
                <a:ext cx="53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grpSp>
        <p:nvGrpSpPr>
          <p:cNvPr id="118" name="Group 81">
            <a:extLst>
              <a:ext uri="{FF2B5EF4-FFF2-40B4-BE49-F238E27FC236}">
                <a16:creationId xmlns:a16="http://schemas.microsoft.com/office/drawing/2014/main" id="{CCEC4E82-EFC9-4646-BCEE-C0B8C7E94B5A}"/>
              </a:ext>
            </a:extLst>
          </p:cNvPr>
          <p:cNvGrpSpPr>
            <a:grpSpLocks/>
          </p:cNvGrpSpPr>
          <p:nvPr/>
        </p:nvGrpSpPr>
        <p:grpSpPr bwMode="auto">
          <a:xfrm>
            <a:off x="1704581" y="1762123"/>
            <a:ext cx="1066800" cy="565150"/>
            <a:chOff x="527" y="1047"/>
            <a:chExt cx="855" cy="486"/>
          </a:xfrm>
        </p:grpSpPr>
        <p:sp>
          <p:nvSpPr>
            <p:cNvPr id="119" name="AutoShape 67">
              <a:extLst>
                <a:ext uri="{FF2B5EF4-FFF2-40B4-BE49-F238E27FC236}">
                  <a16:creationId xmlns:a16="http://schemas.microsoft.com/office/drawing/2014/main" id="{3FF0F743-E4ED-2B41-96D3-06A33C2442CD}"/>
                </a:ext>
              </a:extLst>
            </p:cNvPr>
            <p:cNvSpPr>
              <a:spLocks noChangeArrowheads="1"/>
            </p:cNvSpPr>
            <p:nvPr/>
          </p:nvSpPr>
          <p:spPr bwMode="auto">
            <a:xfrm>
              <a:off x="527" y="1047"/>
              <a:ext cx="85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20" name="Text Box 60">
              <a:extLst>
                <a:ext uri="{FF2B5EF4-FFF2-40B4-BE49-F238E27FC236}">
                  <a16:creationId xmlns:a16="http://schemas.microsoft.com/office/drawing/2014/main" id="{6117DA15-C6DD-B847-B11A-0D6EFDBC12FE}"/>
                </a:ext>
              </a:extLst>
            </p:cNvPr>
            <p:cNvSpPr txBox="1">
              <a:spLocks noChangeArrowheads="1"/>
            </p:cNvSpPr>
            <p:nvPr/>
          </p:nvSpPr>
          <p:spPr bwMode="auto">
            <a:xfrm>
              <a:off x="552" y="1193"/>
              <a:ext cx="805"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0" cap="none" spc="0" normalizeH="0" baseline="0" noProof="0" dirty="0" err="1">
                  <a:ln>
                    <a:noFill/>
                  </a:ln>
                  <a:solidFill>
                    <a:srgbClr val="FFFFFF"/>
                  </a:solidFill>
                  <a:effectLst/>
                  <a:uLnTx/>
                  <a:uFillTx/>
                  <a:latin typeface="Calibri"/>
                  <a:ea typeface="ＭＳ Ｐゴシック" panose="020B0600070205080204" pitchFamily="34" charset="-128"/>
                  <a:cs typeface="+mn-cs"/>
                </a:rPr>
                <a:t>ebay</a:t>
              </a: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 8734</a:t>
              </a:r>
            </a:p>
          </p:txBody>
        </p:sp>
      </p:grpSp>
      <p:grpSp>
        <p:nvGrpSpPr>
          <p:cNvPr id="121" name="Group 95">
            <a:extLst>
              <a:ext uri="{FF2B5EF4-FFF2-40B4-BE49-F238E27FC236}">
                <a16:creationId xmlns:a16="http://schemas.microsoft.com/office/drawing/2014/main" id="{6419469C-19C4-3947-B461-0398BDE5A56E}"/>
              </a:ext>
            </a:extLst>
          </p:cNvPr>
          <p:cNvGrpSpPr>
            <a:grpSpLocks/>
          </p:cNvGrpSpPr>
          <p:nvPr/>
        </p:nvGrpSpPr>
        <p:grpSpPr bwMode="auto">
          <a:xfrm>
            <a:off x="2952356" y="1946272"/>
            <a:ext cx="6972540" cy="1301749"/>
            <a:chOff x="1386" y="1327"/>
            <a:chExt cx="3730" cy="820"/>
          </a:xfrm>
        </p:grpSpPr>
        <p:sp>
          <p:nvSpPr>
            <p:cNvPr id="122" name="Line 4">
              <a:extLst>
                <a:ext uri="{FF2B5EF4-FFF2-40B4-BE49-F238E27FC236}">
                  <a16:creationId xmlns:a16="http://schemas.microsoft.com/office/drawing/2014/main" id="{53358BBA-04B8-9D40-89A7-C1749138D109}"/>
                </a:ext>
              </a:extLst>
            </p:cNvPr>
            <p:cNvSpPr>
              <a:spLocks noChangeShapeType="1"/>
            </p:cNvSpPr>
            <p:nvPr/>
          </p:nvSpPr>
          <p:spPr bwMode="auto">
            <a:xfrm>
              <a:off x="1386" y="1355"/>
              <a:ext cx="2082"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23" name="Text Box 8">
              <a:extLst>
                <a:ext uri="{FF2B5EF4-FFF2-40B4-BE49-F238E27FC236}">
                  <a16:creationId xmlns:a16="http://schemas.microsoft.com/office/drawing/2014/main" id="{437463ED-2B74-A04D-85BF-36A6CD1ADBE8}"/>
                </a:ext>
              </a:extLst>
            </p:cNvPr>
            <p:cNvSpPr txBox="1">
              <a:spLocks noChangeArrowheads="1"/>
            </p:cNvSpPr>
            <p:nvPr/>
          </p:nvSpPr>
          <p:spPr bwMode="auto">
            <a:xfrm>
              <a:off x="1554" y="1327"/>
              <a:ext cx="1689" cy="252"/>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p:txBody>
        </p:sp>
        <p:sp>
          <p:nvSpPr>
            <p:cNvPr id="124" name="Text Box 31">
              <a:extLst>
                <a:ext uri="{FF2B5EF4-FFF2-40B4-BE49-F238E27FC236}">
                  <a16:creationId xmlns:a16="http://schemas.microsoft.com/office/drawing/2014/main" id="{8689192D-F56C-1640-861C-3C443D419F8C}"/>
                </a:ext>
              </a:extLst>
            </p:cNvPr>
            <p:cNvSpPr txBox="1">
              <a:spLocks noChangeArrowheads="1"/>
            </p:cNvSpPr>
            <p:nvPr/>
          </p:nvSpPr>
          <p:spPr bwMode="auto">
            <a:xfrm>
              <a:off x="3460" y="1390"/>
              <a:ext cx="84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Amazon server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creates ID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1678 for user</a:t>
              </a:r>
              <a:endPar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grpSp>
          <p:nvGrpSpPr>
            <p:cNvPr id="125" name="Group 82">
              <a:extLst>
                <a:ext uri="{FF2B5EF4-FFF2-40B4-BE49-F238E27FC236}">
                  <a16:creationId xmlns:a16="http://schemas.microsoft.com/office/drawing/2014/main" id="{03DF1B1A-A9A9-854D-8891-346BB0DBAA8C}"/>
                </a:ext>
              </a:extLst>
            </p:cNvPr>
            <p:cNvGrpSpPr>
              <a:grpSpLocks/>
            </p:cNvGrpSpPr>
            <p:nvPr/>
          </p:nvGrpSpPr>
          <p:grpSpPr bwMode="auto">
            <a:xfrm>
              <a:off x="4377" y="1730"/>
              <a:ext cx="739" cy="417"/>
              <a:chOff x="4377" y="1640"/>
              <a:chExt cx="739" cy="417"/>
            </a:xfrm>
          </p:grpSpPr>
          <p:sp>
            <p:nvSpPr>
              <p:cNvPr id="126" name="Line 40">
                <a:extLst>
                  <a:ext uri="{FF2B5EF4-FFF2-40B4-BE49-F238E27FC236}">
                    <a16:creationId xmlns:a16="http://schemas.microsoft.com/office/drawing/2014/main" id="{52C051AD-65C2-504B-9A70-F8E72303C4F6}"/>
                  </a:ext>
                </a:extLst>
              </p:cNvPr>
              <p:cNvSpPr>
                <a:spLocks noChangeShapeType="1"/>
              </p:cNvSpPr>
              <p:nvPr/>
            </p:nvSpPr>
            <p:spPr bwMode="auto">
              <a:xfrm>
                <a:off x="4377" y="1640"/>
                <a:ext cx="659" cy="4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27" name="Rectangle 73">
                <a:extLst>
                  <a:ext uri="{FF2B5EF4-FFF2-40B4-BE49-F238E27FC236}">
                    <a16:creationId xmlns:a16="http://schemas.microsoft.com/office/drawing/2014/main" id="{7F34673E-5298-3241-9317-86EC3DD70F2D}"/>
                  </a:ext>
                </a:extLst>
              </p:cNvPr>
              <p:cNvSpPr>
                <a:spLocks noChangeArrowheads="1"/>
              </p:cNvSpPr>
              <p:nvPr/>
            </p:nvSpPr>
            <p:spPr bwMode="auto">
              <a:xfrm>
                <a:off x="4470" y="1729"/>
                <a:ext cx="602" cy="24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28" name="Text Box 41">
                <a:extLst>
                  <a:ext uri="{FF2B5EF4-FFF2-40B4-BE49-F238E27FC236}">
                    <a16:creationId xmlns:a16="http://schemas.microsoft.com/office/drawing/2014/main" id="{F17F9C36-958E-4C47-BE78-4A1A5F072669}"/>
                  </a:ext>
                </a:extLst>
              </p:cNvPr>
              <p:cNvSpPr txBox="1">
                <a:spLocks noChangeArrowheads="1"/>
              </p:cNvSpPr>
              <p:nvPr/>
            </p:nvSpPr>
            <p:spPr bwMode="auto">
              <a:xfrm>
                <a:off x="4381" y="1702"/>
                <a:ext cx="735"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create</a:t>
                </a:r>
              </a:p>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    entry</a:t>
                </a:r>
              </a:p>
            </p:txBody>
          </p:sp>
        </p:grpSp>
      </p:grpSp>
      <p:grpSp>
        <p:nvGrpSpPr>
          <p:cNvPr id="129" name="Group 88">
            <a:extLst>
              <a:ext uri="{FF2B5EF4-FFF2-40B4-BE49-F238E27FC236}">
                <a16:creationId xmlns:a16="http://schemas.microsoft.com/office/drawing/2014/main" id="{7A1CD3F5-FA12-5E48-9AC5-0FFB79FB2A15}"/>
              </a:ext>
            </a:extLst>
          </p:cNvPr>
          <p:cNvGrpSpPr>
            <a:grpSpLocks/>
          </p:cNvGrpSpPr>
          <p:nvPr/>
        </p:nvGrpSpPr>
        <p:grpSpPr bwMode="auto">
          <a:xfrm>
            <a:off x="1675603" y="2474086"/>
            <a:ext cx="5151555" cy="890270"/>
            <a:chOff x="462" y="1603"/>
            <a:chExt cx="3550" cy="719"/>
          </a:xfrm>
        </p:grpSpPr>
        <p:sp>
          <p:nvSpPr>
            <p:cNvPr id="130" name="Line 9">
              <a:extLst>
                <a:ext uri="{FF2B5EF4-FFF2-40B4-BE49-F238E27FC236}">
                  <a16:creationId xmlns:a16="http://schemas.microsoft.com/office/drawing/2014/main" id="{34D0E0B7-0FCE-BB41-80D4-74036A27503A}"/>
                </a:ext>
              </a:extLst>
            </p:cNvPr>
            <p:cNvSpPr>
              <a:spLocks noChangeShapeType="1"/>
            </p:cNvSpPr>
            <p:nvPr/>
          </p:nvSpPr>
          <p:spPr bwMode="auto">
            <a:xfrm flipH="1">
              <a:off x="1404" y="1603"/>
              <a:ext cx="2608" cy="27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31" name="Text Box 11">
              <a:extLst>
                <a:ext uri="{FF2B5EF4-FFF2-40B4-BE49-F238E27FC236}">
                  <a16:creationId xmlns:a16="http://schemas.microsoft.com/office/drawing/2014/main" id="{C2A582BF-35AD-EC42-8C5E-BCF7C4420C15}"/>
                </a:ext>
              </a:extLst>
            </p:cNvPr>
            <p:cNvSpPr txBox="1">
              <a:spLocks noChangeArrowheads="1"/>
            </p:cNvSpPr>
            <p:nvPr/>
          </p:nvSpPr>
          <p:spPr bwMode="auto">
            <a:xfrm>
              <a:off x="1552" y="1650"/>
              <a:ext cx="1665" cy="518"/>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set-cookie: 1678 </a:t>
              </a:r>
            </a:p>
          </p:txBody>
        </p:sp>
        <p:grpSp>
          <p:nvGrpSpPr>
            <p:cNvPr id="132" name="Group 76">
              <a:extLst>
                <a:ext uri="{FF2B5EF4-FFF2-40B4-BE49-F238E27FC236}">
                  <a16:creationId xmlns:a16="http://schemas.microsoft.com/office/drawing/2014/main" id="{9B50E41F-6BE8-5B41-B57A-83E988A059B1}"/>
                </a:ext>
              </a:extLst>
            </p:cNvPr>
            <p:cNvGrpSpPr>
              <a:grpSpLocks/>
            </p:cNvGrpSpPr>
            <p:nvPr/>
          </p:nvGrpSpPr>
          <p:grpSpPr bwMode="auto">
            <a:xfrm>
              <a:off x="462" y="1836"/>
              <a:ext cx="1004" cy="486"/>
              <a:chOff x="687" y="1746"/>
              <a:chExt cx="1004" cy="486"/>
            </a:xfrm>
          </p:grpSpPr>
          <p:sp>
            <p:nvSpPr>
              <p:cNvPr id="133" name="AutoShape 74">
                <a:extLst>
                  <a:ext uri="{FF2B5EF4-FFF2-40B4-BE49-F238E27FC236}">
                    <a16:creationId xmlns:a16="http://schemas.microsoft.com/office/drawing/2014/main" id="{0B53BA64-2104-564F-AC68-42F70CD1847E}"/>
                  </a:ext>
                </a:extLst>
              </p:cNvPr>
              <p:cNvSpPr>
                <a:spLocks noChangeArrowheads="1"/>
              </p:cNvSpPr>
              <p:nvPr/>
            </p:nvSpPr>
            <p:spPr bwMode="auto">
              <a:xfrm>
                <a:off x="702" y="1746"/>
                <a:ext cx="73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34" name="Text Box 75">
                <a:extLst>
                  <a:ext uri="{FF2B5EF4-FFF2-40B4-BE49-F238E27FC236}">
                    <a16:creationId xmlns:a16="http://schemas.microsoft.com/office/drawing/2014/main" id="{40EF6721-60A7-E646-8306-ACE2C580AA17}"/>
                  </a:ext>
                </a:extLst>
              </p:cNvPr>
              <p:cNvSpPr txBox="1">
                <a:spLocks noChangeArrowheads="1"/>
              </p:cNvSpPr>
              <p:nvPr/>
            </p:nvSpPr>
            <p:spPr bwMode="auto">
              <a:xfrm>
                <a:off x="687" y="1836"/>
                <a:ext cx="100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err="1">
                    <a:ln>
                      <a:noFill/>
                    </a:ln>
                    <a:solidFill>
                      <a:srgbClr val="FFFFFF"/>
                    </a:solidFill>
                    <a:effectLst/>
                    <a:uLnTx/>
                    <a:uFillTx/>
                    <a:latin typeface="Calibri"/>
                    <a:ea typeface="ＭＳ Ｐゴシック" panose="020B0600070205080204" pitchFamily="34" charset="-128"/>
                    <a:cs typeface="+mn-cs"/>
                  </a:rPr>
                  <a:t>ebay</a:t>
                </a: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p>
            </p:txBody>
          </p:sp>
        </p:grpSp>
      </p:grpSp>
      <p:grpSp>
        <p:nvGrpSpPr>
          <p:cNvPr id="135" name="Group 93">
            <a:extLst>
              <a:ext uri="{FF2B5EF4-FFF2-40B4-BE49-F238E27FC236}">
                <a16:creationId xmlns:a16="http://schemas.microsoft.com/office/drawing/2014/main" id="{3301D1A0-4332-D44D-9339-6985DCD61D45}"/>
              </a:ext>
            </a:extLst>
          </p:cNvPr>
          <p:cNvGrpSpPr>
            <a:grpSpLocks/>
          </p:cNvGrpSpPr>
          <p:nvPr/>
        </p:nvGrpSpPr>
        <p:grpSpPr bwMode="auto">
          <a:xfrm>
            <a:off x="2994226" y="4365354"/>
            <a:ext cx="6781125" cy="2001838"/>
            <a:chOff x="1406" y="2641"/>
            <a:chExt cx="3562" cy="1261"/>
          </a:xfrm>
        </p:grpSpPr>
        <p:sp>
          <p:nvSpPr>
            <p:cNvPr id="136" name="Line 20">
              <a:extLst>
                <a:ext uri="{FF2B5EF4-FFF2-40B4-BE49-F238E27FC236}">
                  <a16:creationId xmlns:a16="http://schemas.microsoft.com/office/drawing/2014/main" id="{27A08B61-84D4-974B-B631-032C83422CF0}"/>
                </a:ext>
              </a:extLst>
            </p:cNvPr>
            <p:cNvSpPr>
              <a:spLocks noChangeShapeType="1"/>
            </p:cNvSpPr>
            <p:nvPr/>
          </p:nvSpPr>
          <p:spPr bwMode="auto">
            <a:xfrm>
              <a:off x="1406" y="3293"/>
              <a:ext cx="2032" cy="24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7" name="Text Box 23">
              <a:extLst>
                <a:ext uri="{FF2B5EF4-FFF2-40B4-BE49-F238E27FC236}">
                  <a16:creationId xmlns:a16="http://schemas.microsoft.com/office/drawing/2014/main" id="{C0FE6E20-0831-D147-9963-B3CABC0FF1A0}"/>
                </a:ext>
              </a:extLst>
            </p:cNvPr>
            <p:cNvSpPr txBox="1">
              <a:spLocks noChangeArrowheads="1"/>
            </p:cNvSpPr>
            <p:nvPr/>
          </p:nvSpPr>
          <p:spPr bwMode="auto">
            <a:xfrm>
              <a:off x="1561" y="3171"/>
              <a:ext cx="1689" cy="404"/>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38" name="Text Box 29">
              <a:extLst>
                <a:ext uri="{FF2B5EF4-FFF2-40B4-BE49-F238E27FC236}">
                  <a16:creationId xmlns:a16="http://schemas.microsoft.com/office/drawing/2014/main" id="{8241B379-77A9-114B-8D91-05EAB5E6DC9B}"/>
                </a:ext>
              </a:extLst>
            </p:cNvPr>
            <p:cNvSpPr txBox="1">
              <a:spLocks noChangeArrowheads="1"/>
            </p:cNvSpPr>
            <p:nvPr/>
          </p:nvSpPr>
          <p:spPr bwMode="auto">
            <a:xfrm>
              <a:off x="3579" y="326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39" name="Line 44">
              <a:extLst>
                <a:ext uri="{FF2B5EF4-FFF2-40B4-BE49-F238E27FC236}">
                  <a16:creationId xmlns:a16="http://schemas.microsoft.com/office/drawing/2014/main" id="{E200A986-F657-7343-BB4C-41C023FA5311}"/>
                </a:ext>
              </a:extLst>
            </p:cNvPr>
            <p:cNvSpPr>
              <a:spLocks noChangeShapeType="1"/>
            </p:cNvSpPr>
            <p:nvPr/>
          </p:nvSpPr>
          <p:spPr bwMode="auto">
            <a:xfrm flipV="1">
              <a:off x="4181" y="2641"/>
              <a:ext cx="787" cy="861"/>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40" name="Text Box 71">
              <a:extLst>
                <a:ext uri="{FF2B5EF4-FFF2-40B4-BE49-F238E27FC236}">
                  <a16:creationId xmlns:a16="http://schemas.microsoft.com/office/drawing/2014/main" id="{CCBDD99D-1C5A-2749-9C7B-9D0A6E0A3C92}"/>
                </a:ext>
              </a:extLst>
            </p:cNvPr>
            <p:cNvSpPr txBox="1">
              <a:spLocks noChangeArrowheads="1"/>
            </p:cNvSpPr>
            <p:nvPr/>
          </p:nvSpPr>
          <p:spPr bwMode="auto">
            <a:xfrm>
              <a:off x="4287" y="2939"/>
              <a:ext cx="539" cy="2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rPr>
                <a:t>access</a:t>
              </a:r>
            </a:p>
          </p:txBody>
        </p:sp>
      </p:grpSp>
      <p:grpSp>
        <p:nvGrpSpPr>
          <p:cNvPr id="141" name="Group 77">
            <a:extLst>
              <a:ext uri="{FF2B5EF4-FFF2-40B4-BE49-F238E27FC236}">
                <a16:creationId xmlns:a16="http://schemas.microsoft.com/office/drawing/2014/main" id="{147D74CA-2DA8-1241-A8E8-3EF2E932E88E}"/>
              </a:ext>
            </a:extLst>
          </p:cNvPr>
          <p:cNvGrpSpPr>
            <a:grpSpLocks/>
          </p:cNvGrpSpPr>
          <p:nvPr/>
        </p:nvGrpSpPr>
        <p:grpSpPr bwMode="auto">
          <a:xfrm>
            <a:off x="1655687" y="5113066"/>
            <a:ext cx="1389062" cy="633978"/>
            <a:chOff x="702" y="1746"/>
            <a:chExt cx="1004" cy="486"/>
          </a:xfrm>
        </p:grpSpPr>
        <p:sp>
          <p:nvSpPr>
            <p:cNvPr id="142" name="AutoShape 78">
              <a:extLst>
                <a:ext uri="{FF2B5EF4-FFF2-40B4-BE49-F238E27FC236}">
                  <a16:creationId xmlns:a16="http://schemas.microsoft.com/office/drawing/2014/main" id="{19C72BA2-8506-044E-A290-911BA7AE5D6E}"/>
                </a:ext>
              </a:extLst>
            </p:cNvPr>
            <p:cNvSpPr>
              <a:spLocks noChangeArrowheads="1"/>
            </p:cNvSpPr>
            <p:nvPr/>
          </p:nvSpPr>
          <p:spPr bwMode="auto">
            <a:xfrm>
              <a:off x="735" y="1746"/>
              <a:ext cx="773"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43" name="Text Box 79">
              <a:extLst>
                <a:ext uri="{FF2B5EF4-FFF2-40B4-BE49-F238E27FC236}">
                  <a16:creationId xmlns:a16="http://schemas.microsoft.com/office/drawing/2014/main" id="{DF0A1B9A-EFCF-7042-A14D-D22FE4D35A09}"/>
                </a:ext>
              </a:extLst>
            </p:cNvPr>
            <p:cNvSpPr txBox="1">
              <a:spLocks noChangeArrowheads="1"/>
            </p:cNvSpPr>
            <p:nvPr/>
          </p:nvSpPr>
          <p:spPr bwMode="auto">
            <a:xfrm>
              <a:off x="702" y="1851"/>
              <a:ext cx="1004"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err="1">
                  <a:ln>
                    <a:noFill/>
                  </a:ln>
                  <a:solidFill>
                    <a:srgbClr val="FFFFFF"/>
                  </a:solidFill>
                  <a:effectLst/>
                  <a:uLnTx/>
                  <a:uFillTx/>
                  <a:latin typeface="Calibri"/>
                  <a:ea typeface="ＭＳ Ｐゴシック" panose="020B0600070205080204" pitchFamily="34" charset="-128"/>
                  <a:cs typeface="+mn-cs"/>
                </a:rPr>
                <a:t>ebay</a:t>
              </a: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endParaRPr kumimoji="0" lang="en-US" altLang="en-US" sz="16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endParaRPr>
            </a:p>
          </p:txBody>
        </p:sp>
      </p:grpSp>
      <p:sp>
        <p:nvSpPr>
          <p:cNvPr id="144" name="Text Box 80">
            <a:extLst>
              <a:ext uri="{FF2B5EF4-FFF2-40B4-BE49-F238E27FC236}">
                <a16:creationId xmlns:a16="http://schemas.microsoft.com/office/drawing/2014/main" id="{EC583638-A99A-9144-B11A-E459DCDD4BA4}"/>
              </a:ext>
            </a:extLst>
          </p:cNvPr>
          <p:cNvSpPr txBox="1">
            <a:spLocks noChangeArrowheads="1"/>
          </p:cNvSpPr>
          <p:nvPr/>
        </p:nvSpPr>
        <p:spPr bwMode="auto">
          <a:xfrm>
            <a:off x="9834963" y="2582111"/>
            <a:ext cx="114005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backend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database</a:t>
            </a:r>
          </a:p>
        </p:txBody>
      </p:sp>
      <p:sp>
        <p:nvSpPr>
          <p:cNvPr id="145" name="AutoShape 327">
            <a:extLst>
              <a:ext uri="{FF2B5EF4-FFF2-40B4-BE49-F238E27FC236}">
                <a16:creationId xmlns:a16="http://schemas.microsoft.com/office/drawing/2014/main" id="{774E3BE6-BFC9-C849-B588-B56E574DA6BE}"/>
              </a:ext>
            </a:extLst>
          </p:cNvPr>
          <p:cNvSpPr>
            <a:spLocks noChangeArrowheads="1"/>
          </p:cNvSpPr>
          <p:nvPr/>
        </p:nvSpPr>
        <p:spPr bwMode="auto">
          <a:xfrm>
            <a:off x="10104838" y="3202824"/>
            <a:ext cx="592138" cy="908050"/>
          </a:xfrm>
          <a:prstGeom prst="can">
            <a:avLst>
              <a:gd name="adj" fmla="val 31004"/>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Arial" panose="020B0604020202020204" pitchFamily="34" charset="0"/>
            </a:endParaRPr>
          </a:p>
        </p:txBody>
      </p:sp>
      <p:grpSp>
        <p:nvGrpSpPr>
          <p:cNvPr id="146" name="Group 63">
            <a:extLst>
              <a:ext uri="{FF2B5EF4-FFF2-40B4-BE49-F238E27FC236}">
                <a16:creationId xmlns:a16="http://schemas.microsoft.com/office/drawing/2014/main" id="{1D650FE6-EFAF-DA42-B6C3-89E2D30D6710}"/>
              </a:ext>
            </a:extLst>
          </p:cNvPr>
          <p:cNvGrpSpPr>
            <a:grpSpLocks/>
          </p:cNvGrpSpPr>
          <p:nvPr/>
        </p:nvGrpSpPr>
        <p:grpSpPr bwMode="auto">
          <a:xfrm>
            <a:off x="6709231" y="1274501"/>
            <a:ext cx="351110" cy="610396"/>
            <a:chOff x="4140" y="429"/>
            <a:chExt cx="1425" cy="2396"/>
          </a:xfrm>
        </p:grpSpPr>
        <p:sp>
          <p:nvSpPr>
            <p:cNvPr id="147" name="Freeform 64">
              <a:extLst>
                <a:ext uri="{FF2B5EF4-FFF2-40B4-BE49-F238E27FC236}">
                  <a16:creationId xmlns:a16="http://schemas.microsoft.com/office/drawing/2014/main" id="{23F46B7A-88B4-C64E-A298-064AE8ED208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48" name="Rectangle 65">
              <a:extLst>
                <a:ext uri="{FF2B5EF4-FFF2-40B4-BE49-F238E27FC236}">
                  <a16:creationId xmlns:a16="http://schemas.microsoft.com/office/drawing/2014/main" id="{932E7E2F-358A-204B-ACA1-ECA34C748CE3}"/>
                </a:ext>
              </a:extLst>
            </p:cNvPr>
            <p:cNvSpPr>
              <a:spLocks noChangeArrowheads="1"/>
            </p:cNvSpPr>
            <p:nvPr/>
          </p:nvSpPr>
          <p:spPr bwMode="auto">
            <a:xfrm>
              <a:off x="4206" y="429"/>
              <a:ext cx="1045"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49" name="Freeform 66">
              <a:extLst>
                <a:ext uri="{FF2B5EF4-FFF2-40B4-BE49-F238E27FC236}">
                  <a16:creationId xmlns:a16="http://schemas.microsoft.com/office/drawing/2014/main" id="{5AD2CC4E-2BC1-3742-B273-CCF9557498A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50" name="Freeform 67">
              <a:extLst>
                <a:ext uri="{FF2B5EF4-FFF2-40B4-BE49-F238E27FC236}">
                  <a16:creationId xmlns:a16="http://schemas.microsoft.com/office/drawing/2014/main" id="{1DBFB074-4990-854E-B454-9FF52C6C403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51" name="Rectangle 68">
              <a:extLst>
                <a:ext uri="{FF2B5EF4-FFF2-40B4-BE49-F238E27FC236}">
                  <a16:creationId xmlns:a16="http://schemas.microsoft.com/office/drawing/2014/main" id="{BE0EBEA8-CD1D-5047-B6F1-2FAA1FF32D21}"/>
                </a:ext>
              </a:extLst>
            </p:cNvPr>
            <p:cNvSpPr>
              <a:spLocks noChangeArrowheads="1"/>
            </p:cNvSpPr>
            <p:nvPr/>
          </p:nvSpPr>
          <p:spPr bwMode="auto">
            <a:xfrm>
              <a:off x="4212" y="695"/>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nvGrpSpPr>
            <p:cNvPr id="152" name="Group 69">
              <a:extLst>
                <a:ext uri="{FF2B5EF4-FFF2-40B4-BE49-F238E27FC236}">
                  <a16:creationId xmlns:a16="http://schemas.microsoft.com/office/drawing/2014/main" id="{FB3D83DD-33C0-D64F-AEA3-0EDE4789704D}"/>
                </a:ext>
              </a:extLst>
            </p:cNvPr>
            <p:cNvGrpSpPr>
              <a:grpSpLocks/>
            </p:cNvGrpSpPr>
            <p:nvPr/>
          </p:nvGrpSpPr>
          <p:grpSpPr bwMode="auto">
            <a:xfrm>
              <a:off x="4749" y="668"/>
              <a:ext cx="581" cy="145"/>
              <a:chOff x="614" y="2568"/>
              <a:chExt cx="725" cy="139"/>
            </a:xfrm>
          </p:grpSpPr>
          <p:sp>
            <p:nvSpPr>
              <p:cNvPr id="177" name="AutoShape 70">
                <a:extLst>
                  <a:ext uri="{FF2B5EF4-FFF2-40B4-BE49-F238E27FC236}">
                    <a16:creationId xmlns:a16="http://schemas.microsoft.com/office/drawing/2014/main" id="{9F58D14A-E308-6E43-8765-29117CEB2DCF}"/>
                  </a:ext>
                </a:extLst>
              </p:cNvPr>
              <p:cNvSpPr>
                <a:spLocks noChangeArrowheads="1"/>
              </p:cNvSpPr>
              <p:nvPr/>
            </p:nvSpPr>
            <p:spPr bwMode="auto">
              <a:xfrm>
                <a:off x="616" y="2566"/>
                <a:ext cx="721"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78" name="AutoShape 71">
                <a:extLst>
                  <a:ext uri="{FF2B5EF4-FFF2-40B4-BE49-F238E27FC236}">
                    <a16:creationId xmlns:a16="http://schemas.microsoft.com/office/drawing/2014/main" id="{990E0E9A-D7D4-F540-994A-F5A32D42A3A6}"/>
                  </a:ext>
                </a:extLst>
              </p:cNvPr>
              <p:cNvSpPr>
                <a:spLocks noChangeArrowheads="1"/>
              </p:cNvSpPr>
              <p:nvPr/>
            </p:nvSpPr>
            <p:spPr bwMode="auto">
              <a:xfrm>
                <a:off x="630" y="2580"/>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sp>
          <p:nvSpPr>
            <p:cNvPr id="153" name="Rectangle 72">
              <a:extLst>
                <a:ext uri="{FF2B5EF4-FFF2-40B4-BE49-F238E27FC236}">
                  <a16:creationId xmlns:a16="http://schemas.microsoft.com/office/drawing/2014/main" id="{914BF847-475C-7C47-96A4-CAFCCACEC2BC}"/>
                </a:ext>
              </a:extLst>
            </p:cNvPr>
            <p:cNvSpPr>
              <a:spLocks noChangeArrowheads="1"/>
            </p:cNvSpPr>
            <p:nvPr/>
          </p:nvSpPr>
          <p:spPr bwMode="auto">
            <a:xfrm>
              <a:off x="4223" y="1021"/>
              <a:ext cx="600"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nvGrpSpPr>
            <p:cNvPr id="154" name="Group 73">
              <a:extLst>
                <a:ext uri="{FF2B5EF4-FFF2-40B4-BE49-F238E27FC236}">
                  <a16:creationId xmlns:a16="http://schemas.microsoft.com/office/drawing/2014/main" id="{A276F146-AB6A-8C4E-BD8B-856A510CB009}"/>
                </a:ext>
              </a:extLst>
            </p:cNvPr>
            <p:cNvGrpSpPr>
              <a:grpSpLocks/>
            </p:cNvGrpSpPr>
            <p:nvPr/>
          </p:nvGrpSpPr>
          <p:grpSpPr bwMode="auto">
            <a:xfrm>
              <a:off x="4747" y="994"/>
              <a:ext cx="581" cy="134"/>
              <a:chOff x="614" y="2568"/>
              <a:chExt cx="725" cy="139"/>
            </a:xfrm>
          </p:grpSpPr>
          <p:sp>
            <p:nvSpPr>
              <p:cNvPr id="175" name="AutoShape 74">
                <a:extLst>
                  <a:ext uri="{FF2B5EF4-FFF2-40B4-BE49-F238E27FC236}">
                    <a16:creationId xmlns:a16="http://schemas.microsoft.com/office/drawing/2014/main" id="{FB783255-C8AF-CD4E-84DF-1573DF917DE7}"/>
                  </a:ext>
                </a:extLst>
              </p:cNvPr>
              <p:cNvSpPr>
                <a:spLocks noChangeArrowheads="1"/>
              </p:cNvSpPr>
              <p:nvPr/>
            </p:nvSpPr>
            <p:spPr bwMode="auto">
              <a:xfrm>
                <a:off x="612" y="2570"/>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76" name="AutoShape 75">
                <a:extLst>
                  <a:ext uri="{FF2B5EF4-FFF2-40B4-BE49-F238E27FC236}">
                    <a16:creationId xmlns:a16="http://schemas.microsoft.com/office/drawing/2014/main" id="{46E81119-BF44-D945-96D2-7A6A2F19ECA5}"/>
                  </a:ext>
                </a:extLst>
              </p:cNvPr>
              <p:cNvSpPr>
                <a:spLocks noChangeArrowheads="1"/>
              </p:cNvSpPr>
              <p:nvPr/>
            </p:nvSpPr>
            <p:spPr bwMode="auto">
              <a:xfrm>
                <a:off x="625" y="2585"/>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sp>
          <p:nvSpPr>
            <p:cNvPr id="155" name="Rectangle 76">
              <a:extLst>
                <a:ext uri="{FF2B5EF4-FFF2-40B4-BE49-F238E27FC236}">
                  <a16:creationId xmlns:a16="http://schemas.microsoft.com/office/drawing/2014/main" id="{823BB60D-416A-0746-BBEF-9DC4528B9F68}"/>
                </a:ext>
              </a:extLst>
            </p:cNvPr>
            <p:cNvSpPr>
              <a:spLocks noChangeArrowheads="1"/>
            </p:cNvSpPr>
            <p:nvPr/>
          </p:nvSpPr>
          <p:spPr bwMode="auto">
            <a:xfrm>
              <a:off x="4217" y="1356"/>
              <a:ext cx="594"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56" name="Rectangle 77">
              <a:extLst>
                <a:ext uri="{FF2B5EF4-FFF2-40B4-BE49-F238E27FC236}">
                  <a16:creationId xmlns:a16="http://schemas.microsoft.com/office/drawing/2014/main" id="{500EA440-64F5-FE43-A9CD-EC38855A5BA4}"/>
                </a:ext>
              </a:extLst>
            </p:cNvPr>
            <p:cNvSpPr>
              <a:spLocks noChangeArrowheads="1"/>
            </p:cNvSpPr>
            <p:nvPr/>
          </p:nvSpPr>
          <p:spPr bwMode="auto">
            <a:xfrm>
              <a:off x="4228" y="1657"/>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nvGrpSpPr>
            <p:cNvPr id="157" name="Group 78">
              <a:extLst>
                <a:ext uri="{FF2B5EF4-FFF2-40B4-BE49-F238E27FC236}">
                  <a16:creationId xmlns:a16="http://schemas.microsoft.com/office/drawing/2014/main" id="{014CE493-B3CF-454F-97A3-BF80992E345C}"/>
                </a:ext>
              </a:extLst>
            </p:cNvPr>
            <p:cNvGrpSpPr>
              <a:grpSpLocks/>
            </p:cNvGrpSpPr>
            <p:nvPr/>
          </p:nvGrpSpPr>
          <p:grpSpPr bwMode="auto">
            <a:xfrm>
              <a:off x="4735" y="1627"/>
              <a:ext cx="582" cy="151"/>
              <a:chOff x="614" y="2568"/>
              <a:chExt cx="725" cy="139"/>
            </a:xfrm>
          </p:grpSpPr>
          <p:sp>
            <p:nvSpPr>
              <p:cNvPr id="173" name="AutoShape 79">
                <a:extLst>
                  <a:ext uri="{FF2B5EF4-FFF2-40B4-BE49-F238E27FC236}">
                    <a16:creationId xmlns:a16="http://schemas.microsoft.com/office/drawing/2014/main" id="{40259673-2628-3C41-9A32-A9512F4B2954}"/>
                  </a:ext>
                </a:extLst>
              </p:cNvPr>
              <p:cNvSpPr>
                <a:spLocks noChangeArrowheads="1"/>
              </p:cNvSpPr>
              <p:nvPr/>
            </p:nvSpPr>
            <p:spPr bwMode="auto">
              <a:xfrm>
                <a:off x="613" y="2568"/>
                <a:ext cx="727"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74" name="AutoShape 80">
                <a:extLst>
                  <a:ext uri="{FF2B5EF4-FFF2-40B4-BE49-F238E27FC236}">
                    <a16:creationId xmlns:a16="http://schemas.microsoft.com/office/drawing/2014/main" id="{F5B75204-14D3-4949-85E6-E03DC0637846}"/>
                  </a:ext>
                </a:extLst>
              </p:cNvPr>
              <p:cNvSpPr>
                <a:spLocks noChangeArrowheads="1"/>
              </p:cNvSpPr>
              <p:nvPr/>
            </p:nvSpPr>
            <p:spPr bwMode="auto">
              <a:xfrm>
                <a:off x="627" y="2586"/>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sp>
          <p:nvSpPr>
            <p:cNvPr id="158" name="Freeform 81">
              <a:extLst>
                <a:ext uri="{FF2B5EF4-FFF2-40B4-BE49-F238E27FC236}">
                  <a16:creationId xmlns:a16="http://schemas.microsoft.com/office/drawing/2014/main" id="{C088528D-4021-6642-8A80-03351DCF25F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nvGrpSpPr>
            <p:cNvPr id="159" name="Group 82">
              <a:extLst>
                <a:ext uri="{FF2B5EF4-FFF2-40B4-BE49-F238E27FC236}">
                  <a16:creationId xmlns:a16="http://schemas.microsoft.com/office/drawing/2014/main" id="{1859255F-C0C6-124B-9F92-5E236F8BD3AF}"/>
                </a:ext>
              </a:extLst>
            </p:cNvPr>
            <p:cNvGrpSpPr>
              <a:grpSpLocks/>
            </p:cNvGrpSpPr>
            <p:nvPr/>
          </p:nvGrpSpPr>
          <p:grpSpPr bwMode="auto">
            <a:xfrm>
              <a:off x="4739" y="1327"/>
              <a:ext cx="582" cy="139"/>
              <a:chOff x="614" y="2568"/>
              <a:chExt cx="725" cy="139"/>
            </a:xfrm>
          </p:grpSpPr>
          <p:sp>
            <p:nvSpPr>
              <p:cNvPr id="171" name="AutoShape 83">
                <a:extLst>
                  <a:ext uri="{FF2B5EF4-FFF2-40B4-BE49-F238E27FC236}">
                    <a16:creationId xmlns:a16="http://schemas.microsoft.com/office/drawing/2014/main" id="{C035ED52-DDB2-C843-9FFF-5BC45A6C065A}"/>
                  </a:ext>
                </a:extLst>
              </p:cNvPr>
              <p:cNvSpPr>
                <a:spLocks noChangeArrowheads="1"/>
              </p:cNvSpPr>
              <p:nvPr/>
            </p:nvSpPr>
            <p:spPr bwMode="auto">
              <a:xfrm>
                <a:off x="615" y="2567"/>
                <a:ext cx="727"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72" name="AutoShape 84">
                <a:extLst>
                  <a:ext uri="{FF2B5EF4-FFF2-40B4-BE49-F238E27FC236}">
                    <a16:creationId xmlns:a16="http://schemas.microsoft.com/office/drawing/2014/main" id="{E3C20259-037C-3641-A789-24D0DCCDCAB3}"/>
                  </a:ext>
                </a:extLst>
              </p:cNvPr>
              <p:cNvSpPr>
                <a:spLocks noChangeArrowheads="1"/>
              </p:cNvSpPr>
              <p:nvPr/>
            </p:nvSpPr>
            <p:spPr bwMode="auto">
              <a:xfrm>
                <a:off x="629" y="2582"/>
                <a:ext cx="692"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sp>
          <p:nvSpPr>
            <p:cNvPr id="160" name="Rectangle 85">
              <a:extLst>
                <a:ext uri="{FF2B5EF4-FFF2-40B4-BE49-F238E27FC236}">
                  <a16:creationId xmlns:a16="http://schemas.microsoft.com/office/drawing/2014/main" id="{AAA45EA2-DB28-264A-8894-70368F48D2E2}"/>
                </a:ext>
              </a:extLst>
            </p:cNvPr>
            <p:cNvSpPr>
              <a:spLocks noChangeArrowheads="1"/>
            </p:cNvSpPr>
            <p:nvPr/>
          </p:nvSpPr>
          <p:spPr bwMode="auto">
            <a:xfrm>
              <a:off x="5251"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61" name="Freeform 86">
              <a:extLst>
                <a:ext uri="{FF2B5EF4-FFF2-40B4-BE49-F238E27FC236}">
                  <a16:creationId xmlns:a16="http://schemas.microsoft.com/office/drawing/2014/main" id="{056A9634-8A28-174F-BB52-3C9B4E9694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62" name="Freeform 87">
              <a:extLst>
                <a:ext uri="{FF2B5EF4-FFF2-40B4-BE49-F238E27FC236}">
                  <a16:creationId xmlns:a16="http://schemas.microsoft.com/office/drawing/2014/main" id="{28B4EE70-3F36-D84A-BBF7-26FCDCAB2CA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63" name="Oval 88">
              <a:extLst>
                <a:ext uri="{FF2B5EF4-FFF2-40B4-BE49-F238E27FC236}">
                  <a16:creationId xmlns:a16="http://schemas.microsoft.com/office/drawing/2014/main" id="{AFA23CDD-2C19-364F-8CB6-E34A3A50AA96}"/>
                </a:ext>
              </a:extLst>
            </p:cNvPr>
            <p:cNvSpPr>
              <a:spLocks noChangeArrowheads="1"/>
            </p:cNvSpPr>
            <p:nvPr/>
          </p:nvSpPr>
          <p:spPr bwMode="auto">
            <a:xfrm>
              <a:off x="5515" y="2613"/>
              <a:ext cx="50"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64" name="Freeform 89">
              <a:extLst>
                <a:ext uri="{FF2B5EF4-FFF2-40B4-BE49-F238E27FC236}">
                  <a16:creationId xmlns:a16="http://schemas.microsoft.com/office/drawing/2014/main" id="{C80FF08C-B05A-5742-B82B-9D6BFBFA2EF0}"/>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65" name="AutoShape 90">
              <a:extLst>
                <a:ext uri="{FF2B5EF4-FFF2-40B4-BE49-F238E27FC236}">
                  <a16:creationId xmlns:a16="http://schemas.microsoft.com/office/drawing/2014/main" id="{D46EF758-7531-924C-8A33-5AC571E08EE6}"/>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66" name="AutoShape 91">
              <a:extLst>
                <a:ext uri="{FF2B5EF4-FFF2-40B4-BE49-F238E27FC236}">
                  <a16:creationId xmlns:a16="http://schemas.microsoft.com/office/drawing/2014/main" id="{E252E208-3522-884B-9DE7-7EB157685A2F}"/>
                </a:ext>
              </a:extLst>
            </p:cNvPr>
            <p:cNvSpPr>
              <a:spLocks noChangeArrowheads="1"/>
            </p:cNvSpPr>
            <p:nvPr/>
          </p:nvSpPr>
          <p:spPr bwMode="auto">
            <a:xfrm>
              <a:off x="4206" y="2712"/>
              <a:ext cx="1067" cy="84"/>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67" name="Oval 92">
              <a:extLst>
                <a:ext uri="{FF2B5EF4-FFF2-40B4-BE49-F238E27FC236}">
                  <a16:creationId xmlns:a16="http://schemas.microsoft.com/office/drawing/2014/main" id="{957DD520-6280-3E4E-BAD7-651F51413973}"/>
                </a:ext>
              </a:extLst>
            </p:cNvPr>
            <p:cNvSpPr>
              <a:spLocks noChangeArrowheads="1"/>
            </p:cNvSpPr>
            <p:nvPr/>
          </p:nvSpPr>
          <p:spPr bwMode="auto">
            <a:xfrm>
              <a:off x="4311" y="2381"/>
              <a:ext cx="154"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68" name="Oval 93">
              <a:extLst>
                <a:ext uri="{FF2B5EF4-FFF2-40B4-BE49-F238E27FC236}">
                  <a16:creationId xmlns:a16="http://schemas.microsoft.com/office/drawing/2014/main" id="{ECF80637-5F56-1F4E-A6A8-ED0FA8AC5356}"/>
                </a:ext>
              </a:extLst>
            </p:cNvPr>
            <p:cNvSpPr>
              <a:spLocks noChangeArrowheads="1"/>
            </p:cNvSpPr>
            <p:nvPr/>
          </p:nvSpPr>
          <p:spPr bwMode="auto">
            <a:xfrm>
              <a:off x="4487" y="2386"/>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69" name="Oval 94">
              <a:extLst>
                <a:ext uri="{FF2B5EF4-FFF2-40B4-BE49-F238E27FC236}">
                  <a16:creationId xmlns:a16="http://schemas.microsoft.com/office/drawing/2014/main" id="{FFEB5237-B81D-9B45-A444-21BB499020C9}"/>
                </a:ext>
              </a:extLst>
            </p:cNvPr>
            <p:cNvSpPr>
              <a:spLocks noChangeArrowheads="1"/>
            </p:cNvSpPr>
            <p:nvPr/>
          </p:nvSpPr>
          <p:spPr bwMode="auto">
            <a:xfrm>
              <a:off x="4663" y="2381"/>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70" name="Rectangle 95">
              <a:extLst>
                <a:ext uri="{FF2B5EF4-FFF2-40B4-BE49-F238E27FC236}">
                  <a16:creationId xmlns:a16="http://schemas.microsoft.com/office/drawing/2014/main" id="{8C2A523A-6ED6-094A-8260-B51956D795A7}"/>
                </a:ext>
              </a:extLst>
            </p:cNvPr>
            <p:cNvSpPr>
              <a:spLocks noChangeArrowheads="1"/>
            </p:cNvSpPr>
            <p:nvPr/>
          </p:nvSpPr>
          <p:spPr bwMode="auto">
            <a:xfrm>
              <a:off x="5064" y="1834"/>
              <a:ext cx="83" cy="764"/>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grpSp>
        <p:nvGrpSpPr>
          <p:cNvPr id="179" name="Group 96">
            <a:extLst>
              <a:ext uri="{FF2B5EF4-FFF2-40B4-BE49-F238E27FC236}">
                <a16:creationId xmlns:a16="http://schemas.microsoft.com/office/drawing/2014/main" id="{079DFC6E-4E8A-7B4D-8113-190A0989D0FB}"/>
              </a:ext>
            </a:extLst>
          </p:cNvPr>
          <p:cNvGrpSpPr>
            <a:grpSpLocks/>
          </p:cNvGrpSpPr>
          <p:nvPr/>
        </p:nvGrpSpPr>
        <p:grpSpPr bwMode="auto">
          <a:xfrm>
            <a:off x="2734523" y="1369488"/>
            <a:ext cx="667783" cy="586047"/>
            <a:chOff x="-44" y="1473"/>
            <a:chExt cx="981" cy="1105"/>
          </a:xfrm>
        </p:grpSpPr>
        <p:pic>
          <p:nvPicPr>
            <p:cNvPr id="180" name="Picture 97" descr="desktop_computer_stylized_medium">
              <a:extLst>
                <a:ext uri="{FF2B5EF4-FFF2-40B4-BE49-F238E27FC236}">
                  <a16:creationId xmlns:a16="http://schemas.microsoft.com/office/drawing/2014/main" id="{FB14A9C2-A921-3747-8B81-81EE51820A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Freeform 98">
              <a:extLst>
                <a:ext uri="{FF2B5EF4-FFF2-40B4-BE49-F238E27FC236}">
                  <a16:creationId xmlns:a16="http://schemas.microsoft.com/office/drawing/2014/main" id="{9C2960BD-B3C9-AE44-9E68-217EF326B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sp>
        <p:nvSpPr>
          <p:cNvPr id="88" name="Line 15">
            <a:extLst>
              <a:ext uri="{FF2B5EF4-FFF2-40B4-BE49-F238E27FC236}">
                <a16:creationId xmlns:a16="http://schemas.microsoft.com/office/drawing/2014/main" id="{9030FA43-2615-A74C-949D-871EDD5258E9}"/>
              </a:ext>
            </a:extLst>
          </p:cNvPr>
          <p:cNvSpPr>
            <a:spLocks noChangeShapeType="1"/>
          </p:cNvSpPr>
          <p:nvPr/>
        </p:nvSpPr>
        <p:spPr bwMode="auto">
          <a:xfrm flipH="1">
            <a:off x="2999897" y="1993139"/>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89" name="Text Box 37">
            <a:extLst>
              <a:ext uri="{FF2B5EF4-FFF2-40B4-BE49-F238E27FC236}">
                <a16:creationId xmlns:a16="http://schemas.microsoft.com/office/drawing/2014/main" id="{7717F97B-37DE-2442-8F9E-81FB9F33AB23}"/>
              </a:ext>
            </a:extLst>
          </p:cNvPr>
          <p:cNvSpPr txBox="1">
            <a:spLocks noChangeArrowheads="1"/>
          </p:cNvSpPr>
          <p:nvPr/>
        </p:nvSpPr>
        <p:spPr bwMode="auto">
          <a:xfrm>
            <a:off x="2746707" y="6459827"/>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0" name="Line 15">
            <a:extLst>
              <a:ext uri="{FF2B5EF4-FFF2-40B4-BE49-F238E27FC236}">
                <a16:creationId xmlns:a16="http://schemas.microsoft.com/office/drawing/2014/main" id="{6E5A588C-0539-7140-B8E3-80735DCD2D47}"/>
              </a:ext>
            </a:extLst>
          </p:cNvPr>
          <p:cNvSpPr>
            <a:spLocks noChangeShapeType="1"/>
          </p:cNvSpPr>
          <p:nvPr/>
        </p:nvSpPr>
        <p:spPr bwMode="auto">
          <a:xfrm flipH="1">
            <a:off x="6867352" y="2001551"/>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91" name="Text Box 37">
            <a:extLst>
              <a:ext uri="{FF2B5EF4-FFF2-40B4-BE49-F238E27FC236}">
                <a16:creationId xmlns:a16="http://schemas.microsoft.com/office/drawing/2014/main" id="{716E4165-7532-204E-993F-D649CD87137C}"/>
              </a:ext>
            </a:extLst>
          </p:cNvPr>
          <p:cNvSpPr txBox="1">
            <a:spLocks noChangeArrowheads="1"/>
          </p:cNvSpPr>
          <p:nvPr/>
        </p:nvSpPr>
        <p:spPr bwMode="auto">
          <a:xfrm>
            <a:off x="6614162" y="6468239"/>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2" name="Slide Number Placeholder 2">
            <a:extLst>
              <a:ext uri="{FF2B5EF4-FFF2-40B4-BE49-F238E27FC236}">
                <a16:creationId xmlns:a16="http://schemas.microsoft.com/office/drawing/2014/main" id="{5F971824-E93B-A24D-9AB3-D5859F34EEA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36</a:t>
            </a:fld>
            <a:endParaRPr lang="en-US" dirty="0"/>
          </a:p>
        </p:txBody>
      </p:sp>
    </p:spTree>
    <p:extLst>
      <p:ext uri="{BB962C8B-B14F-4D97-AF65-F5344CB8AC3E}">
        <p14:creationId xmlns:p14="http://schemas.microsoft.com/office/powerpoint/2010/main" val="2680331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08"/>
                                        </p:tgtEl>
                                        <p:attrNameLst>
                                          <p:attrName>style.visibility</p:attrName>
                                        </p:attrNameLst>
                                      </p:cBhvr>
                                      <p:to>
                                        <p:strVal val="hidden"/>
                                      </p:to>
                                    </p:set>
                                  </p:childTnLst>
                                </p:cTn>
                              </p:par>
                              <p:par>
                                <p:cTn id="7" presetID="22" presetClass="entr" presetSubtype="8" fill="hold" nodeType="withEffect">
                                  <p:stCondLst>
                                    <p:cond delay="0"/>
                                  </p:stCondLst>
                                  <p:childTnLst>
                                    <p:set>
                                      <p:cBhvr>
                                        <p:cTn id="8" dur="1" fill="hold">
                                          <p:stCondLst>
                                            <p:cond delay="0"/>
                                          </p:stCondLst>
                                        </p:cTn>
                                        <p:tgtEl>
                                          <p:spTgt spid="121"/>
                                        </p:tgtEl>
                                        <p:attrNameLst>
                                          <p:attrName>style.visibility</p:attrName>
                                        </p:attrNameLst>
                                      </p:cBhvr>
                                      <p:to>
                                        <p:strVal val="visible"/>
                                      </p:to>
                                    </p:set>
                                    <p:animEffect transition="in" filter="wipe(left)">
                                      <p:cBhvr>
                                        <p:cTn id="9" dur="2000"/>
                                        <p:tgtEl>
                                          <p:spTgt spid="121"/>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129"/>
                                        </p:tgtEl>
                                        <p:attrNameLst>
                                          <p:attrName>style.visibility</p:attrName>
                                        </p:attrNameLst>
                                      </p:cBhvr>
                                      <p:to>
                                        <p:strVal val="visible"/>
                                      </p:to>
                                    </p:set>
                                    <p:animEffect transition="in" filter="wipe(right)">
                                      <p:cBhvr>
                                        <p:cTn id="14" dur="3000"/>
                                        <p:tgtEl>
                                          <p:spTgt spid="12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110"/>
                                        </p:tgtEl>
                                        <p:attrNameLst>
                                          <p:attrName>style.visibility</p:attrName>
                                        </p:attrNameLst>
                                      </p:cBhvr>
                                      <p:to>
                                        <p:strVal val="visible"/>
                                      </p:to>
                                    </p:set>
                                    <p:animEffect transition="in" filter="wipe(left)">
                                      <p:cBhvr>
                                        <p:cTn id="19" dur="2000"/>
                                        <p:tgtEl>
                                          <p:spTgt spid="110"/>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98"/>
                                        </p:tgtEl>
                                        <p:attrNameLst>
                                          <p:attrName>style.visibility</p:attrName>
                                        </p:attrNameLst>
                                      </p:cBhvr>
                                      <p:to>
                                        <p:strVal val="visible"/>
                                      </p:to>
                                    </p:set>
                                    <p:animEffect transition="in" filter="wipe(right)">
                                      <p:cBhvr>
                                        <p:cTn id="23" dur="1000"/>
                                        <p:tgtEl>
                                          <p:spTgt spid="98"/>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09"/>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141"/>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35"/>
                                        </p:tgtEl>
                                        <p:attrNameLst>
                                          <p:attrName>style.visibility</p:attrName>
                                        </p:attrNameLst>
                                      </p:cBhvr>
                                      <p:to>
                                        <p:strVal val="visible"/>
                                      </p:to>
                                    </p:set>
                                    <p:animEffect transition="in" filter="wipe(left)">
                                      <p:cBhvr>
                                        <p:cTn id="34" dur="2000"/>
                                        <p:tgtEl>
                                          <p:spTgt spid="135"/>
                                        </p:tgtEl>
                                      </p:cBhvr>
                                    </p:animEffect>
                                  </p:childTnLst>
                                </p:cTn>
                              </p:par>
                            </p:childTnLst>
                          </p:cTn>
                        </p:par>
                        <p:par>
                          <p:cTn id="35" fill="hold">
                            <p:stCondLst>
                              <p:cond delay="2000"/>
                            </p:stCondLst>
                            <p:childTnLst>
                              <p:par>
                                <p:cTn id="36" presetID="22" presetClass="entr" presetSubtype="2" fill="hold" nodeType="afterEffect">
                                  <p:stCondLst>
                                    <p:cond delay="0"/>
                                  </p:stCondLst>
                                  <p:childTnLst>
                                    <p:set>
                                      <p:cBhvr>
                                        <p:cTn id="37" dur="1" fill="hold">
                                          <p:stCondLst>
                                            <p:cond delay="0"/>
                                          </p:stCondLst>
                                        </p:cTn>
                                        <p:tgtEl>
                                          <p:spTgt spid="103"/>
                                        </p:tgtEl>
                                        <p:attrNameLst>
                                          <p:attrName>style.visibility</p:attrName>
                                        </p:attrNameLst>
                                      </p:cBhvr>
                                      <p:to>
                                        <p:strVal val="visible"/>
                                      </p:to>
                                    </p:set>
                                    <p:animEffect transition="in" filter="wipe(right)">
                                      <p:cBhvr>
                                        <p:cTn id="38" dur="2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09"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 cookies: comments</a:t>
            </a:r>
            <a:endParaRPr lang="en-US" sz="4400" dirty="0"/>
          </a:p>
        </p:txBody>
      </p:sp>
      <p:sp>
        <p:nvSpPr>
          <p:cNvPr id="88" name="Rectangle 3">
            <a:extLst>
              <a:ext uri="{FF2B5EF4-FFF2-40B4-BE49-F238E27FC236}">
                <a16:creationId xmlns:a16="http://schemas.microsoft.com/office/drawing/2014/main" id="{7CD5F1C3-47BC-1645-A288-078B99127C22}"/>
              </a:ext>
            </a:extLst>
          </p:cNvPr>
          <p:cNvSpPr txBox="1">
            <a:spLocks noChangeArrowheads="1"/>
          </p:cNvSpPr>
          <p:nvPr/>
        </p:nvSpPr>
        <p:spPr>
          <a:xfrm>
            <a:off x="648049" y="1556443"/>
            <a:ext cx="6034668" cy="2641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What cookies can be used for</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authorization</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shopping carts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recommendations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session state (Web e-mail)</a:t>
            </a:r>
          </a:p>
        </p:txBody>
      </p:sp>
      <p:sp>
        <p:nvSpPr>
          <p:cNvPr id="89" name="Rectangle 13">
            <a:extLst>
              <a:ext uri="{FF2B5EF4-FFF2-40B4-BE49-F238E27FC236}">
                <a16:creationId xmlns:a16="http://schemas.microsoft.com/office/drawing/2014/main" id="{BC2253F6-EA38-7C47-9CAD-4C2EC6BB22FB}"/>
              </a:ext>
            </a:extLst>
          </p:cNvPr>
          <p:cNvSpPr>
            <a:spLocks noChangeArrowheads="1"/>
          </p:cNvSpPr>
          <p:nvPr/>
        </p:nvSpPr>
        <p:spPr bwMode="auto">
          <a:xfrm>
            <a:off x="7504291" y="1568189"/>
            <a:ext cx="3810000" cy="3553646"/>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cookies and privacy:</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permit sites to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learn</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 lot about you on their site.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third party persistent cookies (tracking cookies) allow common identity (cookie value) to be tracked across multiple web sites</a:t>
            </a:r>
          </a:p>
        </p:txBody>
      </p:sp>
      <p:sp>
        <p:nvSpPr>
          <p:cNvPr id="90" name="Text Box 14">
            <a:extLst>
              <a:ext uri="{FF2B5EF4-FFF2-40B4-BE49-F238E27FC236}">
                <a16:creationId xmlns:a16="http://schemas.microsoft.com/office/drawing/2014/main" id="{D023EC46-D7D8-D04C-9048-D7EFE18FF312}"/>
              </a:ext>
            </a:extLst>
          </p:cNvPr>
          <p:cNvSpPr txBox="1">
            <a:spLocks noChangeArrowheads="1"/>
          </p:cNvSpPr>
          <p:nvPr/>
        </p:nvSpPr>
        <p:spPr bwMode="auto">
          <a:xfrm>
            <a:off x="10149568" y="1325611"/>
            <a:ext cx="838691"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aside</a:t>
            </a:r>
          </a:p>
        </p:txBody>
      </p:sp>
      <p:sp>
        <p:nvSpPr>
          <p:cNvPr id="91" name="Rectangle 15">
            <a:extLst>
              <a:ext uri="{FF2B5EF4-FFF2-40B4-BE49-F238E27FC236}">
                <a16:creationId xmlns:a16="http://schemas.microsoft.com/office/drawing/2014/main" id="{2C2FE22D-B17F-7C44-AE2F-82497658660C}"/>
              </a:ext>
            </a:extLst>
          </p:cNvPr>
          <p:cNvSpPr>
            <a:spLocks noChangeArrowheads="1"/>
          </p:cNvSpPr>
          <p:nvPr/>
        </p:nvSpPr>
        <p:spPr bwMode="auto">
          <a:xfrm>
            <a:off x="721562" y="3980757"/>
            <a:ext cx="6267067" cy="264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Challenge: How to keep </a:t>
            </a:r>
            <a:r>
              <a:rPr kumimoji="0" lang="en-US" altLang="ja-JP"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state?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at protocol endpoints: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maintain state at sender/receiver over multiple transactions</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in messages: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in HTTP messages carry state</a:t>
            </a:r>
          </a:p>
        </p:txBody>
      </p:sp>
      <p:sp>
        <p:nvSpPr>
          <p:cNvPr id="7" name="Slide Number Placeholder 2">
            <a:extLst>
              <a:ext uri="{FF2B5EF4-FFF2-40B4-BE49-F238E27FC236}">
                <a16:creationId xmlns:a16="http://schemas.microsoft.com/office/drawing/2014/main" id="{4CE1477A-D004-E440-8562-59DA6EAD8E6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37</a:t>
            </a:fld>
            <a:endParaRPr lang="en-US" dirty="0"/>
          </a:p>
        </p:txBody>
      </p:sp>
    </p:spTree>
    <p:extLst>
      <p:ext uri="{BB962C8B-B14F-4D97-AF65-F5344CB8AC3E}">
        <p14:creationId xmlns:p14="http://schemas.microsoft.com/office/powerpoint/2010/main" val="2696498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9"/>
                                        </p:tgtEl>
                                        <p:attrNameLst>
                                          <p:attrName>style.visibility</p:attrName>
                                        </p:attrNameLst>
                                      </p:cBhvr>
                                      <p:to>
                                        <p:strVal val="visible"/>
                                      </p:to>
                                    </p:set>
                                    <p:animEffect transition="in" filter="dissolve">
                                      <p:cBhvr>
                                        <p:cTn id="12" dur="500"/>
                                        <p:tgtEl>
                                          <p:spTgt spid="89"/>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90"/>
                                        </p:tgtEl>
                                        <p:attrNameLst>
                                          <p:attrName>style.visibility</p:attrName>
                                        </p:attrNameLst>
                                      </p:cBhvr>
                                      <p:to>
                                        <p:strVal val="visible"/>
                                      </p:to>
                                    </p:set>
                                    <p:animEffect transition="in" filter="dissolve">
                                      <p:cBhvr>
                                        <p:cTn id="15"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1"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790133"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613541" y="1386556"/>
            <a:ext cx="10515600" cy="5071394"/>
          </a:xfrm>
        </p:spPr>
        <p:txBody>
          <a:bodyPr>
            <a:normAutofit lnSpcReduction="10000"/>
          </a:bodyPr>
          <a:lstStyle/>
          <a:p>
            <a:pPr marL="0" indent="0">
              <a:buNone/>
            </a:pPr>
            <a:r>
              <a:rPr lang="en-US" sz="3200" dirty="0"/>
              <a:t>Cookies can be used to: </a:t>
            </a:r>
          </a:p>
          <a:p>
            <a:pPr marL="463550" indent="-227013">
              <a:buClr>
                <a:srgbClr val="0A14A3"/>
              </a:buClr>
              <a:buFont typeface="Wingdings" pitchFamily="2" charset="2"/>
              <a:buChar char="§"/>
            </a:pPr>
            <a:r>
              <a:rPr lang="en-US" dirty="0"/>
              <a:t>track user behavior on a given website (</a:t>
            </a:r>
            <a:r>
              <a:rPr lang="en-US" dirty="0">
                <a:solidFill>
                  <a:srgbClr val="C00000"/>
                </a:solidFill>
              </a:rPr>
              <a:t>first party cookies</a:t>
            </a:r>
            <a:r>
              <a:rPr lang="en-US" dirty="0"/>
              <a:t>)</a:t>
            </a:r>
          </a:p>
          <a:p>
            <a:pPr marL="463550" indent="-227013">
              <a:buClr>
                <a:srgbClr val="0A14A3"/>
              </a:buClr>
              <a:buFont typeface="Wingdings" pitchFamily="2" charset="2"/>
              <a:buChar char="§"/>
            </a:pPr>
            <a:r>
              <a:rPr lang="en-US" dirty="0"/>
              <a:t>track user behavior across multiple websites (</a:t>
            </a:r>
            <a:r>
              <a:rPr lang="en-US" dirty="0">
                <a:solidFill>
                  <a:srgbClr val="C00000"/>
                </a:solidFill>
              </a:rPr>
              <a:t>third party cookies</a:t>
            </a:r>
            <a:r>
              <a:rPr lang="en-US" dirty="0"/>
              <a:t>) without user ever choosing to visit tracker site (!)</a:t>
            </a:r>
          </a:p>
          <a:p>
            <a:pPr marL="463550" indent="-227013">
              <a:buClr>
                <a:srgbClr val="0A14A3"/>
              </a:buClr>
              <a:buFont typeface="Wingdings" pitchFamily="2" charset="2"/>
              <a:buChar char="§"/>
            </a:pPr>
            <a:r>
              <a:rPr lang="en-US" dirty="0"/>
              <a:t>tracking may be </a:t>
            </a:r>
            <a:r>
              <a:rPr lang="en-US" i="1" dirty="0"/>
              <a:t>invisible</a:t>
            </a:r>
            <a:r>
              <a:rPr lang="en-US" dirty="0"/>
              <a:t> to user:</a:t>
            </a:r>
          </a:p>
          <a:p>
            <a:pPr marL="860425" lvl="1" indent="-168275">
              <a:buClr>
                <a:srgbClr val="0A14A3"/>
              </a:buClr>
            </a:pPr>
            <a:r>
              <a:rPr lang="en-US" dirty="0"/>
              <a:t>rather than displayed ad triggering HTTP GET to tracker, could be an invisible link</a:t>
            </a:r>
          </a:p>
          <a:p>
            <a:pPr marL="920750" lvl="1" indent="-227013">
              <a:buClr>
                <a:srgbClr val="0A14A3"/>
              </a:buClr>
              <a:buFont typeface="Wingdings" pitchFamily="2" charset="2"/>
              <a:buChar char="§"/>
            </a:pPr>
            <a:endParaRPr lang="en-US" dirty="0"/>
          </a:p>
          <a:p>
            <a:pPr marL="236537" indent="0">
              <a:buClr>
                <a:srgbClr val="0A14A3"/>
              </a:buClr>
              <a:buNone/>
            </a:pPr>
            <a:r>
              <a:rPr lang="en-US" dirty="0"/>
              <a:t>third party tracking via cookies:</a:t>
            </a:r>
          </a:p>
          <a:p>
            <a:pPr marL="692150" indent="-341313">
              <a:buClr>
                <a:srgbClr val="0A14A3"/>
              </a:buClr>
              <a:buFont typeface="Wingdings" pitchFamily="2" charset="2"/>
              <a:buChar char="§"/>
            </a:pPr>
            <a:r>
              <a:rPr lang="en-US" dirty="0"/>
              <a:t>disabled by default in Firefox, Safari browsers</a:t>
            </a:r>
          </a:p>
          <a:p>
            <a:pPr marL="692150" indent="-341313">
              <a:buClr>
                <a:srgbClr val="0A14A3"/>
              </a:buClr>
              <a:buFont typeface="Wingdings" pitchFamily="2" charset="2"/>
              <a:buChar char="§"/>
            </a:pPr>
            <a:r>
              <a:rPr lang="en-US" dirty="0"/>
              <a:t>disabled in Chrome browser in 2023</a:t>
            </a:r>
          </a:p>
        </p:txBody>
      </p:sp>
    </p:spTree>
    <p:extLst>
      <p:ext uri="{BB962C8B-B14F-4D97-AF65-F5344CB8AC3E}">
        <p14:creationId xmlns:p14="http://schemas.microsoft.com/office/powerpoint/2010/main" val="4115819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6" end="6"/>
                                            </p:txEl>
                                          </p:spTgt>
                                        </p:tgtEl>
                                        <p:attrNameLst>
                                          <p:attrName>style.visibility</p:attrName>
                                        </p:attrNameLst>
                                      </p:cBhvr>
                                      <p:to>
                                        <p:strVal val="visible"/>
                                      </p:to>
                                    </p:set>
                                    <p:animEffect transition="in" filter="dissolve">
                                      <p:cBhvr>
                                        <p:cTn id="7" dur="500"/>
                                        <p:tgtEl>
                                          <p:spTgt spid="11">
                                            <p:txEl>
                                              <p:pRg st="6" end="6"/>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7" end="7"/>
                                            </p:txEl>
                                          </p:spTgt>
                                        </p:tgtEl>
                                        <p:attrNameLst>
                                          <p:attrName>style.visibility</p:attrName>
                                        </p:attrNameLst>
                                      </p:cBhvr>
                                      <p:to>
                                        <p:strVal val="visible"/>
                                      </p:to>
                                    </p:set>
                                    <p:animEffect transition="in" filter="dissolve">
                                      <p:cBhvr>
                                        <p:cTn id="10" dur="500"/>
                                        <p:tgtEl>
                                          <p:spTgt spid="11">
                                            <p:txEl>
                                              <p:pRg st="7" end="7"/>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8" end="8"/>
                                            </p:txEl>
                                          </p:spTgt>
                                        </p:tgtEl>
                                        <p:attrNameLst>
                                          <p:attrName>style.visibility</p:attrName>
                                        </p:attrNameLst>
                                      </p:cBhvr>
                                      <p:to>
                                        <p:strVal val="visible"/>
                                      </p:to>
                                    </p:set>
                                    <p:animEffect transition="in" filter="dissolve">
                                      <p:cBhvr>
                                        <p:cTn id="13" dur="500"/>
                                        <p:tgtEl>
                                          <p:spTgt spid="11">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28307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 GDPR </a:t>
            </a:r>
            <a:r>
              <a:rPr kumimoji="0" lang="en-US" sz="2800" b="0" i="0" u="none" strike="noStrike" kern="1200" cap="none" spc="0" normalizeH="0" baseline="0" noProof="0" dirty="0">
                <a:ln>
                  <a:noFill/>
                </a:ln>
                <a:solidFill>
                  <a:srgbClr val="0E01A0"/>
                </a:solidFill>
                <a:effectLst/>
                <a:uLnTx/>
                <a:uFillTx/>
                <a:latin typeface="Calibri" panose="020F0502020204030204"/>
                <a:ea typeface="+mn-ea"/>
                <a:cs typeface="+mn-cs"/>
              </a:rPr>
              <a:t>(EU General Data Protection Regulation)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and cookies</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802727" y="1632893"/>
            <a:ext cx="5736021" cy="2911124"/>
          </a:xfrm>
        </p:spPr>
        <p:txBody>
          <a:bodyPr>
            <a:normAutofit/>
          </a:bodyPr>
          <a:lstStyle/>
          <a:p>
            <a:pPr marL="0" indent="0">
              <a:buNone/>
            </a:pPr>
            <a:r>
              <a:rPr lang="en-US" sz="2000" dirty="0"/>
              <a:t>“Natural persons may be associated with online identifiers […] such as internet protocol addresses, cookie identifiers or other identifiers […].</a:t>
            </a:r>
          </a:p>
          <a:p>
            <a:pPr marL="0" indent="0">
              <a:buNone/>
            </a:pPr>
            <a:r>
              <a:rPr lang="en-US" sz="2000" dirty="0"/>
              <a:t>This may leave traces which, in particular when combined with unique identifiers and other information received by the servers, may be used to create profiles of the natural persons and identify them.”</a:t>
            </a:r>
          </a:p>
          <a:p>
            <a:pPr marL="0" indent="0">
              <a:buNone/>
            </a:pPr>
            <a:endParaRPr lang="en-US" dirty="0"/>
          </a:p>
        </p:txBody>
      </p:sp>
      <p:sp>
        <p:nvSpPr>
          <p:cNvPr id="53" name="Rectangle 52">
            <a:extLst>
              <a:ext uri="{FF2B5EF4-FFF2-40B4-BE49-F238E27FC236}">
                <a16:creationId xmlns:a16="http://schemas.microsoft.com/office/drawing/2014/main" id="{BFBE1986-1770-D04F-A610-BF1A6514BB48}"/>
              </a:ext>
            </a:extLst>
          </p:cNvPr>
          <p:cNvSpPr/>
          <p:nvPr/>
        </p:nvSpPr>
        <p:spPr>
          <a:xfrm>
            <a:off x="547457" y="1418109"/>
            <a:ext cx="6229350" cy="2903220"/>
          </a:xfrm>
          <a:prstGeom prst="rect">
            <a:avLst/>
          </a:pr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4074E854-33C2-FC45-A070-05AF1EC24A62}"/>
              </a:ext>
            </a:extLst>
          </p:cNvPr>
          <p:cNvSpPr txBox="1"/>
          <p:nvPr/>
        </p:nvSpPr>
        <p:spPr>
          <a:xfrm>
            <a:off x="3578771" y="4114800"/>
            <a:ext cx="2817887"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GDPR, recital 30 (May 2018)</a:t>
            </a:r>
          </a:p>
        </p:txBody>
      </p:sp>
      <p:grpSp>
        <p:nvGrpSpPr>
          <p:cNvPr id="58" name="Group 57">
            <a:extLst>
              <a:ext uri="{FF2B5EF4-FFF2-40B4-BE49-F238E27FC236}">
                <a16:creationId xmlns:a16="http://schemas.microsoft.com/office/drawing/2014/main" id="{B52903E8-B701-5148-93B6-EC1E4331F5FB}"/>
              </a:ext>
            </a:extLst>
          </p:cNvPr>
          <p:cNvGrpSpPr/>
          <p:nvPr/>
        </p:nvGrpSpPr>
        <p:grpSpPr>
          <a:xfrm>
            <a:off x="7162802" y="1198179"/>
            <a:ext cx="5029198" cy="4840014"/>
            <a:chOff x="6810703" y="931954"/>
            <a:chExt cx="5675585" cy="5736860"/>
          </a:xfrm>
        </p:grpSpPr>
        <p:pic>
          <p:nvPicPr>
            <p:cNvPr id="173" name="Picture 2" descr="17 19 21.5 23.6&amp;#39;&amp;#39; Inch 60HZ IPS lcd Monitor display for desktop computer  pc|LCD Monitors| - AliExpress">
              <a:extLst>
                <a:ext uri="{FF2B5EF4-FFF2-40B4-BE49-F238E27FC236}">
                  <a16:creationId xmlns:a16="http://schemas.microsoft.com/office/drawing/2014/main" id="{E2A13C1C-98B5-DC49-B1BB-DBCFA4C0DF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10703" y="931954"/>
              <a:ext cx="5675585" cy="5736860"/>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50">
              <a:extLst>
                <a:ext uri="{FF2B5EF4-FFF2-40B4-BE49-F238E27FC236}">
                  <a16:creationId xmlns:a16="http://schemas.microsoft.com/office/drawing/2014/main" id="{30D92692-1901-A141-88C9-0A095B294528}"/>
                </a:ext>
              </a:extLst>
            </p:cNvPr>
            <p:cNvPicPr>
              <a:picLocks noChangeAspect="1"/>
            </p:cNvPicPr>
            <p:nvPr/>
          </p:nvPicPr>
          <p:blipFill>
            <a:blip r:embed="rId4"/>
            <a:stretch>
              <a:fillRect/>
            </a:stretch>
          </p:blipFill>
          <p:spPr>
            <a:xfrm>
              <a:off x="7772399" y="1697511"/>
              <a:ext cx="3859905" cy="3315923"/>
            </a:xfrm>
            <a:prstGeom prst="rect">
              <a:avLst/>
            </a:prstGeom>
            <a:ln w="31750">
              <a:solidFill>
                <a:schemeClr val="bg1">
                  <a:lumMod val="75000"/>
                </a:schemeClr>
              </a:solidFill>
            </a:ln>
            <a:effectLst>
              <a:outerShdw blurRad="50800" dist="38100" dir="2700000" algn="tl" rotWithShape="0">
                <a:prstClr val="black">
                  <a:alpha val="40000"/>
                </a:prstClr>
              </a:outerShdw>
            </a:effectLst>
          </p:spPr>
        </p:pic>
        <p:sp>
          <p:nvSpPr>
            <p:cNvPr id="56" name="Rectangle 55">
              <a:extLst>
                <a:ext uri="{FF2B5EF4-FFF2-40B4-BE49-F238E27FC236}">
                  <a16:creationId xmlns:a16="http://schemas.microsoft.com/office/drawing/2014/main" id="{2E1F02BC-6660-6941-B402-887A3D821B18}"/>
                </a:ext>
              </a:extLst>
            </p:cNvPr>
            <p:cNvSpPr/>
            <p:nvPr/>
          </p:nvSpPr>
          <p:spPr>
            <a:xfrm>
              <a:off x="7993117" y="3957145"/>
              <a:ext cx="3484180" cy="930165"/>
            </a:xfrm>
            <a:prstGeom prst="rect">
              <a:avLst/>
            </a:prstGeom>
            <a:noFill/>
            <a:ln w="6032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A76BEBCE-C465-314E-86E0-F0EBEB0CE0D0}"/>
                </a:ext>
              </a:extLst>
            </p:cNvPr>
            <p:cNvSpPr txBox="1"/>
            <p:nvPr/>
          </p:nvSpPr>
          <p:spPr>
            <a:xfrm>
              <a:off x="8071944" y="5580992"/>
              <a:ext cx="3263462" cy="923330"/>
            </a:xfrm>
            <a:prstGeom prst="rect">
              <a:avLst/>
            </a:prstGeom>
            <a:solidFill>
              <a:schemeClr val="bg1">
                <a:alpha val="67000"/>
              </a:schemeClr>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User has explicit control over whether or not cookies are allowed</a:t>
              </a:r>
            </a:p>
          </p:txBody>
        </p:sp>
      </p:grpSp>
      <p:grpSp>
        <p:nvGrpSpPr>
          <p:cNvPr id="60" name="Group 59">
            <a:extLst>
              <a:ext uri="{FF2B5EF4-FFF2-40B4-BE49-F238E27FC236}">
                <a16:creationId xmlns:a16="http://schemas.microsoft.com/office/drawing/2014/main" id="{B8831A28-D235-DF45-926A-DE576497C8EE}"/>
              </a:ext>
            </a:extLst>
          </p:cNvPr>
          <p:cNvGrpSpPr/>
          <p:nvPr/>
        </p:nvGrpSpPr>
        <p:grpSpPr>
          <a:xfrm>
            <a:off x="504498" y="4461641"/>
            <a:ext cx="6274676" cy="1988605"/>
            <a:chOff x="504498" y="4461641"/>
            <a:chExt cx="6274676" cy="1988605"/>
          </a:xfrm>
        </p:grpSpPr>
        <p:sp>
          <p:nvSpPr>
            <p:cNvPr id="54" name="TextBox 53">
              <a:extLst>
                <a:ext uri="{FF2B5EF4-FFF2-40B4-BE49-F238E27FC236}">
                  <a16:creationId xmlns:a16="http://schemas.microsoft.com/office/drawing/2014/main" id="{BC9FA0C1-0C19-8F42-9B02-DABB110E178D}"/>
                </a:ext>
              </a:extLst>
            </p:cNvPr>
            <p:cNvSpPr txBox="1"/>
            <p:nvPr/>
          </p:nvSpPr>
          <p:spPr>
            <a:xfrm>
              <a:off x="504498" y="5249917"/>
              <a:ext cx="6274676"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when cookies can identify an individual, cookies are considered personal data, subject to GDPR personal data regulations</a:t>
              </a:r>
            </a:p>
          </p:txBody>
        </p:sp>
        <p:sp>
          <p:nvSpPr>
            <p:cNvPr id="59" name="Down Arrow 58">
              <a:extLst>
                <a:ext uri="{FF2B5EF4-FFF2-40B4-BE49-F238E27FC236}">
                  <a16:creationId xmlns:a16="http://schemas.microsoft.com/office/drawing/2014/main" id="{BD67E037-04D0-5242-9C92-6158A1ED1E53}"/>
                </a:ext>
              </a:extLst>
            </p:cNvPr>
            <p:cNvSpPr/>
            <p:nvPr/>
          </p:nvSpPr>
          <p:spPr>
            <a:xfrm>
              <a:off x="3058509" y="4461641"/>
              <a:ext cx="646387" cy="819807"/>
            </a:xfrm>
            <a:prstGeom prst="downArrow">
              <a:avLst/>
            </a:prstGeom>
            <a:gradFill>
              <a:gsLst>
                <a:gs pos="0">
                  <a:schemeClr val="accent1">
                    <a:lumMod val="5000"/>
                    <a:lumOff val="95000"/>
                  </a:schemeClr>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33124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up)">
                                      <p:cBhvr>
                                        <p:cTn id="7" dur="500"/>
                                        <p:tgtEl>
                                          <p:spTgt spid="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dissolve">
                                      <p:cBhvr>
                                        <p:cTn id="1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Web caches</a:t>
            </a:r>
            <a:endParaRPr lang="en-US" sz="4400" dirty="0"/>
          </a:p>
        </p:txBody>
      </p:sp>
      <p:grpSp>
        <p:nvGrpSpPr>
          <p:cNvPr id="8" name="Group 171">
            <a:extLst>
              <a:ext uri="{FF2B5EF4-FFF2-40B4-BE49-F238E27FC236}">
                <a16:creationId xmlns:a16="http://schemas.microsoft.com/office/drawing/2014/main" id="{E76E25C6-83D0-304F-B3E3-A37D3DAE7B5C}"/>
              </a:ext>
            </a:extLst>
          </p:cNvPr>
          <p:cNvGrpSpPr>
            <a:grpSpLocks/>
          </p:cNvGrpSpPr>
          <p:nvPr/>
        </p:nvGrpSpPr>
        <p:grpSpPr bwMode="auto">
          <a:xfrm>
            <a:off x="6272213" y="2445088"/>
            <a:ext cx="687387" cy="763588"/>
            <a:chOff x="-44" y="1473"/>
            <a:chExt cx="981" cy="1105"/>
          </a:xfrm>
        </p:grpSpPr>
        <p:pic>
          <p:nvPicPr>
            <p:cNvPr id="10" name="Picture 172" descr="desktop_computer_stylized_medium">
              <a:extLst>
                <a:ext uri="{FF2B5EF4-FFF2-40B4-BE49-F238E27FC236}">
                  <a16:creationId xmlns:a16="http://schemas.microsoft.com/office/drawing/2014/main" id="{CB2AE99F-D134-A74A-947C-5E7B017C1D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Freeform 173">
              <a:extLst>
                <a:ext uri="{FF2B5EF4-FFF2-40B4-BE49-F238E27FC236}">
                  <a16:creationId xmlns:a16="http://schemas.microsoft.com/office/drawing/2014/main" id="{CC3CBC7E-C664-ED4A-8BFE-4C6C0A390F2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2" name="Group 102">
            <a:extLst>
              <a:ext uri="{FF2B5EF4-FFF2-40B4-BE49-F238E27FC236}">
                <a16:creationId xmlns:a16="http://schemas.microsoft.com/office/drawing/2014/main" id="{341AE079-CB6E-AE4A-A6CF-6667D0BCC3A6}"/>
              </a:ext>
            </a:extLst>
          </p:cNvPr>
          <p:cNvGrpSpPr>
            <a:grpSpLocks/>
          </p:cNvGrpSpPr>
          <p:nvPr/>
        </p:nvGrpSpPr>
        <p:grpSpPr bwMode="auto">
          <a:xfrm>
            <a:off x="6337300" y="4318338"/>
            <a:ext cx="687388" cy="763588"/>
            <a:chOff x="-44" y="1473"/>
            <a:chExt cx="981" cy="1105"/>
          </a:xfrm>
        </p:grpSpPr>
        <p:pic>
          <p:nvPicPr>
            <p:cNvPr id="13" name="Picture 103" descr="desktop_computer_stylized_medium">
              <a:extLst>
                <a:ext uri="{FF2B5EF4-FFF2-40B4-BE49-F238E27FC236}">
                  <a16:creationId xmlns:a16="http://schemas.microsoft.com/office/drawing/2014/main" id="{0F7D667F-14F5-8947-8466-5A2508D1FF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Freeform 104">
              <a:extLst>
                <a:ext uri="{FF2B5EF4-FFF2-40B4-BE49-F238E27FC236}">
                  <a16:creationId xmlns:a16="http://schemas.microsoft.com/office/drawing/2014/main" id="{1CCE495C-FE29-374C-9BCD-5BFBA55DE77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48" name="Group 105">
            <a:extLst>
              <a:ext uri="{FF2B5EF4-FFF2-40B4-BE49-F238E27FC236}">
                <a16:creationId xmlns:a16="http://schemas.microsoft.com/office/drawing/2014/main" id="{713D2680-FE84-BF45-82AB-42E37E22BD97}"/>
              </a:ext>
            </a:extLst>
          </p:cNvPr>
          <p:cNvGrpSpPr>
            <a:grpSpLocks/>
          </p:cNvGrpSpPr>
          <p:nvPr/>
        </p:nvGrpSpPr>
        <p:grpSpPr bwMode="auto">
          <a:xfrm>
            <a:off x="10423525" y="2586376"/>
            <a:ext cx="433388" cy="715962"/>
            <a:chOff x="4140" y="429"/>
            <a:chExt cx="1425" cy="2396"/>
          </a:xfrm>
        </p:grpSpPr>
        <p:sp>
          <p:nvSpPr>
            <p:cNvPr id="49" name="Freeform 106">
              <a:extLst>
                <a:ext uri="{FF2B5EF4-FFF2-40B4-BE49-F238E27FC236}">
                  <a16:creationId xmlns:a16="http://schemas.microsoft.com/office/drawing/2014/main" id="{F351644B-40EC-1643-B55C-BD6490B42BA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0" name="Rectangle 107">
              <a:extLst>
                <a:ext uri="{FF2B5EF4-FFF2-40B4-BE49-F238E27FC236}">
                  <a16:creationId xmlns:a16="http://schemas.microsoft.com/office/drawing/2014/main" id="{C431E1A6-A308-714C-9DB4-CD66A6C1EE17}"/>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1" name="Freeform 108">
              <a:extLst>
                <a:ext uri="{FF2B5EF4-FFF2-40B4-BE49-F238E27FC236}">
                  <a16:creationId xmlns:a16="http://schemas.microsoft.com/office/drawing/2014/main" id="{31CFCE65-E538-0841-8EF3-0F63DB8943E8}"/>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2" name="Freeform 109">
              <a:extLst>
                <a:ext uri="{FF2B5EF4-FFF2-40B4-BE49-F238E27FC236}">
                  <a16:creationId xmlns:a16="http://schemas.microsoft.com/office/drawing/2014/main" id="{ECC9C409-7630-F84A-B584-5C94715A698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3" name="Rectangle 110">
              <a:extLst>
                <a:ext uri="{FF2B5EF4-FFF2-40B4-BE49-F238E27FC236}">
                  <a16:creationId xmlns:a16="http://schemas.microsoft.com/office/drawing/2014/main" id="{F46717B0-272A-7C4F-B732-92EEC8E77AD3}"/>
                </a:ext>
              </a:extLst>
            </p:cNvPr>
            <p:cNvSpPr>
              <a:spLocks noChangeArrowheads="1"/>
            </p:cNvSpPr>
            <p:nvPr/>
          </p:nvSpPr>
          <p:spPr bwMode="auto">
            <a:xfrm>
              <a:off x="4213" y="695"/>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54" name="Group 111">
              <a:extLst>
                <a:ext uri="{FF2B5EF4-FFF2-40B4-BE49-F238E27FC236}">
                  <a16:creationId xmlns:a16="http://schemas.microsoft.com/office/drawing/2014/main" id="{F4ACB840-83DF-404B-A66F-DEBB071861C4}"/>
                </a:ext>
              </a:extLst>
            </p:cNvPr>
            <p:cNvGrpSpPr>
              <a:grpSpLocks/>
            </p:cNvGrpSpPr>
            <p:nvPr/>
          </p:nvGrpSpPr>
          <p:grpSpPr bwMode="auto">
            <a:xfrm>
              <a:off x="4749" y="668"/>
              <a:ext cx="581" cy="145"/>
              <a:chOff x="614" y="2568"/>
              <a:chExt cx="725" cy="139"/>
            </a:xfrm>
          </p:grpSpPr>
          <p:sp>
            <p:nvSpPr>
              <p:cNvPr id="79" name="AutoShape 112">
                <a:extLst>
                  <a:ext uri="{FF2B5EF4-FFF2-40B4-BE49-F238E27FC236}">
                    <a16:creationId xmlns:a16="http://schemas.microsoft.com/office/drawing/2014/main" id="{A911B0DC-A8C2-124C-9C82-2A735A79B97C}"/>
                  </a:ext>
                </a:extLst>
              </p:cNvPr>
              <p:cNvSpPr>
                <a:spLocks noChangeArrowheads="1"/>
              </p:cNvSpPr>
              <p:nvPr/>
            </p:nvSpPr>
            <p:spPr bwMode="auto">
              <a:xfrm>
                <a:off x="616" y="2568"/>
                <a:ext cx="723"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80" name="AutoShape 113">
                <a:extLst>
                  <a:ext uri="{FF2B5EF4-FFF2-40B4-BE49-F238E27FC236}">
                    <a16:creationId xmlns:a16="http://schemas.microsoft.com/office/drawing/2014/main" id="{9F0B8CE7-288A-EE43-A6E4-C3D97C626F46}"/>
                  </a:ext>
                </a:extLst>
              </p:cNvPr>
              <p:cNvSpPr>
                <a:spLocks noChangeArrowheads="1"/>
              </p:cNvSpPr>
              <p:nvPr/>
            </p:nvSpPr>
            <p:spPr bwMode="auto">
              <a:xfrm>
                <a:off x="629" y="2583"/>
                <a:ext cx="69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55" name="Rectangle 114">
              <a:extLst>
                <a:ext uri="{FF2B5EF4-FFF2-40B4-BE49-F238E27FC236}">
                  <a16:creationId xmlns:a16="http://schemas.microsoft.com/office/drawing/2014/main" id="{766D4B94-8E57-804B-B018-819DFD6CDCC0}"/>
                </a:ext>
              </a:extLst>
            </p:cNvPr>
            <p:cNvSpPr>
              <a:spLocks noChangeArrowheads="1"/>
            </p:cNvSpPr>
            <p:nvPr/>
          </p:nvSpPr>
          <p:spPr bwMode="auto">
            <a:xfrm>
              <a:off x="4224" y="101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56" name="Group 115">
              <a:extLst>
                <a:ext uri="{FF2B5EF4-FFF2-40B4-BE49-F238E27FC236}">
                  <a16:creationId xmlns:a16="http://schemas.microsoft.com/office/drawing/2014/main" id="{D994FF4C-7626-D748-A12D-5D1C5FEE1AC4}"/>
                </a:ext>
              </a:extLst>
            </p:cNvPr>
            <p:cNvGrpSpPr>
              <a:grpSpLocks/>
            </p:cNvGrpSpPr>
            <p:nvPr/>
          </p:nvGrpSpPr>
          <p:grpSpPr bwMode="auto">
            <a:xfrm>
              <a:off x="4747" y="994"/>
              <a:ext cx="581" cy="134"/>
              <a:chOff x="614" y="2568"/>
              <a:chExt cx="725" cy="139"/>
            </a:xfrm>
          </p:grpSpPr>
          <p:sp>
            <p:nvSpPr>
              <p:cNvPr id="77" name="AutoShape 116">
                <a:extLst>
                  <a:ext uri="{FF2B5EF4-FFF2-40B4-BE49-F238E27FC236}">
                    <a16:creationId xmlns:a16="http://schemas.microsoft.com/office/drawing/2014/main" id="{198A1BC7-4B65-BC4C-8A29-B983D8E1F847}"/>
                  </a:ext>
                </a:extLst>
              </p:cNvPr>
              <p:cNvSpPr>
                <a:spLocks noChangeArrowheads="1"/>
              </p:cNvSpPr>
              <p:nvPr/>
            </p:nvSpPr>
            <p:spPr bwMode="auto">
              <a:xfrm>
                <a:off x="612" y="2566"/>
                <a:ext cx="730"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78" name="AutoShape 117">
                <a:extLst>
                  <a:ext uri="{FF2B5EF4-FFF2-40B4-BE49-F238E27FC236}">
                    <a16:creationId xmlns:a16="http://schemas.microsoft.com/office/drawing/2014/main" id="{40DD27E4-9779-CF42-BFDD-6696DFFFA76C}"/>
                  </a:ext>
                </a:extLst>
              </p:cNvPr>
              <p:cNvSpPr>
                <a:spLocks noChangeArrowheads="1"/>
              </p:cNvSpPr>
              <p:nvPr/>
            </p:nvSpPr>
            <p:spPr bwMode="auto">
              <a:xfrm>
                <a:off x="625" y="2583"/>
                <a:ext cx="697"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57" name="Rectangle 118">
              <a:extLst>
                <a:ext uri="{FF2B5EF4-FFF2-40B4-BE49-F238E27FC236}">
                  <a16:creationId xmlns:a16="http://schemas.microsoft.com/office/drawing/2014/main" id="{ACA44148-7C10-3C49-BB35-5101746C955C}"/>
                </a:ext>
              </a:extLst>
            </p:cNvPr>
            <p:cNvSpPr>
              <a:spLocks noChangeArrowheads="1"/>
            </p:cNvSpPr>
            <p:nvPr/>
          </p:nvSpPr>
          <p:spPr bwMode="auto">
            <a:xfrm>
              <a:off x="4218" y="135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8" name="Rectangle 119">
              <a:extLst>
                <a:ext uri="{FF2B5EF4-FFF2-40B4-BE49-F238E27FC236}">
                  <a16:creationId xmlns:a16="http://schemas.microsoft.com/office/drawing/2014/main" id="{4E7711E0-C3F4-3F44-939E-C5EB99D29083}"/>
                </a:ext>
              </a:extLst>
            </p:cNvPr>
            <p:cNvSpPr>
              <a:spLocks noChangeArrowheads="1"/>
            </p:cNvSpPr>
            <p:nvPr/>
          </p:nvSpPr>
          <p:spPr bwMode="auto">
            <a:xfrm>
              <a:off x="4229" y="1656"/>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59" name="Group 120">
              <a:extLst>
                <a:ext uri="{FF2B5EF4-FFF2-40B4-BE49-F238E27FC236}">
                  <a16:creationId xmlns:a16="http://schemas.microsoft.com/office/drawing/2014/main" id="{67EE5E5B-A672-4948-A190-6619EF0F407D}"/>
                </a:ext>
              </a:extLst>
            </p:cNvPr>
            <p:cNvGrpSpPr>
              <a:grpSpLocks/>
            </p:cNvGrpSpPr>
            <p:nvPr/>
          </p:nvGrpSpPr>
          <p:grpSpPr bwMode="auto">
            <a:xfrm>
              <a:off x="4735" y="1627"/>
              <a:ext cx="582" cy="151"/>
              <a:chOff x="614" y="2568"/>
              <a:chExt cx="725" cy="139"/>
            </a:xfrm>
          </p:grpSpPr>
          <p:sp>
            <p:nvSpPr>
              <p:cNvPr id="75" name="AutoShape 121">
                <a:extLst>
                  <a:ext uri="{FF2B5EF4-FFF2-40B4-BE49-F238E27FC236}">
                    <a16:creationId xmlns:a16="http://schemas.microsoft.com/office/drawing/2014/main" id="{05F4D1D6-814A-6E46-A67F-0AB27A8D1CE8}"/>
                  </a:ext>
                </a:extLst>
              </p:cNvPr>
              <p:cNvSpPr>
                <a:spLocks noChangeArrowheads="1"/>
              </p:cNvSpPr>
              <p:nvPr/>
            </p:nvSpPr>
            <p:spPr bwMode="auto">
              <a:xfrm>
                <a:off x="614" y="2570"/>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76" name="AutoShape 122">
                <a:extLst>
                  <a:ext uri="{FF2B5EF4-FFF2-40B4-BE49-F238E27FC236}">
                    <a16:creationId xmlns:a16="http://schemas.microsoft.com/office/drawing/2014/main" id="{B26FB4DB-5CE0-0547-A9EF-8F3F889E2A00}"/>
                  </a:ext>
                </a:extLst>
              </p:cNvPr>
              <p:cNvSpPr>
                <a:spLocks noChangeArrowheads="1"/>
              </p:cNvSpPr>
              <p:nvPr/>
            </p:nvSpPr>
            <p:spPr bwMode="auto">
              <a:xfrm>
                <a:off x="627" y="2585"/>
                <a:ext cx="683"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60" name="Freeform 123">
              <a:extLst>
                <a:ext uri="{FF2B5EF4-FFF2-40B4-BE49-F238E27FC236}">
                  <a16:creationId xmlns:a16="http://schemas.microsoft.com/office/drawing/2014/main" id="{06773D0F-8045-BA4B-A438-853ED5C1E6C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61" name="Group 124">
              <a:extLst>
                <a:ext uri="{FF2B5EF4-FFF2-40B4-BE49-F238E27FC236}">
                  <a16:creationId xmlns:a16="http://schemas.microsoft.com/office/drawing/2014/main" id="{2289418B-58E5-6F41-8BA5-C30F733D8B78}"/>
                </a:ext>
              </a:extLst>
            </p:cNvPr>
            <p:cNvGrpSpPr>
              <a:grpSpLocks/>
            </p:cNvGrpSpPr>
            <p:nvPr/>
          </p:nvGrpSpPr>
          <p:grpSpPr bwMode="auto">
            <a:xfrm>
              <a:off x="4739" y="1327"/>
              <a:ext cx="582" cy="139"/>
              <a:chOff x="614" y="2568"/>
              <a:chExt cx="725" cy="139"/>
            </a:xfrm>
          </p:grpSpPr>
          <p:sp>
            <p:nvSpPr>
              <p:cNvPr id="73" name="AutoShape 125">
                <a:extLst>
                  <a:ext uri="{FF2B5EF4-FFF2-40B4-BE49-F238E27FC236}">
                    <a16:creationId xmlns:a16="http://schemas.microsoft.com/office/drawing/2014/main" id="{38E6EBDC-7542-364B-BAB0-D30286482B98}"/>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74" name="AutoShape 126">
                <a:extLst>
                  <a:ext uri="{FF2B5EF4-FFF2-40B4-BE49-F238E27FC236}">
                    <a16:creationId xmlns:a16="http://schemas.microsoft.com/office/drawing/2014/main" id="{54B2EB69-B7C9-EC42-B99F-19CC17D5EAD3}"/>
                  </a:ext>
                </a:extLst>
              </p:cNvPr>
              <p:cNvSpPr>
                <a:spLocks noChangeArrowheads="1"/>
              </p:cNvSpPr>
              <p:nvPr/>
            </p:nvSpPr>
            <p:spPr bwMode="auto">
              <a:xfrm>
                <a:off x="629" y="2584"/>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62" name="Rectangle 127">
              <a:extLst>
                <a:ext uri="{FF2B5EF4-FFF2-40B4-BE49-F238E27FC236}">
                  <a16:creationId xmlns:a16="http://schemas.microsoft.com/office/drawing/2014/main" id="{08BCE1F3-76AF-E441-89A0-DA57E700E37B}"/>
                </a:ext>
              </a:extLst>
            </p:cNvPr>
            <p:cNvSpPr>
              <a:spLocks noChangeArrowheads="1"/>
            </p:cNvSpPr>
            <p:nvPr/>
          </p:nvSpPr>
          <p:spPr bwMode="auto">
            <a:xfrm>
              <a:off x="5252"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3" name="Freeform 128">
              <a:extLst>
                <a:ext uri="{FF2B5EF4-FFF2-40B4-BE49-F238E27FC236}">
                  <a16:creationId xmlns:a16="http://schemas.microsoft.com/office/drawing/2014/main" id="{4B174135-D9EA-854A-9853-AC5CCDD443C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64" name="Freeform 129">
              <a:extLst>
                <a:ext uri="{FF2B5EF4-FFF2-40B4-BE49-F238E27FC236}">
                  <a16:creationId xmlns:a16="http://schemas.microsoft.com/office/drawing/2014/main" id="{927D55DC-6C82-634A-B79C-B427EAAD459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65" name="Oval 130">
              <a:extLst>
                <a:ext uri="{FF2B5EF4-FFF2-40B4-BE49-F238E27FC236}">
                  <a16:creationId xmlns:a16="http://schemas.microsoft.com/office/drawing/2014/main" id="{3BB31101-2EB7-F44D-8AA6-0366039E9CFA}"/>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6" name="Freeform 131">
              <a:extLst>
                <a:ext uri="{FF2B5EF4-FFF2-40B4-BE49-F238E27FC236}">
                  <a16:creationId xmlns:a16="http://schemas.microsoft.com/office/drawing/2014/main" id="{79253978-26CE-7249-A74C-F9743D4FBD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67" name="AutoShape 132">
              <a:extLst>
                <a:ext uri="{FF2B5EF4-FFF2-40B4-BE49-F238E27FC236}">
                  <a16:creationId xmlns:a16="http://schemas.microsoft.com/office/drawing/2014/main" id="{D2E63390-A569-3942-9FC4-1FAF9A9C770E}"/>
                </a:ext>
              </a:extLst>
            </p:cNvPr>
            <p:cNvSpPr>
              <a:spLocks noChangeArrowheads="1"/>
            </p:cNvSpPr>
            <p:nvPr/>
          </p:nvSpPr>
          <p:spPr bwMode="auto">
            <a:xfrm>
              <a:off x="4140" y="2676"/>
              <a:ext cx="1201"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8" name="AutoShape 133">
              <a:extLst>
                <a:ext uri="{FF2B5EF4-FFF2-40B4-BE49-F238E27FC236}">
                  <a16:creationId xmlns:a16="http://schemas.microsoft.com/office/drawing/2014/main" id="{76E84029-5A5D-0B43-A027-68F72A0B1075}"/>
                </a:ext>
              </a:extLst>
            </p:cNvPr>
            <p:cNvSpPr>
              <a:spLocks noChangeArrowheads="1"/>
            </p:cNvSpPr>
            <p:nvPr/>
          </p:nvSpPr>
          <p:spPr bwMode="auto">
            <a:xfrm>
              <a:off x="4208" y="2713"/>
              <a:ext cx="1070"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9" name="Oval 134">
              <a:extLst>
                <a:ext uri="{FF2B5EF4-FFF2-40B4-BE49-F238E27FC236}">
                  <a16:creationId xmlns:a16="http://schemas.microsoft.com/office/drawing/2014/main" id="{3E213C1D-2C02-AD4C-9E3D-D83B7E9B8458}"/>
                </a:ext>
              </a:extLst>
            </p:cNvPr>
            <p:cNvSpPr>
              <a:spLocks noChangeArrowheads="1"/>
            </p:cNvSpPr>
            <p:nvPr/>
          </p:nvSpPr>
          <p:spPr bwMode="auto">
            <a:xfrm>
              <a:off x="4307" y="2384"/>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70" name="Oval 135">
              <a:extLst>
                <a:ext uri="{FF2B5EF4-FFF2-40B4-BE49-F238E27FC236}">
                  <a16:creationId xmlns:a16="http://schemas.microsoft.com/office/drawing/2014/main" id="{8AAFA532-A081-384C-AB75-218BDC209A3C}"/>
                </a:ext>
              </a:extLst>
            </p:cNvPr>
            <p:cNvSpPr>
              <a:spLocks noChangeArrowheads="1"/>
            </p:cNvSpPr>
            <p:nvPr/>
          </p:nvSpPr>
          <p:spPr bwMode="auto">
            <a:xfrm>
              <a:off x="4485" y="2384"/>
              <a:ext cx="162"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71" name="Oval 136">
              <a:extLst>
                <a:ext uri="{FF2B5EF4-FFF2-40B4-BE49-F238E27FC236}">
                  <a16:creationId xmlns:a16="http://schemas.microsoft.com/office/drawing/2014/main" id="{56B5635A-EB88-0440-8FBB-410A578DEF4E}"/>
                </a:ext>
              </a:extLst>
            </p:cNvPr>
            <p:cNvSpPr>
              <a:spLocks noChangeArrowheads="1"/>
            </p:cNvSpPr>
            <p:nvPr/>
          </p:nvSpPr>
          <p:spPr bwMode="auto">
            <a:xfrm>
              <a:off x="4662" y="2379"/>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72" name="Rectangle 137">
              <a:extLst>
                <a:ext uri="{FF2B5EF4-FFF2-40B4-BE49-F238E27FC236}">
                  <a16:creationId xmlns:a16="http://schemas.microsoft.com/office/drawing/2014/main" id="{DB35C1A6-F8F8-A34C-83A8-1C5F2BC02CF1}"/>
                </a:ext>
              </a:extLst>
            </p:cNvPr>
            <p:cNvSpPr>
              <a:spLocks noChangeArrowheads="1"/>
            </p:cNvSpPr>
            <p:nvPr/>
          </p:nvSpPr>
          <p:spPr bwMode="auto">
            <a:xfrm>
              <a:off x="5064" y="1837"/>
              <a:ext cx="84"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81" name="Rectangle 3">
            <a:extLst>
              <a:ext uri="{FF2B5EF4-FFF2-40B4-BE49-F238E27FC236}">
                <a16:creationId xmlns:a16="http://schemas.microsoft.com/office/drawing/2014/main" id="{0E93D937-D6CD-8B48-B770-F30B1D0D993E}"/>
              </a:ext>
            </a:extLst>
          </p:cNvPr>
          <p:cNvSpPr txBox="1">
            <a:spLocks noChangeArrowheads="1"/>
          </p:cNvSpPr>
          <p:nvPr/>
        </p:nvSpPr>
        <p:spPr>
          <a:xfrm>
            <a:off x="794606" y="2233994"/>
            <a:ext cx="4908362" cy="3762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configures browser to point to a (local) </a:t>
            </a:r>
            <a:r>
              <a:rPr kumimoji="0" lang="en-US" altLang="en-US" sz="28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Web cache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browser sends all HTTP requests to cache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if</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object in cache: cache returns object to client</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else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cache requests object from origin server, caches received object, then returns object to client</a:t>
            </a:r>
          </a:p>
        </p:txBody>
      </p:sp>
      <p:sp>
        <p:nvSpPr>
          <p:cNvPr id="82" name="Rectangle 4">
            <a:extLst>
              <a:ext uri="{FF2B5EF4-FFF2-40B4-BE49-F238E27FC236}">
                <a16:creationId xmlns:a16="http://schemas.microsoft.com/office/drawing/2014/main" id="{333F1EEA-A155-1C41-80CD-10E94B83082A}"/>
              </a:ext>
            </a:extLst>
          </p:cNvPr>
          <p:cNvSpPr>
            <a:spLocks noChangeArrowheads="1"/>
          </p:cNvSpPr>
          <p:nvPr/>
        </p:nvSpPr>
        <p:spPr bwMode="auto">
          <a:xfrm>
            <a:off x="865380" y="1333500"/>
            <a:ext cx="10292615" cy="59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satisfy client requests without involving origin server</a:t>
            </a:r>
          </a:p>
        </p:txBody>
      </p:sp>
      <p:sp>
        <p:nvSpPr>
          <p:cNvPr id="83" name="Text Box 6">
            <a:extLst>
              <a:ext uri="{FF2B5EF4-FFF2-40B4-BE49-F238E27FC236}">
                <a16:creationId xmlns:a16="http://schemas.microsoft.com/office/drawing/2014/main" id="{70E92C74-86C4-E048-AD53-D4201EAFCFA7}"/>
              </a:ext>
            </a:extLst>
          </p:cNvPr>
          <p:cNvSpPr txBox="1">
            <a:spLocks noChangeArrowheads="1"/>
          </p:cNvSpPr>
          <p:nvPr/>
        </p:nvSpPr>
        <p:spPr bwMode="auto">
          <a:xfrm>
            <a:off x="6416675" y="3118188"/>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E568D9C3-D40D-D946-AB3E-DA830336DA5D}"/>
              </a:ext>
            </a:extLst>
          </p:cNvPr>
          <p:cNvGrpSpPr/>
          <p:nvPr/>
        </p:nvGrpSpPr>
        <p:grpSpPr>
          <a:xfrm>
            <a:off x="8270000" y="2687749"/>
            <a:ext cx="786882" cy="1235302"/>
            <a:chOff x="8270000" y="2687749"/>
            <a:chExt cx="786882" cy="1235302"/>
          </a:xfrm>
        </p:grpSpPr>
        <p:grpSp>
          <p:nvGrpSpPr>
            <p:cNvPr id="15" name="Group 138">
              <a:extLst>
                <a:ext uri="{FF2B5EF4-FFF2-40B4-BE49-F238E27FC236}">
                  <a16:creationId xmlns:a16="http://schemas.microsoft.com/office/drawing/2014/main" id="{BCAE7764-70F3-6C4D-BAB2-DE0B7C89D816}"/>
                </a:ext>
              </a:extLst>
            </p:cNvPr>
            <p:cNvGrpSpPr>
              <a:grpSpLocks/>
            </p:cNvGrpSpPr>
            <p:nvPr/>
          </p:nvGrpSpPr>
          <p:grpSpPr bwMode="auto">
            <a:xfrm>
              <a:off x="8475663" y="3207088"/>
              <a:ext cx="400050" cy="715963"/>
              <a:chOff x="4140" y="429"/>
              <a:chExt cx="1425" cy="2396"/>
            </a:xfrm>
          </p:grpSpPr>
          <p:sp>
            <p:nvSpPr>
              <p:cNvPr id="16" name="Freeform 139">
                <a:extLst>
                  <a:ext uri="{FF2B5EF4-FFF2-40B4-BE49-F238E27FC236}">
                    <a16:creationId xmlns:a16="http://schemas.microsoft.com/office/drawing/2014/main" id="{F1B2DFA0-F79D-7B41-AEB4-30CE9076E70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7" name="Rectangle 140">
                <a:extLst>
                  <a:ext uri="{FF2B5EF4-FFF2-40B4-BE49-F238E27FC236}">
                    <a16:creationId xmlns:a16="http://schemas.microsoft.com/office/drawing/2014/main" id="{C5E2EFBB-BBC5-9A42-BB0E-E6D6D2C22EC2}"/>
                  </a:ext>
                </a:extLst>
              </p:cNvPr>
              <p:cNvSpPr>
                <a:spLocks noChangeArrowheads="1"/>
              </p:cNvSpPr>
              <p:nvPr/>
            </p:nvSpPr>
            <p:spPr bwMode="auto">
              <a:xfrm>
                <a:off x="4208"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8" name="Freeform 141">
                <a:extLst>
                  <a:ext uri="{FF2B5EF4-FFF2-40B4-BE49-F238E27FC236}">
                    <a16:creationId xmlns:a16="http://schemas.microsoft.com/office/drawing/2014/main" id="{55529617-AF40-4A4A-B8BE-0A1D9AFF985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9" name="Freeform 142">
                <a:extLst>
                  <a:ext uri="{FF2B5EF4-FFF2-40B4-BE49-F238E27FC236}">
                    <a16:creationId xmlns:a16="http://schemas.microsoft.com/office/drawing/2014/main" id="{CD96A818-3AB4-9749-B364-C94B61E3934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0" name="Rectangle 143">
                <a:extLst>
                  <a:ext uri="{FF2B5EF4-FFF2-40B4-BE49-F238E27FC236}">
                    <a16:creationId xmlns:a16="http://schemas.microsoft.com/office/drawing/2014/main" id="{6CB7A8CB-28B7-454A-B6FA-0B497C6EA086}"/>
                  </a:ext>
                </a:extLst>
              </p:cNvPr>
              <p:cNvSpPr>
                <a:spLocks noChangeArrowheads="1"/>
              </p:cNvSpPr>
              <p:nvPr/>
            </p:nvSpPr>
            <p:spPr bwMode="auto">
              <a:xfrm>
                <a:off x="4214" y="695"/>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21" name="Group 144">
                <a:extLst>
                  <a:ext uri="{FF2B5EF4-FFF2-40B4-BE49-F238E27FC236}">
                    <a16:creationId xmlns:a16="http://schemas.microsoft.com/office/drawing/2014/main" id="{B151228D-C4D6-FC47-B4C4-E4FEAAC8EB96}"/>
                  </a:ext>
                </a:extLst>
              </p:cNvPr>
              <p:cNvGrpSpPr>
                <a:grpSpLocks/>
              </p:cNvGrpSpPr>
              <p:nvPr/>
            </p:nvGrpSpPr>
            <p:grpSpPr bwMode="auto">
              <a:xfrm>
                <a:off x="4749" y="668"/>
                <a:ext cx="581" cy="145"/>
                <a:chOff x="614" y="2568"/>
                <a:chExt cx="725" cy="139"/>
              </a:xfrm>
            </p:grpSpPr>
            <p:sp>
              <p:nvSpPr>
                <p:cNvPr id="46" name="AutoShape 145">
                  <a:extLst>
                    <a:ext uri="{FF2B5EF4-FFF2-40B4-BE49-F238E27FC236}">
                      <a16:creationId xmlns:a16="http://schemas.microsoft.com/office/drawing/2014/main" id="{581E8E47-6DB1-F54B-9476-01B6F2E30099}"/>
                    </a:ext>
                  </a:extLst>
                </p:cNvPr>
                <p:cNvSpPr>
                  <a:spLocks noChangeArrowheads="1"/>
                </p:cNvSpPr>
                <p:nvPr/>
              </p:nvSpPr>
              <p:spPr bwMode="auto">
                <a:xfrm>
                  <a:off x="616" y="2568"/>
                  <a:ext cx="720"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7" name="AutoShape 146">
                  <a:extLst>
                    <a:ext uri="{FF2B5EF4-FFF2-40B4-BE49-F238E27FC236}">
                      <a16:creationId xmlns:a16="http://schemas.microsoft.com/office/drawing/2014/main" id="{7F2D9B2C-626D-344A-83E2-C990F841501B}"/>
                    </a:ext>
                  </a:extLst>
                </p:cNvPr>
                <p:cNvSpPr>
                  <a:spLocks noChangeArrowheads="1"/>
                </p:cNvSpPr>
                <p:nvPr/>
              </p:nvSpPr>
              <p:spPr bwMode="auto">
                <a:xfrm>
                  <a:off x="630" y="2583"/>
                  <a:ext cx="67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147">
                <a:extLst>
                  <a:ext uri="{FF2B5EF4-FFF2-40B4-BE49-F238E27FC236}">
                    <a16:creationId xmlns:a16="http://schemas.microsoft.com/office/drawing/2014/main" id="{06A6E158-AA9B-7643-9927-3F063660DC35}"/>
                  </a:ext>
                </a:extLst>
              </p:cNvPr>
              <p:cNvSpPr>
                <a:spLocks noChangeArrowheads="1"/>
              </p:cNvSpPr>
              <p:nvPr/>
            </p:nvSpPr>
            <p:spPr bwMode="auto">
              <a:xfrm>
                <a:off x="4225" y="101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23" name="Group 148">
                <a:extLst>
                  <a:ext uri="{FF2B5EF4-FFF2-40B4-BE49-F238E27FC236}">
                    <a16:creationId xmlns:a16="http://schemas.microsoft.com/office/drawing/2014/main" id="{24564C8A-097F-5447-B760-9CD6285FD6E8}"/>
                  </a:ext>
                </a:extLst>
              </p:cNvPr>
              <p:cNvGrpSpPr>
                <a:grpSpLocks/>
              </p:cNvGrpSpPr>
              <p:nvPr/>
            </p:nvGrpSpPr>
            <p:grpSpPr bwMode="auto">
              <a:xfrm>
                <a:off x="4747" y="994"/>
                <a:ext cx="581" cy="134"/>
                <a:chOff x="614" y="2568"/>
                <a:chExt cx="725" cy="139"/>
              </a:xfrm>
            </p:grpSpPr>
            <p:sp>
              <p:nvSpPr>
                <p:cNvPr id="44" name="AutoShape 149">
                  <a:extLst>
                    <a:ext uri="{FF2B5EF4-FFF2-40B4-BE49-F238E27FC236}">
                      <a16:creationId xmlns:a16="http://schemas.microsoft.com/office/drawing/2014/main" id="{04C4FA5A-4748-2D42-BA0D-06AFE4DAEE26}"/>
                    </a:ext>
                  </a:extLst>
                </p:cNvPr>
                <p:cNvSpPr>
                  <a:spLocks noChangeArrowheads="1"/>
                </p:cNvSpPr>
                <p:nvPr/>
              </p:nvSpPr>
              <p:spPr bwMode="auto">
                <a:xfrm>
                  <a:off x="612" y="2566"/>
                  <a:ext cx="727"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5" name="AutoShape 150">
                  <a:extLst>
                    <a:ext uri="{FF2B5EF4-FFF2-40B4-BE49-F238E27FC236}">
                      <a16:creationId xmlns:a16="http://schemas.microsoft.com/office/drawing/2014/main" id="{84E1D8C6-7DEE-484B-99EE-B608D1AEB05E}"/>
                    </a:ext>
                  </a:extLst>
                </p:cNvPr>
                <p:cNvSpPr>
                  <a:spLocks noChangeArrowheads="1"/>
                </p:cNvSpPr>
                <p:nvPr/>
              </p:nvSpPr>
              <p:spPr bwMode="auto">
                <a:xfrm>
                  <a:off x="626" y="2583"/>
                  <a:ext cx="692"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4" name="Rectangle 151">
                <a:extLst>
                  <a:ext uri="{FF2B5EF4-FFF2-40B4-BE49-F238E27FC236}">
                    <a16:creationId xmlns:a16="http://schemas.microsoft.com/office/drawing/2014/main" id="{454AD9D8-054B-E244-8A65-C00DC300D60C}"/>
                  </a:ext>
                </a:extLst>
              </p:cNvPr>
              <p:cNvSpPr>
                <a:spLocks noChangeArrowheads="1"/>
              </p:cNvSpPr>
              <p:nvPr/>
            </p:nvSpPr>
            <p:spPr bwMode="auto">
              <a:xfrm>
                <a:off x="4219" y="135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5" name="Rectangle 152">
                <a:extLst>
                  <a:ext uri="{FF2B5EF4-FFF2-40B4-BE49-F238E27FC236}">
                    <a16:creationId xmlns:a16="http://schemas.microsoft.com/office/drawing/2014/main" id="{40C54BAB-9592-ED4B-80E1-874156D7B15A}"/>
                  </a:ext>
                </a:extLst>
              </p:cNvPr>
              <p:cNvSpPr>
                <a:spLocks noChangeArrowheads="1"/>
              </p:cNvSpPr>
              <p:nvPr/>
            </p:nvSpPr>
            <p:spPr bwMode="auto">
              <a:xfrm>
                <a:off x="4230" y="1656"/>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26" name="Group 153">
                <a:extLst>
                  <a:ext uri="{FF2B5EF4-FFF2-40B4-BE49-F238E27FC236}">
                    <a16:creationId xmlns:a16="http://schemas.microsoft.com/office/drawing/2014/main" id="{64CB2613-6494-6C4A-AC96-EDE0548984F6}"/>
                  </a:ext>
                </a:extLst>
              </p:cNvPr>
              <p:cNvGrpSpPr>
                <a:grpSpLocks/>
              </p:cNvGrpSpPr>
              <p:nvPr/>
            </p:nvGrpSpPr>
            <p:grpSpPr bwMode="auto">
              <a:xfrm>
                <a:off x="4735" y="1627"/>
                <a:ext cx="582" cy="151"/>
                <a:chOff x="614" y="2568"/>
                <a:chExt cx="725" cy="139"/>
              </a:xfrm>
            </p:grpSpPr>
            <p:sp>
              <p:nvSpPr>
                <p:cNvPr id="42" name="AutoShape 154">
                  <a:extLst>
                    <a:ext uri="{FF2B5EF4-FFF2-40B4-BE49-F238E27FC236}">
                      <a16:creationId xmlns:a16="http://schemas.microsoft.com/office/drawing/2014/main" id="{A27D1399-0ADF-5D43-8B09-BCD5BD0CD0CC}"/>
                    </a:ext>
                  </a:extLst>
                </p:cNvPr>
                <p:cNvSpPr>
                  <a:spLocks noChangeArrowheads="1"/>
                </p:cNvSpPr>
                <p:nvPr/>
              </p:nvSpPr>
              <p:spPr bwMode="auto">
                <a:xfrm>
                  <a:off x="612" y="2570"/>
                  <a:ext cx="726"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3" name="AutoShape 155">
                  <a:extLst>
                    <a:ext uri="{FF2B5EF4-FFF2-40B4-BE49-F238E27FC236}">
                      <a16:creationId xmlns:a16="http://schemas.microsoft.com/office/drawing/2014/main" id="{20A4C850-89B5-6B44-820C-B66073B7527E}"/>
                    </a:ext>
                  </a:extLst>
                </p:cNvPr>
                <p:cNvSpPr>
                  <a:spLocks noChangeArrowheads="1"/>
                </p:cNvSpPr>
                <p:nvPr/>
              </p:nvSpPr>
              <p:spPr bwMode="auto">
                <a:xfrm>
                  <a:off x="627"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7" name="Freeform 156">
                <a:extLst>
                  <a:ext uri="{FF2B5EF4-FFF2-40B4-BE49-F238E27FC236}">
                    <a16:creationId xmlns:a16="http://schemas.microsoft.com/office/drawing/2014/main" id="{69CA70FC-8D55-3C40-9230-BB1B319F02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28" name="Group 157">
                <a:extLst>
                  <a:ext uri="{FF2B5EF4-FFF2-40B4-BE49-F238E27FC236}">
                    <a16:creationId xmlns:a16="http://schemas.microsoft.com/office/drawing/2014/main" id="{592B4F87-8FD7-004F-9CBD-2E07936D76B1}"/>
                  </a:ext>
                </a:extLst>
              </p:cNvPr>
              <p:cNvGrpSpPr>
                <a:grpSpLocks/>
              </p:cNvGrpSpPr>
              <p:nvPr/>
            </p:nvGrpSpPr>
            <p:grpSpPr bwMode="auto">
              <a:xfrm>
                <a:off x="4739" y="1327"/>
                <a:ext cx="582" cy="139"/>
                <a:chOff x="614" y="2568"/>
                <a:chExt cx="725" cy="139"/>
              </a:xfrm>
            </p:grpSpPr>
            <p:sp>
              <p:nvSpPr>
                <p:cNvPr id="40" name="AutoShape 158">
                  <a:extLst>
                    <a:ext uri="{FF2B5EF4-FFF2-40B4-BE49-F238E27FC236}">
                      <a16:creationId xmlns:a16="http://schemas.microsoft.com/office/drawing/2014/main" id="{52452D42-BA3E-B548-9F26-4F10DEBFFC06}"/>
                    </a:ext>
                  </a:extLst>
                </p:cNvPr>
                <p:cNvSpPr>
                  <a:spLocks noChangeArrowheads="1"/>
                </p:cNvSpPr>
                <p:nvPr/>
              </p:nvSpPr>
              <p:spPr bwMode="auto">
                <a:xfrm>
                  <a:off x="615" y="2568"/>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1" name="AutoShape 159">
                  <a:extLst>
                    <a:ext uri="{FF2B5EF4-FFF2-40B4-BE49-F238E27FC236}">
                      <a16:creationId xmlns:a16="http://schemas.microsoft.com/office/drawing/2014/main" id="{2E496C07-9C8C-B34F-8201-DBF2AB09E8D1}"/>
                    </a:ext>
                  </a:extLst>
                </p:cNvPr>
                <p:cNvSpPr>
                  <a:spLocks noChangeArrowheads="1"/>
                </p:cNvSpPr>
                <p:nvPr/>
              </p:nvSpPr>
              <p:spPr bwMode="auto">
                <a:xfrm>
                  <a:off x="629"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9" name="Rectangle 160">
                <a:extLst>
                  <a:ext uri="{FF2B5EF4-FFF2-40B4-BE49-F238E27FC236}">
                    <a16:creationId xmlns:a16="http://schemas.microsoft.com/office/drawing/2014/main" id="{507783BC-460D-F943-9047-6C6F897FE10C}"/>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0" name="Freeform 161">
                <a:extLst>
                  <a:ext uri="{FF2B5EF4-FFF2-40B4-BE49-F238E27FC236}">
                    <a16:creationId xmlns:a16="http://schemas.microsoft.com/office/drawing/2014/main" id="{88257E4A-4830-E644-BAF7-847C2053BCF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1" name="Freeform 162">
                <a:extLst>
                  <a:ext uri="{FF2B5EF4-FFF2-40B4-BE49-F238E27FC236}">
                    <a16:creationId xmlns:a16="http://schemas.microsoft.com/office/drawing/2014/main" id="{24A3F621-17CD-4645-A51D-7042FE22E5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2" name="Oval 163">
                <a:extLst>
                  <a:ext uri="{FF2B5EF4-FFF2-40B4-BE49-F238E27FC236}">
                    <a16:creationId xmlns:a16="http://schemas.microsoft.com/office/drawing/2014/main" id="{EA7A271B-C672-7748-BB6C-4320F9AE9120}"/>
                  </a:ext>
                </a:extLst>
              </p:cNvPr>
              <p:cNvSpPr>
                <a:spLocks noChangeArrowheads="1"/>
              </p:cNvSpPr>
              <p:nvPr/>
            </p:nvSpPr>
            <p:spPr bwMode="auto">
              <a:xfrm>
                <a:off x="5520" y="2612"/>
                <a:ext cx="45"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3" name="Freeform 164">
                <a:extLst>
                  <a:ext uri="{FF2B5EF4-FFF2-40B4-BE49-F238E27FC236}">
                    <a16:creationId xmlns:a16="http://schemas.microsoft.com/office/drawing/2014/main" id="{BF246A84-BFE7-3049-922B-DD8B6EA2E7D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4" name="AutoShape 165">
                <a:extLst>
                  <a:ext uri="{FF2B5EF4-FFF2-40B4-BE49-F238E27FC236}">
                    <a16:creationId xmlns:a16="http://schemas.microsoft.com/office/drawing/2014/main" id="{A85BFA7C-936F-3A41-9B80-F269D0D81E50}"/>
                  </a:ext>
                </a:extLst>
              </p:cNvPr>
              <p:cNvSpPr>
                <a:spLocks noChangeArrowheads="1"/>
              </p:cNvSpPr>
              <p:nvPr/>
            </p:nvSpPr>
            <p:spPr bwMode="auto">
              <a:xfrm>
                <a:off x="4140" y="2676"/>
                <a:ext cx="1199"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5" name="AutoShape 166">
                <a:extLst>
                  <a:ext uri="{FF2B5EF4-FFF2-40B4-BE49-F238E27FC236}">
                    <a16:creationId xmlns:a16="http://schemas.microsoft.com/office/drawing/2014/main" id="{143F5A2C-3FCC-214E-B1DD-37354850C395}"/>
                  </a:ext>
                </a:extLst>
              </p:cNvPr>
              <p:cNvSpPr>
                <a:spLocks noChangeArrowheads="1"/>
              </p:cNvSpPr>
              <p:nvPr/>
            </p:nvSpPr>
            <p:spPr bwMode="auto">
              <a:xfrm>
                <a:off x="4208" y="2713"/>
                <a:ext cx="1069"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6" name="Oval 167">
                <a:extLst>
                  <a:ext uri="{FF2B5EF4-FFF2-40B4-BE49-F238E27FC236}">
                    <a16:creationId xmlns:a16="http://schemas.microsoft.com/office/drawing/2014/main" id="{9F154E92-095E-194F-B02E-9A00467A044B}"/>
                  </a:ext>
                </a:extLst>
              </p:cNvPr>
              <p:cNvSpPr>
                <a:spLocks noChangeArrowheads="1"/>
              </p:cNvSpPr>
              <p:nvPr/>
            </p:nvSpPr>
            <p:spPr bwMode="auto">
              <a:xfrm>
                <a:off x="4310" y="2384"/>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7" name="Oval 168">
                <a:extLst>
                  <a:ext uri="{FF2B5EF4-FFF2-40B4-BE49-F238E27FC236}">
                    <a16:creationId xmlns:a16="http://schemas.microsoft.com/office/drawing/2014/main" id="{9D1FEADC-3D9C-A84B-8B87-2D971178EAD9}"/>
                  </a:ext>
                </a:extLst>
              </p:cNvPr>
              <p:cNvSpPr>
                <a:spLocks noChangeArrowheads="1"/>
              </p:cNvSpPr>
              <p:nvPr/>
            </p:nvSpPr>
            <p:spPr bwMode="auto">
              <a:xfrm>
                <a:off x="4485" y="2384"/>
                <a:ext cx="158"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8" name="Oval 169">
                <a:extLst>
                  <a:ext uri="{FF2B5EF4-FFF2-40B4-BE49-F238E27FC236}">
                    <a16:creationId xmlns:a16="http://schemas.microsoft.com/office/drawing/2014/main" id="{4E9E3512-C0DF-9C4B-84D2-8F5465E6D892}"/>
                  </a:ext>
                </a:extLst>
              </p:cNvPr>
              <p:cNvSpPr>
                <a:spLocks noChangeArrowheads="1"/>
              </p:cNvSpPr>
              <p:nvPr/>
            </p:nvSpPr>
            <p:spPr bwMode="auto">
              <a:xfrm>
                <a:off x="4660" y="2379"/>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9" name="Rectangle 170">
                <a:extLst>
                  <a:ext uri="{FF2B5EF4-FFF2-40B4-BE49-F238E27FC236}">
                    <a16:creationId xmlns:a16="http://schemas.microsoft.com/office/drawing/2014/main" id="{4D132F38-B955-6A4E-A501-5DB6D9BF92E8}"/>
                  </a:ext>
                </a:extLst>
              </p:cNvPr>
              <p:cNvSpPr>
                <a:spLocks noChangeArrowheads="1"/>
              </p:cNvSpPr>
              <p:nvPr/>
            </p:nvSpPr>
            <p:spPr bwMode="auto">
              <a:xfrm>
                <a:off x="5062" y="1837"/>
                <a:ext cx="85"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84" name="Text Box 8">
              <a:extLst>
                <a:ext uri="{FF2B5EF4-FFF2-40B4-BE49-F238E27FC236}">
                  <a16:creationId xmlns:a16="http://schemas.microsoft.com/office/drawing/2014/main" id="{5DE1E660-E2FD-8848-B0BB-84A037DCCC22}"/>
                </a:ext>
              </a:extLst>
            </p:cNvPr>
            <p:cNvSpPr txBox="1">
              <a:spLocks noChangeArrowheads="1"/>
            </p:cNvSpPr>
            <p:nvPr/>
          </p:nvSpPr>
          <p:spPr bwMode="auto">
            <a:xfrm>
              <a:off x="8270000" y="2687749"/>
              <a:ext cx="786882"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5" name="Text Box 21">
            <a:extLst>
              <a:ext uri="{FF2B5EF4-FFF2-40B4-BE49-F238E27FC236}">
                <a16:creationId xmlns:a16="http://schemas.microsoft.com/office/drawing/2014/main" id="{E15405A8-0743-624D-A374-AA89B476DBE9}"/>
              </a:ext>
            </a:extLst>
          </p:cNvPr>
          <p:cNvSpPr txBox="1">
            <a:spLocks noChangeArrowheads="1"/>
          </p:cNvSpPr>
          <p:nvPr/>
        </p:nvSpPr>
        <p:spPr bwMode="auto">
          <a:xfrm>
            <a:off x="6538913" y="5089863"/>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86" name="Group 53">
            <a:extLst>
              <a:ext uri="{FF2B5EF4-FFF2-40B4-BE49-F238E27FC236}">
                <a16:creationId xmlns:a16="http://schemas.microsoft.com/office/drawing/2014/main" id="{006A4F95-0B3D-AC43-A627-71A7FD2195DC}"/>
              </a:ext>
            </a:extLst>
          </p:cNvPr>
          <p:cNvGrpSpPr>
            <a:grpSpLocks/>
          </p:cNvGrpSpPr>
          <p:nvPr/>
        </p:nvGrpSpPr>
        <p:grpSpPr bwMode="auto">
          <a:xfrm>
            <a:off x="6915150" y="3845263"/>
            <a:ext cx="1490663" cy="760413"/>
            <a:chOff x="2942" y="2580"/>
            <a:chExt cx="939" cy="479"/>
          </a:xfrm>
        </p:grpSpPr>
        <p:sp>
          <p:nvSpPr>
            <p:cNvPr id="87" name="Line 19">
              <a:extLst>
                <a:ext uri="{FF2B5EF4-FFF2-40B4-BE49-F238E27FC236}">
                  <a16:creationId xmlns:a16="http://schemas.microsoft.com/office/drawing/2014/main" id="{C4FCDE12-2844-E249-88D6-1248CC2CE8A9}"/>
                </a:ext>
              </a:extLst>
            </p:cNvPr>
            <p:cNvSpPr>
              <a:spLocks noChangeShapeType="1"/>
            </p:cNvSpPr>
            <p:nvPr/>
          </p:nvSpPr>
          <p:spPr bwMode="auto">
            <a:xfrm flipV="1">
              <a:off x="2998" y="2580"/>
              <a:ext cx="883" cy="47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92" name="Text Box 23">
              <a:extLst>
                <a:ext uri="{FF2B5EF4-FFF2-40B4-BE49-F238E27FC236}">
                  <a16:creationId xmlns:a16="http://schemas.microsoft.com/office/drawing/2014/main" id="{BDF0B946-2F1F-B54D-8334-894004430BEA}"/>
                </a:ext>
              </a:extLst>
            </p:cNvPr>
            <p:cNvSpPr txBox="1">
              <a:spLocks noChangeArrowheads="1"/>
            </p:cNvSpPr>
            <p:nvPr/>
          </p:nvSpPr>
          <p:spPr bwMode="auto">
            <a:xfrm rot="19907361">
              <a:off x="2942" y="264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endParaRPr>
            </a:p>
          </p:txBody>
        </p:sp>
      </p:grpSp>
      <p:grpSp>
        <p:nvGrpSpPr>
          <p:cNvPr id="93" name="Group 54">
            <a:extLst>
              <a:ext uri="{FF2B5EF4-FFF2-40B4-BE49-F238E27FC236}">
                <a16:creationId xmlns:a16="http://schemas.microsoft.com/office/drawing/2014/main" id="{0430DB37-F13E-FB4C-8461-73427AD15541}"/>
              </a:ext>
            </a:extLst>
          </p:cNvPr>
          <p:cNvGrpSpPr>
            <a:grpSpLocks/>
          </p:cNvGrpSpPr>
          <p:nvPr/>
        </p:nvGrpSpPr>
        <p:grpSpPr bwMode="auto">
          <a:xfrm>
            <a:off x="7054850" y="3932576"/>
            <a:ext cx="1487488" cy="785812"/>
            <a:chOff x="3030" y="2635"/>
            <a:chExt cx="937" cy="495"/>
          </a:xfrm>
        </p:grpSpPr>
        <p:sp>
          <p:nvSpPr>
            <p:cNvPr id="94" name="Line 20">
              <a:extLst>
                <a:ext uri="{FF2B5EF4-FFF2-40B4-BE49-F238E27FC236}">
                  <a16:creationId xmlns:a16="http://schemas.microsoft.com/office/drawing/2014/main" id="{68522646-1C6E-6141-85AF-6F21328BDB54}"/>
                </a:ext>
              </a:extLst>
            </p:cNvPr>
            <p:cNvSpPr>
              <a:spLocks noChangeShapeType="1"/>
            </p:cNvSpPr>
            <p:nvPr/>
          </p:nvSpPr>
          <p:spPr bwMode="auto">
            <a:xfrm flipH="1">
              <a:off x="3030" y="2635"/>
              <a:ext cx="884" cy="49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95" name="Text Box 25">
              <a:extLst>
                <a:ext uri="{FF2B5EF4-FFF2-40B4-BE49-F238E27FC236}">
                  <a16:creationId xmlns:a16="http://schemas.microsoft.com/office/drawing/2014/main" id="{497C49B3-B78E-EF40-9F30-9D168B831D7B}"/>
                </a:ext>
              </a:extLst>
            </p:cNvPr>
            <p:cNvSpPr txBox="1">
              <a:spLocks noChangeArrowheads="1"/>
            </p:cNvSpPr>
            <p:nvPr/>
          </p:nvSpPr>
          <p:spPr bwMode="auto">
            <a:xfrm rot="19862217">
              <a:off x="3069" y="2846"/>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endParaRPr>
            </a:p>
          </p:txBody>
        </p:sp>
      </p:grpSp>
      <p:grpSp>
        <p:nvGrpSpPr>
          <p:cNvPr id="96" name="Group 49">
            <a:extLst>
              <a:ext uri="{FF2B5EF4-FFF2-40B4-BE49-F238E27FC236}">
                <a16:creationId xmlns:a16="http://schemas.microsoft.com/office/drawing/2014/main" id="{8EC23EE2-3572-4749-B83B-56A3E22AF760}"/>
              </a:ext>
            </a:extLst>
          </p:cNvPr>
          <p:cNvGrpSpPr>
            <a:grpSpLocks/>
          </p:cNvGrpSpPr>
          <p:nvPr/>
        </p:nvGrpSpPr>
        <p:grpSpPr bwMode="auto">
          <a:xfrm>
            <a:off x="7010400" y="2873713"/>
            <a:ext cx="3251200" cy="730250"/>
            <a:chOff x="3002" y="1979"/>
            <a:chExt cx="2048" cy="460"/>
          </a:xfrm>
        </p:grpSpPr>
        <p:sp>
          <p:nvSpPr>
            <p:cNvPr id="97" name="Freeform 18">
              <a:extLst>
                <a:ext uri="{FF2B5EF4-FFF2-40B4-BE49-F238E27FC236}">
                  <a16:creationId xmlns:a16="http://schemas.microsoft.com/office/drawing/2014/main" id="{B3BFA12B-AF52-444A-9C8D-FD235EBCD1CD}"/>
                </a:ext>
              </a:extLst>
            </p:cNvPr>
            <p:cNvSpPr>
              <a:spLocks/>
            </p:cNvSpPr>
            <p:nvPr/>
          </p:nvSpPr>
          <p:spPr bwMode="auto">
            <a:xfrm>
              <a:off x="3002" y="1979"/>
              <a:ext cx="2048" cy="460"/>
            </a:xfrm>
            <a:custGeom>
              <a:avLst/>
              <a:gdLst>
                <a:gd name="T0" fmla="*/ 0 w 2048"/>
                <a:gd name="T1" fmla="*/ 2 h 460"/>
                <a:gd name="T2" fmla="*/ 1011 w 2048"/>
                <a:gd name="T3" fmla="*/ 460 h 460"/>
                <a:gd name="T4" fmla="*/ 2048 w 2048"/>
                <a:gd name="T5" fmla="*/ 0 h 460"/>
                <a:gd name="T6" fmla="*/ 0 60000 65536"/>
                <a:gd name="T7" fmla="*/ 0 60000 65536"/>
                <a:gd name="T8" fmla="*/ 0 60000 65536"/>
                <a:gd name="T9" fmla="*/ 0 w 2048"/>
                <a:gd name="T10" fmla="*/ 0 h 460"/>
                <a:gd name="T11" fmla="*/ 2048 w 2048"/>
                <a:gd name="T12" fmla="*/ 460 h 460"/>
              </a:gdLst>
              <a:ahLst/>
              <a:cxnLst>
                <a:cxn ang="T6">
                  <a:pos x="T0" y="T1"/>
                </a:cxn>
                <a:cxn ang="T7">
                  <a:pos x="T2" y="T3"/>
                </a:cxn>
                <a:cxn ang="T8">
                  <a:pos x="T4" y="T5"/>
                </a:cxn>
              </a:cxnLst>
              <a:rect l="T9" t="T10" r="T11" b="T12"/>
              <a:pathLst>
                <a:path w="2048" h="460">
                  <a:moveTo>
                    <a:pt x="0" y="2"/>
                  </a:moveTo>
                  <a:lnTo>
                    <a:pt x="1011" y="460"/>
                  </a:lnTo>
                  <a:lnTo>
                    <a:pt x="2048" y="0"/>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98" name="Text Box 22">
              <a:extLst>
                <a:ext uri="{FF2B5EF4-FFF2-40B4-BE49-F238E27FC236}">
                  <a16:creationId xmlns:a16="http://schemas.microsoft.com/office/drawing/2014/main" id="{5DC9736F-EB13-904A-A584-847C86859C20}"/>
                </a:ext>
              </a:extLst>
            </p:cNvPr>
            <p:cNvSpPr txBox="1">
              <a:spLocks noChangeArrowheads="1"/>
            </p:cNvSpPr>
            <p:nvPr/>
          </p:nvSpPr>
          <p:spPr bwMode="auto">
            <a:xfrm rot="1422049">
              <a:off x="3129" y="200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endParaRPr>
            </a:p>
          </p:txBody>
        </p:sp>
        <p:sp>
          <p:nvSpPr>
            <p:cNvPr id="99" name="Text Box 45">
              <a:extLst>
                <a:ext uri="{FF2B5EF4-FFF2-40B4-BE49-F238E27FC236}">
                  <a16:creationId xmlns:a16="http://schemas.microsoft.com/office/drawing/2014/main" id="{5F201396-3496-B54A-87C0-83E69A7B8703}"/>
                </a:ext>
              </a:extLst>
            </p:cNvPr>
            <p:cNvSpPr txBox="1">
              <a:spLocks noChangeArrowheads="1"/>
            </p:cNvSpPr>
            <p:nvPr/>
          </p:nvSpPr>
          <p:spPr bwMode="auto">
            <a:xfrm rot="20180032">
              <a:off x="4160" y="201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endParaRPr>
            </a:p>
          </p:txBody>
        </p:sp>
      </p:grpSp>
      <p:sp>
        <p:nvSpPr>
          <p:cNvPr id="101" name="Text Box 48">
            <a:extLst>
              <a:ext uri="{FF2B5EF4-FFF2-40B4-BE49-F238E27FC236}">
                <a16:creationId xmlns:a16="http://schemas.microsoft.com/office/drawing/2014/main" id="{53C0E2C7-E328-094F-86C2-7FF28BDF952E}"/>
              </a:ext>
            </a:extLst>
          </p:cNvPr>
          <p:cNvSpPr txBox="1">
            <a:spLocks noChangeArrowheads="1"/>
          </p:cNvSpPr>
          <p:nvPr/>
        </p:nvSpPr>
        <p:spPr bwMode="auto">
          <a:xfrm>
            <a:off x="10281826" y="3292132"/>
            <a:ext cx="70884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origin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pic>
        <p:nvPicPr>
          <p:cNvPr id="103" name="Picture 56">
            <a:extLst>
              <a:ext uri="{FF2B5EF4-FFF2-40B4-BE49-F238E27FC236}">
                <a16:creationId xmlns:a16="http://schemas.microsoft.com/office/drawing/2014/main" id="{D1860A46-FB8D-2145-A291-FDFCD300B20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542588" y="23815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4" name="Group 60">
            <a:extLst>
              <a:ext uri="{FF2B5EF4-FFF2-40B4-BE49-F238E27FC236}">
                <a16:creationId xmlns:a16="http://schemas.microsoft.com/office/drawing/2014/main" id="{1E55489F-3411-D147-A30E-37C79E67D16D}"/>
              </a:ext>
            </a:extLst>
          </p:cNvPr>
          <p:cNvGrpSpPr>
            <a:grpSpLocks/>
          </p:cNvGrpSpPr>
          <p:nvPr/>
        </p:nvGrpSpPr>
        <p:grpSpPr bwMode="auto">
          <a:xfrm>
            <a:off x="6237288" y="2421276"/>
            <a:ext cx="4110038" cy="1814512"/>
            <a:chOff x="2515" y="1687"/>
            <a:chExt cx="2589" cy="1143"/>
          </a:xfrm>
        </p:grpSpPr>
        <p:sp>
          <p:nvSpPr>
            <p:cNvPr id="105" name="Freeform 44">
              <a:extLst>
                <a:ext uri="{FF2B5EF4-FFF2-40B4-BE49-F238E27FC236}">
                  <a16:creationId xmlns:a16="http://schemas.microsoft.com/office/drawing/2014/main" id="{AD023CD7-2DF4-0047-A0A8-EE7C8FDF2AD7}"/>
                </a:ext>
              </a:extLst>
            </p:cNvPr>
            <p:cNvSpPr>
              <a:spLocks/>
            </p:cNvSpPr>
            <p:nvPr/>
          </p:nvSpPr>
          <p:spPr bwMode="auto">
            <a:xfrm>
              <a:off x="2985" y="2026"/>
              <a:ext cx="2119" cy="476"/>
            </a:xfrm>
            <a:custGeom>
              <a:avLst/>
              <a:gdLst>
                <a:gd name="T0" fmla="*/ 2119 w 2119"/>
                <a:gd name="T1" fmla="*/ 0 h 476"/>
                <a:gd name="T2" fmla="*/ 1020 w 2119"/>
                <a:gd name="T3" fmla="*/ 476 h 476"/>
                <a:gd name="T4" fmla="*/ 0 w 2119"/>
                <a:gd name="T5" fmla="*/ 8 h 476"/>
                <a:gd name="T6" fmla="*/ 0 60000 65536"/>
                <a:gd name="T7" fmla="*/ 0 60000 65536"/>
                <a:gd name="T8" fmla="*/ 0 60000 65536"/>
                <a:gd name="T9" fmla="*/ 0 w 2119"/>
                <a:gd name="T10" fmla="*/ 0 h 476"/>
                <a:gd name="T11" fmla="*/ 2119 w 2119"/>
                <a:gd name="T12" fmla="*/ 476 h 476"/>
              </a:gdLst>
              <a:ahLst/>
              <a:cxnLst>
                <a:cxn ang="T6">
                  <a:pos x="T0" y="T1"/>
                </a:cxn>
                <a:cxn ang="T7">
                  <a:pos x="T2" y="T3"/>
                </a:cxn>
                <a:cxn ang="T8">
                  <a:pos x="T4" y="T5"/>
                </a:cxn>
              </a:cxnLst>
              <a:rect l="T9" t="T10" r="T11" b="T12"/>
              <a:pathLst>
                <a:path w="2119" h="476">
                  <a:moveTo>
                    <a:pt x="2119" y="0"/>
                  </a:moveTo>
                  <a:lnTo>
                    <a:pt x="1020" y="476"/>
                  </a:lnTo>
                  <a:lnTo>
                    <a:pt x="0" y="8"/>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06" name="Text Box 24">
              <a:extLst>
                <a:ext uri="{FF2B5EF4-FFF2-40B4-BE49-F238E27FC236}">
                  <a16:creationId xmlns:a16="http://schemas.microsoft.com/office/drawing/2014/main" id="{3A73F75B-5403-E34F-8197-7456A76E7D33}"/>
                </a:ext>
              </a:extLst>
            </p:cNvPr>
            <p:cNvSpPr txBox="1">
              <a:spLocks noChangeArrowheads="1"/>
            </p:cNvSpPr>
            <p:nvPr/>
          </p:nvSpPr>
          <p:spPr bwMode="auto">
            <a:xfrm rot="1411598">
              <a:off x="2963" y="2243"/>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endParaRPr>
            </a:p>
          </p:txBody>
        </p:sp>
        <p:sp>
          <p:nvSpPr>
            <p:cNvPr id="107" name="Text Box 46">
              <a:extLst>
                <a:ext uri="{FF2B5EF4-FFF2-40B4-BE49-F238E27FC236}">
                  <a16:creationId xmlns:a16="http://schemas.microsoft.com/office/drawing/2014/main" id="{84D34D31-F002-7644-A66C-387CC45D7E5C}"/>
                </a:ext>
              </a:extLst>
            </p:cNvPr>
            <p:cNvSpPr txBox="1">
              <a:spLocks noChangeArrowheads="1"/>
            </p:cNvSpPr>
            <p:nvPr/>
          </p:nvSpPr>
          <p:spPr bwMode="auto">
            <a:xfrm rot="20184211">
              <a:off x="4193" y="2231"/>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endParaRPr>
            </a:p>
          </p:txBody>
        </p:sp>
        <p:pic>
          <p:nvPicPr>
            <p:cNvPr id="108" name="Picture 57">
              <a:extLst>
                <a:ext uri="{FF2B5EF4-FFF2-40B4-BE49-F238E27FC236}">
                  <a16:creationId xmlns:a16="http://schemas.microsoft.com/office/drawing/2014/main" id="{AAE983CF-984C-9D4D-815F-5073893D27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79" y="255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59">
              <a:extLst>
                <a:ext uri="{FF2B5EF4-FFF2-40B4-BE49-F238E27FC236}">
                  <a16:creationId xmlns:a16="http://schemas.microsoft.com/office/drawing/2014/main" id="{24961BA7-6903-124E-955A-AEDC5B6FBE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 y="168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0" name="Picture 61">
            <a:extLst>
              <a:ext uri="{FF2B5EF4-FFF2-40B4-BE49-F238E27FC236}">
                <a16:creationId xmlns:a16="http://schemas.microsoft.com/office/drawing/2014/main" id="{DB808EFC-F790-0C46-B5F2-BCC2B49C4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84913" y="43627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Slide Number Placeholder 2">
            <a:extLst>
              <a:ext uri="{FF2B5EF4-FFF2-40B4-BE49-F238E27FC236}">
                <a16:creationId xmlns:a16="http://schemas.microsoft.com/office/drawing/2014/main" id="{AAEEF6BD-F1CB-4A4C-82D3-5C6EE9E6D0EF}"/>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40</a:t>
            </a:fld>
            <a:endParaRPr lang="en-US" dirty="0"/>
          </a:p>
        </p:txBody>
      </p:sp>
    </p:spTree>
    <p:extLst>
      <p:ext uri="{BB962C8B-B14F-4D97-AF65-F5344CB8AC3E}">
        <p14:creationId xmlns:p14="http://schemas.microsoft.com/office/powerpoint/2010/main" val="2564792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1" end="1"/>
                                            </p:txEl>
                                          </p:spTgt>
                                        </p:tgtEl>
                                        <p:attrNameLst>
                                          <p:attrName>style.visibility</p:attrName>
                                        </p:attrNameLst>
                                      </p:cBhvr>
                                      <p:to>
                                        <p:strVal val="visible"/>
                                      </p:to>
                                    </p:set>
                                    <p:animEffect transition="in" filter="dissolve">
                                      <p:cBhvr>
                                        <p:cTn id="15" dur="500"/>
                                        <p:tgtEl>
                                          <p:spTgt spid="81">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2" end="2"/>
                                            </p:txEl>
                                          </p:spTgt>
                                        </p:tgtEl>
                                        <p:attrNameLst>
                                          <p:attrName>style.visibility</p:attrName>
                                        </p:attrNameLst>
                                      </p:cBhvr>
                                      <p:to>
                                        <p:strVal val="visible"/>
                                      </p:to>
                                    </p:set>
                                    <p:animEffect transition="in" filter="dissolve">
                                      <p:cBhvr>
                                        <p:cTn id="18" dur="500"/>
                                        <p:tgtEl>
                                          <p:spTgt spid="81">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3" end="3"/>
                                            </p:txEl>
                                          </p:spTgt>
                                        </p:tgtEl>
                                        <p:attrNameLst>
                                          <p:attrName>style.visibility</p:attrName>
                                        </p:attrNameLst>
                                      </p:cBhvr>
                                      <p:to>
                                        <p:strVal val="visible"/>
                                      </p:to>
                                    </p:set>
                                    <p:animEffect transition="in" filter="dissolve">
                                      <p:cBhvr>
                                        <p:cTn id="21" dur="500"/>
                                        <p:tgtEl>
                                          <p:spTgt spid="81">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96"/>
                                        </p:tgtEl>
                                        <p:attrNameLst>
                                          <p:attrName>style.visibility</p:attrName>
                                        </p:attrNameLst>
                                      </p:cBhvr>
                                      <p:to>
                                        <p:strVal val="visible"/>
                                      </p:to>
                                    </p:set>
                                    <p:animEffect transition="in" filter="wipe(left)">
                                      <p:cBhvr>
                                        <p:cTn id="26" dur="1000"/>
                                        <p:tgtEl>
                                          <p:spTgt spid="96"/>
                                        </p:tgtEl>
                                      </p:cBhvr>
                                    </p:animEffect>
                                  </p:childTnLst>
                                </p:cTn>
                              </p:par>
                            </p:childTnLst>
                          </p:cTn>
                        </p:par>
                        <p:par>
                          <p:cTn id="27" fill="hold">
                            <p:stCondLst>
                              <p:cond delay="1000"/>
                            </p:stCondLst>
                            <p:childTnLst>
                              <p:par>
                                <p:cTn id="28" presetID="22" presetClass="entr" presetSubtype="2" fill="hold" nodeType="afterEffect">
                                  <p:stCondLst>
                                    <p:cond delay="0"/>
                                  </p:stCondLst>
                                  <p:childTnLst>
                                    <p:set>
                                      <p:cBhvr>
                                        <p:cTn id="29" dur="1" fill="hold">
                                          <p:stCondLst>
                                            <p:cond delay="0"/>
                                          </p:stCondLst>
                                        </p:cTn>
                                        <p:tgtEl>
                                          <p:spTgt spid="104"/>
                                        </p:tgtEl>
                                        <p:attrNameLst>
                                          <p:attrName>style.visibility</p:attrName>
                                        </p:attrNameLst>
                                      </p:cBhvr>
                                      <p:to>
                                        <p:strVal val="visible"/>
                                      </p:to>
                                    </p:set>
                                    <p:animEffect transition="in" filter="wipe(right)">
                                      <p:cBhvr>
                                        <p:cTn id="30" dur="1000"/>
                                        <p:tgtEl>
                                          <p:spTgt spid="104"/>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6"/>
                                        </p:tgtEl>
                                        <p:attrNameLst>
                                          <p:attrName>style.visibility</p:attrName>
                                        </p:attrNameLst>
                                      </p:cBhvr>
                                      <p:to>
                                        <p:strVal val="visible"/>
                                      </p:to>
                                    </p:set>
                                    <p:animEffect transition="in" filter="wipe(left)">
                                      <p:cBhvr>
                                        <p:cTn id="35" dur="1000"/>
                                        <p:tgtEl>
                                          <p:spTgt spid="86"/>
                                        </p:tgtEl>
                                      </p:cBhvr>
                                    </p:animEffect>
                                  </p:childTnLst>
                                </p:cTn>
                              </p:par>
                            </p:childTnLst>
                          </p:cTn>
                        </p:par>
                        <p:par>
                          <p:cTn id="36" fill="hold">
                            <p:stCondLst>
                              <p:cond delay="1000"/>
                            </p:stCondLst>
                            <p:childTnLst>
                              <p:par>
                                <p:cTn id="37" presetID="22" presetClass="entr" presetSubtype="2" fill="hold" nodeType="afterEffect">
                                  <p:stCondLst>
                                    <p:cond delay="0"/>
                                  </p:stCondLst>
                                  <p:childTnLst>
                                    <p:set>
                                      <p:cBhvr>
                                        <p:cTn id="38" dur="1" fill="hold">
                                          <p:stCondLst>
                                            <p:cond delay="0"/>
                                          </p:stCondLst>
                                        </p:cTn>
                                        <p:tgtEl>
                                          <p:spTgt spid="93"/>
                                        </p:tgtEl>
                                        <p:attrNameLst>
                                          <p:attrName>style.visibility</p:attrName>
                                        </p:attrNameLst>
                                      </p:cBhvr>
                                      <p:to>
                                        <p:strVal val="visible"/>
                                      </p:to>
                                    </p:set>
                                    <p:animEffect transition="in" filter="wipe(right)">
                                      <p:cBhvr>
                                        <p:cTn id="39" dur="1000"/>
                                        <p:tgtEl>
                                          <p:spTgt spid="93"/>
                                        </p:tgtEl>
                                      </p:cBhvr>
                                    </p:animEffect>
                                  </p:childTnLst>
                                </p:cTn>
                              </p:par>
                            </p:childTnLst>
                          </p:cTn>
                        </p:par>
                        <p:par>
                          <p:cTn id="40" fill="hold">
                            <p:stCondLst>
                              <p:cond delay="2000"/>
                            </p:stCondLst>
                            <p:childTnLst>
                              <p:par>
                                <p:cTn id="41" presetID="22" presetClass="entr" presetSubtype="2" fill="hold" nodeType="after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wipe(right)">
                                      <p:cBhvr>
                                        <p:cTn id="43"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Web caches (aka proxy servers)</a:t>
            </a:r>
            <a:endParaRPr lang="en-US" sz="4400" dirty="0"/>
          </a:p>
        </p:txBody>
      </p:sp>
      <p:sp>
        <p:nvSpPr>
          <p:cNvPr id="144" name="Rectangle 3">
            <a:extLst>
              <a:ext uri="{FF2B5EF4-FFF2-40B4-BE49-F238E27FC236}">
                <a16:creationId xmlns:a16="http://schemas.microsoft.com/office/drawing/2014/main" id="{7B8521C1-7DCD-9344-8BCE-E617E0E93A48}"/>
              </a:ext>
            </a:extLst>
          </p:cNvPr>
          <p:cNvSpPr txBox="1">
            <a:spLocks noChangeArrowheads="1"/>
          </p:cNvSpPr>
          <p:nvPr/>
        </p:nvSpPr>
        <p:spPr>
          <a:xfrm>
            <a:off x="600308" y="1534695"/>
            <a:ext cx="4752277" cy="213493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cache acts as both client and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for original requesting client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 to origin server</a:t>
            </a:r>
          </a:p>
        </p:txBody>
      </p:sp>
      <p:sp>
        <p:nvSpPr>
          <p:cNvPr id="145" name="Rectangle 4">
            <a:extLst>
              <a:ext uri="{FF2B5EF4-FFF2-40B4-BE49-F238E27FC236}">
                <a16:creationId xmlns:a16="http://schemas.microsoft.com/office/drawing/2014/main" id="{F6AE5A0B-A69D-B948-BD0F-B69E446252C4}"/>
              </a:ext>
            </a:extLst>
          </p:cNvPr>
          <p:cNvSpPr txBox="1">
            <a:spLocks noChangeArrowheads="1"/>
          </p:cNvSpPr>
          <p:nvPr/>
        </p:nvSpPr>
        <p:spPr>
          <a:xfrm>
            <a:off x="5544015" y="1534695"/>
            <a:ext cx="60476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Why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caching?</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response time for client request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 is closer to client</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traffic on an institution</a:t>
            </a:r>
            <a:r>
              <a:rPr kumimoji="0" lang="en-US" altLang="ja-JP"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access link</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Internet is dense with caches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enables “</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poor” content providers to more effectively deliver content</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8078A0BA-EA92-E84B-9D25-74AB5B584F39}"/>
              </a:ext>
            </a:extLst>
          </p:cNvPr>
          <p:cNvGrpSpPr/>
          <p:nvPr/>
        </p:nvGrpSpPr>
        <p:grpSpPr>
          <a:xfrm>
            <a:off x="632391" y="3810000"/>
            <a:ext cx="4798594" cy="2217821"/>
            <a:chOff x="632391" y="3810000"/>
            <a:chExt cx="4798594" cy="2217821"/>
          </a:xfrm>
        </p:grpSpPr>
        <p:pic>
          <p:nvPicPr>
            <p:cNvPr id="2" name="Picture 1">
              <a:extLst>
                <a:ext uri="{FF2B5EF4-FFF2-40B4-BE49-F238E27FC236}">
                  <a16:creationId xmlns:a16="http://schemas.microsoft.com/office/drawing/2014/main" id="{A367C1AB-A47E-5446-99C0-0905B5F0557E}"/>
                </a:ext>
              </a:extLst>
            </p:cNvPr>
            <p:cNvPicPr>
              <a:picLocks noChangeAspect="1"/>
            </p:cNvPicPr>
            <p:nvPr/>
          </p:nvPicPr>
          <p:blipFill>
            <a:blip r:embed="rId3"/>
            <a:stretch>
              <a:fillRect/>
            </a:stretch>
          </p:blipFill>
          <p:spPr>
            <a:xfrm>
              <a:off x="1065462" y="5015497"/>
              <a:ext cx="4324685" cy="452126"/>
            </a:xfrm>
            <a:prstGeom prst="rect">
              <a:avLst/>
            </a:prstGeom>
          </p:spPr>
        </p:pic>
        <p:pic>
          <p:nvPicPr>
            <p:cNvPr id="4" name="Picture 3">
              <a:extLst>
                <a:ext uri="{FF2B5EF4-FFF2-40B4-BE49-F238E27FC236}">
                  <a16:creationId xmlns:a16="http://schemas.microsoft.com/office/drawing/2014/main" id="{BCCF5707-C36A-2B44-B3DE-6F31EEC700EE}"/>
                </a:ext>
              </a:extLst>
            </p:cNvPr>
            <p:cNvPicPr>
              <a:picLocks noChangeAspect="1"/>
            </p:cNvPicPr>
            <p:nvPr/>
          </p:nvPicPr>
          <p:blipFill>
            <a:blip r:embed="rId4"/>
            <a:stretch>
              <a:fillRect/>
            </a:stretch>
          </p:blipFill>
          <p:spPr>
            <a:xfrm>
              <a:off x="1066130" y="5587331"/>
              <a:ext cx="4364855" cy="440490"/>
            </a:xfrm>
            <a:prstGeom prst="rect">
              <a:avLst/>
            </a:prstGeom>
          </p:spPr>
        </p:pic>
        <p:sp>
          <p:nvSpPr>
            <p:cNvPr id="8" name="Rectangle 3">
              <a:extLst>
                <a:ext uri="{FF2B5EF4-FFF2-40B4-BE49-F238E27FC236}">
                  <a16:creationId xmlns:a16="http://schemas.microsoft.com/office/drawing/2014/main" id="{9E701FCD-5285-BE4B-BD4D-92A5F9D53E04}"/>
                </a:ext>
              </a:extLst>
            </p:cNvPr>
            <p:cNvSpPr txBox="1">
              <a:spLocks noChangeArrowheads="1"/>
            </p:cNvSpPr>
            <p:nvPr/>
          </p:nvSpPr>
          <p:spPr>
            <a:xfrm>
              <a:off x="632391" y="3810000"/>
              <a:ext cx="4757756" cy="132748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tells cache about object’s allowable caching in response header:</a:t>
              </a:r>
            </a:p>
          </p:txBody>
        </p:sp>
      </p:grpSp>
      <p:sp>
        <p:nvSpPr>
          <p:cNvPr id="10" name="Slide Number Placeholder 2">
            <a:extLst>
              <a:ext uri="{FF2B5EF4-FFF2-40B4-BE49-F238E27FC236}">
                <a16:creationId xmlns:a16="http://schemas.microsoft.com/office/drawing/2014/main" id="{293899FF-7A74-EF40-AE83-53C0062783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41</a:t>
            </a:fld>
            <a:endParaRPr lang="en-US" dirty="0"/>
          </a:p>
        </p:txBody>
      </p:sp>
    </p:spTree>
    <p:extLst>
      <p:ext uri="{BB962C8B-B14F-4D97-AF65-F5344CB8AC3E}">
        <p14:creationId xmlns:p14="http://schemas.microsoft.com/office/powerpoint/2010/main" val="3111243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5">
                                            <p:txEl>
                                              <p:pRg st="0" end="0"/>
                                            </p:txEl>
                                          </p:spTgt>
                                        </p:tgtEl>
                                        <p:attrNameLst>
                                          <p:attrName>style.visibility</p:attrName>
                                        </p:attrNameLst>
                                      </p:cBhvr>
                                      <p:to>
                                        <p:strVal val="visible"/>
                                      </p:to>
                                    </p:set>
                                    <p:animEffect transition="in" filter="dissolve">
                                      <p:cBhvr>
                                        <p:cTn id="12" dur="500"/>
                                        <p:tgtEl>
                                          <p:spTgt spid="14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45">
                                            <p:txEl>
                                              <p:pRg st="1" end="1"/>
                                            </p:txEl>
                                          </p:spTgt>
                                        </p:tgtEl>
                                        <p:attrNameLst>
                                          <p:attrName>style.visibility</p:attrName>
                                        </p:attrNameLst>
                                      </p:cBhvr>
                                      <p:to>
                                        <p:strVal val="visible"/>
                                      </p:to>
                                    </p:set>
                                    <p:animEffect transition="in" filter="dissolve">
                                      <p:cBhvr>
                                        <p:cTn id="17" dur="500"/>
                                        <p:tgtEl>
                                          <p:spTgt spid="145">
                                            <p:txEl>
                                              <p:pRg st="1" end="1"/>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145">
                                            <p:txEl>
                                              <p:pRg st="2" end="2"/>
                                            </p:txEl>
                                          </p:spTgt>
                                        </p:tgtEl>
                                        <p:attrNameLst>
                                          <p:attrName>style.visibility</p:attrName>
                                        </p:attrNameLst>
                                      </p:cBhvr>
                                      <p:to>
                                        <p:strVal val="visible"/>
                                      </p:to>
                                    </p:set>
                                    <p:animEffect transition="in" filter="dissolve">
                                      <p:cBhvr>
                                        <p:cTn id="20" dur="500"/>
                                        <p:tgtEl>
                                          <p:spTgt spid="145">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45">
                                            <p:txEl>
                                              <p:pRg st="3" end="3"/>
                                            </p:txEl>
                                          </p:spTgt>
                                        </p:tgtEl>
                                        <p:attrNameLst>
                                          <p:attrName>style.visibility</p:attrName>
                                        </p:attrNameLst>
                                      </p:cBhvr>
                                      <p:to>
                                        <p:strVal val="visible"/>
                                      </p:to>
                                    </p:set>
                                    <p:animEffect transition="in" filter="dissolve">
                                      <p:cBhvr>
                                        <p:cTn id="25" dur="500"/>
                                        <p:tgtEl>
                                          <p:spTgt spid="145">
                                            <p:txEl>
                                              <p:pRg st="3" end="3"/>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145">
                                            <p:txEl>
                                              <p:pRg st="4" end="4"/>
                                            </p:txEl>
                                          </p:spTgt>
                                        </p:tgtEl>
                                        <p:attrNameLst>
                                          <p:attrName>style.visibility</p:attrName>
                                        </p:attrNameLst>
                                      </p:cBhvr>
                                      <p:to>
                                        <p:strVal val="visible"/>
                                      </p:to>
                                    </p:set>
                                    <p:animEffect transition="in" filter="dissolve">
                                      <p:cBhvr>
                                        <p:cTn id="30" dur="500"/>
                                        <p:tgtEl>
                                          <p:spTgt spid="145">
                                            <p:txEl>
                                              <p:pRg st="4" end="4"/>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45">
                                            <p:txEl>
                                              <p:pRg st="5" end="5"/>
                                            </p:txEl>
                                          </p:spTgt>
                                        </p:tgtEl>
                                        <p:attrNameLst>
                                          <p:attrName>style.visibility</p:attrName>
                                        </p:attrNameLst>
                                      </p:cBhvr>
                                      <p:to>
                                        <p:strVal val="visible"/>
                                      </p:to>
                                    </p:set>
                                    <p:animEffect transition="in" filter="dissolve">
                                      <p:cBhvr>
                                        <p:cTn id="33" dur="500"/>
                                        <p:tgtEl>
                                          <p:spTgt spid="14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uiExpand="1" build="p"/>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0E83591-8817-3D4E-B1D7-7CB768593A6D}"/>
              </a:ext>
            </a:extLst>
          </p:cNvPr>
          <p:cNvPicPr>
            <a:picLocks noChangeAspect="1"/>
          </p:cNvPicPr>
          <p:nvPr/>
        </p:nvPicPr>
        <p:blipFill>
          <a:blip r:embed="rId3"/>
          <a:stretch>
            <a:fillRect/>
          </a:stretch>
        </p:blipFill>
        <p:spPr>
          <a:xfrm>
            <a:off x="6451600" y="3598333"/>
            <a:ext cx="1255183" cy="1030679"/>
          </a:xfrm>
          <a:prstGeom prst="rect">
            <a:avLst/>
          </a:prstGeom>
        </p:spPr>
      </p:pic>
      <p:pic>
        <p:nvPicPr>
          <p:cNvPr id="1026" name="Picture 2" descr="Image result for hot icon">
            <a:extLst>
              <a:ext uri="{FF2B5EF4-FFF2-40B4-BE49-F238E27FC236}">
                <a16:creationId xmlns:a16="http://schemas.microsoft.com/office/drawing/2014/main" id="{A7EAAD91-B13A-FE4B-8E84-68108CE646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20660" y="3598333"/>
            <a:ext cx="721782" cy="721782"/>
          </a:xfrm>
          <a:prstGeom prst="rect">
            <a:avLst/>
          </a:prstGeom>
          <a:noFill/>
          <a:extLst>
            <a:ext uri="{909E8E84-426E-40DD-AFC4-6F175D3DCCD1}">
              <a14:hiddenFill xmlns:a14="http://schemas.microsoft.com/office/drawing/2010/main">
                <a:solidFill>
                  <a:srgbClr val="FFFFFF"/>
                </a:solidFill>
              </a14:hiddenFill>
            </a:ext>
          </a:extLst>
        </p:spPr>
      </p:pic>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800" dirty="0">
                <a:ea typeface="ＭＳ Ｐゴシック" panose="020B0600070205080204" pitchFamily="34" charset="-128"/>
              </a:rPr>
              <a:t>Caching example</a:t>
            </a:r>
            <a:endParaRPr lang="en-US" sz="48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278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90" name="Oval 137">
            <a:extLst>
              <a:ext uri="{FF2B5EF4-FFF2-40B4-BE49-F238E27FC236}">
                <a16:creationId xmlns:a16="http://schemas.microsoft.com/office/drawing/2014/main" id="{A9F8C12A-15DE-3145-8755-75410365A52F}"/>
              </a:ext>
            </a:extLst>
          </p:cNvPr>
          <p:cNvSpPr>
            <a:spLocks noChangeArrowheads="1"/>
          </p:cNvSpPr>
          <p:nvPr/>
        </p:nvSpPr>
        <p:spPr bwMode="auto">
          <a:xfrm>
            <a:off x="3943717" y="4370340"/>
            <a:ext cx="940980" cy="509975"/>
          </a:xfrm>
          <a:prstGeom prst="ellipse">
            <a:avLst/>
          </a:pr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529" name="Rectangle 4">
            <a:extLst>
              <a:ext uri="{FF2B5EF4-FFF2-40B4-BE49-F238E27FC236}">
                <a16:creationId xmlns:a16="http://schemas.microsoft.com/office/drawing/2014/main" id="{3F40E6FA-56EE-4440-AD4E-B2DDBBC696EF}"/>
              </a:ext>
            </a:extLst>
          </p:cNvPr>
          <p:cNvSpPr>
            <a:spLocks noChangeArrowheads="1"/>
          </p:cNvSpPr>
          <p:nvPr/>
        </p:nvSpPr>
        <p:spPr bwMode="auto">
          <a:xfrm>
            <a:off x="829733" y="4064001"/>
            <a:ext cx="6403933" cy="229798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.97</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.0015</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end-end delay  =  Internet delay +</a:t>
            </a:r>
          </a:p>
          <a:p>
            <a:pPr marL="0" marR="0" lvl="0" indent="0" algn="l" defTabSz="914400" rtl="0" eaLnBrk="0" fontAlgn="base" latinLnBrk="0" hangingPunct="0">
              <a:lnSpc>
                <a:spcPct val="85000"/>
              </a:lnSpc>
              <a:spcBef>
                <a:spcPts val="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access link delay + LAN delay </a:t>
            </a:r>
          </a:p>
          <a:p>
            <a:pPr marL="0" marR="0" lvl="0" indent="0" algn="l" defTabSz="914400" rtl="0" eaLnBrk="0" fontAlgn="base" latinLnBrk="0" hangingPunct="0">
              <a:lnSpc>
                <a:spcPct val="85000"/>
              </a:lnSpc>
              <a:spcBef>
                <a:spcPts val="60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  2 sec + minutes + </a:t>
            </a:r>
            <a:r>
              <a:rPr kumimoji="0" lang="en-US" sz="2400" b="0" i="0" u="none" strike="noStrike" kern="1200" cap="none" spc="0" normalizeH="0" baseline="0" noProof="0" dirty="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usecs</a:t>
            </a: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sp>
        <p:nvSpPr>
          <p:cNvPr id="214" name="Oval 137">
            <a:extLst>
              <a:ext uri="{FF2B5EF4-FFF2-40B4-BE49-F238E27FC236}">
                <a16:creationId xmlns:a16="http://schemas.microsoft.com/office/drawing/2014/main" id="{23716FFF-6EE9-1D40-8627-3412B2DC1621}"/>
              </a:ext>
            </a:extLst>
          </p:cNvPr>
          <p:cNvSpPr>
            <a:spLocks noChangeArrowheads="1"/>
          </p:cNvSpPr>
          <p:nvPr/>
        </p:nvSpPr>
        <p:spPr bwMode="auto">
          <a:xfrm>
            <a:off x="4316250" y="5809673"/>
            <a:ext cx="1119350" cy="591127"/>
          </a:xfrm>
          <a:prstGeom prst="ellipse">
            <a:avLst/>
          </a:pr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Text Box 138">
            <a:extLst>
              <a:ext uri="{FF2B5EF4-FFF2-40B4-BE49-F238E27FC236}">
                <a16:creationId xmlns:a16="http://schemas.microsoft.com/office/drawing/2014/main" id="{99974D39-E173-B849-B8ED-599FAF902A29}"/>
              </a:ext>
            </a:extLst>
          </p:cNvPr>
          <p:cNvSpPr txBox="1">
            <a:spLocks noChangeArrowheads="1"/>
          </p:cNvSpPr>
          <p:nvPr/>
        </p:nvSpPr>
        <p:spPr bwMode="auto">
          <a:xfrm>
            <a:off x="4884698" y="4320866"/>
            <a:ext cx="2125703"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9525" marR="0" lvl="0" indent="0" algn="l" defTabSz="914400" rtl="0" eaLnBrk="0" fontAlgn="base" latinLnBrk="0" hangingPunct="0">
              <a:lnSpc>
                <a:spcPct val="90000"/>
              </a:lnSpc>
              <a:spcBef>
                <a:spcPct val="20000"/>
              </a:spcBef>
              <a:spcAft>
                <a:spcPct val="0"/>
              </a:spcAft>
              <a:buClr>
                <a:srgbClr val="3333CC"/>
              </a:buClr>
              <a:buSzPct val="85000"/>
              <a:buFont typeface="ZapfDingbats" charset="2"/>
              <a:buNone/>
              <a:tabLst/>
              <a:defRPr/>
            </a:pPr>
            <a:r>
              <a:rPr kumimoji="0" lang="en-US" altLang="en-US" sz="20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problem: </a:t>
            </a: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large queueing delays at high utilization!</a:t>
            </a:r>
          </a:p>
        </p:txBody>
      </p:sp>
      <p:sp>
        <p:nvSpPr>
          <p:cNvPr id="216" name="Slide Number Placeholder 2">
            <a:extLst>
              <a:ext uri="{FF2B5EF4-FFF2-40B4-BE49-F238E27FC236}">
                <a16:creationId xmlns:a16="http://schemas.microsoft.com/office/drawing/2014/main" id="{FE5CDB2C-98A2-A94B-BF70-466F1E231685}"/>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42</a:t>
            </a:fld>
            <a:endParaRPr lang="en-US" dirty="0"/>
          </a:p>
        </p:txBody>
      </p:sp>
    </p:spTree>
    <p:extLst>
      <p:ext uri="{BB962C8B-B14F-4D97-AF65-F5344CB8AC3E}">
        <p14:creationId xmlns:p14="http://schemas.microsoft.com/office/powerpoint/2010/main" val="3161562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29">
                                            <p:txEl>
                                              <p:pRg st="0" end="0"/>
                                            </p:txEl>
                                          </p:spTgt>
                                        </p:tgtEl>
                                        <p:attrNameLst>
                                          <p:attrName>style.visibility</p:attrName>
                                        </p:attrNameLst>
                                      </p:cBhvr>
                                      <p:to>
                                        <p:strVal val="visible"/>
                                      </p:to>
                                    </p:set>
                                    <p:animEffect transition="in" filter="dissolve">
                                      <p:cBhvr>
                                        <p:cTn id="7" dur="500"/>
                                        <p:tgtEl>
                                          <p:spTgt spid="529">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29">
                                            <p:txEl>
                                              <p:pRg st="1" end="1"/>
                                            </p:txEl>
                                          </p:spTgt>
                                        </p:tgtEl>
                                        <p:attrNameLst>
                                          <p:attrName>style.visibility</p:attrName>
                                        </p:attrNameLst>
                                      </p:cBhvr>
                                      <p:to>
                                        <p:strVal val="visible"/>
                                      </p:to>
                                    </p:set>
                                    <p:animEffect transition="in" filter="dissolve">
                                      <p:cBhvr>
                                        <p:cTn id="10" dur="500"/>
                                        <p:tgtEl>
                                          <p:spTgt spid="529">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90"/>
                                        </p:tgtEl>
                                        <p:attrNameLst>
                                          <p:attrName>style.visibility</p:attrName>
                                        </p:attrNameLst>
                                      </p:cBhvr>
                                      <p:to>
                                        <p:strVal val="visible"/>
                                      </p:to>
                                    </p:set>
                                    <p:animEffect transition="in" filter="dissolve">
                                      <p:cBhvr>
                                        <p:cTn id="15" dur="500"/>
                                        <p:tgtEl>
                                          <p:spTgt spid="290"/>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91"/>
                                        </p:tgtEl>
                                        <p:attrNameLst>
                                          <p:attrName>style.visibility</p:attrName>
                                        </p:attrNameLst>
                                      </p:cBhvr>
                                      <p:to>
                                        <p:strVal val="visible"/>
                                      </p:to>
                                    </p:set>
                                    <p:animEffect transition="in" filter="dissolve">
                                      <p:cBhvr>
                                        <p:cTn id="18" dur="500"/>
                                        <p:tgtEl>
                                          <p:spTgt spid="291"/>
                                        </p:tgtEl>
                                      </p:cBhvr>
                                    </p:animEffect>
                                  </p:childTnLst>
                                </p:cTn>
                              </p:par>
                              <p:par>
                                <p:cTn id="19" presetID="9" presetClass="entr" presetSubtype="0" fill="hold" nodeType="withEffect">
                                  <p:stCondLst>
                                    <p:cond delay="0"/>
                                  </p:stCondLst>
                                  <p:childTnLst>
                                    <p:set>
                                      <p:cBhvr>
                                        <p:cTn id="20" dur="1" fill="hold">
                                          <p:stCondLst>
                                            <p:cond delay="0"/>
                                          </p:stCondLst>
                                        </p:cTn>
                                        <p:tgtEl>
                                          <p:spTgt spid="1026"/>
                                        </p:tgtEl>
                                        <p:attrNameLst>
                                          <p:attrName>style.visibility</p:attrName>
                                        </p:attrNameLst>
                                      </p:cBhvr>
                                      <p:to>
                                        <p:strVal val="visible"/>
                                      </p:to>
                                    </p:set>
                                    <p:animEffect transition="in" filter="dissolve">
                                      <p:cBhvr>
                                        <p:cTn id="21" dur="500"/>
                                        <p:tgtEl>
                                          <p:spTgt spid="1026"/>
                                        </p:tgtEl>
                                      </p:cBhvr>
                                    </p:animEffect>
                                  </p:childTnLst>
                                </p:cTn>
                              </p:par>
                              <p:par>
                                <p:cTn id="22" presetID="9" presetClass="entr" presetSubtype="0" fill="hold" nodeType="with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dissolve">
                                      <p:cBhvr>
                                        <p:cTn id="24" dur="500"/>
                                        <p:tgtEl>
                                          <p:spTgt spid="3"/>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29">
                                            <p:txEl>
                                              <p:pRg st="2" end="2"/>
                                            </p:txEl>
                                          </p:spTgt>
                                        </p:tgtEl>
                                        <p:attrNameLst>
                                          <p:attrName>style.visibility</p:attrName>
                                        </p:attrNameLst>
                                      </p:cBhvr>
                                      <p:to>
                                        <p:strVal val="visible"/>
                                      </p:to>
                                    </p:set>
                                    <p:animEffect transition="in" filter="dissolve">
                                      <p:cBhvr>
                                        <p:cTn id="29" dur="500"/>
                                        <p:tgtEl>
                                          <p:spTgt spid="529">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529">
                                            <p:txEl>
                                              <p:pRg st="3" end="3"/>
                                            </p:txEl>
                                          </p:spTgt>
                                        </p:tgtEl>
                                        <p:attrNameLst>
                                          <p:attrName>style.visibility</p:attrName>
                                        </p:attrNameLst>
                                      </p:cBhvr>
                                      <p:to>
                                        <p:strVal val="visible"/>
                                      </p:to>
                                    </p:set>
                                    <p:animEffect transition="in" filter="dissolve">
                                      <p:cBhvr>
                                        <p:cTn id="34" dur="500"/>
                                        <p:tgtEl>
                                          <p:spTgt spid="529">
                                            <p:txEl>
                                              <p:pRg st="3" end="3"/>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529">
                                            <p:txEl>
                                              <p:pRg st="4" end="4"/>
                                            </p:txEl>
                                          </p:spTgt>
                                        </p:tgtEl>
                                        <p:attrNameLst>
                                          <p:attrName>style.visibility</p:attrName>
                                        </p:attrNameLst>
                                      </p:cBhvr>
                                      <p:to>
                                        <p:strVal val="visible"/>
                                      </p:to>
                                    </p:set>
                                    <p:animEffect transition="in" filter="dissolve">
                                      <p:cBhvr>
                                        <p:cTn id="37" dur="500"/>
                                        <p:tgtEl>
                                          <p:spTgt spid="529">
                                            <p:txEl>
                                              <p:pRg st="4" end="4"/>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529">
                                            <p:txEl>
                                              <p:pRg st="5" end="5"/>
                                            </p:txEl>
                                          </p:spTgt>
                                        </p:tgtEl>
                                        <p:attrNameLst>
                                          <p:attrName>style.visibility</p:attrName>
                                        </p:attrNameLst>
                                      </p:cBhvr>
                                      <p:to>
                                        <p:strVal val="visible"/>
                                      </p:to>
                                    </p:set>
                                    <p:animEffect transition="in" filter="dissolve">
                                      <p:cBhvr>
                                        <p:cTn id="40" dur="500"/>
                                        <p:tgtEl>
                                          <p:spTgt spid="529">
                                            <p:txEl>
                                              <p:pRg st="5" end="5"/>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14"/>
                                        </p:tgtEl>
                                        <p:attrNameLst>
                                          <p:attrName>style.visibility</p:attrName>
                                        </p:attrNameLst>
                                      </p:cBhvr>
                                      <p:to>
                                        <p:strVal val="visible"/>
                                      </p:to>
                                    </p:set>
                                    <p:animEffect transition="in" filter="dissolve">
                                      <p:cBhvr>
                                        <p:cTn id="45" dur="500"/>
                                        <p:tgtEl>
                                          <p:spTgt spid="2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 grpId="0" animBg="1"/>
      <p:bldP spid="214" grpId="0" animBg="1"/>
      <p:bldP spid="291"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Rectangle 4">
            <a:extLst>
              <a:ext uri="{FF2B5EF4-FFF2-40B4-BE49-F238E27FC236}">
                <a16:creationId xmlns:a16="http://schemas.microsoft.com/office/drawing/2014/main" id="{98A75405-209A-CD48-8E25-225D64187B47}"/>
              </a:ext>
            </a:extLst>
          </p:cNvPr>
          <p:cNvSpPr>
            <a:spLocks noChangeArrowheads="1"/>
          </p:cNvSpPr>
          <p:nvPr/>
        </p:nvSpPr>
        <p:spPr bwMode="auto">
          <a:xfrm>
            <a:off x="829733" y="4064001"/>
            <a:ext cx="6403933" cy="229798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.97</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.0015</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end-end delay  =  Internet delay +</a:t>
            </a:r>
          </a:p>
          <a:p>
            <a:pPr marL="0" marR="0" lvl="0" indent="0" algn="l" defTabSz="914400" rtl="0" eaLnBrk="0" fontAlgn="base" latinLnBrk="0" hangingPunct="0">
              <a:lnSpc>
                <a:spcPct val="85000"/>
              </a:lnSpc>
              <a:spcBef>
                <a:spcPts val="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access link delay + LAN delay </a:t>
            </a:r>
          </a:p>
          <a:p>
            <a:pPr marL="0" marR="0" lvl="0" indent="0" algn="l" defTabSz="914400" rtl="0" eaLnBrk="0" fontAlgn="base" latinLnBrk="0" hangingPunct="0">
              <a:lnSpc>
                <a:spcPct val="85000"/>
              </a:lnSpc>
              <a:spcBef>
                <a:spcPts val="60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  2 sec + minutes + </a:t>
            </a:r>
            <a:r>
              <a:rPr kumimoji="0" lang="en-US" sz="2400" b="0" i="0" u="none" strike="noStrike" kern="1200" cap="none" spc="0" normalizeH="0" baseline="0" noProof="0" dirty="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usecs</a:t>
            </a: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Option 1: buy a faster access link</a:t>
            </a:r>
            <a:endParaRPr lang="en-US" sz="44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278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grpSp>
        <p:nvGrpSpPr>
          <p:cNvPr id="2" name="Group 1">
            <a:extLst>
              <a:ext uri="{FF2B5EF4-FFF2-40B4-BE49-F238E27FC236}">
                <a16:creationId xmlns:a16="http://schemas.microsoft.com/office/drawing/2014/main" id="{2FF3AF6D-4CBE-BE4A-AF26-B6F34DC9EF33}"/>
              </a:ext>
            </a:extLst>
          </p:cNvPr>
          <p:cNvGrpSpPr/>
          <p:nvPr/>
        </p:nvGrpSpPr>
        <p:grpSpPr>
          <a:xfrm>
            <a:off x="3269205" y="1370475"/>
            <a:ext cx="7974440" cy="2642996"/>
            <a:chOff x="3269205" y="1370475"/>
            <a:chExt cx="7974440" cy="2642996"/>
          </a:xfrm>
        </p:grpSpPr>
        <p:grpSp>
          <p:nvGrpSpPr>
            <p:cNvPr id="214" name="Group 213">
              <a:extLst>
                <a:ext uri="{FF2B5EF4-FFF2-40B4-BE49-F238E27FC236}">
                  <a16:creationId xmlns:a16="http://schemas.microsoft.com/office/drawing/2014/main" id="{9AFA7B76-427C-134D-90BC-D4693AEF2136}"/>
                </a:ext>
              </a:extLst>
            </p:cNvPr>
            <p:cNvGrpSpPr/>
            <p:nvPr/>
          </p:nvGrpSpPr>
          <p:grpSpPr>
            <a:xfrm>
              <a:off x="3269205" y="1370475"/>
              <a:ext cx="2248984" cy="736408"/>
              <a:chOff x="4785771" y="3827302"/>
              <a:chExt cx="2248984" cy="736408"/>
            </a:xfrm>
          </p:grpSpPr>
          <p:sp>
            <p:nvSpPr>
              <p:cNvPr id="215" name="Text Box 52">
                <a:extLst>
                  <a:ext uri="{FF2B5EF4-FFF2-40B4-BE49-F238E27FC236}">
                    <a16:creationId xmlns:a16="http://schemas.microsoft.com/office/drawing/2014/main" id="{D9BA6C4C-0CF0-8742-ACB2-584114381882}"/>
                  </a:ext>
                </a:extLst>
              </p:cNvPr>
              <p:cNvSpPr txBox="1">
                <a:spLocks noChangeArrowheads="1"/>
              </p:cNvSpPr>
              <p:nvPr/>
            </p:nvSpPr>
            <p:spPr bwMode="auto">
              <a:xfrm>
                <a:off x="5449268" y="3827302"/>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154 Mbps</a:t>
                </a:r>
              </a:p>
            </p:txBody>
          </p:sp>
          <p:sp>
            <p:nvSpPr>
              <p:cNvPr id="216" name="Rectangle 215">
                <a:extLst>
                  <a:ext uri="{FF2B5EF4-FFF2-40B4-BE49-F238E27FC236}">
                    <a16:creationId xmlns:a16="http://schemas.microsoft.com/office/drawing/2014/main" id="{1FA396C6-E0DB-E54B-9564-C46EF025F0E3}"/>
                  </a:ext>
                </a:extLst>
              </p:cNvPr>
              <p:cNvSpPr/>
              <p:nvPr/>
            </p:nvSpPr>
            <p:spPr>
              <a:xfrm>
                <a:off x="4785771" y="4223523"/>
                <a:ext cx="611420"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17" name="Line 51">
                <a:extLst>
                  <a:ext uri="{FF2B5EF4-FFF2-40B4-BE49-F238E27FC236}">
                    <a16:creationId xmlns:a16="http://schemas.microsoft.com/office/drawing/2014/main" id="{5DC119B0-D3C1-9741-8399-6E949D96195E}"/>
                  </a:ext>
                </a:extLst>
              </p:cNvPr>
              <p:cNvSpPr>
                <a:spLocks noChangeShapeType="1"/>
              </p:cNvSpPr>
              <p:nvPr/>
            </p:nvSpPr>
            <p:spPr bwMode="auto">
              <a:xfrm flipV="1">
                <a:off x="4828478" y="4140660"/>
                <a:ext cx="680225" cy="42304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43EB18F1-EB9B-AB4E-9315-D47FB051A2D9}"/>
                </a:ext>
              </a:extLst>
            </p:cNvPr>
            <p:cNvGrpSpPr/>
            <p:nvPr/>
          </p:nvGrpSpPr>
          <p:grpSpPr>
            <a:xfrm>
              <a:off x="9113107" y="3496571"/>
              <a:ext cx="2130538" cy="516900"/>
              <a:chOff x="4352719" y="3567941"/>
              <a:chExt cx="2130538" cy="516900"/>
            </a:xfrm>
          </p:grpSpPr>
          <p:sp>
            <p:nvSpPr>
              <p:cNvPr id="219" name="Text Box 52">
                <a:extLst>
                  <a:ext uri="{FF2B5EF4-FFF2-40B4-BE49-F238E27FC236}">
                    <a16:creationId xmlns:a16="http://schemas.microsoft.com/office/drawing/2014/main" id="{414BD24A-A827-744B-8CF6-F9EAA2D920A9}"/>
                  </a:ext>
                </a:extLst>
              </p:cNvPr>
              <p:cNvSpPr txBox="1">
                <a:spLocks noChangeArrowheads="1"/>
              </p:cNvSpPr>
              <p:nvPr/>
            </p:nvSpPr>
            <p:spPr bwMode="auto">
              <a:xfrm>
                <a:off x="4897770" y="3567941"/>
                <a:ext cx="15854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154 Mbps</a:t>
                </a:r>
              </a:p>
            </p:txBody>
          </p:sp>
          <p:sp>
            <p:nvSpPr>
              <p:cNvPr id="220" name="Rectangle 219">
                <a:extLst>
                  <a:ext uri="{FF2B5EF4-FFF2-40B4-BE49-F238E27FC236}">
                    <a16:creationId xmlns:a16="http://schemas.microsoft.com/office/drawing/2014/main" id="{C3E3E743-58A9-D543-ABF2-E8D950F0D5C4}"/>
                  </a:ext>
                </a:extLst>
              </p:cNvPr>
              <p:cNvSpPr/>
              <p:nvPr/>
            </p:nvSpPr>
            <p:spPr>
              <a:xfrm>
                <a:off x="4352719" y="3822059"/>
                <a:ext cx="527164" cy="262782"/>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1" name="Line 51">
                <a:extLst>
                  <a:ext uri="{FF2B5EF4-FFF2-40B4-BE49-F238E27FC236}">
                    <a16:creationId xmlns:a16="http://schemas.microsoft.com/office/drawing/2014/main" id="{C012F3C8-BFC0-0C46-8D2D-992B1C38C6A6}"/>
                  </a:ext>
                </a:extLst>
              </p:cNvPr>
              <p:cNvSpPr>
                <a:spLocks noChangeShapeType="1"/>
              </p:cNvSpPr>
              <p:nvPr/>
            </p:nvSpPr>
            <p:spPr bwMode="auto">
              <a:xfrm flipV="1">
                <a:off x="4459229" y="3805441"/>
                <a:ext cx="554004" cy="23711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grpSp>
        <p:nvGrpSpPr>
          <p:cNvPr id="222" name="Group 221">
            <a:extLst>
              <a:ext uri="{FF2B5EF4-FFF2-40B4-BE49-F238E27FC236}">
                <a16:creationId xmlns:a16="http://schemas.microsoft.com/office/drawing/2014/main" id="{173CBB2E-654A-474B-8238-296B81F89068}"/>
              </a:ext>
            </a:extLst>
          </p:cNvPr>
          <p:cNvGrpSpPr/>
          <p:nvPr/>
        </p:nvGrpSpPr>
        <p:grpSpPr>
          <a:xfrm>
            <a:off x="4067394" y="4387359"/>
            <a:ext cx="2583033" cy="461665"/>
            <a:chOff x="4114801" y="3880785"/>
            <a:chExt cx="2583033" cy="461665"/>
          </a:xfrm>
        </p:grpSpPr>
        <p:sp>
          <p:nvSpPr>
            <p:cNvPr id="223" name="Text Box 52">
              <a:extLst>
                <a:ext uri="{FF2B5EF4-FFF2-40B4-BE49-F238E27FC236}">
                  <a16:creationId xmlns:a16="http://schemas.microsoft.com/office/drawing/2014/main" id="{FA193B58-E942-8A47-9F5D-3A2B58608DBB}"/>
                </a:ext>
              </a:extLst>
            </p:cNvPr>
            <p:cNvSpPr txBox="1">
              <a:spLocks noChangeArrowheads="1"/>
            </p:cNvSpPr>
            <p:nvPr/>
          </p:nvSpPr>
          <p:spPr bwMode="auto">
            <a:xfrm>
              <a:off x="5112347" y="3880785"/>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.0097</a:t>
              </a:r>
            </a:p>
          </p:txBody>
        </p:sp>
        <p:sp>
          <p:nvSpPr>
            <p:cNvPr id="224" name="Rectangle 223">
              <a:extLst>
                <a:ext uri="{FF2B5EF4-FFF2-40B4-BE49-F238E27FC236}">
                  <a16:creationId xmlns:a16="http://schemas.microsoft.com/office/drawing/2014/main" id="{84682AEF-F684-9F45-A3DA-FEDE9ED18429}"/>
                </a:ext>
              </a:extLst>
            </p:cNvPr>
            <p:cNvSpPr/>
            <p:nvPr/>
          </p:nvSpPr>
          <p:spPr>
            <a:xfrm>
              <a:off x="4114801" y="3955100"/>
              <a:ext cx="498412"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5" name="Line 51">
              <a:extLst>
                <a:ext uri="{FF2B5EF4-FFF2-40B4-BE49-F238E27FC236}">
                  <a16:creationId xmlns:a16="http://schemas.microsoft.com/office/drawing/2014/main" id="{8F3A165F-08A0-9D4B-B82D-B603502A13F3}"/>
                </a:ext>
              </a:extLst>
            </p:cNvPr>
            <p:cNvSpPr>
              <a:spLocks noChangeShapeType="1"/>
            </p:cNvSpPr>
            <p:nvPr/>
          </p:nvSpPr>
          <p:spPr bwMode="auto">
            <a:xfrm>
              <a:off x="4234070" y="4117024"/>
              <a:ext cx="936703" cy="1"/>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226" name="Group 225">
            <a:extLst>
              <a:ext uri="{FF2B5EF4-FFF2-40B4-BE49-F238E27FC236}">
                <a16:creationId xmlns:a16="http://schemas.microsoft.com/office/drawing/2014/main" id="{598125F6-3C0E-B64C-9CC2-9EFB4DA6980E}"/>
              </a:ext>
            </a:extLst>
          </p:cNvPr>
          <p:cNvGrpSpPr/>
          <p:nvPr/>
        </p:nvGrpSpPr>
        <p:grpSpPr>
          <a:xfrm>
            <a:off x="4351868" y="5927346"/>
            <a:ext cx="3101886" cy="698305"/>
            <a:chOff x="3557204" y="3415545"/>
            <a:chExt cx="3101886" cy="698305"/>
          </a:xfrm>
        </p:grpSpPr>
        <p:sp>
          <p:nvSpPr>
            <p:cNvPr id="227" name="Text Box 52">
              <a:extLst>
                <a:ext uri="{FF2B5EF4-FFF2-40B4-BE49-F238E27FC236}">
                  <a16:creationId xmlns:a16="http://schemas.microsoft.com/office/drawing/2014/main" id="{5B815C0E-E9AF-964A-AB0C-F8220D77B6A8}"/>
                </a:ext>
              </a:extLst>
            </p:cNvPr>
            <p:cNvSpPr txBox="1">
              <a:spLocks noChangeArrowheads="1"/>
            </p:cNvSpPr>
            <p:nvPr/>
          </p:nvSpPr>
          <p:spPr bwMode="auto">
            <a:xfrm>
              <a:off x="5555973" y="3652185"/>
              <a:ext cx="11031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err="1">
                  <a:ln>
                    <a:noFill/>
                  </a:ln>
                  <a:solidFill>
                    <a:prstClr val="black"/>
                  </a:solidFill>
                  <a:effectLst/>
                  <a:uLnTx/>
                  <a:uFillTx/>
                  <a:latin typeface="Calibri"/>
                  <a:ea typeface="ＭＳ Ｐゴシック" panose="020B0600070205080204" pitchFamily="34" charset="-128"/>
                  <a:cs typeface="+mn-cs"/>
                </a:rPr>
                <a:t>msecs</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8" name="Rectangle 227">
              <a:extLst>
                <a:ext uri="{FF2B5EF4-FFF2-40B4-BE49-F238E27FC236}">
                  <a16:creationId xmlns:a16="http://schemas.microsoft.com/office/drawing/2014/main" id="{4EE7EB05-EB77-DA46-8D82-2C1B89B59FCD}"/>
                </a:ext>
              </a:extLst>
            </p:cNvPr>
            <p:cNvSpPr/>
            <p:nvPr/>
          </p:nvSpPr>
          <p:spPr>
            <a:xfrm>
              <a:off x="3557204" y="3415545"/>
              <a:ext cx="1041334" cy="337988"/>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9" name="Line 51">
              <a:extLst>
                <a:ext uri="{FF2B5EF4-FFF2-40B4-BE49-F238E27FC236}">
                  <a16:creationId xmlns:a16="http://schemas.microsoft.com/office/drawing/2014/main" id="{45B58613-BF72-9847-A603-92F5F10A9D91}"/>
                </a:ext>
              </a:extLst>
            </p:cNvPr>
            <p:cNvSpPr>
              <a:spLocks noChangeShapeType="1"/>
            </p:cNvSpPr>
            <p:nvPr/>
          </p:nvSpPr>
          <p:spPr bwMode="auto">
            <a:xfrm>
              <a:off x="3662316" y="3504654"/>
              <a:ext cx="1983056" cy="46166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230" name="Text Box 83">
            <a:extLst>
              <a:ext uri="{FF2B5EF4-FFF2-40B4-BE49-F238E27FC236}">
                <a16:creationId xmlns:a16="http://schemas.microsoft.com/office/drawing/2014/main" id="{3A71517F-2630-E14F-B4A5-B7AD1A3332AB}"/>
              </a:ext>
            </a:extLst>
          </p:cNvPr>
          <p:cNvSpPr txBox="1">
            <a:spLocks noChangeArrowheads="1"/>
          </p:cNvSpPr>
          <p:nvPr/>
        </p:nvSpPr>
        <p:spPr bwMode="auto">
          <a:xfrm>
            <a:off x="870724" y="6212256"/>
            <a:ext cx="45657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faster access link (expensive!)</a:t>
            </a:r>
          </a:p>
        </p:txBody>
      </p:sp>
      <p:sp>
        <p:nvSpPr>
          <p:cNvPr id="231" name="Slide Number Placeholder 2">
            <a:extLst>
              <a:ext uri="{FF2B5EF4-FFF2-40B4-BE49-F238E27FC236}">
                <a16:creationId xmlns:a16="http://schemas.microsoft.com/office/drawing/2014/main" id="{FF0ECF32-52FF-7941-8B38-AE471D68A41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43</a:t>
            </a:fld>
            <a:endParaRPr lang="en-US" dirty="0"/>
          </a:p>
        </p:txBody>
      </p:sp>
    </p:spTree>
    <p:extLst>
      <p:ext uri="{BB962C8B-B14F-4D97-AF65-F5344CB8AC3E}">
        <p14:creationId xmlns:p14="http://schemas.microsoft.com/office/powerpoint/2010/main" val="3849931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2"/>
                                        </p:tgtEl>
                                        <p:attrNameLst>
                                          <p:attrName>style.visibility</p:attrName>
                                        </p:attrNameLst>
                                      </p:cBhvr>
                                      <p:to>
                                        <p:strVal val="visible"/>
                                      </p:to>
                                    </p:set>
                                    <p:animEffect transition="in" filter="dissolve">
                                      <p:cBhvr>
                                        <p:cTn id="12" dur="500"/>
                                        <p:tgtEl>
                                          <p:spTgt spid="22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6"/>
                                        </p:tgtEl>
                                        <p:attrNameLst>
                                          <p:attrName>style.visibility</p:attrName>
                                        </p:attrNameLst>
                                      </p:cBhvr>
                                      <p:to>
                                        <p:strVal val="visible"/>
                                      </p:to>
                                    </p:set>
                                    <p:animEffect transition="in" filter="dissolve">
                                      <p:cBhvr>
                                        <p:cTn id="17" dur="500"/>
                                        <p:tgtEl>
                                          <p:spTgt spid="2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0"/>
                                        </p:tgtEl>
                                        <p:attrNameLst>
                                          <p:attrName>style.visibility</p:attrName>
                                        </p:attrNameLst>
                                      </p:cBhvr>
                                      <p:to>
                                        <p:strVal val="visible"/>
                                      </p:to>
                                    </p:set>
                                    <p:animEffect transition="in" filter="dissolve">
                                      <p:cBhvr>
                                        <p:cTn id="22" dur="500"/>
                                        <p:tgtEl>
                                          <p:spTgt spid="2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 name="Rectangle 4">
            <a:extLst>
              <a:ext uri="{FF2B5EF4-FFF2-40B4-BE49-F238E27FC236}">
                <a16:creationId xmlns:a16="http://schemas.microsoft.com/office/drawing/2014/main" id="{3F40E6FA-56EE-4440-AD4E-B2DDBBC696EF}"/>
              </a:ext>
            </a:extLst>
          </p:cNvPr>
          <p:cNvSpPr>
            <a:spLocks noChangeArrowheads="1"/>
          </p:cNvSpPr>
          <p:nvPr/>
        </p:nvSpPr>
        <p:spPr bwMode="auto">
          <a:xfrm>
            <a:off x="922868" y="4719957"/>
            <a:ext cx="6361287" cy="23024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end-end delay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t>
            </a: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Option 2: install a web cache</a:t>
            </a:r>
            <a:endParaRPr lang="en-US" sz="44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3006" y="4514213"/>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8" name="Group 7">
            <a:extLst>
              <a:ext uri="{FF2B5EF4-FFF2-40B4-BE49-F238E27FC236}">
                <a16:creationId xmlns:a16="http://schemas.microsoft.com/office/drawing/2014/main" id="{C1B9D561-2CE1-E94C-A5B6-6D386991296C}"/>
              </a:ext>
            </a:extLst>
          </p:cNvPr>
          <p:cNvGrpSpPr/>
          <p:nvPr/>
        </p:nvGrpSpPr>
        <p:grpSpPr>
          <a:xfrm>
            <a:off x="9339961" y="4807753"/>
            <a:ext cx="811212" cy="1033463"/>
            <a:chOff x="9001301" y="5550914"/>
            <a:chExt cx="811212" cy="1033463"/>
          </a:xfrm>
        </p:grpSpPr>
        <p:sp>
          <p:nvSpPr>
            <p:cNvPr id="5" name="Oval 4">
              <a:extLst>
                <a:ext uri="{FF2B5EF4-FFF2-40B4-BE49-F238E27FC236}">
                  <a16:creationId xmlns:a16="http://schemas.microsoft.com/office/drawing/2014/main" id="{A298426B-04DE-A940-931E-BDC464270408}"/>
                </a:ext>
              </a:extLst>
            </p:cNvPr>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738995C0-BBC9-804D-85E8-324290F772D6}"/>
                </a:ext>
              </a:extLst>
            </p:cNvPr>
            <p:cNvGrpSpPr/>
            <p:nvPr/>
          </p:nvGrpSpPr>
          <p:grpSpPr>
            <a:xfrm>
              <a:off x="9256094" y="5631762"/>
              <a:ext cx="377825" cy="800176"/>
              <a:chOff x="10907888" y="5189290"/>
              <a:chExt cx="377825" cy="800176"/>
            </a:xfrm>
          </p:grpSpPr>
          <p:sp>
            <p:nvSpPr>
              <p:cNvPr id="266" name="Line 80">
                <a:extLst>
                  <a:ext uri="{FF2B5EF4-FFF2-40B4-BE49-F238E27FC236}">
                    <a16:creationId xmlns:a16="http://schemas.microsoft.com/office/drawing/2014/main" id="{DC2C9F57-B9EB-1941-A689-B13B8950BD5E}"/>
                  </a:ext>
                </a:extLst>
              </p:cNvPr>
              <p:cNvSpPr>
                <a:spLocks noChangeShapeType="1"/>
              </p:cNvSpPr>
              <p:nvPr/>
            </p:nvSpPr>
            <p:spPr bwMode="auto">
              <a:xfrm>
                <a:off x="10966625" y="5189290"/>
                <a:ext cx="76200" cy="3222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0" name="Group 307">
                <a:extLst>
                  <a:ext uri="{FF2B5EF4-FFF2-40B4-BE49-F238E27FC236}">
                    <a16:creationId xmlns:a16="http://schemas.microsoft.com/office/drawing/2014/main" id="{EBBCE30B-4C00-0843-BA56-FF3F98DF9C83}"/>
                  </a:ext>
                </a:extLst>
              </p:cNvPr>
              <p:cNvGrpSpPr>
                <a:grpSpLocks/>
              </p:cNvGrpSpPr>
              <p:nvPr/>
            </p:nvGrpSpPr>
            <p:grpSpPr bwMode="auto">
              <a:xfrm>
                <a:off x="10907888" y="5413204"/>
                <a:ext cx="377825" cy="576262"/>
                <a:chOff x="4140" y="429"/>
                <a:chExt cx="1425" cy="2396"/>
              </a:xfrm>
            </p:grpSpPr>
            <p:sp>
              <p:nvSpPr>
                <p:cNvPr id="461" name="Freeform 308">
                  <a:extLst>
                    <a:ext uri="{FF2B5EF4-FFF2-40B4-BE49-F238E27FC236}">
                      <a16:creationId xmlns:a16="http://schemas.microsoft.com/office/drawing/2014/main" id="{83748550-5535-714B-A011-5732D5AB9F8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2" name="Rectangle 309">
                  <a:extLst>
                    <a:ext uri="{FF2B5EF4-FFF2-40B4-BE49-F238E27FC236}">
                      <a16:creationId xmlns:a16="http://schemas.microsoft.com/office/drawing/2014/main" id="{9EDD97E5-06A3-F844-AC12-86FF0C98899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3" name="Freeform 310">
                  <a:extLst>
                    <a:ext uri="{FF2B5EF4-FFF2-40B4-BE49-F238E27FC236}">
                      <a16:creationId xmlns:a16="http://schemas.microsoft.com/office/drawing/2014/main" id="{70945480-4E5A-4D4D-9CB5-2EE3B8B723D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4" name="Freeform 311">
                  <a:extLst>
                    <a:ext uri="{FF2B5EF4-FFF2-40B4-BE49-F238E27FC236}">
                      <a16:creationId xmlns:a16="http://schemas.microsoft.com/office/drawing/2014/main" id="{2D50B6AC-633A-E648-9313-0B33331842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Rectangle 312">
                  <a:extLst>
                    <a:ext uri="{FF2B5EF4-FFF2-40B4-BE49-F238E27FC236}">
                      <a16:creationId xmlns:a16="http://schemas.microsoft.com/office/drawing/2014/main" id="{47F72229-4C07-FF49-B907-A9D7C0379756}"/>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6" name="Group 313">
                  <a:extLst>
                    <a:ext uri="{FF2B5EF4-FFF2-40B4-BE49-F238E27FC236}">
                      <a16:creationId xmlns:a16="http://schemas.microsoft.com/office/drawing/2014/main" id="{A42FF10A-615B-304D-8C35-154C0E4C5787}"/>
                    </a:ext>
                  </a:extLst>
                </p:cNvPr>
                <p:cNvGrpSpPr>
                  <a:grpSpLocks/>
                </p:cNvGrpSpPr>
                <p:nvPr/>
              </p:nvGrpSpPr>
              <p:grpSpPr bwMode="auto">
                <a:xfrm>
                  <a:off x="4749" y="668"/>
                  <a:ext cx="581" cy="145"/>
                  <a:chOff x="614" y="2568"/>
                  <a:chExt cx="725" cy="139"/>
                </a:xfrm>
              </p:grpSpPr>
              <p:sp>
                <p:nvSpPr>
                  <p:cNvPr id="491" name="AutoShape 314">
                    <a:extLst>
                      <a:ext uri="{FF2B5EF4-FFF2-40B4-BE49-F238E27FC236}">
                        <a16:creationId xmlns:a16="http://schemas.microsoft.com/office/drawing/2014/main" id="{34A57301-3C4F-8449-804B-13CE58B4846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2" name="AutoShape 315">
                    <a:extLst>
                      <a:ext uri="{FF2B5EF4-FFF2-40B4-BE49-F238E27FC236}">
                        <a16:creationId xmlns:a16="http://schemas.microsoft.com/office/drawing/2014/main" id="{9A1FA8F9-C3C6-0F4F-92B5-0F88F3CADE81}"/>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7" name="Rectangle 316">
                  <a:extLst>
                    <a:ext uri="{FF2B5EF4-FFF2-40B4-BE49-F238E27FC236}">
                      <a16:creationId xmlns:a16="http://schemas.microsoft.com/office/drawing/2014/main" id="{9C19D553-23E1-C642-BE27-380720AFE330}"/>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8" name="Group 317">
                  <a:extLst>
                    <a:ext uri="{FF2B5EF4-FFF2-40B4-BE49-F238E27FC236}">
                      <a16:creationId xmlns:a16="http://schemas.microsoft.com/office/drawing/2014/main" id="{BA84A45F-1D87-2D4A-ADC6-FBD0F07175D1}"/>
                    </a:ext>
                  </a:extLst>
                </p:cNvPr>
                <p:cNvGrpSpPr>
                  <a:grpSpLocks/>
                </p:cNvGrpSpPr>
                <p:nvPr/>
              </p:nvGrpSpPr>
              <p:grpSpPr bwMode="auto">
                <a:xfrm>
                  <a:off x="4747" y="994"/>
                  <a:ext cx="581" cy="134"/>
                  <a:chOff x="614" y="2568"/>
                  <a:chExt cx="725" cy="139"/>
                </a:xfrm>
              </p:grpSpPr>
              <p:sp>
                <p:nvSpPr>
                  <p:cNvPr id="489" name="AutoShape 318">
                    <a:extLst>
                      <a:ext uri="{FF2B5EF4-FFF2-40B4-BE49-F238E27FC236}">
                        <a16:creationId xmlns:a16="http://schemas.microsoft.com/office/drawing/2014/main" id="{9967BFD2-AF98-6C48-9664-709DAD7F645D}"/>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0" name="AutoShape 319">
                    <a:extLst>
                      <a:ext uri="{FF2B5EF4-FFF2-40B4-BE49-F238E27FC236}">
                        <a16:creationId xmlns:a16="http://schemas.microsoft.com/office/drawing/2014/main" id="{98F66D34-8A75-524A-85C0-CD7FBB230949}"/>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9" name="Rectangle 320">
                  <a:extLst>
                    <a:ext uri="{FF2B5EF4-FFF2-40B4-BE49-F238E27FC236}">
                      <a16:creationId xmlns:a16="http://schemas.microsoft.com/office/drawing/2014/main" id="{C6107AE3-3C09-A34C-964D-28157ABBDF99}"/>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Rectangle 321">
                  <a:extLst>
                    <a:ext uri="{FF2B5EF4-FFF2-40B4-BE49-F238E27FC236}">
                      <a16:creationId xmlns:a16="http://schemas.microsoft.com/office/drawing/2014/main" id="{737FBD85-26B2-914A-8B0D-606EB3EDB4C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1" name="Group 322">
                  <a:extLst>
                    <a:ext uri="{FF2B5EF4-FFF2-40B4-BE49-F238E27FC236}">
                      <a16:creationId xmlns:a16="http://schemas.microsoft.com/office/drawing/2014/main" id="{E5A59E91-C5CD-894D-8213-3909A8CC3A4A}"/>
                    </a:ext>
                  </a:extLst>
                </p:cNvPr>
                <p:cNvGrpSpPr>
                  <a:grpSpLocks/>
                </p:cNvGrpSpPr>
                <p:nvPr/>
              </p:nvGrpSpPr>
              <p:grpSpPr bwMode="auto">
                <a:xfrm>
                  <a:off x="4735" y="1627"/>
                  <a:ext cx="582" cy="151"/>
                  <a:chOff x="614" y="2568"/>
                  <a:chExt cx="725" cy="139"/>
                </a:xfrm>
              </p:grpSpPr>
              <p:sp>
                <p:nvSpPr>
                  <p:cNvPr id="487" name="AutoShape 323">
                    <a:extLst>
                      <a:ext uri="{FF2B5EF4-FFF2-40B4-BE49-F238E27FC236}">
                        <a16:creationId xmlns:a16="http://schemas.microsoft.com/office/drawing/2014/main" id="{8962A917-2AE1-7242-B9FB-8E9263A51063}"/>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8" name="AutoShape 324">
                    <a:extLst>
                      <a:ext uri="{FF2B5EF4-FFF2-40B4-BE49-F238E27FC236}">
                        <a16:creationId xmlns:a16="http://schemas.microsoft.com/office/drawing/2014/main" id="{97C18552-37AD-CE49-8BBD-05E8608B6160}"/>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2" name="Freeform 325">
                  <a:extLst>
                    <a:ext uri="{FF2B5EF4-FFF2-40B4-BE49-F238E27FC236}">
                      <a16:creationId xmlns:a16="http://schemas.microsoft.com/office/drawing/2014/main" id="{426DAACD-E1F3-7E44-9DC7-B1A44414FA4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3" name="Group 326">
                  <a:extLst>
                    <a:ext uri="{FF2B5EF4-FFF2-40B4-BE49-F238E27FC236}">
                      <a16:creationId xmlns:a16="http://schemas.microsoft.com/office/drawing/2014/main" id="{73D89D04-968E-6442-873B-B8D1778FD278}"/>
                    </a:ext>
                  </a:extLst>
                </p:cNvPr>
                <p:cNvGrpSpPr>
                  <a:grpSpLocks/>
                </p:cNvGrpSpPr>
                <p:nvPr/>
              </p:nvGrpSpPr>
              <p:grpSpPr bwMode="auto">
                <a:xfrm>
                  <a:off x="4739" y="1327"/>
                  <a:ext cx="582" cy="139"/>
                  <a:chOff x="614" y="2568"/>
                  <a:chExt cx="725" cy="139"/>
                </a:xfrm>
              </p:grpSpPr>
              <p:sp>
                <p:nvSpPr>
                  <p:cNvPr id="485" name="AutoShape 327">
                    <a:extLst>
                      <a:ext uri="{FF2B5EF4-FFF2-40B4-BE49-F238E27FC236}">
                        <a16:creationId xmlns:a16="http://schemas.microsoft.com/office/drawing/2014/main" id="{6065DB5E-95E8-8643-B0FE-6CB09E8FDB4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6" name="AutoShape 328">
                    <a:extLst>
                      <a:ext uri="{FF2B5EF4-FFF2-40B4-BE49-F238E27FC236}">
                        <a16:creationId xmlns:a16="http://schemas.microsoft.com/office/drawing/2014/main" id="{F973A90F-0F3C-F744-97ED-8AAC23F79D91}"/>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4" name="Rectangle 329">
                  <a:extLst>
                    <a:ext uri="{FF2B5EF4-FFF2-40B4-BE49-F238E27FC236}">
                      <a16:creationId xmlns:a16="http://schemas.microsoft.com/office/drawing/2014/main" id="{F4ADD3E7-CF4E-ED4B-B276-1E6A7B9D4116}"/>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5" name="Freeform 330">
                  <a:extLst>
                    <a:ext uri="{FF2B5EF4-FFF2-40B4-BE49-F238E27FC236}">
                      <a16:creationId xmlns:a16="http://schemas.microsoft.com/office/drawing/2014/main" id="{1CEE161A-40E6-604E-B7AD-3830C72F666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6" name="Freeform 331">
                  <a:extLst>
                    <a:ext uri="{FF2B5EF4-FFF2-40B4-BE49-F238E27FC236}">
                      <a16:creationId xmlns:a16="http://schemas.microsoft.com/office/drawing/2014/main" id="{40DF445E-B42A-CF43-806C-B86CD001760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7" name="Oval 332">
                  <a:extLst>
                    <a:ext uri="{FF2B5EF4-FFF2-40B4-BE49-F238E27FC236}">
                      <a16:creationId xmlns:a16="http://schemas.microsoft.com/office/drawing/2014/main" id="{4AA850BD-AD7E-884D-BB50-C36880F437D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8" name="Freeform 333">
                  <a:extLst>
                    <a:ext uri="{FF2B5EF4-FFF2-40B4-BE49-F238E27FC236}">
                      <a16:creationId xmlns:a16="http://schemas.microsoft.com/office/drawing/2014/main" id="{04990E0C-FF14-0448-9208-F0CB93DA52D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9" name="AutoShape 334">
                  <a:extLst>
                    <a:ext uri="{FF2B5EF4-FFF2-40B4-BE49-F238E27FC236}">
                      <a16:creationId xmlns:a16="http://schemas.microsoft.com/office/drawing/2014/main" id="{29F22CD1-333F-2444-8E27-DB06458666AB}"/>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0" name="AutoShape 335">
                  <a:extLst>
                    <a:ext uri="{FF2B5EF4-FFF2-40B4-BE49-F238E27FC236}">
                      <a16:creationId xmlns:a16="http://schemas.microsoft.com/office/drawing/2014/main" id="{9522690A-CB4D-3F4F-855E-313DECF4F185}"/>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1" name="Oval 336">
                  <a:extLst>
                    <a:ext uri="{FF2B5EF4-FFF2-40B4-BE49-F238E27FC236}">
                      <a16:creationId xmlns:a16="http://schemas.microsoft.com/office/drawing/2014/main" id="{749723D7-4892-4246-90CC-F3A241CAD008}"/>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2" name="Oval 337">
                  <a:extLst>
                    <a:ext uri="{FF2B5EF4-FFF2-40B4-BE49-F238E27FC236}">
                      <a16:creationId xmlns:a16="http://schemas.microsoft.com/office/drawing/2014/main" id="{B774EC24-F0E4-0846-B90E-1164E933243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83" name="Oval 338">
                  <a:extLst>
                    <a:ext uri="{FF2B5EF4-FFF2-40B4-BE49-F238E27FC236}">
                      <a16:creationId xmlns:a16="http://schemas.microsoft.com/office/drawing/2014/main" id="{2751493B-E933-8A4F-BE77-A10013F6A478}"/>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339">
                  <a:extLst>
                    <a:ext uri="{FF2B5EF4-FFF2-40B4-BE49-F238E27FC236}">
                      <a16:creationId xmlns:a16="http://schemas.microsoft.com/office/drawing/2014/main" id="{635CA67E-C290-3742-9D2C-39D9B69DB583}"/>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sp>
        <p:nvSpPr>
          <p:cNvPr id="281" name="Text Box 76">
            <a:extLst>
              <a:ext uri="{FF2B5EF4-FFF2-40B4-BE49-F238E27FC236}">
                <a16:creationId xmlns:a16="http://schemas.microsoft.com/office/drawing/2014/main" id="{3175A1F8-F48E-9749-AA0C-8A115012D296}"/>
              </a:ext>
            </a:extLst>
          </p:cNvPr>
          <p:cNvSpPr txBox="1">
            <a:spLocks noChangeArrowheads="1"/>
          </p:cNvSpPr>
          <p:nvPr/>
        </p:nvSpPr>
        <p:spPr bwMode="auto">
          <a:xfrm>
            <a:off x="4483372" y="5180762"/>
            <a:ext cx="2818464" cy="69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ctr" defTabSz="914400" rtl="0" eaLnBrk="1" fontAlgn="auto" latinLnBrk="0" hangingPunct="1">
              <a:lnSpc>
                <a:spcPct val="8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How to compute link </a:t>
            </a:r>
          </a:p>
          <a:p>
            <a:pPr marL="342900" marR="0" lvl="0" indent="-342900" algn="ctr" defTabSz="914400" rtl="0" eaLnBrk="1" fontAlgn="auto" latinLnBrk="0" hangingPunct="1">
              <a:lnSpc>
                <a:spcPct val="8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utilization, delay?</a:t>
            </a:r>
          </a:p>
        </p:txBody>
      </p:sp>
      <p:sp>
        <p:nvSpPr>
          <p:cNvPr id="282" name="Text Box 83">
            <a:extLst>
              <a:ext uri="{FF2B5EF4-FFF2-40B4-BE49-F238E27FC236}">
                <a16:creationId xmlns:a16="http://schemas.microsoft.com/office/drawing/2014/main" id="{445BA7C8-9DBB-B245-98C3-EA83E67E03F3}"/>
              </a:ext>
            </a:extLst>
          </p:cNvPr>
          <p:cNvSpPr txBox="1">
            <a:spLocks noChangeArrowheads="1"/>
          </p:cNvSpPr>
          <p:nvPr/>
        </p:nvSpPr>
        <p:spPr bwMode="auto">
          <a:xfrm>
            <a:off x="853791" y="4053039"/>
            <a:ext cx="33066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web cache (cheap!)</a:t>
            </a:r>
          </a:p>
        </p:txBody>
      </p:sp>
      <p:sp>
        <p:nvSpPr>
          <p:cNvPr id="251" name="Text Box 98">
            <a:extLst>
              <a:ext uri="{FF2B5EF4-FFF2-40B4-BE49-F238E27FC236}">
                <a16:creationId xmlns:a16="http://schemas.microsoft.com/office/drawing/2014/main" id="{40BB819D-0723-5748-B260-0AF0BBAC27EB}"/>
              </a:ext>
            </a:extLst>
          </p:cNvPr>
          <p:cNvSpPr txBox="1">
            <a:spLocks noChangeArrowheads="1"/>
          </p:cNvSpPr>
          <p:nvPr/>
        </p:nvSpPr>
        <p:spPr bwMode="auto">
          <a:xfrm>
            <a:off x="944378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endParaRPr>
          </a:p>
        </p:txBody>
      </p:sp>
      <p:sp>
        <p:nvSpPr>
          <p:cNvPr id="252" name="Slide Number Placeholder 2">
            <a:extLst>
              <a:ext uri="{FF2B5EF4-FFF2-40B4-BE49-F238E27FC236}">
                <a16:creationId xmlns:a16="http://schemas.microsoft.com/office/drawing/2014/main" id="{CD12BA19-40D2-F44B-8E23-E4E6B15A6DE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44</a:t>
            </a:fld>
            <a:endParaRPr lang="en-US" dirty="0"/>
          </a:p>
        </p:txBody>
      </p:sp>
    </p:spTree>
    <p:extLst>
      <p:ext uri="{BB962C8B-B14F-4D97-AF65-F5344CB8AC3E}">
        <p14:creationId xmlns:p14="http://schemas.microsoft.com/office/powerpoint/2010/main" val="180718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dissolve">
                                      <p:cBhvr>
                                        <p:cTn id="10" dur="500"/>
                                        <p:tgtEl>
                                          <p:spTgt spid="25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dissolve">
                                      <p:cBhvr>
                                        <p:cTn id="15" dur="500"/>
                                        <p:tgtEl>
                                          <p:spTgt spid="28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29"/>
                                        </p:tgtEl>
                                        <p:attrNameLst>
                                          <p:attrName>style.visibility</p:attrName>
                                        </p:attrNameLst>
                                      </p:cBhvr>
                                      <p:to>
                                        <p:strVal val="visible"/>
                                      </p:to>
                                    </p:set>
                                    <p:animEffect transition="in" filter="dissolve">
                                      <p:cBhvr>
                                        <p:cTn id="20" dur="500"/>
                                        <p:tgtEl>
                                          <p:spTgt spid="52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81">
                                            <p:txEl>
                                              <p:pRg st="0" end="0"/>
                                            </p:txEl>
                                          </p:spTgt>
                                        </p:tgtEl>
                                        <p:attrNameLst>
                                          <p:attrName>style.visibility</p:attrName>
                                        </p:attrNameLst>
                                      </p:cBhvr>
                                      <p:to>
                                        <p:strVal val="visible"/>
                                      </p:to>
                                    </p:set>
                                    <p:animEffect transition="in" filter="dissolve">
                                      <p:cBhvr>
                                        <p:cTn id="25" dur="500"/>
                                        <p:tgtEl>
                                          <p:spTgt spid="281">
                                            <p:txEl>
                                              <p:pRg st="0" end="0"/>
                                            </p:txEl>
                                          </p:spTgt>
                                        </p:tgtEl>
                                      </p:cBhvr>
                                    </p:animEffect>
                                  </p:childTnLst>
                                </p:cTn>
                              </p:par>
                              <p:par>
                                <p:cTn id="26" presetID="9" presetClass="entr" presetSubtype="0" fill="hold" nodeType="withEffect">
                                  <p:stCondLst>
                                    <p:cond delay="0"/>
                                  </p:stCondLst>
                                  <p:childTnLst>
                                    <p:set>
                                      <p:cBhvr>
                                        <p:cTn id="27" dur="1" fill="hold">
                                          <p:stCondLst>
                                            <p:cond delay="0"/>
                                          </p:stCondLst>
                                        </p:cTn>
                                        <p:tgtEl>
                                          <p:spTgt spid="281">
                                            <p:txEl>
                                              <p:pRg st="1" end="1"/>
                                            </p:txEl>
                                          </p:spTgt>
                                        </p:tgtEl>
                                        <p:attrNameLst>
                                          <p:attrName>style.visibility</p:attrName>
                                        </p:attrNameLst>
                                      </p:cBhvr>
                                      <p:to>
                                        <p:strVal val="visible"/>
                                      </p:to>
                                    </p:set>
                                    <p:animEffect transition="in" filter="dissolve">
                                      <p:cBhvr>
                                        <p:cTn id="28" dur="500"/>
                                        <p:tgtEl>
                                          <p:spTgt spid="281">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9" grpId="0"/>
      <p:bldP spid="282" grpId="0"/>
      <p:bldP spid="251"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Browser caching: Conditional GET</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14337" y="1626575"/>
            <a:ext cx="5597253" cy="513238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 send object if browser has up-to-date cached version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object transmission delay (or use of network resources)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client:</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specify date of browser-cached copy in HTTP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 contains no object if browser-cached copy is up-to-date: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HTTP/1.0 304 Not Modified</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3" name="Line 4">
            <a:extLst>
              <a:ext uri="{FF2B5EF4-FFF2-40B4-BE49-F238E27FC236}">
                <a16:creationId xmlns:a16="http://schemas.microsoft.com/office/drawing/2014/main" id="{F2F5CF00-0B08-CD49-8216-B019F02D62E4}"/>
              </a:ext>
            </a:extLst>
          </p:cNvPr>
          <p:cNvSpPr>
            <a:spLocks noChangeShapeType="1"/>
          </p:cNvSpPr>
          <p:nvPr/>
        </p:nvSpPr>
        <p:spPr bwMode="auto">
          <a:xfrm>
            <a:off x="7035490" y="2068251"/>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4" name="Text Box 8">
            <a:extLst>
              <a:ext uri="{FF2B5EF4-FFF2-40B4-BE49-F238E27FC236}">
                <a16:creationId xmlns:a16="http://schemas.microsoft.com/office/drawing/2014/main" id="{906861D1-0EDE-1E49-A686-C17A98961A57}"/>
              </a:ext>
            </a:extLst>
          </p:cNvPr>
          <p:cNvSpPr txBox="1">
            <a:spLocks noChangeArrowheads="1"/>
          </p:cNvSpPr>
          <p:nvPr/>
        </p:nvSpPr>
        <p:spPr bwMode="auto">
          <a:xfrm>
            <a:off x="7341878" y="1952364"/>
            <a:ext cx="2681287" cy="620712"/>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75" name="Line 9">
            <a:extLst>
              <a:ext uri="{FF2B5EF4-FFF2-40B4-BE49-F238E27FC236}">
                <a16:creationId xmlns:a16="http://schemas.microsoft.com/office/drawing/2014/main" id="{ED4D0E55-FFE9-4141-9763-499742C88EAA}"/>
              </a:ext>
            </a:extLst>
          </p:cNvPr>
          <p:cNvSpPr>
            <a:spLocks noChangeShapeType="1"/>
          </p:cNvSpPr>
          <p:nvPr/>
        </p:nvSpPr>
        <p:spPr bwMode="auto">
          <a:xfrm flipH="1">
            <a:off x="7054540" y="281437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276" name="Group 30">
            <a:extLst>
              <a:ext uri="{FF2B5EF4-FFF2-40B4-BE49-F238E27FC236}">
                <a16:creationId xmlns:a16="http://schemas.microsoft.com/office/drawing/2014/main" id="{F2D4CC5D-48B8-6642-A163-00E2785A7CB2}"/>
              </a:ext>
            </a:extLst>
          </p:cNvPr>
          <p:cNvGrpSpPr>
            <a:grpSpLocks/>
          </p:cNvGrpSpPr>
          <p:nvPr/>
        </p:nvGrpSpPr>
        <p:grpSpPr bwMode="auto">
          <a:xfrm>
            <a:off x="7322828" y="2808026"/>
            <a:ext cx="2643187" cy="865188"/>
            <a:chOff x="2698" y="2036"/>
            <a:chExt cx="1665" cy="545"/>
          </a:xfrm>
        </p:grpSpPr>
        <p:sp>
          <p:nvSpPr>
            <p:cNvPr id="277" name="Rectangle 10">
              <a:extLst>
                <a:ext uri="{FF2B5EF4-FFF2-40B4-BE49-F238E27FC236}">
                  <a16:creationId xmlns:a16="http://schemas.microsoft.com/office/drawing/2014/main" id="{B8FAE946-FF4C-5F4E-8634-A0F622EB3E82}"/>
                </a:ext>
              </a:extLst>
            </p:cNvPr>
            <p:cNvSpPr>
              <a:spLocks noChangeArrowheads="1"/>
            </p:cNvSpPr>
            <p:nvPr/>
          </p:nvSpPr>
          <p:spPr bwMode="auto">
            <a:xfrm>
              <a:off x="2760" y="2071"/>
              <a:ext cx="1578" cy="465"/>
            </a:xfrm>
            <a:prstGeom prst="rect">
              <a:avLst/>
            </a:prstGeom>
            <a:solidFill>
              <a:schemeClr val="bg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78" name="Text Box 11">
              <a:extLst>
                <a:ext uri="{FF2B5EF4-FFF2-40B4-BE49-F238E27FC236}">
                  <a16:creationId xmlns:a16="http://schemas.microsoft.com/office/drawing/2014/main" id="{D0F47DD5-D98D-8947-AE9C-C9BE59718F9C}"/>
                </a:ext>
              </a:extLst>
            </p:cNvPr>
            <p:cNvSpPr txBox="1">
              <a:spLocks noChangeArrowheads="1"/>
            </p:cNvSpPr>
            <p:nvPr/>
          </p:nvSpPr>
          <p:spPr bwMode="auto">
            <a:xfrm>
              <a:off x="2698" y="2036"/>
              <a:ext cx="1665" cy="545"/>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HTTP/1.0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304 Not Modified</a:t>
              </a:r>
              <a:endParaRPr kumimoji="0" lang="en-US" altLang="en-US" sz="2000" b="1"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79" name="Text Box 28">
            <a:extLst>
              <a:ext uri="{FF2B5EF4-FFF2-40B4-BE49-F238E27FC236}">
                <a16:creationId xmlns:a16="http://schemas.microsoft.com/office/drawing/2014/main" id="{FD73E46B-3F04-E648-BC54-671B5D578B4B}"/>
              </a:ext>
            </a:extLst>
          </p:cNvPr>
          <p:cNvSpPr txBox="1">
            <a:spLocks noChangeArrowheads="1"/>
          </p:cNvSpPr>
          <p:nvPr/>
        </p:nvSpPr>
        <p:spPr bwMode="auto">
          <a:xfrm>
            <a:off x="10420040" y="2103176"/>
            <a:ext cx="1047750" cy="146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srgbClr val="000099"/>
                </a:solidFill>
                <a:effectLst/>
                <a:uLnTx/>
                <a:uFillTx/>
                <a:latin typeface="Calibri"/>
                <a:ea typeface="ＭＳ Ｐゴシック" panose="020B0600070205080204" pitchFamily="34" charset="-128"/>
                <a:cs typeface="+mn-cs"/>
              </a:rPr>
              <a:t>not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srgbClr val="000099"/>
                </a:solidFill>
                <a:effectLst/>
                <a:uLnTx/>
                <a:uFillTx/>
                <a:latin typeface="Calibri"/>
                <a:ea typeface="ＭＳ Ｐゴシック" panose="020B0600070205080204" pitchFamily="34" charset="-128"/>
                <a:cs typeface="+mn-cs"/>
              </a:rPr>
              <a:t>before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srgbClr val="000099"/>
                </a:solidFill>
                <a:effectLst/>
                <a:uLnTx/>
                <a:uFillTx/>
                <a:latin typeface="Calibri"/>
                <a:ea typeface="ＭＳ Ｐゴシック" panose="020B0600070205080204" pitchFamily="34" charset="-128"/>
                <a:cs typeface="+mn-cs"/>
              </a:rPr>
              <a:t>&lt;date&gt;</a:t>
            </a:r>
          </a:p>
        </p:txBody>
      </p:sp>
      <p:sp>
        <p:nvSpPr>
          <p:cNvPr id="280" name="Line 31">
            <a:extLst>
              <a:ext uri="{FF2B5EF4-FFF2-40B4-BE49-F238E27FC236}">
                <a16:creationId xmlns:a16="http://schemas.microsoft.com/office/drawing/2014/main" id="{C63FE7CD-8932-5842-A550-AB95E976B065}"/>
              </a:ext>
            </a:extLst>
          </p:cNvPr>
          <p:cNvSpPr>
            <a:spLocks noChangeShapeType="1"/>
          </p:cNvSpPr>
          <p:nvPr/>
        </p:nvSpPr>
        <p:spPr bwMode="auto">
          <a:xfrm>
            <a:off x="6792603" y="4033576"/>
            <a:ext cx="3905250" cy="0"/>
          </a:xfrm>
          <a:prstGeom prst="line">
            <a:avLst/>
          </a:prstGeom>
          <a:noFill/>
          <a:ln w="28575">
            <a:solidFill>
              <a:srgbClr val="000099"/>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81" name="Line 32">
            <a:extLst>
              <a:ext uri="{FF2B5EF4-FFF2-40B4-BE49-F238E27FC236}">
                <a16:creationId xmlns:a16="http://schemas.microsoft.com/office/drawing/2014/main" id="{FB4BB9E8-5BA3-1A4B-A22B-B43D8797910A}"/>
              </a:ext>
            </a:extLst>
          </p:cNvPr>
          <p:cNvSpPr>
            <a:spLocks noChangeShapeType="1"/>
          </p:cNvSpPr>
          <p:nvPr/>
        </p:nvSpPr>
        <p:spPr bwMode="auto">
          <a:xfrm>
            <a:off x="7102165" y="4632064"/>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82" name="Text Box 34">
            <a:extLst>
              <a:ext uri="{FF2B5EF4-FFF2-40B4-BE49-F238E27FC236}">
                <a16:creationId xmlns:a16="http://schemas.microsoft.com/office/drawing/2014/main" id="{EEDA71D6-F453-1A4D-98C9-B23EA89D5F67}"/>
              </a:ext>
            </a:extLst>
          </p:cNvPr>
          <p:cNvSpPr txBox="1">
            <a:spLocks noChangeArrowheads="1"/>
          </p:cNvSpPr>
          <p:nvPr/>
        </p:nvSpPr>
        <p:spPr bwMode="auto">
          <a:xfrm>
            <a:off x="7346640" y="4516176"/>
            <a:ext cx="2681288" cy="620713"/>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83" name="Line 35">
            <a:extLst>
              <a:ext uri="{FF2B5EF4-FFF2-40B4-BE49-F238E27FC236}">
                <a16:creationId xmlns:a16="http://schemas.microsoft.com/office/drawing/2014/main" id="{8CE24BAA-3E73-704D-A359-BE2DD479246A}"/>
              </a:ext>
            </a:extLst>
          </p:cNvPr>
          <p:cNvSpPr>
            <a:spLocks noChangeShapeType="1"/>
          </p:cNvSpPr>
          <p:nvPr/>
        </p:nvSpPr>
        <p:spPr bwMode="auto">
          <a:xfrm flipH="1">
            <a:off x="7121215" y="541152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84" name="Text Box 38">
            <a:extLst>
              <a:ext uri="{FF2B5EF4-FFF2-40B4-BE49-F238E27FC236}">
                <a16:creationId xmlns:a16="http://schemas.microsoft.com/office/drawing/2014/main" id="{6B6CFEBF-546C-2C4A-A9DA-A2BC6976D61C}"/>
              </a:ext>
            </a:extLst>
          </p:cNvPr>
          <p:cNvSpPr txBox="1">
            <a:spLocks noChangeArrowheads="1"/>
          </p:cNvSpPr>
          <p:nvPr/>
        </p:nvSpPr>
        <p:spPr bwMode="auto">
          <a:xfrm>
            <a:off x="7365690" y="5355964"/>
            <a:ext cx="2643188" cy="1231106"/>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HTTP/1.0 200 OK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&lt;data&gt;</a:t>
            </a:r>
          </a:p>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5" name="Text Box 39">
            <a:extLst>
              <a:ext uri="{FF2B5EF4-FFF2-40B4-BE49-F238E27FC236}">
                <a16:creationId xmlns:a16="http://schemas.microsoft.com/office/drawing/2014/main" id="{F31EAC50-5999-F949-836E-741F26435FCE}"/>
              </a:ext>
            </a:extLst>
          </p:cNvPr>
          <p:cNvSpPr txBox="1">
            <a:spLocks noChangeArrowheads="1"/>
          </p:cNvSpPr>
          <p:nvPr/>
        </p:nvSpPr>
        <p:spPr bwMode="auto">
          <a:xfrm>
            <a:off x="10499415" y="4762239"/>
            <a:ext cx="104775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srgbClr val="000099"/>
                </a:solidFill>
                <a:effectLst/>
                <a:uLnTx/>
                <a:uFillTx/>
                <a:latin typeface="Calibri"/>
                <a:ea typeface="ＭＳ Ｐゴシック" panose="020B0600070205080204" pitchFamily="34" charset="-128"/>
                <a:cs typeface="+mn-cs"/>
              </a:rPr>
              <a:t>after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srgbClr val="000099"/>
                </a:solidFill>
                <a:effectLst/>
                <a:uLnTx/>
                <a:uFillTx/>
                <a:latin typeface="Calibri"/>
                <a:ea typeface="ＭＳ Ｐゴシック" panose="020B0600070205080204" pitchFamily="34" charset="-128"/>
                <a:cs typeface="+mn-cs"/>
              </a:rPr>
              <a:t>&lt;date&gt;</a:t>
            </a:r>
          </a:p>
        </p:txBody>
      </p:sp>
      <p:grpSp>
        <p:nvGrpSpPr>
          <p:cNvPr id="2" name="Group 1">
            <a:extLst>
              <a:ext uri="{FF2B5EF4-FFF2-40B4-BE49-F238E27FC236}">
                <a16:creationId xmlns:a16="http://schemas.microsoft.com/office/drawing/2014/main" id="{16DA0E8B-38E2-9342-A1EB-20A2D702A664}"/>
              </a:ext>
            </a:extLst>
          </p:cNvPr>
          <p:cNvGrpSpPr/>
          <p:nvPr/>
        </p:nvGrpSpPr>
        <p:grpSpPr>
          <a:xfrm>
            <a:off x="6311590" y="1146753"/>
            <a:ext cx="4549154" cy="787400"/>
            <a:chOff x="6311590" y="931601"/>
            <a:chExt cx="4549154" cy="787400"/>
          </a:xfrm>
        </p:grpSpPr>
        <p:sp>
          <p:nvSpPr>
            <p:cNvPr id="286" name="Text Box 5">
              <a:extLst>
                <a:ext uri="{FF2B5EF4-FFF2-40B4-BE49-F238E27FC236}">
                  <a16:creationId xmlns:a16="http://schemas.microsoft.com/office/drawing/2014/main" id="{E637D672-7B6C-1647-8EEE-A788FA28FF1F}"/>
                </a:ext>
              </a:extLst>
            </p:cNvPr>
            <p:cNvSpPr txBox="1">
              <a:spLocks noChangeArrowheads="1"/>
            </p:cNvSpPr>
            <p:nvPr/>
          </p:nvSpPr>
          <p:spPr bwMode="auto">
            <a:xfrm>
              <a:off x="6311590" y="1015739"/>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client</a:t>
              </a:r>
            </a:p>
          </p:txBody>
        </p:sp>
        <p:sp>
          <p:nvSpPr>
            <p:cNvPr id="287" name="Text Box 6">
              <a:extLst>
                <a:ext uri="{FF2B5EF4-FFF2-40B4-BE49-F238E27FC236}">
                  <a16:creationId xmlns:a16="http://schemas.microsoft.com/office/drawing/2014/main" id="{5AC69B11-5115-184E-9F7C-26E36EF6DF93}"/>
                </a:ext>
              </a:extLst>
            </p:cNvPr>
            <p:cNvSpPr txBox="1">
              <a:spLocks noChangeArrowheads="1"/>
            </p:cNvSpPr>
            <p:nvPr/>
          </p:nvSpPr>
          <p:spPr bwMode="auto">
            <a:xfrm>
              <a:off x="10023785" y="1010976"/>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server</a:t>
              </a:r>
            </a:p>
          </p:txBody>
        </p:sp>
        <p:grpSp>
          <p:nvGrpSpPr>
            <p:cNvPr id="288" name="Group 34">
              <a:extLst>
                <a:ext uri="{FF2B5EF4-FFF2-40B4-BE49-F238E27FC236}">
                  <a16:creationId xmlns:a16="http://schemas.microsoft.com/office/drawing/2014/main" id="{966CD3F7-7AB2-924F-823A-58555F32174D}"/>
                </a:ext>
              </a:extLst>
            </p:cNvPr>
            <p:cNvGrpSpPr>
              <a:grpSpLocks/>
            </p:cNvGrpSpPr>
            <p:nvPr/>
          </p:nvGrpSpPr>
          <p:grpSpPr bwMode="auto">
            <a:xfrm>
              <a:off x="9588190" y="931601"/>
              <a:ext cx="422275" cy="685800"/>
              <a:chOff x="4140" y="429"/>
              <a:chExt cx="1425" cy="2396"/>
            </a:xfrm>
          </p:grpSpPr>
          <p:sp>
            <p:nvSpPr>
              <p:cNvPr id="289" name="Freeform 35">
                <a:extLst>
                  <a:ext uri="{FF2B5EF4-FFF2-40B4-BE49-F238E27FC236}">
                    <a16:creationId xmlns:a16="http://schemas.microsoft.com/office/drawing/2014/main" id="{8CE7E2BE-E936-F147-8C06-143889566EB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90" name="Rectangle 36">
                <a:extLst>
                  <a:ext uri="{FF2B5EF4-FFF2-40B4-BE49-F238E27FC236}">
                    <a16:creationId xmlns:a16="http://schemas.microsoft.com/office/drawing/2014/main" id="{A6315B9D-328B-4B4A-938A-EEDFB67D3471}"/>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91" name="Freeform 37">
                <a:extLst>
                  <a:ext uri="{FF2B5EF4-FFF2-40B4-BE49-F238E27FC236}">
                    <a16:creationId xmlns:a16="http://schemas.microsoft.com/office/drawing/2014/main" id="{D6D629FF-99A4-C445-814B-73349ADDC7F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499" name="Freeform 38">
                <a:extLst>
                  <a:ext uri="{FF2B5EF4-FFF2-40B4-BE49-F238E27FC236}">
                    <a16:creationId xmlns:a16="http://schemas.microsoft.com/office/drawing/2014/main" id="{99A64A90-EA88-094D-B5BA-9DEE55C3352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00" name="Rectangle 39">
                <a:extLst>
                  <a:ext uri="{FF2B5EF4-FFF2-40B4-BE49-F238E27FC236}">
                    <a16:creationId xmlns:a16="http://schemas.microsoft.com/office/drawing/2014/main" id="{4F858703-B37B-004C-96CE-22FC3EB7FAD4}"/>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501" name="Group 40">
                <a:extLst>
                  <a:ext uri="{FF2B5EF4-FFF2-40B4-BE49-F238E27FC236}">
                    <a16:creationId xmlns:a16="http://schemas.microsoft.com/office/drawing/2014/main" id="{94FE2F64-7E16-FF44-B770-1FF34858DF6A}"/>
                  </a:ext>
                </a:extLst>
              </p:cNvPr>
              <p:cNvGrpSpPr>
                <a:grpSpLocks/>
              </p:cNvGrpSpPr>
              <p:nvPr/>
            </p:nvGrpSpPr>
            <p:grpSpPr bwMode="auto">
              <a:xfrm>
                <a:off x="4749" y="668"/>
                <a:ext cx="581" cy="145"/>
                <a:chOff x="614" y="2568"/>
                <a:chExt cx="725" cy="139"/>
              </a:xfrm>
            </p:grpSpPr>
            <p:sp>
              <p:nvSpPr>
                <p:cNvPr id="542" name="AutoShape 41">
                  <a:extLst>
                    <a:ext uri="{FF2B5EF4-FFF2-40B4-BE49-F238E27FC236}">
                      <a16:creationId xmlns:a16="http://schemas.microsoft.com/office/drawing/2014/main" id="{FFB919DB-3DB6-2E47-9682-893EFF45038E}"/>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43" name="AutoShape 42">
                  <a:extLst>
                    <a:ext uri="{FF2B5EF4-FFF2-40B4-BE49-F238E27FC236}">
                      <a16:creationId xmlns:a16="http://schemas.microsoft.com/office/drawing/2014/main" id="{4E207D69-67B1-E24E-86A3-1CFB9A8ED603}"/>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503" name="Rectangle 43">
                <a:extLst>
                  <a:ext uri="{FF2B5EF4-FFF2-40B4-BE49-F238E27FC236}">
                    <a16:creationId xmlns:a16="http://schemas.microsoft.com/office/drawing/2014/main" id="{B50DC330-10D1-2A4E-ACAC-FF9B40FF00F4}"/>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504" name="Group 44">
                <a:extLst>
                  <a:ext uri="{FF2B5EF4-FFF2-40B4-BE49-F238E27FC236}">
                    <a16:creationId xmlns:a16="http://schemas.microsoft.com/office/drawing/2014/main" id="{2E12D255-3950-B547-9406-602D45CB34C2}"/>
                  </a:ext>
                </a:extLst>
              </p:cNvPr>
              <p:cNvGrpSpPr>
                <a:grpSpLocks/>
              </p:cNvGrpSpPr>
              <p:nvPr/>
            </p:nvGrpSpPr>
            <p:grpSpPr bwMode="auto">
              <a:xfrm>
                <a:off x="4747" y="994"/>
                <a:ext cx="581" cy="134"/>
                <a:chOff x="614" y="2568"/>
                <a:chExt cx="725" cy="139"/>
              </a:xfrm>
            </p:grpSpPr>
            <p:sp>
              <p:nvSpPr>
                <p:cNvPr id="540" name="AutoShape 45">
                  <a:extLst>
                    <a:ext uri="{FF2B5EF4-FFF2-40B4-BE49-F238E27FC236}">
                      <a16:creationId xmlns:a16="http://schemas.microsoft.com/office/drawing/2014/main" id="{BE313EB5-0E75-D64F-9B58-846AEC112DB0}"/>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41" name="AutoShape 46">
                  <a:extLst>
                    <a:ext uri="{FF2B5EF4-FFF2-40B4-BE49-F238E27FC236}">
                      <a16:creationId xmlns:a16="http://schemas.microsoft.com/office/drawing/2014/main" id="{7CDD2F87-9EE6-9841-BDE1-56E95B3F0006}"/>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505" name="Rectangle 47">
                <a:extLst>
                  <a:ext uri="{FF2B5EF4-FFF2-40B4-BE49-F238E27FC236}">
                    <a16:creationId xmlns:a16="http://schemas.microsoft.com/office/drawing/2014/main" id="{A3C6AC3E-B182-224E-ABE3-984D17D8AE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06" name="Rectangle 48">
                <a:extLst>
                  <a:ext uri="{FF2B5EF4-FFF2-40B4-BE49-F238E27FC236}">
                    <a16:creationId xmlns:a16="http://schemas.microsoft.com/office/drawing/2014/main" id="{D49F39F4-203C-5E48-875C-EE137013CD0B}"/>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507" name="Group 49">
                <a:extLst>
                  <a:ext uri="{FF2B5EF4-FFF2-40B4-BE49-F238E27FC236}">
                    <a16:creationId xmlns:a16="http://schemas.microsoft.com/office/drawing/2014/main" id="{CBB7495C-CDDF-B74E-AC55-41F4E153E97A}"/>
                  </a:ext>
                </a:extLst>
              </p:cNvPr>
              <p:cNvGrpSpPr>
                <a:grpSpLocks/>
              </p:cNvGrpSpPr>
              <p:nvPr/>
            </p:nvGrpSpPr>
            <p:grpSpPr bwMode="auto">
              <a:xfrm>
                <a:off x="4735" y="1627"/>
                <a:ext cx="582" cy="151"/>
                <a:chOff x="614" y="2568"/>
                <a:chExt cx="725" cy="139"/>
              </a:xfrm>
            </p:grpSpPr>
            <p:sp>
              <p:nvSpPr>
                <p:cNvPr id="538" name="AutoShape 50">
                  <a:extLst>
                    <a:ext uri="{FF2B5EF4-FFF2-40B4-BE49-F238E27FC236}">
                      <a16:creationId xmlns:a16="http://schemas.microsoft.com/office/drawing/2014/main" id="{DBD04B1C-004E-494D-9602-0F1310B0C334}"/>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39" name="AutoShape 51">
                  <a:extLst>
                    <a:ext uri="{FF2B5EF4-FFF2-40B4-BE49-F238E27FC236}">
                      <a16:creationId xmlns:a16="http://schemas.microsoft.com/office/drawing/2014/main" id="{3D0C8D43-BC47-E747-9FD0-5C502E897CF7}"/>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508" name="Freeform 52">
                <a:extLst>
                  <a:ext uri="{FF2B5EF4-FFF2-40B4-BE49-F238E27FC236}">
                    <a16:creationId xmlns:a16="http://schemas.microsoft.com/office/drawing/2014/main" id="{00C2FD89-F255-5B44-B5A0-4E02CB37B47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509" name="Group 53">
                <a:extLst>
                  <a:ext uri="{FF2B5EF4-FFF2-40B4-BE49-F238E27FC236}">
                    <a16:creationId xmlns:a16="http://schemas.microsoft.com/office/drawing/2014/main" id="{C35E79E1-71FE-4E4A-83A2-F8C0643953EC}"/>
                  </a:ext>
                </a:extLst>
              </p:cNvPr>
              <p:cNvGrpSpPr>
                <a:grpSpLocks/>
              </p:cNvGrpSpPr>
              <p:nvPr/>
            </p:nvGrpSpPr>
            <p:grpSpPr bwMode="auto">
              <a:xfrm>
                <a:off x="4739" y="1327"/>
                <a:ext cx="582" cy="139"/>
                <a:chOff x="614" y="2568"/>
                <a:chExt cx="725" cy="139"/>
              </a:xfrm>
            </p:grpSpPr>
            <p:sp>
              <p:nvSpPr>
                <p:cNvPr id="536" name="AutoShape 54">
                  <a:extLst>
                    <a:ext uri="{FF2B5EF4-FFF2-40B4-BE49-F238E27FC236}">
                      <a16:creationId xmlns:a16="http://schemas.microsoft.com/office/drawing/2014/main" id="{95A667E4-D78B-7A4C-A440-4917259D7A5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37" name="AutoShape 55">
                  <a:extLst>
                    <a:ext uri="{FF2B5EF4-FFF2-40B4-BE49-F238E27FC236}">
                      <a16:creationId xmlns:a16="http://schemas.microsoft.com/office/drawing/2014/main" id="{ED50BD44-2B1A-A041-ACD3-EEFDC8341188}"/>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510" name="Rectangle 56">
                <a:extLst>
                  <a:ext uri="{FF2B5EF4-FFF2-40B4-BE49-F238E27FC236}">
                    <a16:creationId xmlns:a16="http://schemas.microsoft.com/office/drawing/2014/main" id="{5DA6EF43-A6D1-5A48-BBCA-48444D1A9E86}"/>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18" name="Freeform 57">
                <a:extLst>
                  <a:ext uri="{FF2B5EF4-FFF2-40B4-BE49-F238E27FC236}">
                    <a16:creationId xmlns:a16="http://schemas.microsoft.com/office/drawing/2014/main" id="{3C6C8679-5D2D-A24A-B371-C4C1F50D16C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19" name="Freeform 58">
                <a:extLst>
                  <a:ext uri="{FF2B5EF4-FFF2-40B4-BE49-F238E27FC236}">
                    <a16:creationId xmlns:a16="http://schemas.microsoft.com/office/drawing/2014/main" id="{84C1EB21-DBAC-5D42-A7C0-5F245901D03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20" name="Oval 59">
                <a:extLst>
                  <a:ext uri="{FF2B5EF4-FFF2-40B4-BE49-F238E27FC236}">
                    <a16:creationId xmlns:a16="http://schemas.microsoft.com/office/drawing/2014/main" id="{D88785FB-A16E-B34D-8961-EB75C81E8E45}"/>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29" name="Freeform 60">
                <a:extLst>
                  <a:ext uri="{FF2B5EF4-FFF2-40B4-BE49-F238E27FC236}">
                    <a16:creationId xmlns:a16="http://schemas.microsoft.com/office/drawing/2014/main" id="{137D376C-6C12-0648-BCAA-30DCACD94D7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30" name="AutoShape 61">
                <a:extLst>
                  <a:ext uri="{FF2B5EF4-FFF2-40B4-BE49-F238E27FC236}">
                    <a16:creationId xmlns:a16="http://schemas.microsoft.com/office/drawing/2014/main" id="{3524D490-AC16-CF4B-AAFE-EF4C666B3F7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31" name="AutoShape 62">
                <a:extLst>
                  <a:ext uri="{FF2B5EF4-FFF2-40B4-BE49-F238E27FC236}">
                    <a16:creationId xmlns:a16="http://schemas.microsoft.com/office/drawing/2014/main" id="{B279651A-6EBD-F542-B219-9B4C83AF459F}"/>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32" name="Oval 63">
                <a:extLst>
                  <a:ext uri="{FF2B5EF4-FFF2-40B4-BE49-F238E27FC236}">
                    <a16:creationId xmlns:a16="http://schemas.microsoft.com/office/drawing/2014/main" id="{15D5DA26-8982-F44B-A3F7-03FEC745AB79}"/>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33" name="Oval 64">
                <a:extLst>
                  <a:ext uri="{FF2B5EF4-FFF2-40B4-BE49-F238E27FC236}">
                    <a16:creationId xmlns:a16="http://schemas.microsoft.com/office/drawing/2014/main" id="{25B61B78-2AA0-A245-9C22-EC0A104A491C}"/>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34" name="Oval 65">
                <a:extLst>
                  <a:ext uri="{FF2B5EF4-FFF2-40B4-BE49-F238E27FC236}">
                    <a16:creationId xmlns:a16="http://schemas.microsoft.com/office/drawing/2014/main" id="{78934A6A-6F9D-5541-8897-F81821D1AF16}"/>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35" name="Rectangle 66">
                <a:extLst>
                  <a:ext uri="{FF2B5EF4-FFF2-40B4-BE49-F238E27FC236}">
                    <a16:creationId xmlns:a16="http://schemas.microsoft.com/office/drawing/2014/main" id="{4994117A-432E-094B-BF94-5385D43F9BDE}"/>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grpSp>
          <p:nvGrpSpPr>
            <p:cNvPr id="544" name="Group 67">
              <a:extLst>
                <a:ext uri="{FF2B5EF4-FFF2-40B4-BE49-F238E27FC236}">
                  <a16:creationId xmlns:a16="http://schemas.microsoft.com/office/drawing/2014/main" id="{A6DA78F5-835E-D242-9B19-A42AE8C14789}"/>
                </a:ext>
              </a:extLst>
            </p:cNvPr>
            <p:cNvGrpSpPr>
              <a:grpSpLocks/>
            </p:cNvGrpSpPr>
            <p:nvPr/>
          </p:nvGrpSpPr>
          <p:grpSpPr bwMode="auto">
            <a:xfrm>
              <a:off x="6887853" y="976051"/>
              <a:ext cx="742950" cy="742950"/>
              <a:chOff x="-44" y="1473"/>
              <a:chExt cx="981" cy="1105"/>
            </a:xfrm>
          </p:grpSpPr>
          <p:pic>
            <p:nvPicPr>
              <p:cNvPr id="545" name="Picture 68" descr="desktop_computer_stylized_medium">
                <a:extLst>
                  <a:ext uri="{FF2B5EF4-FFF2-40B4-BE49-F238E27FC236}">
                    <a16:creationId xmlns:a16="http://schemas.microsoft.com/office/drawing/2014/main" id="{AF3FF2A0-2B19-2846-B88C-3A51C71882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6" name="Freeform 69">
                <a:extLst>
                  <a:ext uri="{FF2B5EF4-FFF2-40B4-BE49-F238E27FC236}">
                    <a16:creationId xmlns:a16="http://schemas.microsoft.com/office/drawing/2014/main" id="{77A4C668-554A-6C44-A4D3-0F6A27C1F48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sp>
        <p:nvSpPr>
          <p:cNvPr id="56" name="Slide Number Placeholder 2">
            <a:extLst>
              <a:ext uri="{FF2B5EF4-FFF2-40B4-BE49-F238E27FC236}">
                <a16:creationId xmlns:a16="http://schemas.microsoft.com/office/drawing/2014/main" id="{8064881B-A35A-8B40-BFE6-0E4FAAB88A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510335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2">
                                            <p:txEl>
                                              <p:pRg st="2" end="2"/>
                                            </p:txEl>
                                          </p:spTgt>
                                        </p:tgtEl>
                                        <p:attrNameLst>
                                          <p:attrName>style.visibility</p:attrName>
                                        </p:attrNameLst>
                                      </p:cBhvr>
                                      <p:to>
                                        <p:strVal val="visible"/>
                                      </p:to>
                                    </p:set>
                                    <p:animEffect transition="in" filter="dissolve">
                                      <p:cBhvr>
                                        <p:cTn id="7" dur="500"/>
                                        <p:tgtEl>
                                          <p:spTgt spid="27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2">
                                            <p:txEl>
                                              <p:pRg st="3" end="3"/>
                                            </p:txEl>
                                          </p:spTgt>
                                        </p:tgtEl>
                                        <p:attrNameLst>
                                          <p:attrName>style.visibility</p:attrName>
                                        </p:attrNameLst>
                                      </p:cBhvr>
                                      <p:to>
                                        <p:strVal val="visible"/>
                                      </p:to>
                                    </p:set>
                                    <p:animEffect transition="in" filter="dissolve">
                                      <p:cBhvr>
                                        <p:cTn id="10" dur="500"/>
                                        <p:tgtEl>
                                          <p:spTgt spid="27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72">
                                            <p:txEl>
                                              <p:pRg st="4" end="4"/>
                                            </p:txEl>
                                          </p:spTgt>
                                        </p:tgtEl>
                                        <p:attrNameLst>
                                          <p:attrName>style.visibility</p:attrName>
                                        </p:attrNameLst>
                                      </p:cBhvr>
                                      <p:to>
                                        <p:strVal val="visible"/>
                                      </p:to>
                                    </p:set>
                                    <p:animEffect transition="in" filter="dissolve">
                                      <p:cBhvr>
                                        <p:cTn id="15" dur="500"/>
                                        <p:tgtEl>
                                          <p:spTgt spid="27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72">
                                            <p:txEl>
                                              <p:pRg st="5" end="5"/>
                                            </p:txEl>
                                          </p:spTgt>
                                        </p:tgtEl>
                                        <p:attrNameLst>
                                          <p:attrName>style.visibility</p:attrName>
                                        </p:attrNameLst>
                                      </p:cBhvr>
                                      <p:to>
                                        <p:strVal val="visible"/>
                                      </p:to>
                                    </p:set>
                                    <p:animEffect transition="in" filter="dissolve">
                                      <p:cBhvr>
                                        <p:cTn id="18" dur="500"/>
                                        <p:tgtEl>
                                          <p:spTgt spid="272">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dissolve">
                                      <p:cBhvr>
                                        <p:cTn id="23" dur="500"/>
                                        <p:tgtEl>
                                          <p:spTgt spid="2"/>
                                        </p:tgtEl>
                                      </p:cBhvr>
                                    </p:animEffect>
                                  </p:childTnLst>
                                </p:cTn>
                              </p:par>
                            </p:childTnLst>
                          </p:cTn>
                        </p:par>
                        <p:par>
                          <p:cTn id="24" fill="hold">
                            <p:stCondLst>
                              <p:cond delay="500"/>
                            </p:stCondLst>
                            <p:childTnLst>
                              <p:par>
                                <p:cTn id="25" presetID="22" presetClass="entr" presetSubtype="8" fill="hold" nodeType="afterEffect">
                                  <p:stCondLst>
                                    <p:cond delay="0"/>
                                  </p:stCondLst>
                                  <p:childTnLst>
                                    <p:set>
                                      <p:cBhvr>
                                        <p:cTn id="26" dur="1" fill="hold">
                                          <p:stCondLst>
                                            <p:cond delay="0"/>
                                          </p:stCondLst>
                                        </p:cTn>
                                        <p:tgtEl>
                                          <p:spTgt spid="273"/>
                                        </p:tgtEl>
                                        <p:attrNameLst>
                                          <p:attrName>style.visibility</p:attrName>
                                        </p:attrNameLst>
                                      </p:cBhvr>
                                      <p:to>
                                        <p:strVal val="visible"/>
                                      </p:to>
                                    </p:set>
                                    <p:animEffect transition="in" filter="wipe(left)">
                                      <p:cBhvr>
                                        <p:cTn id="27" dur="500"/>
                                        <p:tgtEl>
                                          <p:spTgt spid="273"/>
                                        </p:tgtEl>
                                      </p:cBhvr>
                                    </p:animEffect>
                                  </p:childTnLst>
                                </p:cTn>
                              </p:par>
                              <p:par>
                                <p:cTn id="28" presetID="22" presetClass="entr" presetSubtype="8" fill="hold" grpId="0" nodeType="withEffect">
                                  <p:stCondLst>
                                    <p:cond delay="0"/>
                                  </p:stCondLst>
                                  <p:childTnLst>
                                    <p:set>
                                      <p:cBhvr>
                                        <p:cTn id="29" dur="1" fill="hold">
                                          <p:stCondLst>
                                            <p:cond delay="0"/>
                                          </p:stCondLst>
                                        </p:cTn>
                                        <p:tgtEl>
                                          <p:spTgt spid="274"/>
                                        </p:tgtEl>
                                        <p:attrNameLst>
                                          <p:attrName>style.visibility</p:attrName>
                                        </p:attrNameLst>
                                      </p:cBhvr>
                                      <p:to>
                                        <p:strVal val="visible"/>
                                      </p:to>
                                    </p:set>
                                    <p:animEffect transition="in" filter="wipe(left)">
                                      <p:cBhvr>
                                        <p:cTn id="30" dur="500"/>
                                        <p:tgtEl>
                                          <p:spTgt spid="274"/>
                                        </p:tgtEl>
                                      </p:cBhvr>
                                    </p:animEffect>
                                  </p:childTnLst>
                                </p:cTn>
                              </p:par>
                            </p:childTnLst>
                          </p:cTn>
                        </p:par>
                        <p:par>
                          <p:cTn id="31" fill="hold">
                            <p:stCondLst>
                              <p:cond delay="1000"/>
                            </p:stCondLst>
                            <p:childTnLst>
                              <p:par>
                                <p:cTn id="32" presetID="9" presetClass="entr" presetSubtype="0" fill="hold" grpId="0" nodeType="afterEffect">
                                  <p:stCondLst>
                                    <p:cond delay="0"/>
                                  </p:stCondLst>
                                  <p:childTnLst>
                                    <p:set>
                                      <p:cBhvr>
                                        <p:cTn id="33" dur="1" fill="hold">
                                          <p:stCondLst>
                                            <p:cond delay="0"/>
                                          </p:stCondLst>
                                        </p:cTn>
                                        <p:tgtEl>
                                          <p:spTgt spid="279"/>
                                        </p:tgtEl>
                                        <p:attrNameLst>
                                          <p:attrName>style.visibility</p:attrName>
                                        </p:attrNameLst>
                                      </p:cBhvr>
                                      <p:to>
                                        <p:strVal val="visible"/>
                                      </p:to>
                                    </p:set>
                                    <p:animEffect transition="in" filter="dissolve">
                                      <p:cBhvr>
                                        <p:cTn id="34" dur="500"/>
                                        <p:tgtEl>
                                          <p:spTgt spid="279"/>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2" fill="hold" nodeType="clickEffect">
                                  <p:stCondLst>
                                    <p:cond delay="0"/>
                                  </p:stCondLst>
                                  <p:childTnLst>
                                    <p:set>
                                      <p:cBhvr>
                                        <p:cTn id="38" dur="1" fill="hold">
                                          <p:stCondLst>
                                            <p:cond delay="0"/>
                                          </p:stCondLst>
                                        </p:cTn>
                                        <p:tgtEl>
                                          <p:spTgt spid="275"/>
                                        </p:tgtEl>
                                        <p:attrNameLst>
                                          <p:attrName>style.visibility</p:attrName>
                                        </p:attrNameLst>
                                      </p:cBhvr>
                                      <p:to>
                                        <p:strVal val="visible"/>
                                      </p:to>
                                    </p:set>
                                    <p:animEffect transition="in" filter="wipe(right)">
                                      <p:cBhvr>
                                        <p:cTn id="39" dur="500"/>
                                        <p:tgtEl>
                                          <p:spTgt spid="275"/>
                                        </p:tgtEl>
                                      </p:cBhvr>
                                    </p:animEffect>
                                  </p:childTnLst>
                                </p:cTn>
                              </p:par>
                              <p:par>
                                <p:cTn id="40" presetID="22" presetClass="entr" presetSubtype="2" fill="hold" nodeType="withEffect">
                                  <p:stCondLst>
                                    <p:cond delay="0"/>
                                  </p:stCondLst>
                                  <p:childTnLst>
                                    <p:set>
                                      <p:cBhvr>
                                        <p:cTn id="41" dur="1" fill="hold">
                                          <p:stCondLst>
                                            <p:cond delay="0"/>
                                          </p:stCondLst>
                                        </p:cTn>
                                        <p:tgtEl>
                                          <p:spTgt spid="276"/>
                                        </p:tgtEl>
                                        <p:attrNameLst>
                                          <p:attrName>style.visibility</p:attrName>
                                        </p:attrNameLst>
                                      </p:cBhvr>
                                      <p:to>
                                        <p:strVal val="visible"/>
                                      </p:to>
                                    </p:set>
                                    <p:animEffect transition="in" filter="wipe(right)">
                                      <p:cBhvr>
                                        <p:cTn id="42" dur="500"/>
                                        <p:tgtEl>
                                          <p:spTgt spid="276"/>
                                        </p:tgtEl>
                                      </p:cBhvr>
                                    </p:animEffec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80"/>
                                        </p:tgtEl>
                                        <p:attrNameLst>
                                          <p:attrName>style.visibility</p:attrName>
                                        </p:attrNameLst>
                                      </p:cBhvr>
                                      <p:to>
                                        <p:strVal val="visible"/>
                                      </p:to>
                                    </p:set>
                                  </p:childTnLst>
                                </p:cTn>
                              </p:par>
                            </p:childTnLst>
                          </p:cTn>
                        </p:par>
                        <p:par>
                          <p:cTn id="47" fill="hold">
                            <p:stCondLst>
                              <p:cond delay="0"/>
                            </p:stCondLst>
                            <p:childTnLst>
                              <p:par>
                                <p:cTn id="48" presetID="22" presetClass="entr" presetSubtype="8" fill="hold" nodeType="afterEffect">
                                  <p:stCondLst>
                                    <p:cond delay="0"/>
                                  </p:stCondLst>
                                  <p:childTnLst>
                                    <p:set>
                                      <p:cBhvr>
                                        <p:cTn id="49" dur="1" fill="hold">
                                          <p:stCondLst>
                                            <p:cond delay="0"/>
                                          </p:stCondLst>
                                        </p:cTn>
                                        <p:tgtEl>
                                          <p:spTgt spid="281"/>
                                        </p:tgtEl>
                                        <p:attrNameLst>
                                          <p:attrName>style.visibility</p:attrName>
                                        </p:attrNameLst>
                                      </p:cBhvr>
                                      <p:to>
                                        <p:strVal val="visible"/>
                                      </p:to>
                                    </p:set>
                                    <p:animEffect transition="in" filter="wipe(left)">
                                      <p:cBhvr>
                                        <p:cTn id="50" dur="500"/>
                                        <p:tgtEl>
                                          <p:spTgt spid="281"/>
                                        </p:tgtEl>
                                      </p:cBhvr>
                                    </p:animEffect>
                                  </p:childTnLst>
                                </p:cTn>
                              </p:par>
                              <p:par>
                                <p:cTn id="51" presetID="22" presetClass="entr" presetSubtype="8" fill="hold" grpId="0" nodeType="withEffect">
                                  <p:stCondLst>
                                    <p:cond delay="0"/>
                                  </p:stCondLst>
                                  <p:childTnLst>
                                    <p:set>
                                      <p:cBhvr>
                                        <p:cTn id="52" dur="1" fill="hold">
                                          <p:stCondLst>
                                            <p:cond delay="0"/>
                                          </p:stCondLst>
                                        </p:cTn>
                                        <p:tgtEl>
                                          <p:spTgt spid="282"/>
                                        </p:tgtEl>
                                        <p:attrNameLst>
                                          <p:attrName>style.visibility</p:attrName>
                                        </p:attrNameLst>
                                      </p:cBhvr>
                                      <p:to>
                                        <p:strVal val="visible"/>
                                      </p:to>
                                    </p:set>
                                    <p:animEffect transition="in" filter="wipe(left)">
                                      <p:cBhvr>
                                        <p:cTn id="53" dur="500"/>
                                        <p:tgtEl>
                                          <p:spTgt spid="282"/>
                                        </p:tgtEl>
                                      </p:cBhvr>
                                    </p:animEffect>
                                  </p:childTnLst>
                                </p:cTn>
                              </p:par>
                            </p:childTnLst>
                          </p:cTn>
                        </p:par>
                        <p:par>
                          <p:cTn id="54" fill="hold">
                            <p:stCondLst>
                              <p:cond delay="500"/>
                            </p:stCondLst>
                            <p:childTnLst>
                              <p:par>
                                <p:cTn id="55" presetID="9" presetClass="entr" presetSubtype="0" fill="hold" grpId="0" nodeType="afterEffect">
                                  <p:stCondLst>
                                    <p:cond delay="0"/>
                                  </p:stCondLst>
                                  <p:childTnLst>
                                    <p:set>
                                      <p:cBhvr>
                                        <p:cTn id="56" dur="1" fill="hold">
                                          <p:stCondLst>
                                            <p:cond delay="0"/>
                                          </p:stCondLst>
                                        </p:cTn>
                                        <p:tgtEl>
                                          <p:spTgt spid="285"/>
                                        </p:tgtEl>
                                        <p:attrNameLst>
                                          <p:attrName>style.visibility</p:attrName>
                                        </p:attrNameLst>
                                      </p:cBhvr>
                                      <p:to>
                                        <p:strVal val="visible"/>
                                      </p:to>
                                    </p:set>
                                    <p:animEffect transition="in" filter="dissolve">
                                      <p:cBhvr>
                                        <p:cTn id="57" dur="500"/>
                                        <p:tgtEl>
                                          <p:spTgt spid="285"/>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2" fill="hold" nodeType="clickEffect">
                                  <p:stCondLst>
                                    <p:cond delay="0"/>
                                  </p:stCondLst>
                                  <p:childTnLst>
                                    <p:set>
                                      <p:cBhvr>
                                        <p:cTn id="61" dur="1" fill="hold">
                                          <p:stCondLst>
                                            <p:cond delay="0"/>
                                          </p:stCondLst>
                                        </p:cTn>
                                        <p:tgtEl>
                                          <p:spTgt spid="283"/>
                                        </p:tgtEl>
                                        <p:attrNameLst>
                                          <p:attrName>style.visibility</p:attrName>
                                        </p:attrNameLst>
                                      </p:cBhvr>
                                      <p:to>
                                        <p:strVal val="visible"/>
                                      </p:to>
                                    </p:set>
                                    <p:animEffect transition="in" filter="wipe(right)">
                                      <p:cBhvr>
                                        <p:cTn id="62" dur="500"/>
                                        <p:tgtEl>
                                          <p:spTgt spid="283"/>
                                        </p:tgtEl>
                                      </p:cBhvr>
                                    </p:animEffect>
                                  </p:childTnLst>
                                </p:cTn>
                              </p:par>
                              <p:par>
                                <p:cTn id="63" presetID="22" presetClass="entr" presetSubtype="2" fill="hold" grpId="0" nodeType="withEffect">
                                  <p:stCondLst>
                                    <p:cond delay="0"/>
                                  </p:stCondLst>
                                  <p:childTnLst>
                                    <p:set>
                                      <p:cBhvr>
                                        <p:cTn id="64" dur="1" fill="hold">
                                          <p:stCondLst>
                                            <p:cond delay="0"/>
                                          </p:stCondLst>
                                        </p:cTn>
                                        <p:tgtEl>
                                          <p:spTgt spid="284"/>
                                        </p:tgtEl>
                                        <p:attrNameLst>
                                          <p:attrName>style.visibility</p:attrName>
                                        </p:attrNameLst>
                                      </p:cBhvr>
                                      <p:to>
                                        <p:strVal val="visible"/>
                                      </p:to>
                                    </p:set>
                                    <p:animEffect transition="in" filter="wipe(right)">
                                      <p:cBhvr>
                                        <p:cTn id="65" dur="500"/>
                                        <p:tgtEl>
                                          <p:spTgt spid="2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 grpId="0" animBg="1"/>
      <p:bldP spid="279" grpId="0"/>
      <p:bldP spid="282" grpId="0" animBg="1"/>
      <p:bldP spid="284" grpId="0" animBg="1"/>
      <p:bldP spid="285"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Rectangle 3">
            <a:extLst>
              <a:ext uri="{FF2B5EF4-FFF2-40B4-BE49-F238E27FC236}">
                <a16:creationId xmlns:a16="http://schemas.microsoft.com/office/drawing/2014/main" id="{FB527882-F34C-8945-BA16-5C2965DA6310}"/>
              </a:ext>
            </a:extLst>
          </p:cNvPr>
          <p:cNvSpPr txBox="1">
            <a:spLocks noChangeArrowheads="1"/>
          </p:cNvSpPr>
          <p:nvPr/>
        </p:nvSpPr>
        <p:spPr>
          <a:xfrm>
            <a:off x="914400" y="2142059"/>
            <a:ext cx="10654118" cy="3930449"/>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HTTP1.1:</a:t>
            </a:r>
            <a:r>
              <a:rPr kumimoji="0" lang="en-US" altLang="en-US" sz="3200" b="0" i="0"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introduced </a:t>
            </a:r>
            <a:r>
              <a:rPr kumimoji="0" lang="en-US" altLang="en-US" sz="32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multiple, pipelined GETs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over single TCP connection</a:t>
            </a:r>
            <a:endParaRPr kumimoji="0" lang="en-US" altLang="en-US" sz="32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responds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(FCFS: first-come-first-served scheduling) to GET requests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with FCFS, small object may have to wait for transmission  (</a:t>
            </a:r>
            <a:r>
              <a:rPr kumimoji="0" lang="en-US" altLang="en-US" sz="28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head-of-line (HOL) blocking</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behind large object(s)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loss recovery (retransmitting lost TCP segments) stalls object transmission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A6F2E176-E832-C946-945A-E70AAE074BF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46</a:t>
            </a:fld>
            <a:endParaRPr lang="en-US" dirty="0"/>
          </a:p>
        </p:txBody>
      </p:sp>
    </p:spTree>
    <p:extLst>
      <p:ext uri="{BB962C8B-B14F-4D97-AF65-F5344CB8AC3E}">
        <p14:creationId xmlns:p14="http://schemas.microsoft.com/office/powerpoint/2010/main" val="326121607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901486" y="2150525"/>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HTTP/2:</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[RFC 7540, 2015]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increased flexibility at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in sending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methods, status codes, most header fields unchanged from HTTP 1.1</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transmission order of requested objects based on client-specified object priority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(not necessarily FCFS)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push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unrequested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divide objects into frames, schedule frames to mitigate HOL blocking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279D3858-EB11-8347-B284-0EA3928CF486}"/>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20476A41-E13C-BC40-A484-B8CD2CE4B46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47</a:t>
            </a:fld>
            <a:endParaRPr lang="en-US" dirty="0"/>
          </a:p>
        </p:txBody>
      </p:sp>
    </p:spTree>
    <p:extLst>
      <p:ext uri="{BB962C8B-B14F-4D97-AF65-F5344CB8AC3E}">
        <p14:creationId xmlns:p14="http://schemas.microsoft.com/office/powerpoint/2010/main" val="153470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1" end="1"/>
                                            </p:txEl>
                                          </p:spTgt>
                                        </p:tgtEl>
                                        <p:attrNameLst>
                                          <p:attrName>style.visibility</p:attrName>
                                        </p:attrNameLst>
                                      </p:cBhvr>
                                      <p:to>
                                        <p:strVal val="visible"/>
                                      </p:to>
                                    </p:set>
                                    <p:animEffect transition="in" filter="dissolve">
                                      <p:cBhvr>
                                        <p:cTn id="12" dur="500"/>
                                        <p:tgtEl>
                                          <p:spTgt spid="56">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2" end="2"/>
                                            </p:txEl>
                                          </p:spTgt>
                                        </p:tgtEl>
                                        <p:attrNameLst>
                                          <p:attrName>style.visibility</p:attrName>
                                        </p:attrNameLst>
                                      </p:cBhvr>
                                      <p:to>
                                        <p:strVal val="visible"/>
                                      </p:to>
                                    </p:set>
                                    <p:animEffect transition="in" filter="dissolve">
                                      <p:cBhvr>
                                        <p:cTn id="17" dur="500"/>
                                        <p:tgtEl>
                                          <p:spTgt spid="56">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56">
                                            <p:txEl>
                                              <p:pRg st="3" end="3"/>
                                            </p:txEl>
                                          </p:spTgt>
                                        </p:tgtEl>
                                        <p:attrNameLst>
                                          <p:attrName>style.visibility</p:attrName>
                                        </p:attrNameLst>
                                      </p:cBhvr>
                                      <p:to>
                                        <p:strVal val="visible"/>
                                      </p:to>
                                    </p:set>
                                    <p:animEffect transition="in" filter="dissolve">
                                      <p:cBhvr>
                                        <p:cTn id="22" dur="500"/>
                                        <p:tgtEl>
                                          <p:spTgt spid="56">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6">
                                            <p:txEl>
                                              <p:pRg st="4" end="4"/>
                                            </p:txEl>
                                          </p:spTgt>
                                        </p:tgtEl>
                                        <p:attrNameLst>
                                          <p:attrName>style.visibility</p:attrName>
                                        </p:attrNameLst>
                                      </p:cBhvr>
                                      <p:to>
                                        <p:strVal val="visible"/>
                                      </p:to>
                                    </p:set>
                                    <p:animEffect transition="in" filter="dissolve">
                                      <p:cBhvr>
                                        <p:cTn id="27" dur="500"/>
                                        <p:tgtEl>
                                          <p:spTgt spid="5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1.1: client requests 1 large object (e.g., video file) and 3 smaller objects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 name="Group 7">
            <a:extLst>
              <a:ext uri="{FF2B5EF4-FFF2-40B4-BE49-F238E27FC236}">
                <a16:creationId xmlns:a16="http://schemas.microsoft.com/office/drawing/2014/main" id="{3BCCEA0D-BD56-2144-8446-6F45775C9DAB}"/>
              </a:ext>
            </a:extLst>
          </p:cNvPr>
          <p:cNvGrpSpPr/>
          <p:nvPr/>
        </p:nvGrpSpPr>
        <p:grpSpPr>
          <a:xfrm>
            <a:off x="3400914" y="3064264"/>
            <a:ext cx="4052925" cy="2231577"/>
            <a:chOff x="3400914" y="3064264"/>
            <a:chExt cx="4052925" cy="2231577"/>
          </a:xfrm>
        </p:grpSpPr>
        <p:cxnSp>
          <p:nvCxnSpPr>
            <p:cNvPr id="59" name="Straight Arrow Connector 58">
              <a:extLst>
                <a:ext uri="{FF2B5EF4-FFF2-40B4-BE49-F238E27FC236}">
                  <a16:creationId xmlns:a16="http://schemas.microsoft.com/office/drawing/2014/main" id="{FD6DCCE9-A422-404A-94DE-DE520C1D2809}"/>
                </a:ext>
              </a:extLst>
            </p:cNvPr>
            <p:cNvCxnSpPr>
              <a:cxnSpLocks/>
            </p:cNvCxnSpPr>
            <p:nvPr/>
          </p:nvCxnSpPr>
          <p:spPr>
            <a:xfrm flipH="1">
              <a:off x="3400914" y="5022530"/>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Freeform 48">
              <a:extLst>
                <a:ext uri="{FF2B5EF4-FFF2-40B4-BE49-F238E27FC236}">
                  <a16:creationId xmlns:a16="http://schemas.microsoft.com/office/drawing/2014/main" id="{AF7FDDA2-EA85-004E-AB1B-97A9090ECD2A}"/>
                </a:ext>
              </a:extLst>
            </p:cNvPr>
            <p:cNvSpPr/>
            <p:nvPr/>
          </p:nvSpPr>
          <p:spPr>
            <a:xfrm>
              <a:off x="3517643" y="3064264"/>
              <a:ext cx="3868169" cy="222617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8169" h="2226179">
                  <a:moveTo>
                    <a:pt x="3867383" y="0"/>
                  </a:moveTo>
                  <a:lnTo>
                    <a:pt x="411" y="273465"/>
                  </a:lnTo>
                  <a:cubicBezTo>
                    <a:pt x="1835" y="927218"/>
                    <a:pt x="-1013" y="1572426"/>
                    <a:pt x="411" y="2226179"/>
                  </a:cubicBezTo>
                  <a:lnTo>
                    <a:pt x="3863110" y="1969806"/>
                  </a:lnTo>
                  <a:cubicBezTo>
                    <a:pt x="3864534" y="1311780"/>
                    <a:pt x="3870232" y="61529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0" name="Group 9">
            <a:extLst>
              <a:ext uri="{FF2B5EF4-FFF2-40B4-BE49-F238E27FC236}">
                <a16:creationId xmlns:a16="http://schemas.microsoft.com/office/drawing/2014/main" id="{1032D652-964E-9F43-98C4-FFCFB51B8116}"/>
              </a:ext>
            </a:extLst>
          </p:cNvPr>
          <p:cNvGrpSpPr/>
          <p:nvPr/>
        </p:nvGrpSpPr>
        <p:grpSpPr>
          <a:xfrm>
            <a:off x="3389679" y="5054301"/>
            <a:ext cx="4064160" cy="386589"/>
            <a:chOff x="3389679" y="5054301"/>
            <a:chExt cx="4064160" cy="386589"/>
          </a:xfrm>
        </p:grpSpPr>
        <p:cxnSp>
          <p:nvCxnSpPr>
            <p:cNvPr id="60" name="Straight Arrow Connector 59">
              <a:extLst>
                <a:ext uri="{FF2B5EF4-FFF2-40B4-BE49-F238E27FC236}">
                  <a16:creationId xmlns:a16="http://schemas.microsoft.com/office/drawing/2014/main" id="{74B14409-7AA2-6647-870D-F81D3E4A7B92}"/>
                </a:ext>
              </a:extLst>
            </p:cNvPr>
            <p:cNvCxnSpPr>
              <a:cxnSpLocks/>
            </p:cNvCxnSpPr>
            <p:nvPr/>
          </p:nvCxnSpPr>
          <p:spPr>
            <a:xfrm flipH="1">
              <a:off x="3389679" y="5161562"/>
              <a:ext cx="4064160" cy="2793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Freeform 66">
              <a:extLst>
                <a:ext uri="{FF2B5EF4-FFF2-40B4-BE49-F238E27FC236}">
                  <a16:creationId xmlns:a16="http://schemas.microsoft.com/office/drawing/2014/main" id="{40D71812-E6AC-D143-8CC1-FD1BA4C52E80}"/>
                </a:ext>
              </a:extLst>
            </p:cNvPr>
            <p:cNvSpPr/>
            <p:nvPr/>
          </p:nvSpPr>
          <p:spPr>
            <a:xfrm>
              <a:off x="3519116" y="5054301"/>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40FB06DE-F29F-A246-84EE-63E1636623F1}"/>
              </a:ext>
            </a:extLst>
          </p:cNvPr>
          <p:cNvGrpSpPr/>
          <p:nvPr/>
        </p:nvGrpSpPr>
        <p:grpSpPr>
          <a:xfrm>
            <a:off x="3401181" y="5445216"/>
            <a:ext cx="4028803" cy="375356"/>
            <a:chOff x="3401181" y="5445216"/>
            <a:chExt cx="4028803" cy="375356"/>
          </a:xfrm>
        </p:grpSpPr>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401181" y="5534648"/>
              <a:ext cx="4028803" cy="26998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Freeform 69">
              <a:extLst>
                <a:ext uri="{FF2B5EF4-FFF2-40B4-BE49-F238E27FC236}">
                  <a16:creationId xmlns:a16="http://schemas.microsoft.com/office/drawing/2014/main" id="{E5D9F6BF-C428-4448-A3F0-EC7E244381F1}"/>
                </a:ext>
              </a:extLst>
            </p:cNvPr>
            <p:cNvSpPr/>
            <p:nvPr/>
          </p:nvSpPr>
          <p:spPr>
            <a:xfrm>
              <a:off x="3504762" y="544521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grpSp>
        <p:nvGrpSpPr>
          <p:cNvPr id="3" name="Group 2">
            <a:extLst>
              <a:ext uri="{FF2B5EF4-FFF2-40B4-BE49-F238E27FC236}">
                <a16:creationId xmlns:a16="http://schemas.microsoft.com/office/drawing/2014/main" id="{CFF15201-6C51-0E4C-8DF2-2874D9BB5094}"/>
              </a:ext>
            </a:extLst>
          </p:cNvPr>
          <p:cNvGrpSpPr/>
          <p:nvPr/>
        </p:nvGrpSpPr>
        <p:grpSpPr>
          <a:xfrm>
            <a:off x="1750742" y="5112121"/>
            <a:ext cx="1641327" cy="338554"/>
            <a:chOff x="1750742" y="5112121"/>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50742" y="5290443"/>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91" name="Group 90">
              <a:extLst>
                <a:ext uri="{FF2B5EF4-FFF2-40B4-BE49-F238E27FC236}">
                  <a16:creationId xmlns:a16="http://schemas.microsoft.com/office/drawing/2014/main" id="{1869B0B9-3B24-694E-ACA6-3C15E7F0A7AA}"/>
                </a:ext>
              </a:extLst>
            </p:cNvPr>
            <p:cNvGrpSpPr/>
            <p:nvPr/>
          </p:nvGrpSpPr>
          <p:grpSpPr>
            <a:xfrm>
              <a:off x="2136070" y="5112121"/>
              <a:ext cx="459104" cy="338554"/>
              <a:chOff x="2709565" y="5090498"/>
              <a:chExt cx="459104" cy="338554"/>
            </a:xfrm>
          </p:grpSpPr>
          <p:sp>
            <p:nvSpPr>
              <p:cNvPr id="90" name="Rectangle 89">
                <a:extLst>
                  <a:ext uri="{FF2B5EF4-FFF2-40B4-BE49-F238E27FC236}">
                    <a16:creationId xmlns:a16="http://schemas.microsoft.com/office/drawing/2014/main" id="{50D49D93-5523-2D40-A4B4-2C25959CCB4C}"/>
                  </a:ext>
                </a:extLst>
              </p:cNvPr>
              <p:cNvSpPr/>
              <p:nvPr/>
            </p:nvSpPr>
            <p:spPr>
              <a:xfrm>
                <a:off x="2785241" y="5146384"/>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5" name="TextBox 84">
                <a:extLst>
                  <a:ext uri="{FF2B5EF4-FFF2-40B4-BE49-F238E27FC236}">
                    <a16:creationId xmlns:a16="http://schemas.microsoft.com/office/drawing/2014/main" id="{024E2305-8E5C-AA43-A3E7-0B4250CBA647}"/>
                  </a:ext>
                </a:extLst>
              </p:cNvPr>
              <p:cNvSpPr txBox="1"/>
              <p:nvPr/>
            </p:nvSpPr>
            <p:spPr>
              <a:xfrm>
                <a:off x="2709565" y="509049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grpSp>
      <p:sp>
        <p:nvSpPr>
          <p:cNvPr id="94" name="Rectangle 93">
            <a:extLst>
              <a:ext uri="{FF2B5EF4-FFF2-40B4-BE49-F238E27FC236}">
                <a16:creationId xmlns:a16="http://schemas.microsoft.com/office/drawing/2014/main" id="{63ACB7C6-C932-A244-9314-0E6B7F0BABA7}"/>
              </a:ext>
            </a:extLst>
          </p:cNvPr>
          <p:cNvSpPr/>
          <p:nvPr/>
        </p:nvSpPr>
        <p:spPr>
          <a:xfrm>
            <a:off x="2453226" y="5330278"/>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4" name="Group 3">
            <a:extLst>
              <a:ext uri="{FF2B5EF4-FFF2-40B4-BE49-F238E27FC236}">
                <a16:creationId xmlns:a16="http://schemas.microsoft.com/office/drawing/2014/main" id="{F5600D4F-86F9-0C49-A7FC-8E1F0F10C16E}"/>
              </a:ext>
            </a:extLst>
          </p:cNvPr>
          <p:cNvGrpSpPr/>
          <p:nvPr/>
        </p:nvGrpSpPr>
        <p:grpSpPr>
          <a:xfrm>
            <a:off x="1750742" y="5274392"/>
            <a:ext cx="1641172" cy="338554"/>
            <a:chOff x="1750742" y="5274392"/>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0742" y="5442843"/>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384556" y="5274392"/>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grpSp>
        <p:nvGrpSpPr>
          <p:cNvPr id="7" name="Group 6">
            <a:extLst>
              <a:ext uri="{FF2B5EF4-FFF2-40B4-BE49-F238E27FC236}">
                <a16:creationId xmlns:a16="http://schemas.microsoft.com/office/drawing/2014/main" id="{DF5B72F1-6258-1D46-8B4C-28D067B642BD}"/>
              </a:ext>
            </a:extLst>
          </p:cNvPr>
          <p:cNvGrpSpPr/>
          <p:nvPr/>
        </p:nvGrpSpPr>
        <p:grpSpPr>
          <a:xfrm>
            <a:off x="1750742" y="5500058"/>
            <a:ext cx="1644347" cy="338554"/>
            <a:chOff x="1750742" y="5500058"/>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0742" y="5670973"/>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78111" y="550005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grpSp>
        <p:nvGrpSpPr>
          <p:cNvPr id="55" name="Group 54">
            <a:extLst>
              <a:ext uri="{FF2B5EF4-FFF2-40B4-BE49-F238E27FC236}">
                <a16:creationId xmlns:a16="http://schemas.microsoft.com/office/drawing/2014/main" id="{2E3B66F0-9018-8E4D-819B-CF6530707FCC}"/>
              </a:ext>
            </a:extLst>
          </p:cNvPr>
          <p:cNvGrpSpPr/>
          <p:nvPr/>
        </p:nvGrpSpPr>
        <p:grpSpPr>
          <a:xfrm>
            <a:off x="1750742" y="5634943"/>
            <a:ext cx="1641326" cy="338554"/>
            <a:chOff x="1750742" y="5634943"/>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50742"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779553" y="563494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22039" y="2665582"/>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4" name="Rectangle 103">
            <a:extLst>
              <a:ext uri="{FF2B5EF4-FFF2-40B4-BE49-F238E27FC236}">
                <a16:creationId xmlns:a16="http://schemas.microsoft.com/office/drawing/2014/main" id="{F92C3131-42F8-4447-929E-4F663CB535C3}"/>
              </a:ext>
            </a:extLst>
          </p:cNvPr>
          <p:cNvSpPr/>
          <p:nvPr/>
        </p:nvSpPr>
        <p:spPr>
          <a:xfrm>
            <a:off x="10065868" y="3696565"/>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2410244" y="6238081"/>
            <a:ext cx="8451975"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objects delivered in order requested: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wait behind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7" name="Group 56">
            <a:extLst>
              <a:ext uri="{FF2B5EF4-FFF2-40B4-BE49-F238E27FC236}">
                <a16:creationId xmlns:a16="http://schemas.microsoft.com/office/drawing/2014/main" id="{57772C53-CB21-F54B-81A4-80FA45EF0DCB}"/>
              </a:ext>
            </a:extLst>
          </p:cNvPr>
          <p:cNvGrpSpPr/>
          <p:nvPr/>
        </p:nvGrpSpPr>
        <p:grpSpPr>
          <a:xfrm>
            <a:off x="3400914" y="5195255"/>
            <a:ext cx="4029070" cy="477315"/>
            <a:chOff x="3400914" y="5195255"/>
            <a:chExt cx="4029070" cy="477315"/>
          </a:xfrm>
        </p:grpSpPr>
        <p:cxnSp>
          <p:nvCxnSpPr>
            <p:cNvPr id="61" name="Straight Arrow Connector 60">
              <a:extLst>
                <a:ext uri="{FF2B5EF4-FFF2-40B4-BE49-F238E27FC236}">
                  <a16:creationId xmlns:a16="http://schemas.microsoft.com/office/drawing/2014/main" id="{72FF5CC6-CED4-2143-AE2B-F90140B18684}"/>
                </a:ext>
              </a:extLst>
            </p:cNvPr>
            <p:cNvCxnSpPr>
              <a:cxnSpLocks/>
            </p:cNvCxnSpPr>
            <p:nvPr/>
          </p:nvCxnSpPr>
          <p:spPr>
            <a:xfrm flipH="1">
              <a:off x="3400914" y="5403102"/>
              <a:ext cx="4029070" cy="26946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Freeform 55">
              <a:extLst>
                <a:ext uri="{FF2B5EF4-FFF2-40B4-BE49-F238E27FC236}">
                  <a16:creationId xmlns:a16="http://schemas.microsoft.com/office/drawing/2014/main" id="{5A06D02B-5F32-3D42-9572-49327927E15A}"/>
                </a:ext>
              </a:extLst>
            </p:cNvPr>
            <p:cNvSpPr/>
            <p:nvPr/>
          </p:nvSpPr>
          <p:spPr>
            <a:xfrm>
              <a:off x="3520812" y="5195255"/>
              <a:ext cx="3866473" cy="468804"/>
            </a:xfrm>
            <a:custGeom>
              <a:avLst/>
              <a:gdLst>
                <a:gd name="connsiteX0" fmla="*/ 0 w 3866473"/>
                <a:gd name="connsiteY0" fmla="*/ 264573 h 468804"/>
                <a:gd name="connsiteX1" fmla="*/ 0 w 3866473"/>
                <a:gd name="connsiteY1" fmla="*/ 468804 h 468804"/>
                <a:gd name="connsiteX2" fmla="*/ 3866473 w 3866473"/>
                <a:gd name="connsiteY2" fmla="*/ 204232 h 468804"/>
                <a:gd name="connsiteX3" fmla="*/ 3861832 w 3866473"/>
                <a:gd name="connsiteY3" fmla="*/ 0 h 468804"/>
                <a:gd name="connsiteX4" fmla="*/ 0 w 3866473"/>
                <a:gd name="connsiteY4" fmla="*/ 264573 h 468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6473" h="468804">
                  <a:moveTo>
                    <a:pt x="0" y="264573"/>
                  </a:moveTo>
                  <a:lnTo>
                    <a:pt x="0" y="468804"/>
                  </a:lnTo>
                  <a:lnTo>
                    <a:pt x="3866473" y="204232"/>
                  </a:lnTo>
                  <a:lnTo>
                    <a:pt x="3861832" y="0"/>
                  </a:lnTo>
                  <a:lnTo>
                    <a:pt x="0" y="26457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93" name="Slide Number Placeholder 2">
            <a:extLst>
              <a:ext uri="{FF2B5EF4-FFF2-40B4-BE49-F238E27FC236}">
                <a16:creationId xmlns:a16="http://schemas.microsoft.com/office/drawing/2014/main" id="{04B1ED28-70FB-1F43-9411-4F7106AECB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48</a:t>
            </a:fld>
            <a:endParaRPr lang="en-US" dirty="0"/>
          </a:p>
        </p:txBody>
      </p:sp>
    </p:spTree>
    <p:extLst>
      <p:ext uri="{BB962C8B-B14F-4D97-AF65-F5344CB8AC3E}">
        <p14:creationId xmlns:p14="http://schemas.microsoft.com/office/powerpoint/2010/main" val="3751481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right)">
                                      <p:cBhvr>
                                        <p:cTn id="7" dur="500"/>
                                        <p:tgtEl>
                                          <p:spTgt spid="8"/>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right)">
                                      <p:cBhvr>
                                        <p:cTn id="19" dur="500"/>
                                        <p:tgtEl>
                                          <p:spTgt spid="4"/>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wipe(right)">
                                      <p:cBhvr>
                                        <p:cTn id="23" dur="500"/>
                                        <p:tgtEl>
                                          <p:spTgt spid="57"/>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right)">
                                      <p:cBhvr>
                                        <p:cTn id="27" dur="500"/>
                                        <p:tgtEl>
                                          <p:spTgt spid="7"/>
                                        </p:tgtEl>
                                      </p:cBhvr>
                                    </p:animEffect>
                                  </p:childTnLst>
                                </p:cTn>
                              </p:par>
                            </p:childTnLst>
                          </p:cTn>
                        </p:par>
                        <p:par>
                          <p:cTn id="28" fill="hold">
                            <p:stCondLst>
                              <p:cond delay="3000"/>
                            </p:stCondLst>
                            <p:childTnLst>
                              <p:par>
                                <p:cTn id="29" presetID="22" presetClass="entr" presetSubtype="2" fill="hold" nodeType="afterEffect">
                                  <p:stCondLst>
                                    <p:cond delay="0"/>
                                  </p:stCondLst>
                                  <p:childTnLst>
                                    <p:set>
                                      <p:cBhvr>
                                        <p:cTn id="30" dur="1" fill="hold">
                                          <p:stCondLst>
                                            <p:cond delay="0"/>
                                          </p:stCondLst>
                                        </p:cTn>
                                        <p:tgtEl>
                                          <p:spTgt spid="54"/>
                                        </p:tgtEl>
                                        <p:attrNameLst>
                                          <p:attrName>style.visibility</p:attrName>
                                        </p:attrNameLst>
                                      </p:cBhvr>
                                      <p:to>
                                        <p:strVal val="visible"/>
                                      </p:to>
                                    </p:set>
                                    <p:animEffect transition="in" filter="wipe(right)">
                                      <p:cBhvr>
                                        <p:cTn id="31" dur="500"/>
                                        <p:tgtEl>
                                          <p:spTgt spid="54"/>
                                        </p:tgtEl>
                                      </p:cBhvr>
                                    </p:animEffect>
                                  </p:childTnLst>
                                </p:cTn>
                              </p:par>
                            </p:childTnLst>
                          </p:cTn>
                        </p:par>
                        <p:par>
                          <p:cTn id="32" fill="hold">
                            <p:stCondLst>
                              <p:cond delay="3500"/>
                            </p:stCondLst>
                            <p:childTnLst>
                              <p:par>
                                <p:cTn id="33" presetID="22" presetClass="entr" presetSubtype="2" fill="hold" nodeType="afterEffect">
                                  <p:stCondLst>
                                    <p:cond delay="0"/>
                                  </p:stCondLst>
                                  <p:childTnLst>
                                    <p:set>
                                      <p:cBhvr>
                                        <p:cTn id="34" dur="1" fill="hold">
                                          <p:stCondLst>
                                            <p:cond delay="0"/>
                                          </p:stCondLst>
                                        </p:cTn>
                                        <p:tgtEl>
                                          <p:spTgt spid="55"/>
                                        </p:tgtEl>
                                        <p:attrNameLst>
                                          <p:attrName>style.visibility</p:attrName>
                                        </p:attrNameLst>
                                      </p:cBhvr>
                                      <p:to>
                                        <p:strVal val="visible"/>
                                      </p:to>
                                    </p:set>
                                    <p:animEffect transition="in" filter="wipe(right)">
                                      <p:cBhvr>
                                        <p:cTn id="35" dur="500"/>
                                        <p:tgtEl>
                                          <p:spTgt spid="5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117"/>
                                        </p:tgtEl>
                                        <p:attrNameLst>
                                          <p:attrName>style.visibility</p:attrName>
                                        </p:attrNameLst>
                                      </p:cBhvr>
                                      <p:to>
                                        <p:strVal val="visible"/>
                                      </p:to>
                                    </p:set>
                                    <p:animEffect transition="in" filter="dissolve">
                                      <p:cBhvr>
                                        <p:cTn id="40"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objects divided into frames, frame transmission interleaved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347464" y="5534648"/>
            <a:ext cx="4093672" cy="27513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AF7FDDA2-EA85-004E-AB1B-97A9090ECD2A}"/>
              </a:ext>
            </a:extLst>
          </p:cNvPr>
          <p:cNvSpPr/>
          <p:nvPr/>
        </p:nvSpPr>
        <p:spPr>
          <a:xfrm>
            <a:off x="3486512" y="3835610"/>
            <a:ext cx="3867383" cy="197852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 name="connsiteX0" fmla="*/ 3867383 w 3867817"/>
              <a:gd name="connsiteY0" fmla="*/ 0 h 2226179"/>
              <a:gd name="connsiteX1" fmla="*/ 411 w 3867817"/>
              <a:gd name="connsiteY1" fmla="*/ 273465 h 2226179"/>
              <a:gd name="connsiteX2" fmla="*/ 411 w 3867817"/>
              <a:gd name="connsiteY2" fmla="*/ 2226179 h 2226179"/>
              <a:gd name="connsiteX3" fmla="*/ 3856760 w 3867817"/>
              <a:gd name="connsiteY3" fmla="*/ 1718981 h 2226179"/>
              <a:gd name="connsiteX4" fmla="*/ 3867383 w 3867817"/>
              <a:gd name="connsiteY4" fmla="*/ 0 h 2226179"/>
              <a:gd name="connsiteX0" fmla="*/ 3867383 w 3867817"/>
              <a:gd name="connsiteY0" fmla="*/ 0 h 1978529"/>
              <a:gd name="connsiteX1" fmla="*/ 411 w 3867817"/>
              <a:gd name="connsiteY1" fmla="*/ 273465 h 1978529"/>
              <a:gd name="connsiteX2" fmla="*/ 411 w 3867817"/>
              <a:gd name="connsiteY2" fmla="*/ 1978529 h 1978529"/>
              <a:gd name="connsiteX3" fmla="*/ 3856760 w 3867817"/>
              <a:gd name="connsiteY3" fmla="*/ 1718981 h 1978529"/>
              <a:gd name="connsiteX4" fmla="*/ 3867383 w 3867817"/>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7383" h="1978529">
                <a:moveTo>
                  <a:pt x="3867383" y="0"/>
                </a:moveTo>
                <a:lnTo>
                  <a:pt x="411" y="273465"/>
                </a:lnTo>
                <a:cubicBezTo>
                  <a:pt x="1835" y="927218"/>
                  <a:pt x="-1013" y="1324776"/>
                  <a:pt x="411" y="1978529"/>
                </a:cubicBezTo>
                <a:lnTo>
                  <a:pt x="3856760" y="1718981"/>
                </a:lnTo>
                <a:cubicBezTo>
                  <a:pt x="3862689" y="443848"/>
                  <a:pt x="3861223" y="145762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40D71812-E6AC-D143-8CC1-FD1BA4C52E80}"/>
              </a:ext>
            </a:extLst>
          </p:cNvPr>
          <p:cNvSpPr/>
          <p:nvPr/>
        </p:nvSpPr>
        <p:spPr>
          <a:xfrm>
            <a:off x="3479865" y="32076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10D09925-DD27-D34F-926D-3DCC96A914D5}"/>
              </a:ext>
            </a:extLst>
          </p:cNvPr>
          <p:cNvSpPr/>
          <p:nvPr/>
        </p:nvSpPr>
        <p:spPr>
          <a:xfrm>
            <a:off x="3479865" y="33366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E5D9F6BF-C428-4448-A3F0-EC7E244381F1}"/>
              </a:ext>
            </a:extLst>
          </p:cNvPr>
          <p:cNvSpPr/>
          <p:nvPr/>
        </p:nvSpPr>
        <p:spPr>
          <a:xfrm>
            <a:off x="3485129" y="346808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Rectangle 89">
            <a:extLst>
              <a:ext uri="{FF2B5EF4-FFF2-40B4-BE49-F238E27FC236}">
                <a16:creationId xmlns:a16="http://schemas.microsoft.com/office/drawing/2014/main" id="{50D49D93-5523-2D40-A4B4-2C25959CCB4C}"/>
              </a:ext>
            </a:extLst>
          </p:cNvPr>
          <p:cNvSpPr/>
          <p:nvPr/>
        </p:nvSpPr>
        <p:spPr>
          <a:xfrm>
            <a:off x="2231742" y="3441675"/>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B20822AF-19CE-9944-A719-6386C461356D}"/>
              </a:ext>
            </a:extLst>
          </p:cNvPr>
          <p:cNvGrpSpPr/>
          <p:nvPr/>
        </p:nvGrpSpPr>
        <p:grpSpPr>
          <a:xfrm>
            <a:off x="1770738" y="3385789"/>
            <a:ext cx="1641327" cy="338554"/>
            <a:chOff x="1770738" y="3385789"/>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70738" y="3564111"/>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024E2305-8E5C-AA43-A3E7-0B4250CBA647}"/>
                </a:ext>
              </a:extLst>
            </p:cNvPr>
            <p:cNvSpPr txBox="1"/>
            <p:nvPr/>
          </p:nvSpPr>
          <p:spPr>
            <a:xfrm>
              <a:off x="2156066" y="3385789"/>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94" name="Rectangle 93">
            <a:extLst>
              <a:ext uri="{FF2B5EF4-FFF2-40B4-BE49-F238E27FC236}">
                <a16:creationId xmlns:a16="http://schemas.microsoft.com/office/drawing/2014/main" id="{63ACB7C6-C932-A244-9314-0E6B7F0BABA7}"/>
              </a:ext>
            </a:extLst>
          </p:cNvPr>
          <p:cNvSpPr/>
          <p:nvPr/>
        </p:nvSpPr>
        <p:spPr>
          <a:xfrm>
            <a:off x="2369264" y="3728151"/>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28813376-E418-2342-A851-A732B9438E05}"/>
              </a:ext>
            </a:extLst>
          </p:cNvPr>
          <p:cNvGrpSpPr/>
          <p:nvPr/>
        </p:nvGrpSpPr>
        <p:grpSpPr>
          <a:xfrm>
            <a:off x="1759658" y="3661763"/>
            <a:ext cx="1641172" cy="338554"/>
            <a:chOff x="1759658" y="3661763"/>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9658" y="3839649"/>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315510" y="366176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45639" y="2644827"/>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3131136" y="6194429"/>
            <a:ext cx="6552840"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delivered quickly,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slightly delayed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1637FC5-05C5-FD43-8C71-1C16B929EBE5}"/>
              </a:ext>
            </a:extLst>
          </p:cNvPr>
          <p:cNvGrpSpPr/>
          <p:nvPr/>
        </p:nvGrpSpPr>
        <p:grpSpPr>
          <a:xfrm>
            <a:off x="3362984" y="3078482"/>
            <a:ext cx="4052925" cy="379692"/>
            <a:chOff x="3362984" y="3078482"/>
            <a:chExt cx="4052925" cy="379692"/>
          </a:xfrm>
        </p:grpSpPr>
        <p:cxnSp>
          <p:nvCxnSpPr>
            <p:cNvPr id="86" name="Straight Arrow Connector 85">
              <a:extLst>
                <a:ext uri="{FF2B5EF4-FFF2-40B4-BE49-F238E27FC236}">
                  <a16:creationId xmlns:a16="http://schemas.microsoft.com/office/drawing/2014/main" id="{088B1C0C-41B7-1D42-8218-1018BF87E3C8}"/>
                </a:ext>
              </a:extLst>
            </p:cNvPr>
            <p:cNvCxnSpPr>
              <a:cxnSpLocks/>
            </p:cNvCxnSpPr>
            <p:nvPr/>
          </p:nvCxnSpPr>
          <p:spPr>
            <a:xfrm flipH="1">
              <a:off x="3362984" y="3078482"/>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7" name="Freeform 86">
              <a:extLst>
                <a:ext uri="{FF2B5EF4-FFF2-40B4-BE49-F238E27FC236}">
                  <a16:creationId xmlns:a16="http://schemas.microsoft.com/office/drawing/2014/main" id="{1CD4C714-A300-764D-A036-6CA0D38DC0BC}"/>
                </a:ext>
              </a:extLst>
            </p:cNvPr>
            <p:cNvSpPr/>
            <p:nvPr/>
          </p:nvSpPr>
          <p:spPr>
            <a:xfrm>
              <a:off x="3479865" y="30828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88" name="Freeform 87">
            <a:extLst>
              <a:ext uri="{FF2B5EF4-FFF2-40B4-BE49-F238E27FC236}">
                <a16:creationId xmlns:a16="http://schemas.microsoft.com/office/drawing/2014/main" id="{C6C7F475-0074-4749-BD8A-29E5B317ABB2}"/>
              </a:ext>
            </a:extLst>
          </p:cNvPr>
          <p:cNvSpPr/>
          <p:nvPr/>
        </p:nvSpPr>
        <p:spPr>
          <a:xfrm>
            <a:off x="3480625" y="3596230"/>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E83720AD-3971-A342-9F15-09DD430DE12F}"/>
              </a:ext>
            </a:extLst>
          </p:cNvPr>
          <p:cNvSpPr/>
          <p:nvPr/>
        </p:nvSpPr>
        <p:spPr>
          <a:xfrm>
            <a:off x="3485129" y="37195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BC622377-2E31-1842-B7B8-108319C7B7A5}"/>
              </a:ext>
            </a:extLst>
          </p:cNvPr>
          <p:cNvSpPr/>
          <p:nvPr/>
        </p:nvSpPr>
        <p:spPr>
          <a:xfrm>
            <a:off x="2575260" y="3949241"/>
            <a:ext cx="310918" cy="2811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50" name="Group 49">
            <a:extLst>
              <a:ext uri="{FF2B5EF4-FFF2-40B4-BE49-F238E27FC236}">
                <a16:creationId xmlns:a16="http://schemas.microsoft.com/office/drawing/2014/main" id="{4CDDC42D-85F3-5F48-A935-3952508D2E47}"/>
              </a:ext>
            </a:extLst>
          </p:cNvPr>
          <p:cNvGrpSpPr/>
          <p:nvPr/>
        </p:nvGrpSpPr>
        <p:grpSpPr>
          <a:xfrm>
            <a:off x="1756483" y="3920514"/>
            <a:ext cx="1644347" cy="338554"/>
            <a:chOff x="1756483" y="3920514"/>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6483" y="4094530"/>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54202" y="3920514"/>
              <a:ext cx="45488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sp>
        <p:nvSpPr>
          <p:cNvPr id="3" name="Rectangle 2">
            <a:extLst>
              <a:ext uri="{FF2B5EF4-FFF2-40B4-BE49-F238E27FC236}">
                <a16:creationId xmlns:a16="http://schemas.microsoft.com/office/drawing/2014/main" id="{3ED052B0-9951-5649-91CE-3B957628FFA7}"/>
              </a:ext>
            </a:extLst>
          </p:cNvPr>
          <p:cNvSpPr/>
          <p:nvPr/>
        </p:nvSpPr>
        <p:spPr>
          <a:xfrm>
            <a:off x="2869378" y="5701781"/>
            <a:ext cx="269557" cy="2294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141BCBD2-E211-8147-94AE-9676C1098C29}"/>
              </a:ext>
            </a:extLst>
          </p:cNvPr>
          <p:cNvGrpSpPr/>
          <p:nvPr/>
        </p:nvGrpSpPr>
        <p:grpSpPr>
          <a:xfrm>
            <a:off x="1706138" y="5621746"/>
            <a:ext cx="1641326" cy="338554"/>
            <a:chOff x="1706138" y="5621746"/>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06138"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801769" y="5621746"/>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cxnSp>
        <p:nvCxnSpPr>
          <p:cNvPr id="8" name="Straight Connector 7">
            <a:extLst>
              <a:ext uri="{FF2B5EF4-FFF2-40B4-BE49-F238E27FC236}">
                <a16:creationId xmlns:a16="http://schemas.microsoft.com/office/drawing/2014/main" id="{F26F312C-F797-9546-9530-388E7EACD1E5}"/>
              </a:ext>
            </a:extLst>
          </p:cNvPr>
          <p:cNvCxnSpPr/>
          <p:nvPr/>
        </p:nvCxnSpPr>
        <p:spPr>
          <a:xfrm>
            <a:off x="8570246" y="531145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B1529647-C0C9-574F-8FF1-580A42D9C0C0}"/>
              </a:ext>
            </a:extLst>
          </p:cNvPr>
          <p:cNvCxnSpPr/>
          <p:nvPr/>
        </p:nvCxnSpPr>
        <p:spPr>
          <a:xfrm>
            <a:off x="8585033" y="495696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7E50FB3C-A3CC-C043-BF4E-10D379228467}"/>
              </a:ext>
            </a:extLst>
          </p:cNvPr>
          <p:cNvCxnSpPr/>
          <p:nvPr/>
        </p:nvCxnSpPr>
        <p:spPr>
          <a:xfrm>
            <a:off x="8579058" y="482487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B41C7889-A836-484E-8169-EF5C2DBA3482}"/>
              </a:ext>
            </a:extLst>
          </p:cNvPr>
          <p:cNvCxnSpPr/>
          <p:nvPr/>
        </p:nvCxnSpPr>
        <p:spPr>
          <a:xfrm>
            <a:off x="8573083" y="469278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61EE47C2-CDAF-F340-9C07-30C8346C6253}"/>
              </a:ext>
            </a:extLst>
          </p:cNvPr>
          <p:cNvCxnSpPr/>
          <p:nvPr/>
        </p:nvCxnSpPr>
        <p:spPr>
          <a:xfrm>
            <a:off x="8567108" y="456068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849EF8F-5CF1-D94F-B506-490C9309164F}"/>
              </a:ext>
            </a:extLst>
          </p:cNvPr>
          <p:cNvCxnSpPr/>
          <p:nvPr/>
        </p:nvCxnSpPr>
        <p:spPr>
          <a:xfrm>
            <a:off x="8561133" y="442859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627A730F-13F6-D144-B66D-F5F8082E6868}"/>
              </a:ext>
            </a:extLst>
          </p:cNvPr>
          <p:cNvCxnSpPr/>
          <p:nvPr/>
        </p:nvCxnSpPr>
        <p:spPr>
          <a:xfrm>
            <a:off x="8555158" y="429649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8DE6F362-ACF1-AC45-94ED-A1E3CFC4CACB}"/>
              </a:ext>
            </a:extLst>
          </p:cNvPr>
          <p:cNvCxnSpPr/>
          <p:nvPr/>
        </p:nvCxnSpPr>
        <p:spPr>
          <a:xfrm>
            <a:off x="8549183" y="416440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1EE4C68C-D132-C940-9F84-9FA59A49FCD6}"/>
              </a:ext>
            </a:extLst>
          </p:cNvPr>
          <p:cNvCxnSpPr/>
          <p:nvPr/>
        </p:nvCxnSpPr>
        <p:spPr>
          <a:xfrm>
            <a:off x="8543208" y="403231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31A8F1E6-4E41-C344-A87C-2BCD0FF502FC}"/>
              </a:ext>
            </a:extLst>
          </p:cNvPr>
          <p:cNvCxnSpPr/>
          <p:nvPr/>
        </p:nvCxnSpPr>
        <p:spPr>
          <a:xfrm>
            <a:off x="8537233" y="390021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3E8E12E-F846-D846-8D27-0D67A493AAA0}"/>
              </a:ext>
            </a:extLst>
          </p:cNvPr>
          <p:cNvCxnSpPr/>
          <p:nvPr/>
        </p:nvCxnSpPr>
        <p:spPr>
          <a:xfrm>
            <a:off x="8531258" y="376812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E6D99FA8-5239-8748-B4B7-E247030A1E8C}"/>
              </a:ext>
            </a:extLst>
          </p:cNvPr>
          <p:cNvCxnSpPr/>
          <p:nvPr/>
        </p:nvCxnSpPr>
        <p:spPr>
          <a:xfrm>
            <a:off x="8525283" y="363602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87BDB7C5-F61E-F944-ADD5-B942DE4D8073}"/>
              </a:ext>
            </a:extLst>
          </p:cNvPr>
          <p:cNvCxnSpPr/>
          <p:nvPr/>
        </p:nvCxnSpPr>
        <p:spPr>
          <a:xfrm>
            <a:off x="8540494" y="350393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DC97917E-3C70-1848-83E2-6E69C542C768}"/>
              </a:ext>
            </a:extLst>
          </p:cNvPr>
          <p:cNvCxnSpPr/>
          <p:nvPr/>
        </p:nvCxnSpPr>
        <p:spPr>
          <a:xfrm>
            <a:off x="8534519" y="337184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56A2B6C1-D74F-8644-B2DD-07626B62AC3A}"/>
              </a:ext>
            </a:extLst>
          </p:cNvPr>
          <p:cNvCxnSpPr/>
          <p:nvPr/>
        </p:nvCxnSpPr>
        <p:spPr>
          <a:xfrm>
            <a:off x="8535606" y="323974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99318C6E-B313-F948-A960-AB9F1565EF38}"/>
              </a:ext>
            </a:extLst>
          </p:cNvPr>
          <p:cNvCxnSpPr>
            <a:cxnSpLocks/>
          </p:cNvCxnSpPr>
          <p:nvPr/>
        </p:nvCxnSpPr>
        <p:spPr>
          <a:xfrm flipV="1">
            <a:off x="3452698" y="3962094"/>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1663946-4235-7448-AEF1-D18B5A3DD5D6}"/>
              </a:ext>
            </a:extLst>
          </p:cNvPr>
          <p:cNvCxnSpPr>
            <a:cxnSpLocks/>
          </p:cNvCxnSpPr>
          <p:nvPr/>
        </p:nvCxnSpPr>
        <p:spPr>
          <a:xfrm flipV="1">
            <a:off x="3392013" y="411308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191351A-1A02-8B4A-8E31-DE66EA947424}"/>
              </a:ext>
            </a:extLst>
          </p:cNvPr>
          <p:cNvCxnSpPr>
            <a:cxnSpLocks/>
          </p:cNvCxnSpPr>
          <p:nvPr/>
        </p:nvCxnSpPr>
        <p:spPr>
          <a:xfrm flipV="1">
            <a:off x="3403873" y="425067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F985530D-C4B6-9A4F-AC43-C17FB5DA79CB}"/>
              </a:ext>
            </a:extLst>
          </p:cNvPr>
          <p:cNvCxnSpPr>
            <a:cxnSpLocks/>
          </p:cNvCxnSpPr>
          <p:nvPr/>
        </p:nvCxnSpPr>
        <p:spPr>
          <a:xfrm flipV="1">
            <a:off x="3415733" y="439955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1F15277D-8E18-5040-BA7A-6BA237E590DA}"/>
              </a:ext>
            </a:extLst>
          </p:cNvPr>
          <p:cNvCxnSpPr>
            <a:cxnSpLocks/>
          </p:cNvCxnSpPr>
          <p:nvPr/>
        </p:nvCxnSpPr>
        <p:spPr>
          <a:xfrm flipV="1">
            <a:off x="3474493" y="556214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FB7705AD-3AB0-5E4A-A165-5139123712D3}"/>
              </a:ext>
            </a:extLst>
          </p:cNvPr>
          <p:cNvCxnSpPr>
            <a:cxnSpLocks/>
          </p:cNvCxnSpPr>
          <p:nvPr/>
        </p:nvCxnSpPr>
        <p:spPr>
          <a:xfrm flipV="1">
            <a:off x="3486353" y="571667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B2D7EE39-0642-6848-BC17-455AF4197425}"/>
              </a:ext>
            </a:extLst>
          </p:cNvPr>
          <p:cNvCxnSpPr>
            <a:cxnSpLocks/>
          </p:cNvCxnSpPr>
          <p:nvPr/>
        </p:nvCxnSpPr>
        <p:spPr>
          <a:xfrm flipV="1">
            <a:off x="3467438" y="4527480"/>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B330DE2B-04A2-FF47-AFF6-A2E1A7046084}"/>
              </a:ext>
            </a:extLst>
          </p:cNvPr>
          <p:cNvCxnSpPr>
            <a:cxnSpLocks/>
          </p:cNvCxnSpPr>
          <p:nvPr/>
        </p:nvCxnSpPr>
        <p:spPr>
          <a:xfrm flipV="1">
            <a:off x="3406753" y="467846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47BB00C9-2F27-004D-9372-BD381A265370}"/>
              </a:ext>
            </a:extLst>
          </p:cNvPr>
          <p:cNvCxnSpPr>
            <a:cxnSpLocks/>
          </p:cNvCxnSpPr>
          <p:nvPr/>
        </p:nvCxnSpPr>
        <p:spPr>
          <a:xfrm flipV="1">
            <a:off x="3418613" y="481606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C78FEDE8-839F-454D-A0FA-76A2C79B5B9D}"/>
              </a:ext>
            </a:extLst>
          </p:cNvPr>
          <p:cNvCxnSpPr>
            <a:cxnSpLocks/>
          </p:cNvCxnSpPr>
          <p:nvPr/>
        </p:nvCxnSpPr>
        <p:spPr>
          <a:xfrm flipV="1">
            <a:off x="3430473" y="496494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E9C306E-46D8-F145-8048-E35C09F8800D}"/>
              </a:ext>
            </a:extLst>
          </p:cNvPr>
          <p:cNvCxnSpPr>
            <a:cxnSpLocks/>
          </p:cNvCxnSpPr>
          <p:nvPr/>
        </p:nvCxnSpPr>
        <p:spPr>
          <a:xfrm flipV="1">
            <a:off x="3482178" y="5092866"/>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2DCD9603-AC7A-3345-BD4F-7AD3B80B77A0}"/>
              </a:ext>
            </a:extLst>
          </p:cNvPr>
          <p:cNvCxnSpPr>
            <a:cxnSpLocks/>
          </p:cNvCxnSpPr>
          <p:nvPr/>
        </p:nvCxnSpPr>
        <p:spPr>
          <a:xfrm flipV="1">
            <a:off x="3421493" y="524385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46D2CB60-1100-B943-BEE0-9BBA817FB8D8}"/>
              </a:ext>
            </a:extLst>
          </p:cNvPr>
          <p:cNvCxnSpPr>
            <a:cxnSpLocks/>
          </p:cNvCxnSpPr>
          <p:nvPr/>
        </p:nvCxnSpPr>
        <p:spPr>
          <a:xfrm flipV="1">
            <a:off x="3433353" y="538144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8" name="Slide Number Placeholder 2">
            <a:extLst>
              <a:ext uri="{FF2B5EF4-FFF2-40B4-BE49-F238E27FC236}">
                <a16:creationId xmlns:a16="http://schemas.microsoft.com/office/drawing/2014/main" id="{566D02CB-0278-FB40-AE5B-D652B1719C9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49</a:t>
            </a:fld>
            <a:endParaRPr lang="en-US" dirty="0"/>
          </a:p>
        </p:txBody>
      </p:sp>
    </p:spTree>
    <p:extLst>
      <p:ext uri="{BB962C8B-B14F-4D97-AF65-F5344CB8AC3E}">
        <p14:creationId xmlns:p14="http://schemas.microsoft.com/office/powerpoint/2010/main" val="4128955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67"/>
                                        </p:tgtEl>
                                        <p:attrNameLst>
                                          <p:attrName>style.visibility</p:attrName>
                                        </p:attrNameLst>
                                      </p:cBhvr>
                                      <p:to>
                                        <p:strVal val="visible"/>
                                      </p:to>
                                    </p:set>
                                    <p:animEffect transition="in" filter="wipe(right)">
                                      <p:cBhvr>
                                        <p:cTn id="11" dur="500"/>
                                        <p:tgtEl>
                                          <p:spTgt spid="67"/>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right)">
                                      <p:cBhvr>
                                        <p:cTn id="15" dur="500"/>
                                        <p:tgtEl>
                                          <p:spTgt spid="7"/>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right)">
                                      <p:cBhvr>
                                        <p:cTn id="19" dur="500"/>
                                        <p:tgtEl>
                                          <p:spTgt spid="68"/>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70"/>
                                        </p:tgtEl>
                                        <p:attrNameLst>
                                          <p:attrName>style.visibility</p:attrName>
                                        </p:attrNameLst>
                                      </p:cBhvr>
                                      <p:to>
                                        <p:strVal val="visible"/>
                                      </p:to>
                                    </p:set>
                                    <p:animEffect transition="in" filter="wipe(right)">
                                      <p:cBhvr>
                                        <p:cTn id="23" dur="500"/>
                                        <p:tgtEl>
                                          <p:spTgt spid="70"/>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grpId="0" nodeType="clickEffect">
                                  <p:stCondLst>
                                    <p:cond delay="0"/>
                                  </p:stCondLst>
                                  <p:childTnLst>
                                    <p:set>
                                      <p:cBhvr>
                                        <p:cTn id="31" dur="1" fill="hold">
                                          <p:stCondLst>
                                            <p:cond delay="0"/>
                                          </p:stCondLst>
                                        </p:cTn>
                                        <p:tgtEl>
                                          <p:spTgt spid="88"/>
                                        </p:tgtEl>
                                        <p:attrNameLst>
                                          <p:attrName>style.visibility</p:attrName>
                                        </p:attrNameLst>
                                      </p:cBhvr>
                                      <p:to>
                                        <p:strVal val="visible"/>
                                      </p:to>
                                    </p:set>
                                    <p:animEffect transition="in" filter="wipe(right)">
                                      <p:cBhvr>
                                        <p:cTn id="32" dur="500"/>
                                        <p:tgtEl>
                                          <p:spTgt spid="88"/>
                                        </p:tgtEl>
                                      </p:cBhvr>
                                    </p:animEffect>
                                  </p:childTnLst>
                                </p:cTn>
                              </p:par>
                            </p:childTnLst>
                          </p:cTn>
                        </p:par>
                        <p:par>
                          <p:cTn id="33" fill="hold">
                            <p:stCondLst>
                              <p:cond delay="500"/>
                            </p:stCondLst>
                            <p:childTnLst>
                              <p:par>
                                <p:cTn id="34" presetID="22" presetClass="entr" presetSubtype="2" fill="hold" grpId="0" nodeType="afterEffect">
                                  <p:stCondLst>
                                    <p:cond delay="0"/>
                                  </p:stCondLst>
                                  <p:childTnLst>
                                    <p:set>
                                      <p:cBhvr>
                                        <p:cTn id="35" dur="1" fill="hold">
                                          <p:stCondLst>
                                            <p:cond delay="0"/>
                                          </p:stCondLst>
                                        </p:cTn>
                                        <p:tgtEl>
                                          <p:spTgt spid="89"/>
                                        </p:tgtEl>
                                        <p:attrNameLst>
                                          <p:attrName>style.visibility</p:attrName>
                                        </p:attrNameLst>
                                      </p:cBhvr>
                                      <p:to>
                                        <p:strVal val="visible"/>
                                      </p:to>
                                    </p:set>
                                    <p:animEffect transition="in" filter="wipe(right)">
                                      <p:cBhvr>
                                        <p:cTn id="36" dur="500"/>
                                        <p:tgtEl>
                                          <p:spTgt spid="89"/>
                                        </p:tgtEl>
                                      </p:cBhvr>
                                    </p:animEffect>
                                  </p:childTnLst>
                                </p:cTn>
                              </p:par>
                            </p:childTnLst>
                          </p:cTn>
                        </p:par>
                        <p:par>
                          <p:cTn id="37" fill="hold">
                            <p:stCondLst>
                              <p:cond delay="1000"/>
                            </p:stCondLst>
                            <p:childTnLst>
                              <p:par>
                                <p:cTn id="38" presetID="22" presetClass="entr" presetSubtype="2" fill="hold" nodeType="after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wipe(right)">
                                      <p:cBhvr>
                                        <p:cTn id="40" dur="500"/>
                                        <p:tgtEl>
                                          <p:spTgt spid="50"/>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2" fill="hold" grpId="0" nodeType="clickEffect">
                                  <p:stCondLst>
                                    <p:cond delay="0"/>
                                  </p:stCondLst>
                                  <p:childTnLst>
                                    <p:set>
                                      <p:cBhvr>
                                        <p:cTn id="44" dur="1" fill="hold">
                                          <p:stCondLst>
                                            <p:cond delay="0"/>
                                          </p:stCondLst>
                                        </p:cTn>
                                        <p:tgtEl>
                                          <p:spTgt spid="49"/>
                                        </p:tgtEl>
                                        <p:attrNameLst>
                                          <p:attrName>style.visibility</p:attrName>
                                        </p:attrNameLst>
                                      </p:cBhvr>
                                      <p:to>
                                        <p:strVal val="visible"/>
                                      </p:to>
                                    </p:set>
                                    <p:animEffect transition="in" filter="wipe(right)">
                                      <p:cBhvr>
                                        <p:cTn id="45" dur="500"/>
                                        <p:tgtEl>
                                          <p:spTgt spid="49"/>
                                        </p:tgtEl>
                                      </p:cBhvr>
                                    </p:animEffect>
                                  </p:childTnLst>
                                </p:cTn>
                              </p:par>
                              <p:par>
                                <p:cTn id="46" presetID="22" presetClass="entr" presetSubtype="2" fill="hold" nodeType="withEffect">
                                  <p:stCondLst>
                                    <p:cond delay="0"/>
                                  </p:stCondLst>
                                  <p:childTnLst>
                                    <p:set>
                                      <p:cBhvr>
                                        <p:cTn id="47" dur="1" fill="hold">
                                          <p:stCondLst>
                                            <p:cond delay="0"/>
                                          </p:stCondLst>
                                        </p:cTn>
                                        <p:tgtEl>
                                          <p:spTgt spid="62"/>
                                        </p:tgtEl>
                                        <p:attrNameLst>
                                          <p:attrName>style.visibility</p:attrName>
                                        </p:attrNameLst>
                                      </p:cBhvr>
                                      <p:to>
                                        <p:strVal val="visible"/>
                                      </p:to>
                                    </p:set>
                                    <p:animEffect transition="in" filter="wipe(right)">
                                      <p:cBhvr>
                                        <p:cTn id="48" dur="500"/>
                                        <p:tgtEl>
                                          <p:spTgt spid="62"/>
                                        </p:tgtEl>
                                      </p:cBhvr>
                                    </p:animEffect>
                                  </p:childTnLst>
                                </p:cTn>
                              </p:par>
                            </p:childTnLst>
                          </p:cTn>
                        </p:par>
                        <p:par>
                          <p:cTn id="49" fill="hold">
                            <p:stCondLst>
                              <p:cond delay="500"/>
                            </p:stCondLst>
                            <p:childTnLst>
                              <p:par>
                                <p:cTn id="50" presetID="22" presetClass="entr" presetSubtype="2" fill="hold" nodeType="afterEffect">
                                  <p:stCondLst>
                                    <p:cond delay="0"/>
                                  </p:stCondLst>
                                  <p:childTnLst>
                                    <p:set>
                                      <p:cBhvr>
                                        <p:cTn id="51" dur="1" fill="hold">
                                          <p:stCondLst>
                                            <p:cond delay="0"/>
                                          </p:stCondLst>
                                        </p:cTn>
                                        <p:tgtEl>
                                          <p:spTgt spid="54"/>
                                        </p:tgtEl>
                                        <p:attrNameLst>
                                          <p:attrName>style.visibility</p:attrName>
                                        </p:attrNameLst>
                                      </p:cBhvr>
                                      <p:to>
                                        <p:strVal val="visible"/>
                                      </p:to>
                                    </p:set>
                                    <p:animEffect transition="in" filter="wipe(right)">
                                      <p:cBhvr>
                                        <p:cTn id="52" dur="500"/>
                                        <p:tgtEl>
                                          <p:spTgt spid="54"/>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117"/>
                                        </p:tgtEl>
                                        <p:attrNameLst>
                                          <p:attrName>style.visibility</p:attrName>
                                        </p:attrNameLst>
                                      </p:cBhvr>
                                      <p:to>
                                        <p:strVal val="visible"/>
                                      </p:to>
                                    </p:set>
                                    <p:animEffect transition="in" filter="dissolve">
                                      <p:cBhvr>
                                        <p:cTn id="57"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67" grpId="0" animBg="1"/>
      <p:bldP spid="68" grpId="0" animBg="1"/>
      <p:bldP spid="70" grpId="0" animBg="1"/>
      <p:bldP spid="117" grpId="0"/>
      <p:bldP spid="88" grpId="0" animBg="1"/>
      <p:bldP spid="89"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 to HTTP/3</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833751" y="1490127"/>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5087"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over single TCP connection means: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recovery from packet loss still stalls all object transmissions</a:t>
            </a:r>
          </a:p>
          <a:p>
            <a:pPr marL="688975" marR="0" lvl="1" indent="-2809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 in HTTP 1.1, browsers have incentive to open multiple parallel TCP connections to reduce stalling, increase overall throughput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security over vanilla TCP connection</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HTTP/3: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adds security, per object error- and congestion-control (more pipelining) over UDP</a:t>
            </a:r>
          </a:p>
          <a:p>
            <a:pPr marL="688975" marR="0" lvl="1" indent="-2809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on HTTP/3 in transport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B9970898-8B56-614D-BEEC-E655E686FD7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50</a:t>
            </a:fld>
            <a:endParaRPr lang="en-US" dirty="0"/>
          </a:p>
        </p:txBody>
      </p:sp>
    </p:spTree>
    <p:extLst>
      <p:ext uri="{BB962C8B-B14F-4D97-AF65-F5344CB8AC3E}">
        <p14:creationId xmlns:p14="http://schemas.microsoft.com/office/powerpoint/2010/main" val="365879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3" end="3"/>
                                            </p:txEl>
                                          </p:spTgt>
                                        </p:tgtEl>
                                        <p:attrNameLst>
                                          <p:attrName>style.visibility</p:attrName>
                                        </p:attrNameLst>
                                      </p:cBhvr>
                                      <p:to>
                                        <p:strVal val="visible"/>
                                      </p:to>
                                    </p:set>
                                    <p:animEffect transition="in" filter="dissolve">
                                      <p:cBhvr>
                                        <p:cTn id="12" dur="500"/>
                                        <p:tgtEl>
                                          <p:spTgt spid="56">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4" end="4"/>
                                            </p:txEl>
                                          </p:spTgt>
                                        </p:tgtEl>
                                        <p:attrNameLst>
                                          <p:attrName>style.visibility</p:attrName>
                                        </p:attrNameLst>
                                      </p:cBhvr>
                                      <p:to>
                                        <p:strVal val="visible"/>
                                      </p:to>
                                    </p:set>
                                    <p:animEffect transition="in" filter="dissolve">
                                      <p:cBhvr>
                                        <p:cTn id="17" dur="500"/>
                                        <p:tgtEl>
                                          <p:spTgt spid="56">
                                            <p:txEl>
                                              <p:pRg st="4" end="4"/>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56">
                                            <p:txEl>
                                              <p:pRg st="5" end="5"/>
                                            </p:txEl>
                                          </p:spTgt>
                                        </p:tgtEl>
                                        <p:attrNameLst>
                                          <p:attrName>style.visibility</p:attrName>
                                        </p:attrNameLst>
                                      </p:cBhvr>
                                      <p:to>
                                        <p:strVal val="visible"/>
                                      </p:to>
                                    </p:set>
                                    <p:animEffect transition="in" filter="dissolve">
                                      <p:cBhvr>
                                        <p:cTn id="20" dur="500"/>
                                        <p:tgtEl>
                                          <p:spTgt spid="5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7274</TotalTime>
  <Words>4809</Words>
  <Application>Microsoft Office PowerPoint</Application>
  <PresentationFormat>Widescreen</PresentationFormat>
  <Paragraphs>1104</Paragraphs>
  <Slides>50</Slides>
  <Notes>50</Notes>
  <HiddenSlides>0</HiddenSlides>
  <MMClips>0</MMClips>
  <ScaleCrop>false</ScaleCrop>
  <HeadingPairs>
    <vt:vector size="6" baseType="variant">
      <vt:variant>
        <vt:lpstr>Fonts Used</vt:lpstr>
      </vt:variant>
      <vt:variant>
        <vt:i4>10</vt:i4>
      </vt:variant>
      <vt:variant>
        <vt:lpstr>Theme</vt:lpstr>
      </vt:variant>
      <vt:variant>
        <vt:i4>1</vt:i4>
      </vt:variant>
      <vt:variant>
        <vt:lpstr>Slide Titles</vt:lpstr>
      </vt:variant>
      <vt:variant>
        <vt:i4>50</vt:i4>
      </vt:variant>
    </vt:vector>
  </HeadingPairs>
  <TitlesOfParts>
    <vt:vector size="61" baseType="lpstr">
      <vt:lpstr>Arial</vt:lpstr>
      <vt:lpstr>Calibri</vt:lpstr>
      <vt:lpstr>Calibri Light</vt:lpstr>
      <vt:lpstr>Comic Sans MS</vt:lpstr>
      <vt:lpstr>Courier</vt:lpstr>
      <vt:lpstr>Courier New</vt:lpstr>
      <vt:lpstr>Tahoma</vt:lpstr>
      <vt:lpstr>Times New Roman</vt:lpstr>
      <vt:lpstr>Wingdings</vt:lpstr>
      <vt:lpstr>ZapfDingbats</vt:lpstr>
      <vt:lpstr>Office Theme</vt:lpstr>
      <vt:lpstr>PowerPoint Presentation</vt:lpstr>
      <vt:lpstr>A closer look at Internet structure</vt:lpstr>
      <vt:lpstr>A closer look at Internet structure</vt:lpstr>
      <vt:lpstr>A closer look at Internet structure</vt:lpstr>
      <vt:lpstr>Protocol “layers” and reference models</vt:lpstr>
      <vt:lpstr>ISO/OSI reference model</vt:lpstr>
      <vt:lpstr>Layered TCP/IP stack</vt:lpstr>
      <vt:lpstr>Why layering?</vt:lpstr>
      <vt:lpstr>Services, Layering and Encapsulation</vt:lpstr>
      <vt:lpstr>Services, Layering and Encapsulation</vt:lpstr>
      <vt:lpstr>Services, Layering and Encapsulation</vt:lpstr>
      <vt:lpstr>Services, Layering and Encapsulation</vt:lpstr>
      <vt:lpstr>Encapsulation: an end-end view</vt:lpstr>
      <vt:lpstr>“Real” Internet delays and routes</vt:lpstr>
      <vt:lpstr>Real Internet delays and routes</vt:lpstr>
      <vt:lpstr>Application Layer Protocol - HTTP</vt:lpstr>
      <vt:lpstr>Processes communicating</vt:lpstr>
      <vt:lpstr>Sockets</vt:lpstr>
      <vt:lpstr>Addressing processes</vt:lpstr>
      <vt:lpstr>An application-layer protocol defines:</vt:lpstr>
      <vt:lpstr>Web and HTTP</vt:lpstr>
      <vt:lpstr>HTTP overview</vt:lpstr>
      <vt:lpstr>HTTP overview (continued)</vt:lpstr>
      <vt:lpstr>HTTP connections: two types</vt:lpstr>
      <vt:lpstr>Non-persistent HTTP: example</vt:lpstr>
      <vt:lpstr>Non-persistent HTTP: example (cont.)</vt:lpstr>
      <vt:lpstr>Non-persistent HTTP: response time</vt:lpstr>
      <vt:lpstr>Persistent HTTP (HTTP 1.1)</vt:lpstr>
      <vt:lpstr>HTTP request message</vt:lpstr>
      <vt:lpstr>HTTP request message: general format</vt:lpstr>
      <vt:lpstr>Other HTTP request messages</vt:lpstr>
      <vt:lpstr>HTTP response message</vt:lpstr>
      <vt:lpstr>HTTP response status codes</vt:lpstr>
      <vt:lpstr>Maintaining user/server state: cookies</vt:lpstr>
      <vt:lpstr>Maintaining user/server state: cookies</vt:lpstr>
      <vt:lpstr>Maintaining user/server state: cookies</vt:lpstr>
      <vt:lpstr>HTTP cookies: comments</vt:lpstr>
      <vt:lpstr>PowerPoint Presentation</vt:lpstr>
      <vt:lpstr>PowerPoint Presentation</vt:lpstr>
      <vt:lpstr>Web caches</vt:lpstr>
      <vt:lpstr>Web caches (aka proxy servers)</vt:lpstr>
      <vt:lpstr>Caching example</vt:lpstr>
      <vt:lpstr>Option 1: buy a faster access link</vt:lpstr>
      <vt:lpstr>Option 2: install a web cache</vt:lpstr>
      <vt:lpstr>Browser caching: Conditional GET</vt:lpstr>
      <vt:lpstr>HTTP/2</vt:lpstr>
      <vt:lpstr>HTTP/2</vt:lpstr>
      <vt:lpstr>HTTP/2: mitigating HOL blocking</vt:lpstr>
      <vt:lpstr>HTTP/2: mitigating HOL blocking</vt:lpstr>
      <vt:lpstr>HTTP/2 to HTTP/3</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GUB</cp:lastModifiedBy>
  <cp:revision>183</cp:revision>
  <dcterms:created xsi:type="dcterms:W3CDTF">2020-01-18T07:24:59Z</dcterms:created>
  <dcterms:modified xsi:type="dcterms:W3CDTF">2023-08-31T02:30:49Z</dcterms:modified>
</cp:coreProperties>
</file>